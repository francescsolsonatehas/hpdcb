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6"/>
  </p:notesMasterIdLst>
  <p:sldIdLst>
    <p:sldId id="256" r:id="rId2"/>
    <p:sldId id="257" r:id="rId3"/>
    <p:sldId id="262" r:id="rId4"/>
    <p:sldId id="268" r:id="rId5"/>
    <p:sldId id="269" r:id="rId6"/>
    <p:sldId id="274" r:id="rId7"/>
    <p:sldId id="276" r:id="rId8"/>
    <p:sldId id="280" r:id="rId9"/>
    <p:sldId id="284" r:id="rId10"/>
    <p:sldId id="285" r:id="rId11"/>
    <p:sldId id="288" r:id="rId12"/>
    <p:sldId id="289" r:id="rId13"/>
    <p:sldId id="295" r:id="rId14"/>
    <p:sldId id="296" r:id="rId15"/>
    <p:sldId id="297" r:id="rId16"/>
    <p:sldId id="298" r:id="rId17"/>
    <p:sldId id="299" r:id="rId18"/>
    <p:sldId id="300" r:id="rId19"/>
    <p:sldId id="301" r:id="rId20"/>
    <p:sldId id="302" r:id="rId21"/>
    <p:sldId id="303" r:id="rId22"/>
    <p:sldId id="304" r:id="rId23"/>
    <p:sldId id="305" r:id="rId24"/>
    <p:sldId id="307" r:id="rId25"/>
    <p:sldId id="308" r:id="rId26"/>
    <p:sldId id="309" r:id="rId27"/>
    <p:sldId id="310" r:id="rId28"/>
    <p:sldId id="311" r:id="rId29"/>
    <p:sldId id="312" r:id="rId30"/>
    <p:sldId id="313" r:id="rId31"/>
    <p:sldId id="314" r:id="rId32"/>
    <p:sldId id="318" r:id="rId33"/>
    <p:sldId id="319" r:id="rId34"/>
    <p:sldId id="320" r:id="rId35"/>
    <p:sldId id="322" r:id="rId36"/>
    <p:sldId id="324" r:id="rId37"/>
    <p:sldId id="325" r:id="rId38"/>
    <p:sldId id="326" r:id="rId39"/>
    <p:sldId id="327" r:id="rId40"/>
    <p:sldId id="328" r:id="rId41"/>
    <p:sldId id="330" r:id="rId42"/>
    <p:sldId id="331" r:id="rId43"/>
    <p:sldId id="332" r:id="rId44"/>
    <p:sldId id="333" r:id="rId45"/>
    <p:sldId id="338" r:id="rId46"/>
    <p:sldId id="344" r:id="rId47"/>
    <p:sldId id="345" r:id="rId48"/>
    <p:sldId id="346" r:id="rId49"/>
    <p:sldId id="347" r:id="rId50"/>
    <p:sldId id="348" r:id="rId51"/>
    <p:sldId id="349" r:id="rId52"/>
    <p:sldId id="350" r:id="rId53"/>
    <p:sldId id="351" r:id="rId54"/>
    <p:sldId id="352" r:id="rId55"/>
    <p:sldId id="353" r:id="rId56"/>
    <p:sldId id="354" r:id="rId57"/>
    <p:sldId id="355" r:id="rId58"/>
    <p:sldId id="357" r:id="rId59"/>
    <p:sldId id="358" r:id="rId60"/>
    <p:sldId id="359" r:id="rId61"/>
    <p:sldId id="360" r:id="rId62"/>
    <p:sldId id="361" r:id="rId63"/>
    <p:sldId id="362" r:id="rId64"/>
    <p:sldId id="363" r:id="rId65"/>
    <p:sldId id="364" r:id="rId66"/>
    <p:sldId id="365" r:id="rId67"/>
    <p:sldId id="366" r:id="rId68"/>
    <p:sldId id="367" r:id="rId69"/>
    <p:sldId id="368" r:id="rId70"/>
    <p:sldId id="369" r:id="rId71"/>
    <p:sldId id="370" r:id="rId72"/>
    <p:sldId id="371" r:id="rId73"/>
    <p:sldId id="372" r:id="rId74"/>
    <p:sldId id="373" r:id="rId75"/>
    <p:sldId id="375" r:id="rId76"/>
    <p:sldId id="377" r:id="rId77"/>
    <p:sldId id="378" r:id="rId78"/>
    <p:sldId id="379" r:id="rId79"/>
    <p:sldId id="381" r:id="rId80"/>
    <p:sldId id="386" r:id="rId81"/>
    <p:sldId id="387" r:id="rId82"/>
    <p:sldId id="388" r:id="rId83"/>
    <p:sldId id="389" r:id="rId84"/>
    <p:sldId id="390" r:id="rId85"/>
    <p:sldId id="391" r:id="rId86"/>
    <p:sldId id="392" r:id="rId87"/>
    <p:sldId id="393" r:id="rId88"/>
    <p:sldId id="394" r:id="rId89"/>
    <p:sldId id="395" r:id="rId90"/>
    <p:sldId id="396" r:id="rId91"/>
    <p:sldId id="397" r:id="rId92"/>
    <p:sldId id="398" r:id="rId93"/>
    <p:sldId id="399" r:id="rId94"/>
    <p:sldId id="400" r:id="rId95"/>
    <p:sldId id="401" r:id="rId96"/>
    <p:sldId id="402" r:id="rId97"/>
    <p:sldId id="403" r:id="rId98"/>
    <p:sldId id="404" r:id="rId99"/>
    <p:sldId id="405" r:id="rId100"/>
    <p:sldId id="406" r:id="rId101"/>
    <p:sldId id="407" r:id="rId102"/>
    <p:sldId id="408" r:id="rId103"/>
    <p:sldId id="409" r:id="rId104"/>
    <p:sldId id="410" r:id="rId105"/>
    <p:sldId id="411" r:id="rId106"/>
    <p:sldId id="412" r:id="rId107"/>
    <p:sldId id="413" r:id="rId108"/>
    <p:sldId id="414" r:id="rId109"/>
    <p:sldId id="415" r:id="rId110"/>
    <p:sldId id="416" r:id="rId111"/>
    <p:sldId id="417" r:id="rId112"/>
    <p:sldId id="418" r:id="rId113"/>
    <p:sldId id="419" r:id="rId114"/>
    <p:sldId id="420" r:id="rId115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82"/>
    <p:restoredTop sz="94471"/>
  </p:normalViewPr>
  <p:slideViewPr>
    <p:cSldViewPr>
      <p:cViewPr varScale="1">
        <p:scale>
          <a:sx n="231" d="100"/>
          <a:sy n="231" d="100"/>
        </p:scale>
        <p:origin x="184" y="7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265488" y="0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182878-805C-6A42-9949-9C6B067B9616}" type="datetimeFigureOut">
              <a:rPr lang="es-ES" smtClean="0"/>
              <a:t>11/5/26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911350" y="406400"/>
            <a:ext cx="1943100" cy="10937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576263" y="1562100"/>
            <a:ext cx="4613275" cy="1277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265488" y="3082925"/>
            <a:ext cx="2498725" cy="161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D938A7-1781-174F-B170-3326EB9DFB3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3089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938A7-1781-174F-B170-3326EB9DFB30}" type="slidenum">
              <a:rPr lang="es-ES" smtClean="0"/>
              <a:t>67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829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8526" y="59834"/>
            <a:ext cx="216281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47294" y="1824239"/>
            <a:ext cx="1904364" cy="377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8526" y="59834"/>
            <a:ext cx="379158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F9F9F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41718" y="633263"/>
            <a:ext cx="5071110" cy="19799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22373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151376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rancescsolsonatehas.github.io/HPDCB/session6-7-8.html" TargetMode="External"/><Relationship Id="rId2" Type="http://schemas.openxmlformats.org/officeDocument/2006/relationships/hyperlink" Target="mailto:rancesc.solsona@udl.ca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hatismyip.com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Network_address_translation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ubmarinecablemap.com/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hyperlink" Target="mailto:ec2-user@%3cyour-public-ec2-instance-public-ip%3e:.ssh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" Target="slide74.xml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" Target="slide79.xml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penVPN/easy-rsa/releases" TargetMode="Externa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hyperlink" Target="https://aws.amazon.com/vpn/client-vpn-download/" TargetMode="Externa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dio.com/" TargetMode="External"/><Relationship Id="rId2" Type="http://schemas.openxmlformats.org/officeDocument/2006/relationships/hyperlink" Target="https://iplocation.io/" TargetMode="Externa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hyperlink" Target="https://filegator.io/" TargetMode="Externa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F9F9F9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347294" y="784225"/>
            <a:ext cx="37998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</a:rPr>
              <a:t>High</a:t>
            </a:r>
            <a:r>
              <a:rPr lang="en-US" sz="11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100" b="1" spc="-40" noProof="1">
                <a:solidFill>
                  <a:srgbClr val="22373A"/>
                </a:solidFill>
                <a:latin typeface="Arial"/>
                <a:cs typeface="Arial"/>
              </a:rPr>
              <a:t>Performance</a:t>
            </a:r>
            <a:r>
              <a:rPr lang="en-US" sz="11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100" b="1" spc="-2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11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100" b="1" spc="-20" noProof="1">
                <a:solidFill>
                  <a:srgbClr val="22373A"/>
                </a:solidFill>
                <a:latin typeface="Arial"/>
                <a:cs typeface="Arial"/>
              </a:rPr>
              <a:t>Distributed</a:t>
            </a:r>
            <a:r>
              <a:rPr lang="en-US" sz="11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100" b="1" spc="-30" noProof="1">
                <a:solidFill>
                  <a:srgbClr val="22373A"/>
                </a:solidFill>
                <a:latin typeface="Arial"/>
                <a:cs typeface="Arial"/>
              </a:rPr>
              <a:t>Computing</a:t>
            </a:r>
            <a:r>
              <a:rPr lang="en-US" sz="11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11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</a:rPr>
              <a:t>Big</a:t>
            </a:r>
            <a:r>
              <a:rPr lang="en-US" sz="11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100" b="1" spc="-20" noProof="1">
                <a:solidFill>
                  <a:srgbClr val="22373A"/>
                </a:solidFill>
                <a:latin typeface="Arial"/>
                <a:cs typeface="Arial"/>
              </a:rPr>
              <a:t>Data</a:t>
            </a:r>
            <a:endParaRPr lang="en-US" sz="1100" noProof="1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7294" y="1012825"/>
            <a:ext cx="2992806" cy="33278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1000" noProof="1">
                <a:solidFill>
                  <a:srgbClr val="22373A"/>
                </a:solidFill>
                <a:latin typeface="Arial"/>
                <a:cs typeface="Arial"/>
              </a:rPr>
              <a:t>Unit</a:t>
            </a:r>
            <a:r>
              <a:rPr lang="en-US" sz="10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1000" noProof="1">
                <a:solidFill>
                  <a:srgbClr val="22373A"/>
                </a:solidFill>
                <a:latin typeface="Arial"/>
                <a:cs typeface="Arial"/>
              </a:rPr>
              <a:t>3: </a:t>
            </a:r>
            <a:r>
              <a:rPr lang="en-US" sz="1000" noProof="1"/>
              <a:t>Cloud Systems and Big Data Management</a:t>
            </a:r>
            <a:endParaRPr lang="en-US" sz="1000" noProof="1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sz="1000" noProof="1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9994" y="1599698"/>
            <a:ext cx="5040630" cy="5080"/>
          </a:xfrm>
          <a:custGeom>
            <a:avLst/>
            <a:gdLst/>
            <a:ahLst/>
            <a:cxnLst/>
            <a:rect l="l" t="t" r="r" b="b"/>
            <a:pathLst>
              <a:path w="5040630" h="5080">
                <a:moveTo>
                  <a:pt x="0" y="5060"/>
                </a:moveTo>
                <a:lnTo>
                  <a:pt x="0" y="0"/>
                </a:lnTo>
                <a:lnTo>
                  <a:pt x="5040064" y="0"/>
                </a:lnTo>
                <a:lnTo>
                  <a:pt x="5040064" y="5060"/>
                </a:lnTo>
                <a:lnTo>
                  <a:pt x="0" y="5060"/>
                </a:lnTo>
                <a:close/>
              </a:path>
            </a:pathLst>
          </a:custGeom>
          <a:solidFill>
            <a:srgbClr val="EB811B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6" name="object 6"/>
          <p:cNvSpPr txBox="1">
            <a:spLocks noGrp="1"/>
          </p:cNvSpPr>
          <p:nvPr>
            <p:ph type="subTitle" idx="4"/>
          </p:nvPr>
        </p:nvSpPr>
        <p:spPr>
          <a:xfrm>
            <a:off x="347294" y="1824239"/>
            <a:ext cx="2383206" cy="376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spc="-10" noProof="1"/>
              <a:t>Francesc Solsona </a:t>
            </a:r>
            <a:r>
              <a:rPr lang="en-US" sz="800" spc="-20" noProof="1"/>
              <a:t>f</a:t>
            </a:r>
            <a:r>
              <a:rPr lang="en-US" sz="800" spc="-20" noProof="1">
                <a:hlinkClick r:id="rId2"/>
              </a:rPr>
              <a:t>rancesc.solsona@udl.cat</a:t>
            </a:r>
            <a:endParaRPr lang="en-US" sz="800" noProof="1"/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lang="en-US" sz="800" noProof="1"/>
          </a:p>
          <a:p>
            <a:pPr marL="12700">
              <a:lnSpc>
                <a:spcPct val="100000"/>
              </a:lnSpc>
            </a:pPr>
            <a:r>
              <a:rPr lang="en-US" sz="600" noProof="1"/>
              <a:t>Universitat</a:t>
            </a:r>
            <a:r>
              <a:rPr lang="en-US" sz="600" spc="20" noProof="1"/>
              <a:t> </a:t>
            </a:r>
            <a:r>
              <a:rPr lang="en-US" sz="600" noProof="1"/>
              <a:t>Rovira</a:t>
            </a:r>
            <a:r>
              <a:rPr lang="en-US" sz="600" spc="25" noProof="1"/>
              <a:t> </a:t>
            </a:r>
            <a:r>
              <a:rPr lang="en-US" sz="600" noProof="1"/>
              <a:t>i</a:t>
            </a:r>
            <a:r>
              <a:rPr lang="en-US" sz="600" spc="25" noProof="1"/>
              <a:t> </a:t>
            </a:r>
            <a:r>
              <a:rPr lang="en-US" sz="600" noProof="1"/>
              <a:t>Virgili</a:t>
            </a:r>
            <a:r>
              <a:rPr lang="en-US" sz="600" spc="25" noProof="1"/>
              <a:t> </a:t>
            </a:r>
            <a:r>
              <a:rPr lang="en-US" sz="600" noProof="1"/>
              <a:t>and</a:t>
            </a:r>
            <a:r>
              <a:rPr lang="en-US" sz="600" spc="25" noProof="1"/>
              <a:t> </a:t>
            </a:r>
            <a:r>
              <a:rPr lang="en-US" sz="600" noProof="1"/>
              <a:t>Universitat</a:t>
            </a:r>
            <a:r>
              <a:rPr lang="en-US" sz="600" spc="20" noProof="1"/>
              <a:t> </a:t>
            </a:r>
            <a:r>
              <a:rPr lang="en-US" sz="600" noProof="1"/>
              <a:t>de</a:t>
            </a:r>
            <a:r>
              <a:rPr lang="en-US" sz="600" spc="25" noProof="1"/>
              <a:t> </a:t>
            </a:r>
            <a:r>
              <a:rPr lang="en-US" sz="600" spc="-10" noProof="1"/>
              <a:t>Lleida</a:t>
            </a:r>
            <a:endParaRPr lang="en-US" sz="600" noProof="1"/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48895" cy="5080"/>
            </a:xfrm>
            <a:custGeom>
              <a:avLst/>
              <a:gdLst/>
              <a:ahLst/>
              <a:cxnLst/>
              <a:rect l="l" t="t" r="r" b="b"/>
              <a:pathLst>
                <a:path w="48895" h="5080">
                  <a:moveTo>
                    <a:pt x="0" y="5060"/>
                  </a:moveTo>
                  <a:lnTo>
                    <a:pt x="0" y="0"/>
                  </a:lnTo>
                  <a:lnTo>
                    <a:pt x="48428" y="0"/>
                  </a:lnTo>
                  <a:lnTo>
                    <a:pt x="4842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11" name="object 4">
            <a:extLst>
              <a:ext uri="{FF2B5EF4-FFF2-40B4-BE49-F238E27FC236}">
                <a16:creationId xmlns:a16="http://schemas.microsoft.com/office/drawing/2014/main" id="{53D29060-4CCC-9584-B2CA-ECAD6932200B}"/>
              </a:ext>
            </a:extLst>
          </p:cNvPr>
          <p:cNvSpPr txBox="1"/>
          <p:nvPr/>
        </p:nvSpPr>
        <p:spPr>
          <a:xfrm>
            <a:off x="359994" y="1284711"/>
            <a:ext cx="2992806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1000" u="sng" noProof="1">
                <a:hlinkClick r:id="rId3"/>
              </a:rPr>
              <a:t>Session 6 &amp; 7 - AWS Networking</a:t>
            </a:r>
            <a:endParaRPr lang="en-US" sz="1000" noProof="1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4341"/>
            <a:ext cx="41211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spc="-5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Recap</a:t>
            </a:r>
            <a:endParaRPr lang="en-US" sz="1100" noProof="1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6231"/>
            <a:ext cx="2505710" cy="5080"/>
            <a:chOff x="1627403" y="1646231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6231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6231"/>
              <a:ext cx="21590" cy="5080"/>
            </a:xfrm>
            <a:custGeom>
              <a:avLst/>
              <a:gdLst/>
              <a:ahLst/>
              <a:cxnLst/>
              <a:rect l="l" t="t" r="r" b="b"/>
              <a:pathLst>
                <a:path w="21589" h="5080">
                  <a:moveTo>
                    <a:pt x="0" y="5060"/>
                  </a:moveTo>
                  <a:lnTo>
                    <a:pt x="0" y="0"/>
                  </a:lnTo>
                  <a:lnTo>
                    <a:pt x="21062" y="0"/>
                  </a:lnTo>
                  <a:lnTo>
                    <a:pt x="2106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5" noProof="1"/>
              <a:t>Networking</a:t>
            </a:r>
            <a:r>
              <a:rPr lang="en-US" noProof="1"/>
              <a:t> </a:t>
            </a:r>
            <a:r>
              <a:rPr lang="en-US" spc="-45" noProof="1"/>
              <a:t>concepts</a:t>
            </a:r>
            <a:r>
              <a:rPr lang="en-US" spc="5" noProof="1"/>
              <a:t> </a:t>
            </a:r>
            <a:r>
              <a:rPr lang="en-US" noProof="1"/>
              <a:t>we </a:t>
            </a:r>
            <a:r>
              <a:rPr lang="en-US" spc="-25" noProof="1"/>
              <a:t>already</a:t>
            </a:r>
            <a:r>
              <a:rPr lang="en-US" spc="5" noProof="1"/>
              <a:t> </a:t>
            </a:r>
            <a:r>
              <a:rPr lang="en-US" spc="-25" noProof="1"/>
              <a:t>met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1149391"/>
            <a:ext cx="5036185" cy="1061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Throughout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course,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already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interacting with different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networking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concepts.</a:t>
            </a:r>
            <a:r>
              <a:rPr lang="en-US" sz="900" spc="8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Here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are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some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them:</a:t>
            </a:r>
            <a:endParaRPr lang="en-US" sz="900" noProof="1">
              <a:latin typeface="Arial"/>
              <a:cs typeface="Arial"/>
            </a:endParaRPr>
          </a:p>
          <a:p>
            <a:pPr marL="237490" indent="-141605">
              <a:lnSpc>
                <a:spcPct val="100000"/>
              </a:lnSpc>
              <a:spcBef>
                <a:spcPts val="800"/>
              </a:spcBef>
              <a:buChar char="•"/>
              <a:tabLst>
                <a:tab pos="237490" algn="l"/>
              </a:tabLst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connecting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instances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SSH.</a:t>
            </a:r>
            <a:endParaRPr lang="en-US" sz="900" noProof="1">
              <a:latin typeface="Arial"/>
              <a:cs typeface="Arial"/>
            </a:endParaRPr>
          </a:p>
          <a:p>
            <a:pPr marL="237490" indent="-141605">
              <a:lnSpc>
                <a:spcPct val="100000"/>
              </a:lnSpc>
              <a:spcBef>
                <a:spcPts val="175"/>
              </a:spcBef>
              <a:buChar char="•"/>
              <a:tabLst>
                <a:tab pos="237490" algn="l"/>
              </a:tabLst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instances.</a:t>
            </a:r>
            <a:endParaRPr lang="en-US" sz="900" noProof="1">
              <a:latin typeface="Arial"/>
              <a:cs typeface="Arial"/>
            </a:endParaRPr>
          </a:p>
          <a:p>
            <a:pPr marL="237490" indent="-141605">
              <a:lnSpc>
                <a:spcPct val="100000"/>
              </a:lnSpc>
              <a:spcBef>
                <a:spcPts val="175"/>
              </a:spcBef>
              <a:buChar char="•"/>
              <a:tabLst>
                <a:tab pos="237490" algn="l"/>
              </a:tabLst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DNS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instances.</a:t>
            </a:r>
            <a:endParaRPr lang="en-US" sz="900" noProof="1">
              <a:latin typeface="Arial"/>
              <a:cs typeface="Arial"/>
            </a:endParaRPr>
          </a:p>
          <a:p>
            <a:pPr marL="237490" indent="-141605">
              <a:lnSpc>
                <a:spcPct val="100000"/>
              </a:lnSpc>
              <a:spcBef>
                <a:spcPts val="175"/>
              </a:spcBef>
              <a:buChar char="•"/>
              <a:tabLst>
                <a:tab pos="237490" algn="l"/>
              </a:tabLst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ports</a:t>
            </a:r>
            <a:r>
              <a:rPr lang="en-US" sz="900" b="1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launch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97155" cy="5080"/>
            </a:xfrm>
            <a:custGeom>
              <a:avLst/>
              <a:gdLst/>
              <a:ahLst/>
              <a:cxnLst/>
              <a:rect l="l" t="t" r="r" b="b"/>
              <a:pathLst>
                <a:path w="97155" h="5080">
                  <a:moveTo>
                    <a:pt x="0" y="5060"/>
                  </a:moveTo>
                  <a:lnTo>
                    <a:pt x="0" y="0"/>
                  </a:lnTo>
                  <a:lnTo>
                    <a:pt x="96768" y="0"/>
                  </a:lnTo>
                  <a:lnTo>
                    <a:pt x="9676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5" noProof="1"/>
              <a:t>Networking</a:t>
            </a:r>
            <a:r>
              <a:rPr lang="en-US" noProof="1"/>
              <a:t> </a:t>
            </a:r>
            <a:r>
              <a:rPr lang="en-US" spc="-45" noProof="1"/>
              <a:t>concepts</a:t>
            </a:r>
            <a:r>
              <a:rPr lang="en-US" spc="5" noProof="1"/>
              <a:t> </a:t>
            </a:r>
            <a:r>
              <a:rPr lang="en-US" noProof="1"/>
              <a:t>we </a:t>
            </a:r>
            <a:r>
              <a:rPr lang="en-US" spc="-25" noProof="1"/>
              <a:t>already</a:t>
            </a:r>
            <a:r>
              <a:rPr lang="en-US" spc="5" noProof="1"/>
              <a:t> </a:t>
            </a:r>
            <a:r>
              <a:rPr lang="en-US" spc="-25" noProof="1"/>
              <a:t>met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1069749"/>
            <a:ext cx="4999355" cy="1220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Although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working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these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concepts,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haven’t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really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discussed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 detail.</a:t>
            </a:r>
            <a:r>
              <a:rPr lang="en-US" sz="900" spc="8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Here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some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questions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ask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ourselves:</a:t>
            </a:r>
            <a:endParaRPr lang="en-US" sz="900" noProof="1">
              <a:latin typeface="Arial"/>
              <a:cs typeface="Arial"/>
            </a:endParaRPr>
          </a:p>
          <a:p>
            <a:pPr marL="237490" indent="-141605">
              <a:lnSpc>
                <a:spcPct val="100000"/>
              </a:lnSpc>
              <a:spcBef>
                <a:spcPts val="800"/>
              </a:spcBef>
              <a:buChar char="•"/>
              <a:tabLst>
                <a:tab pos="23749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sometimes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specify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connecting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service?</a:t>
            </a:r>
            <a:endParaRPr lang="en-US" sz="900" noProof="1">
              <a:latin typeface="Arial"/>
              <a:cs typeface="Arial"/>
            </a:endParaRPr>
          </a:p>
          <a:p>
            <a:pPr marL="237490" indent="-141605">
              <a:lnSpc>
                <a:spcPct val="100000"/>
              </a:lnSpc>
              <a:spcBef>
                <a:spcPts val="175"/>
              </a:spcBef>
              <a:buChar char="•"/>
              <a:tabLst>
                <a:tab pos="23749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instead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address?</a:t>
            </a:r>
            <a:endParaRPr lang="en-US" sz="900" noProof="1">
              <a:latin typeface="Arial"/>
              <a:cs typeface="Arial"/>
            </a:endParaRPr>
          </a:p>
          <a:p>
            <a:pPr marL="237490" indent="-141605">
              <a:lnSpc>
                <a:spcPct val="100000"/>
              </a:lnSpc>
              <a:spcBef>
                <a:spcPts val="175"/>
              </a:spcBef>
              <a:buChar char="•"/>
              <a:tabLst>
                <a:tab pos="23749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Why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DNS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interchangeably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?</a:t>
            </a:r>
            <a:endParaRPr lang="en-US" sz="900" noProof="1">
              <a:latin typeface="Arial"/>
              <a:cs typeface="Arial"/>
            </a:endParaRPr>
          </a:p>
          <a:p>
            <a:pPr marL="237490" indent="-141605">
              <a:lnSpc>
                <a:spcPct val="100000"/>
              </a:lnSpc>
              <a:spcBef>
                <a:spcPts val="175"/>
              </a:spcBef>
              <a:buChar char="•"/>
              <a:tabLst>
                <a:tab pos="23749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difference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address?</a:t>
            </a:r>
            <a:endParaRPr lang="en-US" sz="900" noProof="1">
              <a:latin typeface="Arial"/>
              <a:cs typeface="Arial"/>
            </a:endParaRPr>
          </a:p>
          <a:p>
            <a:pPr marL="237490" indent="-141605">
              <a:lnSpc>
                <a:spcPct val="100000"/>
              </a:lnSpc>
              <a:spcBef>
                <a:spcPts val="175"/>
              </a:spcBef>
              <a:buChar char="•"/>
              <a:tabLst>
                <a:tab pos="23749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Why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5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5" noProof="1">
                <a:solidFill>
                  <a:srgbClr val="22373A"/>
                </a:solidFill>
                <a:latin typeface="Arial"/>
                <a:cs typeface="Arial"/>
              </a:rPr>
              <a:t>changing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every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restart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lab?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45415" cy="5080"/>
            </a:xfrm>
            <a:custGeom>
              <a:avLst/>
              <a:gdLst/>
              <a:ahLst/>
              <a:cxnLst/>
              <a:rect l="l" t="t" r="r" b="b"/>
              <a:pathLst>
                <a:path w="145415" h="5080">
                  <a:moveTo>
                    <a:pt x="0" y="5060"/>
                  </a:moveTo>
                  <a:lnTo>
                    <a:pt x="0" y="0"/>
                  </a:lnTo>
                  <a:lnTo>
                    <a:pt x="145196" y="0"/>
                  </a:lnTo>
                  <a:lnTo>
                    <a:pt x="14519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4341"/>
            <a:ext cx="11645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spc="-3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Networking</a:t>
            </a:r>
            <a:r>
              <a:rPr lang="en-US" sz="1100" b="1" spc="3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spc="-8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basics</a:t>
            </a:r>
            <a:endParaRPr lang="en-US" sz="1100" noProof="1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6231"/>
            <a:ext cx="2505710" cy="5080"/>
            <a:chOff x="1627403" y="1646231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6231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6231"/>
              <a:ext cx="63500" cy="5080"/>
            </a:xfrm>
            <a:custGeom>
              <a:avLst/>
              <a:gdLst/>
              <a:ahLst/>
              <a:cxnLst/>
              <a:rect l="l" t="t" r="r" b="b"/>
              <a:pathLst>
                <a:path w="63500" h="5080">
                  <a:moveTo>
                    <a:pt x="0" y="5060"/>
                  </a:moveTo>
                  <a:lnTo>
                    <a:pt x="0" y="0"/>
                  </a:lnTo>
                  <a:lnTo>
                    <a:pt x="63150" y="0"/>
                  </a:lnTo>
                  <a:lnTo>
                    <a:pt x="6315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3779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70" noProof="1"/>
              <a:t> </a:t>
            </a:r>
            <a:r>
              <a:rPr lang="en-US" spc="-25" noProof="1"/>
              <a:t>is</a:t>
            </a:r>
            <a:r>
              <a:rPr lang="en-US" spc="70" noProof="1"/>
              <a:t> </a:t>
            </a:r>
            <a:r>
              <a:rPr lang="en-US" noProof="1"/>
              <a:t>an</a:t>
            </a:r>
            <a:r>
              <a:rPr lang="en-US" spc="70" noProof="1"/>
              <a:t> </a:t>
            </a:r>
            <a:r>
              <a:rPr lang="en-US" noProof="1"/>
              <a:t>IP</a:t>
            </a:r>
            <a:r>
              <a:rPr lang="en-US" spc="75" noProof="1"/>
              <a:t> </a:t>
            </a:r>
            <a:r>
              <a:rPr lang="en-US" spc="-60" noProof="1"/>
              <a:t>address?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54963" y="1373393"/>
            <a:ext cx="443865" cy="123189"/>
            <a:chOff x="1054963" y="1373393"/>
            <a:chExt cx="443865" cy="123189"/>
          </a:xfrm>
        </p:grpSpPr>
        <p:sp>
          <p:nvSpPr>
            <p:cNvPr id="4" name="object 4"/>
            <p:cNvSpPr/>
            <p:nvPr/>
          </p:nvSpPr>
          <p:spPr>
            <a:xfrm>
              <a:off x="1054963" y="1373393"/>
              <a:ext cx="443865" cy="123189"/>
            </a:xfrm>
            <a:custGeom>
              <a:avLst/>
              <a:gdLst/>
              <a:ahLst/>
              <a:cxnLst/>
              <a:rect l="l" t="t" r="r" b="b"/>
              <a:pathLst>
                <a:path w="443865" h="123190">
                  <a:moveTo>
                    <a:pt x="40779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7034"/>
                  </a:lnTo>
                  <a:lnTo>
                    <a:pt x="2829" y="101047"/>
                  </a:lnTo>
                  <a:lnTo>
                    <a:pt x="10544" y="112490"/>
                  </a:lnTo>
                  <a:lnTo>
                    <a:pt x="21987" y="120205"/>
                  </a:lnTo>
                  <a:lnTo>
                    <a:pt x="36000" y="123034"/>
                  </a:lnTo>
                  <a:lnTo>
                    <a:pt x="407793" y="123034"/>
                  </a:lnTo>
                  <a:lnTo>
                    <a:pt x="421806" y="120205"/>
                  </a:lnTo>
                  <a:lnTo>
                    <a:pt x="433249" y="112490"/>
                  </a:lnTo>
                  <a:lnTo>
                    <a:pt x="440964" y="101047"/>
                  </a:lnTo>
                  <a:lnTo>
                    <a:pt x="443793" y="87034"/>
                  </a:lnTo>
                  <a:lnTo>
                    <a:pt x="443793" y="36000"/>
                  </a:lnTo>
                  <a:lnTo>
                    <a:pt x="440964" y="21987"/>
                  </a:lnTo>
                  <a:lnTo>
                    <a:pt x="433249" y="10544"/>
                  </a:lnTo>
                  <a:lnTo>
                    <a:pt x="421806" y="2829"/>
                  </a:lnTo>
                  <a:lnTo>
                    <a:pt x="40779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054963" y="1373393"/>
              <a:ext cx="443865" cy="123189"/>
            </a:xfrm>
            <a:custGeom>
              <a:avLst/>
              <a:gdLst/>
              <a:ahLst/>
              <a:cxnLst/>
              <a:rect l="l" t="t" r="r" b="b"/>
              <a:pathLst>
                <a:path w="443865" h="123190">
                  <a:moveTo>
                    <a:pt x="40779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7034"/>
                  </a:lnTo>
                  <a:lnTo>
                    <a:pt x="2829" y="101047"/>
                  </a:lnTo>
                  <a:lnTo>
                    <a:pt x="10544" y="112490"/>
                  </a:lnTo>
                  <a:lnTo>
                    <a:pt x="21987" y="120205"/>
                  </a:lnTo>
                  <a:lnTo>
                    <a:pt x="36000" y="123034"/>
                  </a:lnTo>
                  <a:lnTo>
                    <a:pt x="407793" y="123034"/>
                  </a:lnTo>
                  <a:lnTo>
                    <a:pt x="421806" y="120205"/>
                  </a:lnTo>
                  <a:lnTo>
                    <a:pt x="433249" y="112490"/>
                  </a:lnTo>
                  <a:lnTo>
                    <a:pt x="440964" y="101047"/>
                  </a:lnTo>
                  <a:lnTo>
                    <a:pt x="443793" y="87034"/>
                  </a:lnTo>
                  <a:lnTo>
                    <a:pt x="443793" y="36000"/>
                  </a:lnTo>
                  <a:lnTo>
                    <a:pt x="440964" y="21987"/>
                  </a:lnTo>
                  <a:lnTo>
                    <a:pt x="433249" y="10544"/>
                  </a:lnTo>
                  <a:lnTo>
                    <a:pt x="421806" y="2829"/>
                  </a:lnTo>
                  <a:lnTo>
                    <a:pt x="40779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672069" y="1373165"/>
            <a:ext cx="623570" cy="123825"/>
            <a:chOff x="1672069" y="1373165"/>
            <a:chExt cx="623570" cy="123825"/>
          </a:xfrm>
        </p:grpSpPr>
        <p:sp>
          <p:nvSpPr>
            <p:cNvPr id="7" name="object 7"/>
            <p:cNvSpPr/>
            <p:nvPr/>
          </p:nvSpPr>
          <p:spPr>
            <a:xfrm>
              <a:off x="1672069" y="1373165"/>
              <a:ext cx="623570" cy="123825"/>
            </a:xfrm>
            <a:custGeom>
              <a:avLst/>
              <a:gdLst/>
              <a:ahLst/>
              <a:cxnLst/>
              <a:rect l="l" t="t" r="r" b="b"/>
              <a:pathLst>
                <a:path w="623569" h="123825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7262"/>
                  </a:lnTo>
                  <a:lnTo>
                    <a:pt x="2829" y="101275"/>
                  </a:lnTo>
                  <a:lnTo>
                    <a:pt x="10544" y="112718"/>
                  </a:lnTo>
                  <a:lnTo>
                    <a:pt x="21987" y="120433"/>
                  </a:lnTo>
                  <a:lnTo>
                    <a:pt x="36000" y="123262"/>
                  </a:lnTo>
                  <a:lnTo>
                    <a:pt x="587145" y="123262"/>
                  </a:lnTo>
                  <a:lnTo>
                    <a:pt x="601158" y="120433"/>
                  </a:lnTo>
                  <a:lnTo>
                    <a:pt x="612602" y="112718"/>
                  </a:lnTo>
                  <a:lnTo>
                    <a:pt x="620317" y="101275"/>
                  </a:lnTo>
                  <a:lnTo>
                    <a:pt x="623146" y="87262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1672069" y="1373165"/>
              <a:ext cx="623570" cy="123825"/>
            </a:xfrm>
            <a:custGeom>
              <a:avLst/>
              <a:gdLst/>
              <a:ahLst/>
              <a:cxnLst/>
              <a:rect l="l" t="t" r="r" b="b"/>
              <a:pathLst>
                <a:path w="623569" h="123825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7262"/>
                  </a:lnTo>
                  <a:lnTo>
                    <a:pt x="2829" y="101275"/>
                  </a:lnTo>
                  <a:lnTo>
                    <a:pt x="10544" y="112718"/>
                  </a:lnTo>
                  <a:lnTo>
                    <a:pt x="21987" y="120433"/>
                  </a:lnTo>
                  <a:lnTo>
                    <a:pt x="36000" y="123262"/>
                  </a:lnTo>
                  <a:lnTo>
                    <a:pt x="587145" y="123262"/>
                  </a:lnTo>
                  <a:lnTo>
                    <a:pt x="601158" y="120433"/>
                  </a:lnTo>
                  <a:lnTo>
                    <a:pt x="612602" y="112718"/>
                  </a:lnTo>
                  <a:lnTo>
                    <a:pt x="620317" y="101275"/>
                  </a:lnTo>
                  <a:lnTo>
                    <a:pt x="623146" y="87262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863993" y="2068508"/>
            <a:ext cx="4032250" cy="516890"/>
            <a:chOff x="863993" y="2068508"/>
            <a:chExt cx="4032250" cy="516890"/>
          </a:xfrm>
        </p:grpSpPr>
        <p:sp>
          <p:nvSpPr>
            <p:cNvPr id="10" name="object 10"/>
            <p:cNvSpPr/>
            <p:nvPr/>
          </p:nvSpPr>
          <p:spPr>
            <a:xfrm>
              <a:off x="863993" y="2068508"/>
              <a:ext cx="4032250" cy="516890"/>
            </a:xfrm>
            <a:custGeom>
              <a:avLst/>
              <a:gdLst/>
              <a:ahLst/>
              <a:cxnLst/>
              <a:rect l="l" t="t" r="r" b="b"/>
              <a:pathLst>
                <a:path w="4032250" h="516889">
                  <a:moveTo>
                    <a:pt x="3978067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462322"/>
                  </a:lnTo>
                  <a:lnTo>
                    <a:pt x="4243" y="483341"/>
                  </a:lnTo>
                  <a:lnTo>
                    <a:pt x="15816" y="500506"/>
                  </a:lnTo>
                  <a:lnTo>
                    <a:pt x="32980" y="512079"/>
                  </a:lnTo>
                  <a:lnTo>
                    <a:pt x="54000" y="516322"/>
                  </a:lnTo>
                  <a:lnTo>
                    <a:pt x="3978067" y="516322"/>
                  </a:lnTo>
                  <a:lnTo>
                    <a:pt x="3999086" y="512079"/>
                  </a:lnTo>
                  <a:lnTo>
                    <a:pt x="4016251" y="500506"/>
                  </a:lnTo>
                  <a:lnTo>
                    <a:pt x="4027823" y="483341"/>
                  </a:lnTo>
                  <a:lnTo>
                    <a:pt x="4032067" y="462322"/>
                  </a:lnTo>
                  <a:lnTo>
                    <a:pt x="4032067" y="54000"/>
                  </a:lnTo>
                  <a:lnTo>
                    <a:pt x="4027823" y="32980"/>
                  </a:lnTo>
                  <a:lnTo>
                    <a:pt x="4016251" y="15816"/>
                  </a:lnTo>
                  <a:lnTo>
                    <a:pt x="3999086" y="4243"/>
                  </a:lnTo>
                  <a:lnTo>
                    <a:pt x="3978067" y="0"/>
                  </a:lnTo>
                  <a:close/>
                </a:path>
              </a:pathLst>
            </a:custGeom>
            <a:solidFill>
              <a:srgbClr val="880C58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1" name="object 11"/>
            <p:cNvSpPr/>
            <p:nvPr/>
          </p:nvSpPr>
          <p:spPr>
            <a:xfrm>
              <a:off x="881993" y="2086508"/>
              <a:ext cx="3996690" cy="480695"/>
            </a:xfrm>
            <a:custGeom>
              <a:avLst/>
              <a:gdLst/>
              <a:ahLst/>
              <a:cxnLst/>
              <a:rect l="l" t="t" r="r" b="b"/>
              <a:pathLst>
                <a:path w="3996690" h="480694">
                  <a:moveTo>
                    <a:pt x="396006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444322"/>
                  </a:lnTo>
                  <a:lnTo>
                    <a:pt x="2829" y="458335"/>
                  </a:lnTo>
                  <a:lnTo>
                    <a:pt x="10544" y="469778"/>
                  </a:lnTo>
                  <a:lnTo>
                    <a:pt x="21987" y="477493"/>
                  </a:lnTo>
                  <a:lnTo>
                    <a:pt x="36000" y="480322"/>
                  </a:lnTo>
                  <a:lnTo>
                    <a:pt x="3960067" y="480322"/>
                  </a:lnTo>
                  <a:lnTo>
                    <a:pt x="3974080" y="477493"/>
                  </a:lnTo>
                  <a:lnTo>
                    <a:pt x="3985523" y="469778"/>
                  </a:lnTo>
                  <a:lnTo>
                    <a:pt x="3993238" y="458335"/>
                  </a:lnTo>
                  <a:lnTo>
                    <a:pt x="3996067" y="444322"/>
                  </a:lnTo>
                  <a:lnTo>
                    <a:pt x="3996067" y="36000"/>
                  </a:lnTo>
                  <a:lnTo>
                    <a:pt x="3993238" y="21987"/>
                  </a:lnTo>
                  <a:lnTo>
                    <a:pt x="3985523" y="10544"/>
                  </a:lnTo>
                  <a:lnTo>
                    <a:pt x="3974080" y="2829"/>
                  </a:lnTo>
                  <a:lnTo>
                    <a:pt x="3960067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43433" y="762981"/>
            <a:ext cx="5069205" cy="1708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31750" indent="-4445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6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unique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identifier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device.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way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street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identifies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house,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an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identifies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device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on a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network.</a:t>
            </a:r>
            <a:endParaRPr lang="en-US" sz="900" noProof="1">
              <a:latin typeface="Arial"/>
              <a:cs typeface="Arial"/>
            </a:endParaRPr>
          </a:p>
          <a:p>
            <a:pPr marL="239395" marR="139065" indent="-143510">
              <a:lnSpc>
                <a:spcPct val="116199"/>
              </a:lnSpc>
              <a:spcBef>
                <a:spcPts val="625"/>
              </a:spcBef>
              <a:buChar char="•"/>
              <a:tabLst>
                <a:tab pos="24384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32-bit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number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divided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four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8-bit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numbers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separated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dots.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For 	example,</a:t>
            </a:r>
            <a:r>
              <a:rPr lang="en-US" sz="900" spc="1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1.2.3.4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lang="en-US" sz="900" spc="1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52.4.75.36</a:t>
            </a:r>
            <a:r>
              <a:rPr lang="en-US" sz="900" spc="-445" noProof="1">
                <a:latin typeface="Courier New"/>
                <a:cs typeface="Courier New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Every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these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8-bit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numbers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called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octet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value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0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255.</a:t>
            </a:r>
            <a:endParaRPr lang="en-US" sz="900" noProof="1">
              <a:latin typeface="Arial"/>
              <a:cs typeface="Arial"/>
            </a:endParaRPr>
          </a:p>
          <a:p>
            <a:pPr marL="239395" marR="5080" indent="-143510">
              <a:lnSpc>
                <a:spcPct val="116199"/>
              </a:lnSpc>
              <a:buChar char="•"/>
              <a:tabLst>
                <a:tab pos="24384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addresses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world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value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0.0.0.0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255.255.255.255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makes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up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	total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4,294,967,296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possible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addresses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(2^32).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724535" marR="690245" indent="60325">
              <a:lnSpc>
                <a:spcPct val="116199"/>
              </a:lnSpc>
            </a:pPr>
            <a:r>
              <a:rPr lang="en-US" sz="900" spc="-30" noProof="1">
                <a:latin typeface="Arial"/>
                <a:cs typeface="Arial"/>
              </a:rPr>
              <a:t>So</a:t>
            </a:r>
            <a:r>
              <a:rPr lang="en-US" sz="900" spc="-15" noProof="1">
                <a:latin typeface="Arial"/>
                <a:cs typeface="Arial"/>
              </a:rPr>
              <a:t> </a:t>
            </a:r>
            <a:r>
              <a:rPr lang="en-US" sz="900" spc="-50" noProof="1">
                <a:latin typeface="Arial"/>
                <a:cs typeface="Arial"/>
              </a:rPr>
              <a:t>we</a:t>
            </a:r>
            <a:r>
              <a:rPr lang="en-US" sz="900" spc="5" noProof="1">
                <a:latin typeface="Arial"/>
                <a:cs typeface="Arial"/>
              </a:rPr>
              <a:t> </a:t>
            </a:r>
            <a:r>
              <a:rPr lang="en-US" sz="900" spc="-45" noProof="1">
                <a:latin typeface="Arial"/>
                <a:cs typeface="Arial"/>
              </a:rPr>
              <a:t>have</a:t>
            </a:r>
            <a:r>
              <a:rPr lang="en-US" sz="900" spc="5" noProof="1">
                <a:latin typeface="Arial"/>
                <a:cs typeface="Arial"/>
              </a:rPr>
              <a:t> </a:t>
            </a:r>
            <a:r>
              <a:rPr lang="en-US" sz="900" spc="-25" noProof="1">
                <a:latin typeface="Arial"/>
                <a:cs typeface="Arial"/>
              </a:rPr>
              <a:t>around</a:t>
            </a:r>
            <a:r>
              <a:rPr lang="en-US" sz="900" spc="5" noProof="1">
                <a:latin typeface="Arial"/>
                <a:cs typeface="Arial"/>
              </a:rPr>
              <a:t> </a:t>
            </a:r>
            <a:r>
              <a:rPr lang="en-US" sz="900" noProof="1">
                <a:latin typeface="Arial"/>
                <a:cs typeface="Arial"/>
              </a:rPr>
              <a:t>four billion</a:t>
            </a:r>
            <a:r>
              <a:rPr lang="en-US" sz="900" spc="5" noProof="1">
                <a:latin typeface="Arial"/>
                <a:cs typeface="Arial"/>
              </a:rPr>
              <a:t> </a:t>
            </a:r>
            <a:r>
              <a:rPr lang="en-US" sz="900" noProof="1">
                <a:latin typeface="Arial"/>
                <a:cs typeface="Arial"/>
              </a:rPr>
              <a:t>IP</a:t>
            </a:r>
            <a:r>
              <a:rPr lang="en-US" sz="900" spc="5" noProof="1">
                <a:latin typeface="Arial"/>
                <a:cs typeface="Arial"/>
              </a:rPr>
              <a:t> </a:t>
            </a:r>
            <a:r>
              <a:rPr lang="en-US" sz="900" spc="-50" noProof="1">
                <a:latin typeface="Arial"/>
                <a:cs typeface="Arial"/>
              </a:rPr>
              <a:t>addresses.</a:t>
            </a:r>
            <a:r>
              <a:rPr lang="en-US" sz="900" spc="130" noProof="1">
                <a:latin typeface="Arial"/>
                <a:cs typeface="Arial"/>
              </a:rPr>
              <a:t> </a:t>
            </a:r>
            <a:r>
              <a:rPr lang="en-US" sz="900" noProof="1">
                <a:latin typeface="Arial"/>
                <a:cs typeface="Arial"/>
              </a:rPr>
              <a:t>This</a:t>
            </a:r>
            <a:r>
              <a:rPr lang="en-US" sz="900" spc="5" noProof="1">
                <a:latin typeface="Arial"/>
                <a:cs typeface="Arial"/>
              </a:rPr>
              <a:t> </a:t>
            </a:r>
            <a:r>
              <a:rPr lang="en-US" sz="900" noProof="1">
                <a:latin typeface="Arial"/>
                <a:cs typeface="Arial"/>
              </a:rPr>
              <a:t>might</a:t>
            </a:r>
            <a:r>
              <a:rPr lang="en-US" sz="900" spc="5" noProof="1">
                <a:latin typeface="Arial"/>
                <a:cs typeface="Arial"/>
              </a:rPr>
              <a:t> </a:t>
            </a:r>
            <a:r>
              <a:rPr lang="en-US" sz="900" spc="-70" noProof="1">
                <a:latin typeface="Arial"/>
                <a:cs typeface="Arial"/>
              </a:rPr>
              <a:t>seem</a:t>
            </a:r>
            <a:r>
              <a:rPr lang="en-US" sz="900" spc="5" noProof="1">
                <a:latin typeface="Arial"/>
                <a:cs typeface="Arial"/>
              </a:rPr>
              <a:t> </a:t>
            </a:r>
            <a:r>
              <a:rPr lang="en-US" sz="900" noProof="1">
                <a:latin typeface="Arial"/>
                <a:cs typeface="Arial"/>
              </a:rPr>
              <a:t>like</a:t>
            </a:r>
            <a:r>
              <a:rPr lang="en-US" sz="900" spc="5" noProof="1">
                <a:latin typeface="Arial"/>
                <a:cs typeface="Arial"/>
              </a:rPr>
              <a:t> </a:t>
            </a:r>
            <a:r>
              <a:rPr lang="en-US" sz="900" noProof="1">
                <a:latin typeface="Arial"/>
                <a:cs typeface="Arial"/>
              </a:rPr>
              <a:t>a</a:t>
            </a:r>
            <a:r>
              <a:rPr lang="en-US" sz="900" spc="5" noProof="1">
                <a:latin typeface="Arial"/>
                <a:cs typeface="Arial"/>
              </a:rPr>
              <a:t> </a:t>
            </a:r>
            <a:r>
              <a:rPr lang="en-US" sz="900" spc="-20" noProof="1">
                <a:latin typeface="Arial"/>
                <a:cs typeface="Arial"/>
              </a:rPr>
              <a:t>lot, </a:t>
            </a:r>
            <a:r>
              <a:rPr lang="en-US" sz="900" noProof="1">
                <a:latin typeface="Arial"/>
                <a:cs typeface="Arial"/>
              </a:rPr>
              <a:t>but</a:t>
            </a:r>
            <a:r>
              <a:rPr lang="en-US" sz="900" spc="15" noProof="1">
                <a:latin typeface="Arial"/>
                <a:cs typeface="Arial"/>
              </a:rPr>
              <a:t> </a:t>
            </a:r>
            <a:r>
              <a:rPr lang="en-US" sz="900" b="1" noProof="1">
                <a:latin typeface="Arial"/>
                <a:cs typeface="Arial"/>
              </a:rPr>
              <a:t>it</a:t>
            </a:r>
            <a:r>
              <a:rPr lang="en-US" sz="900" b="1" spc="15" noProof="1">
                <a:latin typeface="Arial"/>
                <a:cs typeface="Arial"/>
              </a:rPr>
              <a:t> </a:t>
            </a:r>
            <a:r>
              <a:rPr lang="en-US" sz="900" b="1" spc="-35" noProof="1">
                <a:latin typeface="Arial"/>
                <a:cs typeface="Arial"/>
              </a:rPr>
              <a:t>is</a:t>
            </a:r>
            <a:r>
              <a:rPr lang="en-US" sz="900" b="1" spc="20" noProof="1">
                <a:latin typeface="Arial"/>
                <a:cs typeface="Arial"/>
              </a:rPr>
              <a:t> </a:t>
            </a:r>
            <a:r>
              <a:rPr lang="en-US" sz="900" b="1" noProof="1">
                <a:latin typeface="Arial"/>
                <a:cs typeface="Arial"/>
              </a:rPr>
              <a:t>not</a:t>
            </a:r>
            <a:r>
              <a:rPr lang="en-US" sz="900" b="1" spc="15" noProof="1">
                <a:latin typeface="Arial"/>
                <a:cs typeface="Arial"/>
              </a:rPr>
              <a:t> </a:t>
            </a:r>
            <a:r>
              <a:rPr lang="en-US" sz="900" b="1" spc="-45" noProof="1">
                <a:latin typeface="Arial"/>
                <a:cs typeface="Arial"/>
              </a:rPr>
              <a:t>enough</a:t>
            </a:r>
            <a:r>
              <a:rPr lang="en-US" sz="900" b="1" spc="20" noProof="1">
                <a:latin typeface="Arial"/>
                <a:cs typeface="Arial"/>
              </a:rPr>
              <a:t> </a:t>
            </a:r>
            <a:r>
              <a:rPr lang="en-US" sz="900" b="1" noProof="1">
                <a:latin typeface="Arial"/>
                <a:cs typeface="Arial"/>
              </a:rPr>
              <a:t>to</a:t>
            </a:r>
            <a:r>
              <a:rPr lang="en-US" sz="900" b="1" spc="15" noProof="1">
                <a:latin typeface="Arial"/>
                <a:cs typeface="Arial"/>
              </a:rPr>
              <a:t> </a:t>
            </a:r>
            <a:r>
              <a:rPr lang="en-US" sz="900" b="1" spc="-25" noProof="1">
                <a:latin typeface="Arial"/>
                <a:cs typeface="Arial"/>
              </a:rPr>
              <a:t>give</a:t>
            </a:r>
            <a:r>
              <a:rPr lang="en-US" sz="900" b="1" spc="20" noProof="1">
                <a:latin typeface="Arial"/>
                <a:cs typeface="Arial"/>
              </a:rPr>
              <a:t> </a:t>
            </a:r>
            <a:r>
              <a:rPr lang="en-US" sz="900" b="1" noProof="1">
                <a:latin typeface="Arial"/>
                <a:cs typeface="Arial"/>
              </a:rPr>
              <a:t>an</a:t>
            </a:r>
            <a:r>
              <a:rPr lang="en-US" sz="900" b="1" spc="15" noProof="1">
                <a:latin typeface="Arial"/>
                <a:cs typeface="Arial"/>
              </a:rPr>
              <a:t> </a:t>
            </a:r>
            <a:r>
              <a:rPr lang="en-US" sz="900" b="1" noProof="1">
                <a:latin typeface="Arial"/>
                <a:cs typeface="Arial"/>
              </a:rPr>
              <a:t>IP</a:t>
            </a:r>
            <a:r>
              <a:rPr lang="en-US" sz="900" b="1" spc="15" noProof="1">
                <a:latin typeface="Arial"/>
                <a:cs typeface="Arial"/>
              </a:rPr>
              <a:t> </a:t>
            </a:r>
            <a:r>
              <a:rPr lang="en-US" sz="900" b="1" spc="-65" noProof="1">
                <a:latin typeface="Arial"/>
                <a:cs typeface="Arial"/>
              </a:rPr>
              <a:t>address</a:t>
            </a:r>
            <a:r>
              <a:rPr lang="en-US" sz="900" b="1" spc="20" noProof="1">
                <a:latin typeface="Arial"/>
                <a:cs typeface="Arial"/>
              </a:rPr>
              <a:t> </a:t>
            </a:r>
            <a:r>
              <a:rPr lang="en-US" sz="900" b="1" noProof="1">
                <a:latin typeface="Arial"/>
                <a:cs typeface="Arial"/>
              </a:rPr>
              <a:t>to</a:t>
            </a:r>
            <a:r>
              <a:rPr lang="en-US" sz="900" b="1" spc="15" noProof="1">
                <a:latin typeface="Arial"/>
                <a:cs typeface="Arial"/>
              </a:rPr>
              <a:t> </a:t>
            </a:r>
            <a:r>
              <a:rPr lang="en-US" sz="900" b="1" spc="-30" noProof="1">
                <a:latin typeface="Arial"/>
                <a:cs typeface="Arial"/>
              </a:rPr>
              <a:t>every</a:t>
            </a:r>
            <a:r>
              <a:rPr lang="en-US" sz="900" b="1" spc="20" noProof="1">
                <a:latin typeface="Arial"/>
                <a:cs typeface="Arial"/>
              </a:rPr>
              <a:t> </a:t>
            </a:r>
            <a:r>
              <a:rPr lang="en-US" sz="900" b="1" spc="-35" noProof="1">
                <a:latin typeface="Arial"/>
                <a:cs typeface="Arial"/>
              </a:rPr>
              <a:t>device</a:t>
            </a:r>
            <a:r>
              <a:rPr lang="en-US" sz="900" b="1" spc="15" noProof="1">
                <a:latin typeface="Arial"/>
                <a:cs typeface="Arial"/>
              </a:rPr>
              <a:t> </a:t>
            </a:r>
            <a:r>
              <a:rPr lang="en-US" sz="900" b="1" noProof="1">
                <a:latin typeface="Arial"/>
                <a:cs typeface="Arial"/>
              </a:rPr>
              <a:t>in</a:t>
            </a:r>
            <a:r>
              <a:rPr lang="en-US" sz="900" b="1" spc="20" noProof="1">
                <a:latin typeface="Arial"/>
                <a:cs typeface="Arial"/>
              </a:rPr>
              <a:t> </a:t>
            </a:r>
            <a:r>
              <a:rPr lang="en-US" sz="900" b="1" noProof="1">
                <a:latin typeface="Arial"/>
                <a:cs typeface="Arial"/>
              </a:rPr>
              <a:t>the</a:t>
            </a:r>
            <a:r>
              <a:rPr lang="en-US" sz="900" b="1" spc="15" noProof="1">
                <a:latin typeface="Arial"/>
                <a:cs typeface="Arial"/>
              </a:rPr>
              <a:t> </a:t>
            </a:r>
            <a:r>
              <a:rPr lang="en-US" sz="900" b="1" spc="-20" noProof="1">
                <a:latin typeface="Arial"/>
                <a:cs typeface="Arial"/>
              </a:rPr>
              <a:t>world</a:t>
            </a:r>
            <a:r>
              <a:rPr lang="en-US" sz="900" spc="-20" noProof="1"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4" name="object 14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3234963"/>
              <a:ext cx="193675" cy="5080"/>
            </a:xfrm>
            <a:custGeom>
              <a:avLst/>
              <a:gdLst/>
              <a:ahLst/>
              <a:cxnLst/>
              <a:rect l="l" t="t" r="r" b="b"/>
              <a:pathLst>
                <a:path w="193675" h="5080">
                  <a:moveTo>
                    <a:pt x="0" y="5060"/>
                  </a:moveTo>
                  <a:lnTo>
                    <a:pt x="0" y="0"/>
                  </a:lnTo>
                  <a:lnTo>
                    <a:pt x="193625" y="0"/>
                  </a:lnTo>
                  <a:lnTo>
                    <a:pt x="19362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3779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What</a:t>
            </a:r>
            <a:r>
              <a:rPr lang="en-US" sz="1000" b="1" spc="7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is</a:t>
            </a:r>
            <a:r>
              <a:rPr lang="en-US" sz="1000" b="1" spc="7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an</a:t>
            </a:r>
            <a:r>
              <a:rPr lang="en-US" sz="1000" b="1" spc="7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IP</a:t>
            </a:r>
            <a:r>
              <a:rPr lang="en-US" sz="1000" b="1" spc="7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60" noProof="1">
                <a:solidFill>
                  <a:srgbClr val="F9F9F9"/>
                </a:solidFill>
                <a:latin typeface="Arial"/>
                <a:cs typeface="Arial"/>
              </a:rPr>
              <a:t>address?</a:t>
            </a:r>
            <a:endParaRPr lang="en-US" sz="10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7696" y="644331"/>
            <a:ext cx="3204608" cy="179938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57298" y="2556136"/>
            <a:ext cx="16510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solve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this?</a:t>
            </a:r>
            <a:r>
              <a:rPr lang="en-US" sz="9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Any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idea?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42570" cy="5080"/>
            </a:xfrm>
            <a:custGeom>
              <a:avLst/>
              <a:gdLst/>
              <a:ahLst/>
              <a:cxnLst/>
              <a:rect l="l" t="t" r="r" b="b"/>
              <a:pathLst>
                <a:path w="242570" h="5080">
                  <a:moveTo>
                    <a:pt x="0" y="5060"/>
                  </a:moveTo>
                  <a:lnTo>
                    <a:pt x="0" y="0"/>
                  </a:lnTo>
                  <a:lnTo>
                    <a:pt x="242053" y="0"/>
                  </a:lnTo>
                  <a:lnTo>
                    <a:pt x="24205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Private</a:t>
            </a:r>
            <a:r>
              <a:rPr lang="en-US" spc="30" noProof="1"/>
              <a:t> </a:t>
            </a:r>
            <a:r>
              <a:rPr lang="en-US" spc="-40" noProof="1"/>
              <a:t>vs</a:t>
            </a:r>
            <a:r>
              <a:rPr lang="en-US" spc="35" noProof="1"/>
              <a:t> </a:t>
            </a:r>
            <a:r>
              <a:rPr lang="en-US" spc="-10" noProof="1"/>
              <a:t>Public</a:t>
            </a:r>
            <a:r>
              <a:rPr lang="en-US" spc="30" noProof="1"/>
              <a:t> </a:t>
            </a:r>
            <a:r>
              <a:rPr lang="en-US" noProof="1"/>
              <a:t>IP</a:t>
            </a:r>
            <a:r>
              <a:rPr lang="en-US" spc="35" noProof="1"/>
              <a:t> </a:t>
            </a:r>
            <a:r>
              <a:rPr lang="en-US" spc="-65" noProof="1"/>
              <a:t>addresses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87743" y="2149063"/>
            <a:ext cx="2775585" cy="138430"/>
            <a:chOff x="587743" y="2149063"/>
            <a:chExt cx="2775585" cy="138430"/>
          </a:xfrm>
        </p:grpSpPr>
        <p:sp>
          <p:nvSpPr>
            <p:cNvPr id="4" name="object 4"/>
            <p:cNvSpPr/>
            <p:nvPr/>
          </p:nvSpPr>
          <p:spPr>
            <a:xfrm>
              <a:off x="587743" y="2149063"/>
              <a:ext cx="2775585" cy="138430"/>
            </a:xfrm>
            <a:custGeom>
              <a:avLst/>
              <a:gdLst/>
              <a:ahLst/>
              <a:cxnLst/>
              <a:rect l="l" t="t" r="r" b="b"/>
              <a:pathLst>
                <a:path w="2775585" h="138430">
                  <a:moveTo>
                    <a:pt x="273937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1838"/>
                  </a:lnTo>
                  <a:lnTo>
                    <a:pt x="2829" y="115851"/>
                  </a:lnTo>
                  <a:lnTo>
                    <a:pt x="10544" y="127294"/>
                  </a:lnTo>
                  <a:lnTo>
                    <a:pt x="21987" y="135009"/>
                  </a:lnTo>
                  <a:lnTo>
                    <a:pt x="36000" y="137838"/>
                  </a:lnTo>
                  <a:lnTo>
                    <a:pt x="2739373" y="137838"/>
                  </a:lnTo>
                  <a:lnTo>
                    <a:pt x="2753386" y="135009"/>
                  </a:lnTo>
                  <a:lnTo>
                    <a:pt x="2764829" y="127294"/>
                  </a:lnTo>
                  <a:lnTo>
                    <a:pt x="2772544" y="115851"/>
                  </a:lnTo>
                  <a:lnTo>
                    <a:pt x="2775373" y="101838"/>
                  </a:lnTo>
                  <a:lnTo>
                    <a:pt x="2775373" y="36000"/>
                  </a:lnTo>
                  <a:lnTo>
                    <a:pt x="2772544" y="21987"/>
                  </a:lnTo>
                  <a:lnTo>
                    <a:pt x="2764829" y="10544"/>
                  </a:lnTo>
                  <a:lnTo>
                    <a:pt x="2753386" y="2829"/>
                  </a:lnTo>
                  <a:lnTo>
                    <a:pt x="273937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587743" y="2149063"/>
              <a:ext cx="2775585" cy="138430"/>
            </a:xfrm>
            <a:custGeom>
              <a:avLst/>
              <a:gdLst/>
              <a:ahLst/>
              <a:cxnLst/>
              <a:rect l="l" t="t" r="r" b="b"/>
              <a:pathLst>
                <a:path w="2775585" h="138430">
                  <a:moveTo>
                    <a:pt x="273937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1838"/>
                  </a:lnTo>
                  <a:lnTo>
                    <a:pt x="2829" y="115851"/>
                  </a:lnTo>
                  <a:lnTo>
                    <a:pt x="10544" y="127294"/>
                  </a:lnTo>
                  <a:lnTo>
                    <a:pt x="21987" y="135009"/>
                  </a:lnTo>
                  <a:lnTo>
                    <a:pt x="36000" y="137838"/>
                  </a:lnTo>
                  <a:lnTo>
                    <a:pt x="2739373" y="137838"/>
                  </a:lnTo>
                  <a:lnTo>
                    <a:pt x="2753386" y="135009"/>
                  </a:lnTo>
                  <a:lnTo>
                    <a:pt x="2764829" y="127294"/>
                  </a:lnTo>
                  <a:lnTo>
                    <a:pt x="2772544" y="115851"/>
                  </a:lnTo>
                  <a:lnTo>
                    <a:pt x="2775373" y="101838"/>
                  </a:lnTo>
                  <a:lnTo>
                    <a:pt x="2775373" y="36000"/>
                  </a:lnTo>
                  <a:lnTo>
                    <a:pt x="2772544" y="21987"/>
                  </a:lnTo>
                  <a:lnTo>
                    <a:pt x="2764829" y="10544"/>
                  </a:lnTo>
                  <a:lnTo>
                    <a:pt x="2753386" y="2829"/>
                  </a:lnTo>
                  <a:lnTo>
                    <a:pt x="273937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3319" y="1083584"/>
            <a:ext cx="5037455" cy="1198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solve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problem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having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enough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addresses,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addresses.</a:t>
            </a:r>
            <a:endParaRPr lang="en-US" sz="900" noProof="1">
              <a:latin typeface="Arial"/>
              <a:cs typeface="Arial"/>
            </a:endParaRPr>
          </a:p>
          <a:p>
            <a:pPr marL="243840" marR="5080" indent="-147955">
              <a:lnSpc>
                <a:spcPct val="116199"/>
              </a:lnSpc>
              <a:spcBef>
                <a:spcPts val="625"/>
              </a:spcBef>
              <a:buFont typeface="Arial"/>
              <a:buChar char="•"/>
              <a:tabLst>
                <a:tab pos="243840" algn="l"/>
              </a:tabLst>
            </a:pP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65" noProof="1">
                <a:solidFill>
                  <a:srgbClr val="22373A"/>
                </a:solidFill>
                <a:latin typeface="Arial"/>
                <a:cs typeface="Arial"/>
              </a:rPr>
              <a:t>addresses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identify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within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network.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unique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can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reused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networks.</a:t>
            </a:r>
            <a:endParaRPr lang="en-US" sz="900" noProof="1">
              <a:latin typeface="Arial"/>
              <a:cs typeface="Arial"/>
            </a:endParaRPr>
          </a:p>
          <a:p>
            <a:pPr marL="243840" marR="110489" indent="-147955">
              <a:lnSpc>
                <a:spcPct val="116199"/>
              </a:lnSpc>
              <a:buFont typeface="Arial"/>
              <a:buChar char="•"/>
              <a:tabLst>
                <a:tab pos="243840" algn="l"/>
              </a:tabLst>
            </a:pP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65" noProof="1">
                <a:solidFill>
                  <a:srgbClr val="22373A"/>
                </a:solidFill>
                <a:latin typeface="Arial"/>
                <a:cs typeface="Arial"/>
              </a:rPr>
              <a:t>addresses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identify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unique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can’t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be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reused.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243204" algn="l"/>
              </a:tabLst>
            </a:pPr>
            <a:r>
              <a:rPr lang="en-US" sz="900" b="1" spc="-5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5" noProof="1">
                <a:solidFill>
                  <a:srgbClr val="22373A"/>
                </a:solidFill>
                <a:latin typeface="Arial"/>
                <a:cs typeface="Arial"/>
              </a:rPr>
              <a:t>Ranges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reserved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addresses.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fall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endParaRPr lang="en-US" sz="900" noProof="1">
              <a:latin typeface="Arial"/>
              <a:cs typeface="Arial"/>
            </a:endParaRPr>
          </a:p>
          <a:p>
            <a:pPr marL="256540">
              <a:lnSpc>
                <a:spcPct val="100000"/>
              </a:lnSpc>
              <a:spcBef>
                <a:spcPts val="175"/>
              </a:spcBef>
            </a:pPr>
            <a:r>
              <a:rPr lang="en-US" sz="900" spc="-70" noProof="1">
                <a:latin typeface="Courier New"/>
                <a:cs typeface="Courier New"/>
              </a:rPr>
              <a:t>10.x.x.x, 172.16.x.x - 172.31.x.x, </a:t>
            </a:r>
            <a:r>
              <a:rPr lang="en-US" sz="900" spc="-75" noProof="1">
                <a:latin typeface="Courier New"/>
                <a:cs typeface="Courier New"/>
              </a:rPr>
              <a:t>192.168.x.x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reserved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addresses.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290830" cy="5080"/>
            </a:xfrm>
            <a:custGeom>
              <a:avLst/>
              <a:gdLst/>
              <a:ahLst/>
              <a:cxnLst/>
              <a:rect l="l" t="t" r="r" b="b"/>
              <a:pathLst>
                <a:path w="290830" h="5080">
                  <a:moveTo>
                    <a:pt x="0" y="5060"/>
                  </a:moveTo>
                  <a:lnTo>
                    <a:pt x="0" y="0"/>
                  </a:lnTo>
                  <a:lnTo>
                    <a:pt x="290394" y="0"/>
                  </a:lnTo>
                  <a:lnTo>
                    <a:pt x="29039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Private</a:t>
            </a:r>
            <a:r>
              <a:rPr lang="en-US" spc="30" noProof="1"/>
              <a:t> </a:t>
            </a:r>
            <a:r>
              <a:rPr lang="en-US" spc="-40" noProof="1"/>
              <a:t>vs</a:t>
            </a:r>
            <a:r>
              <a:rPr lang="en-US" spc="35" noProof="1"/>
              <a:t> </a:t>
            </a:r>
            <a:r>
              <a:rPr lang="en-US" spc="-10" noProof="1"/>
              <a:t>Public</a:t>
            </a:r>
            <a:r>
              <a:rPr lang="en-US" spc="30" noProof="1"/>
              <a:t> </a:t>
            </a:r>
            <a:r>
              <a:rPr lang="en-US" noProof="1"/>
              <a:t>IP</a:t>
            </a:r>
            <a:r>
              <a:rPr lang="en-US" spc="35" noProof="1"/>
              <a:t> </a:t>
            </a:r>
            <a:r>
              <a:rPr lang="en-US" spc="-65" noProof="1"/>
              <a:t>addresses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1149467"/>
            <a:ext cx="5037455" cy="106108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Think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hotel.</a:t>
            </a:r>
            <a:r>
              <a:rPr lang="en-US" sz="900" spc="1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room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number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6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hotel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street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endParaRPr lang="en-US" sz="900" noProof="1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175"/>
              </a:spcBef>
            </a:pP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b="1" spc="8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b="1" spc="8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351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room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number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unique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within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hotel,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unique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across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hotels.</a:t>
            </a:r>
            <a:endParaRPr lang="en-US" sz="900" noProof="1">
              <a:latin typeface="Arial"/>
              <a:cs typeface="Arial"/>
            </a:endParaRPr>
          </a:p>
          <a:p>
            <a:pPr marL="239395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hotel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street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unique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can’t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reused.</a:t>
            </a:r>
            <a:endParaRPr lang="en-US" sz="900" noProof="1">
              <a:latin typeface="Arial"/>
              <a:cs typeface="Arial"/>
            </a:endParaRPr>
          </a:p>
          <a:p>
            <a:pPr marL="239395" marR="272415" indent="-143510">
              <a:lnSpc>
                <a:spcPct val="116199"/>
              </a:lnSpc>
              <a:buChar char="•"/>
              <a:tabLst>
                <a:tab pos="24384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hotel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street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identify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hotel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outside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world,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while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room 	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number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identify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room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within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hotel.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39090" cy="5080"/>
            </a:xfrm>
            <a:custGeom>
              <a:avLst/>
              <a:gdLst/>
              <a:ahLst/>
              <a:cxnLst/>
              <a:rect l="l" t="t" r="r" b="b"/>
              <a:pathLst>
                <a:path w="339090" h="5080">
                  <a:moveTo>
                    <a:pt x="0" y="5060"/>
                  </a:moveTo>
                  <a:lnTo>
                    <a:pt x="0" y="0"/>
                  </a:lnTo>
                  <a:lnTo>
                    <a:pt x="338822" y="0"/>
                  </a:lnTo>
                  <a:lnTo>
                    <a:pt x="33882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26" y="59834"/>
            <a:ext cx="3041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DNS</a:t>
            </a:r>
            <a:endParaRPr lang="en-US" sz="1000" noProof="1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3319" y="950915"/>
            <a:ext cx="5031740" cy="662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</a:rPr>
              <a:t>Domain</a:t>
            </a:r>
            <a:r>
              <a:rPr lang="en-US" sz="900" spc="55" noProof="1">
                <a:solidFill>
                  <a:srgbClr val="22373A"/>
                </a:solidFill>
              </a:rPr>
              <a:t> </a:t>
            </a:r>
            <a:r>
              <a:rPr lang="en-US" sz="900" noProof="1">
                <a:solidFill>
                  <a:srgbClr val="22373A"/>
                </a:solidFill>
              </a:rPr>
              <a:t>Name</a:t>
            </a:r>
            <a:r>
              <a:rPr lang="en-US" sz="900" spc="55" noProof="1">
                <a:solidFill>
                  <a:srgbClr val="22373A"/>
                </a:solidFill>
              </a:rPr>
              <a:t> </a:t>
            </a:r>
            <a:r>
              <a:rPr lang="en-US" sz="900" spc="-30" noProof="1">
                <a:solidFill>
                  <a:srgbClr val="22373A"/>
                </a:solidFill>
              </a:rPr>
              <a:t>System</a:t>
            </a:r>
            <a:r>
              <a:rPr lang="en-US" sz="900" spc="50" noProof="1">
                <a:solidFill>
                  <a:srgbClr val="22373A"/>
                </a:solidFill>
              </a:rPr>
              <a:t> </a:t>
            </a:r>
            <a:r>
              <a:rPr lang="en-US" sz="900" noProof="1">
                <a:solidFill>
                  <a:srgbClr val="22373A"/>
                </a:solidFill>
              </a:rPr>
              <a:t>(DNS)</a:t>
            </a:r>
            <a:r>
              <a:rPr lang="en-US" sz="900" spc="35" noProof="1">
                <a:solidFill>
                  <a:srgbClr val="22373A"/>
                </a:solidFill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b="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b="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35" noProof="1">
                <a:solidFill>
                  <a:srgbClr val="22373A"/>
                </a:solidFill>
                <a:latin typeface="Arial"/>
                <a:cs typeface="Arial"/>
              </a:rPr>
              <a:t>system</a:t>
            </a:r>
            <a:r>
              <a:rPr lang="en-US" sz="900" b="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b="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20" noProof="1">
                <a:solidFill>
                  <a:srgbClr val="22373A"/>
                </a:solidFill>
                <a:latin typeface="Arial"/>
                <a:cs typeface="Arial"/>
              </a:rPr>
              <a:t>translates</a:t>
            </a:r>
            <a:r>
              <a:rPr lang="en-US" sz="900" b="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domain</a:t>
            </a:r>
            <a:r>
              <a:rPr lang="en-US" sz="900" b="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45" noProof="1">
                <a:solidFill>
                  <a:srgbClr val="22373A"/>
                </a:solidFill>
                <a:latin typeface="Arial"/>
                <a:cs typeface="Arial"/>
              </a:rPr>
              <a:t>names</a:t>
            </a:r>
            <a:r>
              <a:rPr lang="en-US" sz="900" b="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b="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b="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addresses. </a:t>
            </a:r>
            <a:r>
              <a:rPr lang="en-US" sz="900" b="0" spc="-40" noProof="1">
                <a:solidFill>
                  <a:srgbClr val="22373A"/>
                </a:solidFill>
                <a:latin typeface="Arial"/>
                <a:cs typeface="Arial"/>
              </a:rPr>
              <a:t>Remember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during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45" noProof="1">
                <a:solidFill>
                  <a:srgbClr val="22373A"/>
                </a:solidFill>
                <a:latin typeface="Arial"/>
                <a:cs typeface="Arial"/>
              </a:rPr>
              <a:t>class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25" noProof="1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I </a:t>
            </a:r>
            <a:r>
              <a:rPr lang="en-US" sz="900" b="0" spc="-20" noProof="1">
                <a:solidFill>
                  <a:srgbClr val="22373A"/>
                </a:solidFill>
                <a:latin typeface="Arial"/>
                <a:cs typeface="Arial"/>
              </a:rPr>
              <a:t>said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the DNS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30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or the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public IP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lang="en-US" sz="900" b="0" spc="-20" noProof="1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25" noProof="1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25" noProof="1">
                <a:solidFill>
                  <a:srgbClr val="22373A"/>
                </a:solidFill>
                <a:latin typeface="Arial"/>
                <a:cs typeface="Arial"/>
              </a:rPr>
              <a:t>instance?</a:t>
            </a:r>
            <a:r>
              <a:rPr lang="en-US" sz="900" b="0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A DNS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30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domain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30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45" noProof="1">
                <a:solidFill>
                  <a:srgbClr val="22373A"/>
                </a:solidFill>
                <a:latin typeface="Arial"/>
                <a:cs typeface="Arial"/>
              </a:rPr>
              <a:t>human-</a:t>
            </a:r>
            <a:r>
              <a:rPr lang="en-US" sz="900" b="0" spc="-25" noProof="1">
                <a:solidFill>
                  <a:srgbClr val="22373A"/>
                </a:solidFill>
                <a:latin typeface="Arial"/>
                <a:cs typeface="Arial"/>
              </a:rPr>
              <a:t>readable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30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900" b="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20" noProof="1">
                <a:solidFill>
                  <a:srgbClr val="22373A"/>
                </a:solidFill>
                <a:latin typeface="Arial"/>
                <a:cs typeface="Arial"/>
              </a:rPr>
              <a:t>that </a:t>
            </a:r>
            <a:r>
              <a:rPr lang="en-US" sz="900" b="0" spc="-45" noProof="1">
                <a:solidFill>
                  <a:srgbClr val="22373A"/>
                </a:solidFill>
                <a:latin typeface="Arial"/>
                <a:cs typeface="Arial"/>
              </a:rPr>
              <a:t>references</a:t>
            </a:r>
            <a:r>
              <a:rPr lang="en-US" sz="900" b="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b="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b="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address.</a:t>
            </a:r>
            <a:endParaRPr lang="en-US" sz="900" noProof="1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3319" y="1667881"/>
            <a:ext cx="5010150" cy="74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75565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back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hotel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analogy,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hotel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DNS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hotel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street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b="1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b="1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6510" marR="5080" indent="-4445">
              <a:lnSpc>
                <a:spcPct val="116199"/>
              </a:lnSpc>
              <a:spcBef>
                <a:spcPts val="62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know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domain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corresponds,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DNS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 phone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book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translates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domain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names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addresses.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87350" cy="5080"/>
            </a:xfrm>
            <a:custGeom>
              <a:avLst/>
              <a:gdLst/>
              <a:ahLst/>
              <a:cxnLst/>
              <a:rect l="l" t="t" r="r" b="b"/>
              <a:pathLst>
                <a:path w="387350" h="5080">
                  <a:moveTo>
                    <a:pt x="0" y="5060"/>
                  </a:moveTo>
                  <a:lnTo>
                    <a:pt x="0" y="0"/>
                  </a:lnTo>
                  <a:lnTo>
                    <a:pt x="387250" y="0"/>
                  </a:lnTo>
                  <a:lnTo>
                    <a:pt x="38725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3282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0" noProof="1"/>
              <a:t>Ports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491793"/>
            <a:ext cx="5015230" cy="320040"/>
            <a:chOff x="372646" y="1491793"/>
            <a:chExt cx="5015230" cy="320040"/>
          </a:xfrm>
        </p:grpSpPr>
        <p:sp>
          <p:nvSpPr>
            <p:cNvPr id="4" name="object 4"/>
            <p:cNvSpPr/>
            <p:nvPr/>
          </p:nvSpPr>
          <p:spPr>
            <a:xfrm>
              <a:off x="377994" y="1497140"/>
              <a:ext cx="5004435" cy="309245"/>
            </a:xfrm>
            <a:custGeom>
              <a:avLst/>
              <a:gdLst/>
              <a:ahLst/>
              <a:cxnLst/>
              <a:rect l="l" t="t" r="r" b="b"/>
              <a:pathLst>
                <a:path w="5004435" h="309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3226"/>
                  </a:lnTo>
                  <a:lnTo>
                    <a:pt x="2829" y="287239"/>
                  </a:lnTo>
                  <a:lnTo>
                    <a:pt x="10544" y="298682"/>
                  </a:lnTo>
                  <a:lnTo>
                    <a:pt x="21987" y="306398"/>
                  </a:lnTo>
                  <a:lnTo>
                    <a:pt x="36000" y="309227"/>
                  </a:lnTo>
                  <a:lnTo>
                    <a:pt x="4968064" y="309227"/>
                  </a:lnTo>
                  <a:lnTo>
                    <a:pt x="4982077" y="306398"/>
                  </a:lnTo>
                  <a:lnTo>
                    <a:pt x="4993521" y="298682"/>
                  </a:lnTo>
                  <a:lnTo>
                    <a:pt x="5001236" y="287239"/>
                  </a:lnTo>
                  <a:lnTo>
                    <a:pt x="5004065" y="273226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498119"/>
              <a:ext cx="5002530" cy="307340"/>
            </a:xfrm>
            <a:custGeom>
              <a:avLst/>
              <a:gdLst/>
              <a:ahLst/>
              <a:cxnLst/>
              <a:rect l="l" t="t" r="r" b="b"/>
              <a:pathLst>
                <a:path w="5002530" h="307339">
                  <a:moveTo>
                    <a:pt x="0" y="272247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2247"/>
                  </a:lnTo>
                  <a:lnTo>
                    <a:pt x="4999354" y="285879"/>
                  </a:lnTo>
                  <a:lnTo>
                    <a:pt x="4991849" y="297011"/>
                  </a:lnTo>
                  <a:lnTo>
                    <a:pt x="4980717" y="304516"/>
                  </a:lnTo>
                  <a:lnTo>
                    <a:pt x="4967085" y="307268"/>
                  </a:lnTo>
                  <a:lnTo>
                    <a:pt x="35021" y="307268"/>
                  </a:lnTo>
                  <a:lnTo>
                    <a:pt x="21389" y="304516"/>
                  </a:lnTo>
                  <a:lnTo>
                    <a:pt x="10257" y="297011"/>
                  </a:lnTo>
                  <a:lnTo>
                    <a:pt x="2752" y="285879"/>
                  </a:lnTo>
                  <a:lnTo>
                    <a:pt x="0" y="272247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72646" y="2286622"/>
            <a:ext cx="5015230" cy="320040"/>
            <a:chOff x="372646" y="2286622"/>
            <a:chExt cx="5015230" cy="320040"/>
          </a:xfrm>
        </p:grpSpPr>
        <p:sp>
          <p:nvSpPr>
            <p:cNvPr id="7" name="object 7"/>
            <p:cNvSpPr/>
            <p:nvPr/>
          </p:nvSpPr>
          <p:spPr>
            <a:xfrm>
              <a:off x="377994" y="2291970"/>
              <a:ext cx="5004435" cy="309245"/>
            </a:xfrm>
            <a:custGeom>
              <a:avLst/>
              <a:gdLst/>
              <a:ahLst/>
              <a:cxnLst/>
              <a:rect l="l" t="t" r="r" b="b"/>
              <a:pathLst>
                <a:path w="5004435" h="309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3226"/>
                  </a:lnTo>
                  <a:lnTo>
                    <a:pt x="2829" y="287239"/>
                  </a:lnTo>
                  <a:lnTo>
                    <a:pt x="10544" y="298682"/>
                  </a:lnTo>
                  <a:lnTo>
                    <a:pt x="21987" y="306398"/>
                  </a:lnTo>
                  <a:lnTo>
                    <a:pt x="36000" y="309227"/>
                  </a:lnTo>
                  <a:lnTo>
                    <a:pt x="4968064" y="309227"/>
                  </a:lnTo>
                  <a:lnTo>
                    <a:pt x="4982077" y="306398"/>
                  </a:lnTo>
                  <a:lnTo>
                    <a:pt x="4993521" y="298682"/>
                  </a:lnTo>
                  <a:lnTo>
                    <a:pt x="5001236" y="287239"/>
                  </a:lnTo>
                  <a:lnTo>
                    <a:pt x="5004065" y="273226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378973" y="2292949"/>
              <a:ext cx="5002530" cy="307340"/>
            </a:xfrm>
            <a:custGeom>
              <a:avLst/>
              <a:gdLst/>
              <a:ahLst/>
              <a:cxnLst/>
              <a:rect l="l" t="t" r="r" b="b"/>
              <a:pathLst>
                <a:path w="5002530" h="307339">
                  <a:moveTo>
                    <a:pt x="0" y="272247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2247"/>
                  </a:lnTo>
                  <a:lnTo>
                    <a:pt x="4999354" y="285879"/>
                  </a:lnTo>
                  <a:lnTo>
                    <a:pt x="4991849" y="297011"/>
                  </a:lnTo>
                  <a:lnTo>
                    <a:pt x="4980717" y="304516"/>
                  </a:lnTo>
                  <a:lnTo>
                    <a:pt x="4967085" y="307268"/>
                  </a:lnTo>
                  <a:lnTo>
                    <a:pt x="35021" y="307268"/>
                  </a:lnTo>
                  <a:lnTo>
                    <a:pt x="21389" y="304516"/>
                  </a:lnTo>
                  <a:lnTo>
                    <a:pt x="10257" y="297011"/>
                  </a:lnTo>
                  <a:lnTo>
                    <a:pt x="2752" y="285879"/>
                  </a:lnTo>
                  <a:lnTo>
                    <a:pt x="0" y="272247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372623" y="2922106"/>
            <a:ext cx="5015230" cy="313690"/>
            <a:chOff x="372623" y="2922106"/>
            <a:chExt cx="5015230" cy="313690"/>
          </a:xfrm>
        </p:grpSpPr>
        <p:sp>
          <p:nvSpPr>
            <p:cNvPr id="10" name="object 10"/>
            <p:cNvSpPr/>
            <p:nvPr/>
          </p:nvSpPr>
          <p:spPr>
            <a:xfrm>
              <a:off x="377994" y="2927477"/>
              <a:ext cx="5004435" cy="302895"/>
            </a:xfrm>
            <a:custGeom>
              <a:avLst/>
              <a:gdLst/>
              <a:ahLst/>
              <a:cxnLst/>
              <a:rect l="l" t="t" r="r" b="b"/>
              <a:pathLst>
                <a:path w="5004435" h="30289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66343"/>
                  </a:lnTo>
                  <a:lnTo>
                    <a:pt x="2829" y="280356"/>
                  </a:lnTo>
                  <a:lnTo>
                    <a:pt x="10544" y="291799"/>
                  </a:lnTo>
                  <a:lnTo>
                    <a:pt x="21987" y="299514"/>
                  </a:lnTo>
                  <a:lnTo>
                    <a:pt x="36000" y="302343"/>
                  </a:lnTo>
                  <a:lnTo>
                    <a:pt x="4968064" y="302343"/>
                  </a:lnTo>
                  <a:lnTo>
                    <a:pt x="4982077" y="299514"/>
                  </a:lnTo>
                  <a:lnTo>
                    <a:pt x="4993521" y="291799"/>
                  </a:lnTo>
                  <a:lnTo>
                    <a:pt x="5001236" y="280356"/>
                  </a:lnTo>
                  <a:lnTo>
                    <a:pt x="5004065" y="266343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1" name="object 11"/>
            <p:cNvSpPr/>
            <p:nvPr/>
          </p:nvSpPr>
          <p:spPr>
            <a:xfrm>
              <a:off x="378973" y="2928456"/>
              <a:ext cx="5002530" cy="300990"/>
            </a:xfrm>
            <a:custGeom>
              <a:avLst/>
              <a:gdLst/>
              <a:ahLst/>
              <a:cxnLst/>
              <a:rect l="l" t="t" r="r" b="b"/>
              <a:pathLst>
                <a:path w="5002530" h="300989">
                  <a:moveTo>
                    <a:pt x="0" y="265364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65364"/>
                  </a:lnTo>
                  <a:lnTo>
                    <a:pt x="4999354" y="278996"/>
                  </a:lnTo>
                  <a:lnTo>
                    <a:pt x="4991849" y="290128"/>
                  </a:lnTo>
                  <a:lnTo>
                    <a:pt x="4980717" y="297633"/>
                  </a:lnTo>
                  <a:lnTo>
                    <a:pt x="4967085" y="300385"/>
                  </a:lnTo>
                  <a:lnTo>
                    <a:pt x="35021" y="300385"/>
                  </a:lnTo>
                  <a:lnTo>
                    <a:pt x="21389" y="297633"/>
                  </a:lnTo>
                  <a:lnTo>
                    <a:pt x="10257" y="290128"/>
                  </a:lnTo>
                  <a:lnTo>
                    <a:pt x="2752" y="278996"/>
                  </a:lnTo>
                  <a:lnTo>
                    <a:pt x="0" y="265364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41718" y="348847"/>
            <a:ext cx="5039995" cy="28397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 marR="5080" indent="2540">
              <a:lnSpc>
                <a:spcPct val="116199"/>
              </a:lnSpc>
              <a:spcBef>
                <a:spcPts val="100"/>
              </a:spcBef>
            </a:pP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Once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know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device,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whether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already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knew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DNS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name,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we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know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5" noProof="1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to.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imagine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configured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with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notebook.</a:t>
            </a:r>
            <a:r>
              <a:rPr lang="en-US" sz="900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has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least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two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services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running:</a:t>
            </a:r>
            <a:r>
              <a:rPr lang="en-US" sz="900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(port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22)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Jupyter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notebook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8888).</a:t>
            </a:r>
            <a:endParaRPr lang="en-US" sz="900" noProof="1">
              <a:latin typeface="Arial"/>
              <a:cs typeface="Arial"/>
            </a:endParaRPr>
          </a:p>
          <a:p>
            <a:pPr marL="17780" marR="146050" indent="-5715">
              <a:lnSpc>
                <a:spcPct val="116199"/>
              </a:lnSpc>
              <a:spcBef>
                <a:spcPts val="625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through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SSH,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don’t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specify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because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default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22,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could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wanted.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lang="en-US" sz="800" spc="-50" noProof="1">
                <a:solidFill>
                  <a:srgbClr val="05287C"/>
                </a:solidFill>
                <a:latin typeface="Courier New"/>
                <a:cs typeface="Courier New"/>
              </a:rPr>
              <a:t>$ ssh</a:t>
            </a:r>
            <a:r>
              <a:rPr lang="en-US" sz="800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lang="en-US" sz="800" noProof="1">
                <a:solidFill>
                  <a:srgbClr val="7C8E28"/>
                </a:solidFill>
                <a:latin typeface="Courier New"/>
                <a:cs typeface="Courier New"/>
              </a:rPr>
              <a:t>i </a:t>
            </a:r>
            <a:r>
              <a:rPr lang="en-US" sz="800" spc="-60" noProof="1">
                <a:latin typeface="Courier New"/>
                <a:cs typeface="Courier New"/>
              </a:rPr>
              <a:t>~/.ssh/aws-keypair</a:t>
            </a:r>
            <a:r>
              <a:rPr lang="en-US" sz="800" spc="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ec2-user@</a:t>
            </a:r>
            <a:r>
              <a:rPr lang="en-US" sz="800" spc="-60" noProof="1">
                <a:solidFill>
                  <a:srgbClr val="666666"/>
                </a:solidFill>
                <a:latin typeface="Courier New"/>
                <a:cs typeface="Courier New"/>
              </a:rPr>
              <a:t>&lt;</a:t>
            </a:r>
            <a:r>
              <a:rPr lang="en-US" sz="800" spc="-60" noProof="1">
                <a:latin typeface="Courier New"/>
                <a:cs typeface="Courier New"/>
              </a:rPr>
              <a:t>your-ec2-instance-public-</a:t>
            </a:r>
            <a:r>
              <a:rPr lang="en-US" sz="800" spc="-50" noProof="1">
                <a:latin typeface="Courier New"/>
                <a:cs typeface="Courier New"/>
              </a:rPr>
              <a:t>ip</a:t>
            </a:r>
            <a:r>
              <a:rPr lang="en-US" sz="800" spc="-50" noProof="1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r>
              <a:rPr lang="en-US" sz="800" noProof="1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-</a:t>
            </a:r>
            <a:r>
              <a:rPr lang="en-US" sz="800" noProof="1">
                <a:latin typeface="Courier New"/>
                <a:cs typeface="Courier New"/>
              </a:rPr>
              <a:t>p </a:t>
            </a:r>
            <a:r>
              <a:rPr lang="en-US" sz="800" spc="-25" noProof="1">
                <a:latin typeface="Courier New"/>
                <a:cs typeface="Courier New"/>
              </a:rPr>
              <a:t>22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7780" marR="24130" indent="-4445">
              <a:lnSpc>
                <a:spcPct val="116199"/>
              </a:lnSpc>
              <a:spcBef>
                <a:spcPts val="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above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work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didn’t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specify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port.</a:t>
            </a:r>
            <a:r>
              <a:rPr lang="en-US" sz="900" spc="1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notice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specify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port: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lang="en-US" sz="800" spc="-50" noProof="1">
                <a:solidFill>
                  <a:srgbClr val="05287C"/>
                </a:solidFill>
                <a:latin typeface="Courier New"/>
                <a:cs typeface="Courier New"/>
              </a:rPr>
              <a:t>$ ssh</a:t>
            </a:r>
            <a:r>
              <a:rPr lang="en-US" sz="800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lang="en-US" sz="800" noProof="1">
                <a:solidFill>
                  <a:srgbClr val="7C8E28"/>
                </a:solidFill>
                <a:latin typeface="Courier New"/>
                <a:cs typeface="Courier New"/>
              </a:rPr>
              <a:t>i </a:t>
            </a:r>
            <a:r>
              <a:rPr lang="en-US" sz="800" spc="-60" noProof="1">
                <a:latin typeface="Courier New"/>
                <a:cs typeface="Courier New"/>
              </a:rPr>
              <a:t>~/.ssh/aws-keypair</a:t>
            </a:r>
            <a:r>
              <a:rPr lang="en-US" sz="800" spc="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ec2-user@</a:t>
            </a:r>
            <a:r>
              <a:rPr lang="en-US" sz="800" spc="-60" noProof="1">
                <a:solidFill>
                  <a:srgbClr val="666666"/>
                </a:solidFill>
                <a:latin typeface="Courier New"/>
                <a:cs typeface="Courier New"/>
              </a:rPr>
              <a:t>&lt;</a:t>
            </a:r>
            <a:r>
              <a:rPr lang="en-US" sz="800" spc="-60" noProof="1">
                <a:latin typeface="Courier New"/>
                <a:cs typeface="Courier New"/>
              </a:rPr>
              <a:t>your-ec2-instance-public-</a:t>
            </a:r>
            <a:r>
              <a:rPr lang="en-US" sz="800" spc="-50" noProof="1">
                <a:latin typeface="Courier New"/>
                <a:cs typeface="Courier New"/>
              </a:rPr>
              <a:t>ip</a:t>
            </a:r>
            <a:r>
              <a:rPr lang="en-US" sz="800" spc="-50" noProof="1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r>
              <a:rPr lang="en-US" sz="800" noProof="1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-</a:t>
            </a:r>
            <a:r>
              <a:rPr lang="en-US" sz="800" noProof="1">
                <a:latin typeface="Courier New"/>
                <a:cs typeface="Courier New"/>
              </a:rPr>
              <a:t>p </a:t>
            </a:r>
            <a:r>
              <a:rPr lang="en-US" sz="800" spc="-20" noProof="1">
                <a:latin typeface="Courier New"/>
                <a:cs typeface="Courier New"/>
              </a:rPr>
              <a:t>1234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get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error: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lang="en-US" sz="800" spc="-55" noProof="1">
                <a:latin typeface="Courier New"/>
                <a:cs typeface="Courier New"/>
              </a:rPr>
              <a:t>ssh:</a:t>
            </a:r>
            <a:r>
              <a:rPr lang="en-US" sz="800" spc="-2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connect</a:t>
            </a:r>
            <a:r>
              <a:rPr lang="en-US" sz="800" spc="-15" noProof="1"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to</a:t>
            </a:r>
            <a:r>
              <a:rPr lang="en-US" sz="800" spc="-20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host</a:t>
            </a:r>
            <a:r>
              <a:rPr lang="en-US" sz="800" spc="-1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666666"/>
                </a:solidFill>
                <a:latin typeface="Courier New"/>
                <a:cs typeface="Courier New"/>
              </a:rPr>
              <a:t>&lt;</a:t>
            </a:r>
            <a:r>
              <a:rPr lang="en-US" sz="800" spc="-60" noProof="1">
                <a:latin typeface="Courier New"/>
                <a:cs typeface="Courier New"/>
              </a:rPr>
              <a:t>your-ec2-instance-public-</a:t>
            </a:r>
            <a:r>
              <a:rPr lang="en-US" sz="800" spc="-50" noProof="1">
                <a:latin typeface="Courier New"/>
                <a:cs typeface="Courier New"/>
              </a:rPr>
              <a:t>ip</a:t>
            </a:r>
            <a:r>
              <a:rPr lang="en-US" sz="800" spc="-50" noProof="1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r>
              <a:rPr lang="en-US" sz="800" spc="-20" noProof="1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port</a:t>
            </a:r>
            <a:r>
              <a:rPr lang="en-US" sz="800" spc="-1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1234:</a:t>
            </a:r>
            <a:r>
              <a:rPr lang="en-US" sz="800" spc="-20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Connection</a:t>
            </a:r>
            <a:r>
              <a:rPr lang="en-US" sz="800" spc="-1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timed</a:t>
            </a:r>
            <a:r>
              <a:rPr lang="en-US" sz="800" spc="-20" noProof="1">
                <a:latin typeface="Courier New"/>
                <a:cs typeface="Courier New"/>
              </a:rPr>
              <a:t> </a:t>
            </a:r>
            <a:r>
              <a:rPr lang="en-US" sz="800" spc="-25" noProof="1">
                <a:latin typeface="Courier New"/>
                <a:cs typeface="Courier New"/>
              </a:rPr>
              <a:t>out</a:t>
            </a:r>
            <a:endParaRPr lang="en-US" sz="800" noProof="1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4" name="object 14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3234963"/>
              <a:ext cx="435609" cy="5080"/>
            </a:xfrm>
            <a:custGeom>
              <a:avLst/>
              <a:gdLst/>
              <a:ahLst/>
              <a:cxnLst/>
              <a:rect l="l" t="t" r="r" b="b"/>
              <a:pathLst>
                <a:path w="435609" h="5080">
                  <a:moveTo>
                    <a:pt x="0" y="5060"/>
                  </a:moveTo>
                  <a:lnTo>
                    <a:pt x="0" y="0"/>
                  </a:lnTo>
                  <a:lnTo>
                    <a:pt x="435591" y="0"/>
                  </a:lnTo>
                  <a:lnTo>
                    <a:pt x="43559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3282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0" noProof="1"/>
              <a:t>Ports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392784"/>
            <a:ext cx="5015230" cy="320040"/>
            <a:chOff x="372646" y="1392784"/>
            <a:chExt cx="5015230" cy="320040"/>
          </a:xfrm>
        </p:grpSpPr>
        <p:sp>
          <p:nvSpPr>
            <p:cNvPr id="4" name="object 4"/>
            <p:cNvSpPr/>
            <p:nvPr/>
          </p:nvSpPr>
          <p:spPr>
            <a:xfrm>
              <a:off x="377994" y="1398131"/>
              <a:ext cx="5004435" cy="309245"/>
            </a:xfrm>
            <a:custGeom>
              <a:avLst/>
              <a:gdLst/>
              <a:ahLst/>
              <a:cxnLst/>
              <a:rect l="l" t="t" r="r" b="b"/>
              <a:pathLst>
                <a:path w="5004435" h="309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3226"/>
                  </a:lnTo>
                  <a:lnTo>
                    <a:pt x="2829" y="287239"/>
                  </a:lnTo>
                  <a:lnTo>
                    <a:pt x="10544" y="298682"/>
                  </a:lnTo>
                  <a:lnTo>
                    <a:pt x="21987" y="306398"/>
                  </a:lnTo>
                  <a:lnTo>
                    <a:pt x="36000" y="309227"/>
                  </a:lnTo>
                  <a:lnTo>
                    <a:pt x="4968064" y="309227"/>
                  </a:lnTo>
                  <a:lnTo>
                    <a:pt x="4982077" y="306398"/>
                  </a:lnTo>
                  <a:lnTo>
                    <a:pt x="4993521" y="298682"/>
                  </a:lnTo>
                  <a:lnTo>
                    <a:pt x="5001236" y="287239"/>
                  </a:lnTo>
                  <a:lnTo>
                    <a:pt x="5004065" y="273226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399110"/>
              <a:ext cx="5002530" cy="307340"/>
            </a:xfrm>
            <a:custGeom>
              <a:avLst/>
              <a:gdLst/>
              <a:ahLst/>
              <a:cxnLst/>
              <a:rect l="l" t="t" r="r" b="b"/>
              <a:pathLst>
                <a:path w="5002530" h="307339">
                  <a:moveTo>
                    <a:pt x="0" y="272247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2247"/>
                  </a:lnTo>
                  <a:lnTo>
                    <a:pt x="4999354" y="285879"/>
                  </a:lnTo>
                  <a:lnTo>
                    <a:pt x="4991849" y="297011"/>
                  </a:lnTo>
                  <a:lnTo>
                    <a:pt x="4980717" y="304516"/>
                  </a:lnTo>
                  <a:lnTo>
                    <a:pt x="4967085" y="307268"/>
                  </a:lnTo>
                  <a:lnTo>
                    <a:pt x="35021" y="307268"/>
                  </a:lnTo>
                  <a:lnTo>
                    <a:pt x="21389" y="304516"/>
                  </a:lnTo>
                  <a:lnTo>
                    <a:pt x="10257" y="297011"/>
                  </a:lnTo>
                  <a:lnTo>
                    <a:pt x="2752" y="285879"/>
                  </a:lnTo>
                  <a:lnTo>
                    <a:pt x="0" y="272247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8773" y="1815992"/>
            <a:ext cx="204657" cy="120757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863917" y="2294371"/>
            <a:ext cx="4032250" cy="354965"/>
            <a:chOff x="863993" y="2185854"/>
            <a:chExt cx="4032250" cy="354965"/>
          </a:xfrm>
        </p:grpSpPr>
        <p:sp>
          <p:nvSpPr>
            <p:cNvPr id="8" name="object 8"/>
            <p:cNvSpPr/>
            <p:nvPr/>
          </p:nvSpPr>
          <p:spPr>
            <a:xfrm>
              <a:off x="863993" y="2185854"/>
              <a:ext cx="4032250" cy="354965"/>
            </a:xfrm>
            <a:custGeom>
              <a:avLst/>
              <a:gdLst/>
              <a:ahLst/>
              <a:cxnLst/>
              <a:rect l="l" t="t" r="r" b="b"/>
              <a:pathLst>
                <a:path w="4032250" h="354964">
                  <a:moveTo>
                    <a:pt x="3978067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300488"/>
                  </a:lnTo>
                  <a:lnTo>
                    <a:pt x="4243" y="321508"/>
                  </a:lnTo>
                  <a:lnTo>
                    <a:pt x="15816" y="338672"/>
                  </a:lnTo>
                  <a:lnTo>
                    <a:pt x="32980" y="350245"/>
                  </a:lnTo>
                  <a:lnTo>
                    <a:pt x="54000" y="354488"/>
                  </a:lnTo>
                  <a:lnTo>
                    <a:pt x="3978067" y="354488"/>
                  </a:lnTo>
                  <a:lnTo>
                    <a:pt x="3999086" y="350245"/>
                  </a:lnTo>
                  <a:lnTo>
                    <a:pt x="4016251" y="338672"/>
                  </a:lnTo>
                  <a:lnTo>
                    <a:pt x="4027823" y="321508"/>
                  </a:lnTo>
                  <a:lnTo>
                    <a:pt x="4032067" y="300488"/>
                  </a:lnTo>
                  <a:lnTo>
                    <a:pt x="4032067" y="54000"/>
                  </a:lnTo>
                  <a:lnTo>
                    <a:pt x="4027823" y="32980"/>
                  </a:lnTo>
                  <a:lnTo>
                    <a:pt x="4016251" y="15816"/>
                  </a:lnTo>
                  <a:lnTo>
                    <a:pt x="3999086" y="4243"/>
                  </a:lnTo>
                  <a:lnTo>
                    <a:pt x="3978067" y="0"/>
                  </a:lnTo>
                  <a:close/>
                </a:path>
              </a:pathLst>
            </a:custGeom>
            <a:solidFill>
              <a:srgbClr val="880C58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881993" y="2203853"/>
              <a:ext cx="3996690" cy="318770"/>
            </a:xfrm>
            <a:custGeom>
              <a:avLst/>
              <a:gdLst/>
              <a:ahLst/>
              <a:cxnLst/>
              <a:rect l="l" t="t" r="r" b="b"/>
              <a:pathLst>
                <a:path w="3996690" h="318769">
                  <a:moveTo>
                    <a:pt x="396006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82488"/>
                  </a:lnTo>
                  <a:lnTo>
                    <a:pt x="2829" y="296501"/>
                  </a:lnTo>
                  <a:lnTo>
                    <a:pt x="10544" y="307944"/>
                  </a:lnTo>
                  <a:lnTo>
                    <a:pt x="21987" y="315660"/>
                  </a:lnTo>
                  <a:lnTo>
                    <a:pt x="36000" y="318489"/>
                  </a:lnTo>
                  <a:lnTo>
                    <a:pt x="3960067" y="318489"/>
                  </a:lnTo>
                  <a:lnTo>
                    <a:pt x="3974080" y="315660"/>
                  </a:lnTo>
                  <a:lnTo>
                    <a:pt x="3985523" y="307944"/>
                  </a:lnTo>
                  <a:lnTo>
                    <a:pt x="3993238" y="296501"/>
                  </a:lnTo>
                  <a:lnTo>
                    <a:pt x="3996067" y="282488"/>
                  </a:lnTo>
                  <a:lnTo>
                    <a:pt x="3996067" y="36000"/>
                  </a:lnTo>
                  <a:lnTo>
                    <a:pt x="3993238" y="21987"/>
                  </a:lnTo>
                  <a:lnTo>
                    <a:pt x="3985523" y="10544"/>
                  </a:lnTo>
                  <a:lnTo>
                    <a:pt x="3974080" y="2829"/>
                  </a:lnTo>
                  <a:lnTo>
                    <a:pt x="3960067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xfrm>
            <a:off x="310393" y="613802"/>
            <a:ext cx="5071110" cy="1979930"/>
          </a:xfrm>
          <a:prstGeom prst="rect">
            <a:avLst/>
          </a:prstGeom>
        </p:spPr>
        <p:txBody>
          <a:bodyPr vert="horz" wrap="square" lIns="0" tIns="186906" rIns="0" bIns="0" rtlCol="0">
            <a:spAutoFit/>
          </a:bodyPr>
          <a:lstStyle/>
          <a:p>
            <a:pPr marL="17780" marR="5080" indent="-5715">
              <a:lnSpc>
                <a:spcPct val="116199"/>
              </a:lnSpc>
              <a:spcBef>
                <a:spcPts val="100"/>
              </a:spcBef>
            </a:pPr>
            <a:r>
              <a:rPr lang="en-US" noProof="1"/>
              <a:t>What</a:t>
            </a:r>
            <a:r>
              <a:rPr lang="en-US" spc="10" noProof="1"/>
              <a:t> </a:t>
            </a:r>
            <a:r>
              <a:rPr lang="en-US" noProof="1"/>
              <a:t>did</a:t>
            </a:r>
            <a:r>
              <a:rPr lang="en-US" spc="15" noProof="1"/>
              <a:t> </a:t>
            </a:r>
            <a:r>
              <a:rPr lang="en-US" spc="-40" noProof="1"/>
              <a:t>we</a:t>
            </a:r>
            <a:r>
              <a:rPr lang="en-US" spc="15" noProof="1"/>
              <a:t> </a:t>
            </a:r>
            <a:r>
              <a:rPr lang="en-US" noProof="1"/>
              <a:t>do</a:t>
            </a:r>
            <a:r>
              <a:rPr lang="en-US" spc="15" noProof="1"/>
              <a:t> </a:t>
            </a:r>
            <a:r>
              <a:rPr lang="en-US" noProof="1"/>
              <a:t>to</a:t>
            </a:r>
            <a:r>
              <a:rPr lang="en-US" spc="15" noProof="1"/>
              <a:t> </a:t>
            </a:r>
            <a:r>
              <a:rPr lang="en-US" spc="-75" noProof="1"/>
              <a:t>access</a:t>
            </a:r>
            <a:r>
              <a:rPr lang="en-US" spc="15" noProof="1"/>
              <a:t> </a:t>
            </a:r>
            <a:r>
              <a:rPr lang="en-US" noProof="1"/>
              <a:t>te</a:t>
            </a:r>
            <a:r>
              <a:rPr lang="en-US" spc="15" noProof="1"/>
              <a:t> </a:t>
            </a:r>
            <a:r>
              <a:rPr lang="en-US" noProof="1"/>
              <a:t>jupyter</a:t>
            </a:r>
            <a:r>
              <a:rPr lang="en-US" spc="15" noProof="1"/>
              <a:t> </a:t>
            </a:r>
            <a:r>
              <a:rPr lang="en-US" spc="-10" noProof="1"/>
              <a:t>notebook</a:t>
            </a:r>
            <a:r>
              <a:rPr lang="en-US" spc="15" noProof="1"/>
              <a:t> </a:t>
            </a:r>
            <a:r>
              <a:rPr lang="en-US" spc="-40" noProof="1"/>
              <a:t>service?</a:t>
            </a:r>
            <a:r>
              <a:rPr lang="en-US" spc="100" noProof="1"/>
              <a:t> </a:t>
            </a:r>
            <a:r>
              <a:rPr lang="en-US" spc="-10" noProof="1"/>
              <a:t>We</a:t>
            </a:r>
            <a:r>
              <a:rPr lang="en-US" spc="15" noProof="1"/>
              <a:t> </a:t>
            </a:r>
            <a:r>
              <a:rPr lang="en-US" spc="-55" noProof="1"/>
              <a:t>used</a:t>
            </a:r>
            <a:r>
              <a:rPr lang="en-US" spc="15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noProof="1"/>
              <a:t>public</a:t>
            </a:r>
            <a:r>
              <a:rPr lang="en-US" spc="15" noProof="1"/>
              <a:t> </a:t>
            </a:r>
            <a:r>
              <a:rPr lang="en-US" noProof="1"/>
              <a:t>IP</a:t>
            </a:r>
            <a:r>
              <a:rPr lang="en-US" spc="15" noProof="1"/>
              <a:t> </a:t>
            </a:r>
            <a:r>
              <a:rPr lang="en-US" spc="-45" noProof="1"/>
              <a:t>address</a:t>
            </a:r>
            <a:r>
              <a:rPr lang="en-US" spc="15" noProof="1"/>
              <a:t> </a:t>
            </a:r>
            <a:r>
              <a:rPr lang="en-US" noProof="1"/>
              <a:t>of</a:t>
            </a:r>
            <a:r>
              <a:rPr lang="en-US" spc="15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spc="-25" noProof="1"/>
              <a:t>EC2 instance</a:t>
            </a:r>
            <a:r>
              <a:rPr lang="en-US" spc="5" noProof="1"/>
              <a:t> </a:t>
            </a:r>
            <a:r>
              <a:rPr lang="en-US" noProof="1"/>
              <a:t>(or</a:t>
            </a:r>
            <a:r>
              <a:rPr lang="en-US" spc="5" noProof="1"/>
              <a:t> </a:t>
            </a:r>
            <a:r>
              <a:rPr lang="en-US" noProof="1"/>
              <a:t>the</a:t>
            </a:r>
            <a:r>
              <a:rPr lang="en-US" spc="5" noProof="1"/>
              <a:t> </a:t>
            </a:r>
            <a:r>
              <a:rPr lang="en-US" noProof="1"/>
              <a:t>DNS</a:t>
            </a:r>
            <a:r>
              <a:rPr lang="en-US" spc="10" noProof="1"/>
              <a:t> </a:t>
            </a:r>
            <a:r>
              <a:rPr lang="en-US" spc="-20" noProof="1"/>
              <a:t>name)</a:t>
            </a:r>
            <a:r>
              <a:rPr lang="en-US" spc="5" noProof="1"/>
              <a:t> </a:t>
            </a:r>
            <a:r>
              <a:rPr lang="en-US" noProof="1"/>
              <a:t>and</a:t>
            </a:r>
            <a:r>
              <a:rPr lang="en-US" spc="5" noProof="1"/>
              <a:t> </a:t>
            </a:r>
            <a:r>
              <a:rPr lang="en-US" noProof="1"/>
              <a:t>the</a:t>
            </a:r>
            <a:r>
              <a:rPr lang="en-US" spc="10" noProof="1"/>
              <a:t> </a:t>
            </a:r>
            <a:r>
              <a:rPr lang="en-US" noProof="1"/>
              <a:t>port</a:t>
            </a:r>
            <a:r>
              <a:rPr lang="en-US" spc="5" noProof="1"/>
              <a:t> </a:t>
            </a:r>
            <a:r>
              <a:rPr lang="en-US" spc="-10" noProof="1"/>
              <a:t>8888.</a:t>
            </a:r>
            <a:r>
              <a:rPr lang="en-US" spc="95" noProof="1"/>
              <a:t> </a:t>
            </a:r>
            <a:r>
              <a:rPr lang="en-US" noProof="1"/>
              <a:t>But</a:t>
            </a:r>
            <a:r>
              <a:rPr lang="en-US" spc="10" noProof="1"/>
              <a:t> </a:t>
            </a:r>
            <a:r>
              <a:rPr lang="en-US" spc="-20" noProof="1"/>
              <a:t>instead</a:t>
            </a:r>
            <a:r>
              <a:rPr lang="en-US" spc="5" noProof="1"/>
              <a:t> </a:t>
            </a:r>
            <a:r>
              <a:rPr lang="en-US" noProof="1"/>
              <a:t>of</a:t>
            </a:r>
            <a:r>
              <a:rPr lang="en-US" spc="5" noProof="1"/>
              <a:t> </a:t>
            </a:r>
            <a:r>
              <a:rPr lang="en-US" spc="-20" noProof="1"/>
              <a:t>using</a:t>
            </a:r>
            <a:r>
              <a:rPr lang="en-US" spc="5" noProof="1"/>
              <a:t> </a:t>
            </a:r>
            <a:r>
              <a:rPr lang="en-US" noProof="1"/>
              <a:t>the</a:t>
            </a:r>
            <a:r>
              <a:rPr lang="en-US" spc="10" noProof="1"/>
              <a:t> </a:t>
            </a:r>
            <a:r>
              <a:rPr lang="en-US" spc="-45" noProof="1"/>
              <a:t>SSH</a:t>
            </a:r>
            <a:r>
              <a:rPr lang="en-US" spc="5" noProof="1"/>
              <a:t> </a:t>
            </a:r>
            <a:r>
              <a:rPr lang="en-US" spc="-25" noProof="1"/>
              <a:t>command,</a:t>
            </a:r>
            <a:r>
              <a:rPr lang="en-US" spc="10" noProof="1"/>
              <a:t> </a:t>
            </a:r>
            <a:r>
              <a:rPr lang="en-US" spc="-40" noProof="1"/>
              <a:t>we</a:t>
            </a:r>
            <a:r>
              <a:rPr lang="en-US" spc="5" noProof="1"/>
              <a:t> </a:t>
            </a:r>
            <a:r>
              <a:rPr lang="en-US" noProof="1"/>
              <a:t>typed</a:t>
            </a:r>
            <a:r>
              <a:rPr lang="en-US" spc="5" noProof="1"/>
              <a:t> </a:t>
            </a:r>
            <a:r>
              <a:rPr lang="en-US" spc="-25" noProof="1"/>
              <a:t>the </a:t>
            </a:r>
            <a:r>
              <a:rPr lang="en-US" spc="-10" noProof="1"/>
              <a:t>following</a:t>
            </a:r>
            <a:r>
              <a:rPr lang="en-US" spc="30" noProof="1"/>
              <a:t> </a:t>
            </a:r>
            <a:r>
              <a:rPr lang="en-US" noProof="1"/>
              <a:t>in</a:t>
            </a:r>
            <a:r>
              <a:rPr lang="en-US" spc="30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spc="-10" noProof="1"/>
              <a:t>browser:</a:t>
            </a: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pc="-10" noProof="1"/>
          </a:p>
          <a:p>
            <a:pPr marL="215900">
              <a:lnSpc>
                <a:spcPct val="100000"/>
              </a:lnSpc>
            </a:pPr>
            <a:r>
              <a:rPr lang="en-US" sz="800" spc="-60" noProof="1">
                <a:solidFill>
                  <a:srgbClr val="000000"/>
                </a:solidFill>
                <a:latin typeface="Courier New"/>
                <a:cs typeface="Courier New"/>
              </a:rPr>
              <a:t>http://</a:t>
            </a:r>
            <a:r>
              <a:rPr lang="en-US" sz="800" spc="-60" noProof="1">
                <a:solidFill>
                  <a:srgbClr val="666666"/>
                </a:solidFill>
                <a:latin typeface="Courier New"/>
                <a:cs typeface="Courier New"/>
              </a:rPr>
              <a:t>&lt;</a:t>
            </a:r>
            <a:r>
              <a:rPr lang="en-US" sz="800" spc="-60" noProof="1">
                <a:solidFill>
                  <a:srgbClr val="000000"/>
                </a:solidFill>
                <a:latin typeface="Courier New"/>
                <a:cs typeface="Courier New"/>
              </a:rPr>
              <a:t>your-ec2-instance-public-</a:t>
            </a:r>
            <a:r>
              <a:rPr lang="en-US" sz="800" spc="-10" noProof="1">
                <a:solidFill>
                  <a:srgbClr val="000000"/>
                </a:solidFill>
                <a:latin typeface="Courier New"/>
                <a:cs typeface="Courier New"/>
              </a:rPr>
              <a:t>ip</a:t>
            </a:r>
            <a:r>
              <a:rPr lang="en-US" sz="800" spc="-10" noProof="1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r>
              <a:rPr lang="en-US" sz="800" spc="-10" noProof="1">
                <a:solidFill>
                  <a:srgbClr val="000000"/>
                </a:solidFill>
                <a:latin typeface="Courier New"/>
                <a:cs typeface="Courier New"/>
              </a:rPr>
              <a:t>:8888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7780" marR="104139" indent="-4445">
              <a:lnSpc>
                <a:spcPct val="116199"/>
              </a:lnSpc>
            </a:pPr>
            <a:r>
              <a:rPr lang="en-US" noProof="1"/>
              <a:t>That</a:t>
            </a:r>
            <a:r>
              <a:rPr lang="en-US" spc="-25" noProof="1"/>
              <a:t> </a:t>
            </a:r>
            <a:r>
              <a:rPr lang="en-US" noProof="1"/>
              <a:t>is</a:t>
            </a:r>
            <a:r>
              <a:rPr lang="en-US" spc="20" noProof="1"/>
              <a:t> </a:t>
            </a:r>
            <a:r>
              <a:rPr lang="en-US" spc="-50" noProof="1"/>
              <a:t>because</a:t>
            </a:r>
            <a:r>
              <a:rPr lang="en-US" spc="20" noProof="1"/>
              <a:t> </a:t>
            </a:r>
            <a:r>
              <a:rPr lang="en-US" noProof="1"/>
              <a:t>for</a:t>
            </a:r>
            <a:r>
              <a:rPr lang="en-US" spc="20" noProof="1"/>
              <a:t> </a:t>
            </a:r>
            <a:r>
              <a:rPr lang="en-US" spc="-25" noProof="1"/>
              <a:t>SSH,</a:t>
            </a:r>
            <a:r>
              <a:rPr lang="en-US" spc="20" noProof="1"/>
              <a:t> </a:t>
            </a:r>
            <a:r>
              <a:rPr lang="en-US" spc="-40" noProof="1"/>
              <a:t>we</a:t>
            </a:r>
            <a:r>
              <a:rPr lang="en-US" spc="20" noProof="1"/>
              <a:t> </a:t>
            </a:r>
            <a:r>
              <a:rPr lang="en-US" spc="-55" noProof="1"/>
              <a:t>use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110" noProof="1"/>
              <a:t> </a:t>
            </a:r>
            <a:r>
              <a:rPr lang="en-US" spc="-75" noProof="1">
                <a:solidFill>
                  <a:srgbClr val="000000"/>
                </a:solidFill>
                <a:latin typeface="Courier New"/>
                <a:cs typeface="Courier New"/>
              </a:rPr>
              <a:t>ssh</a:t>
            </a:r>
            <a:r>
              <a:rPr lang="en-US" spc="-135" noProof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pc="-25" noProof="1"/>
              <a:t>command</a:t>
            </a:r>
            <a:r>
              <a:rPr lang="en-US" spc="20" noProof="1"/>
              <a:t> </a:t>
            </a:r>
            <a:r>
              <a:rPr lang="en-US" noProof="1"/>
              <a:t>and</a:t>
            </a:r>
            <a:r>
              <a:rPr lang="en-US" spc="20" noProof="1"/>
              <a:t> </a:t>
            </a:r>
            <a:r>
              <a:rPr lang="en-US" noProof="1"/>
              <a:t>point</a:t>
            </a:r>
            <a:r>
              <a:rPr lang="en-US" spc="20" noProof="1"/>
              <a:t> </a:t>
            </a:r>
            <a:r>
              <a:rPr lang="en-US" noProof="1"/>
              <a:t>to</a:t>
            </a:r>
            <a:r>
              <a:rPr lang="en-US" spc="25" noProof="1"/>
              <a:t> </a:t>
            </a:r>
            <a:r>
              <a:rPr lang="en-US" noProof="1"/>
              <a:t>a</a:t>
            </a:r>
            <a:r>
              <a:rPr lang="en-US" spc="20" noProof="1"/>
              <a:t> </a:t>
            </a:r>
            <a:r>
              <a:rPr lang="en-US" spc="-20" noProof="1"/>
              <a:t>specific</a:t>
            </a:r>
            <a:r>
              <a:rPr lang="en-US" spc="20" noProof="1"/>
              <a:t> </a:t>
            </a:r>
            <a:r>
              <a:rPr lang="en-US" noProof="1"/>
              <a:t>IP</a:t>
            </a:r>
            <a:r>
              <a:rPr lang="en-US" spc="20" noProof="1"/>
              <a:t> </a:t>
            </a:r>
            <a:r>
              <a:rPr lang="en-US" spc="-45" noProof="1"/>
              <a:t>address</a:t>
            </a:r>
            <a:r>
              <a:rPr lang="en-US" spc="20" noProof="1"/>
              <a:t> </a:t>
            </a:r>
            <a:r>
              <a:rPr lang="en-US" noProof="1"/>
              <a:t>(or</a:t>
            </a:r>
            <a:r>
              <a:rPr lang="en-US" spc="5" noProof="1"/>
              <a:t> </a:t>
            </a:r>
            <a:r>
              <a:rPr lang="en-US" noProof="1"/>
              <a:t>the</a:t>
            </a:r>
            <a:r>
              <a:rPr lang="en-US" spc="5" noProof="1"/>
              <a:t> </a:t>
            </a:r>
            <a:r>
              <a:rPr lang="en-US" noProof="1"/>
              <a:t>DNS</a:t>
            </a:r>
            <a:r>
              <a:rPr lang="en-US" spc="10" noProof="1"/>
              <a:t> </a:t>
            </a:r>
            <a:r>
              <a:rPr lang="en-US" spc="-20" noProof="1"/>
              <a:t>name)</a:t>
            </a:r>
            <a:r>
              <a:rPr lang="en-US" spc="5" noProof="1"/>
              <a:t> </a:t>
            </a:r>
            <a:r>
              <a:rPr lang="en-US" noProof="1"/>
              <a:t>and</a:t>
            </a:r>
            <a:r>
              <a:rPr lang="en-US" spc="20" noProof="1"/>
              <a:t> </a:t>
            </a:r>
            <a:r>
              <a:rPr lang="en-US" noProof="1"/>
              <a:t>port.</a:t>
            </a:r>
            <a:r>
              <a:rPr lang="en-US" spc="110" noProof="1"/>
              <a:t> </a:t>
            </a:r>
            <a:r>
              <a:rPr lang="en-US" spc="-25" noProof="1"/>
              <a:t>But </a:t>
            </a:r>
            <a:r>
              <a:rPr lang="en-US" noProof="1"/>
              <a:t>for</a:t>
            </a:r>
            <a:r>
              <a:rPr lang="en-US" spc="5" noProof="1"/>
              <a:t> </a:t>
            </a:r>
            <a:r>
              <a:rPr lang="en-US" noProof="1"/>
              <a:t>jupyter</a:t>
            </a:r>
            <a:r>
              <a:rPr lang="en-US" spc="10" noProof="1"/>
              <a:t> </a:t>
            </a:r>
            <a:r>
              <a:rPr lang="en-US" spc="-20" noProof="1"/>
              <a:t>notebooks,</a:t>
            </a:r>
            <a:r>
              <a:rPr lang="en-US" spc="10" noProof="1"/>
              <a:t> </a:t>
            </a:r>
            <a:r>
              <a:rPr lang="en-US" spc="-40" noProof="1"/>
              <a:t>we</a:t>
            </a:r>
            <a:r>
              <a:rPr lang="en-US" spc="10" noProof="1"/>
              <a:t> </a:t>
            </a:r>
            <a:r>
              <a:rPr lang="en-US" spc="-55" noProof="1"/>
              <a:t>use</a:t>
            </a:r>
            <a:r>
              <a:rPr lang="en-US" spc="10" noProof="1"/>
              <a:t> </a:t>
            </a:r>
            <a:r>
              <a:rPr lang="en-US" noProof="1"/>
              <a:t>the</a:t>
            </a:r>
            <a:r>
              <a:rPr lang="en-US" spc="5" noProof="1"/>
              <a:t> </a:t>
            </a:r>
            <a:r>
              <a:rPr lang="en-US" spc="-40" noProof="1"/>
              <a:t>browser</a:t>
            </a:r>
            <a:r>
              <a:rPr lang="en-US" spc="10" noProof="1"/>
              <a:t> </a:t>
            </a:r>
            <a:r>
              <a:rPr lang="en-US" noProof="1"/>
              <a:t>and</a:t>
            </a:r>
            <a:r>
              <a:rPr lang="en-US" spc="10" noProof="1"/>
              <a:t> </a:t>
            </a:r>
            <a:r>
              <a:rPr lang="en-US" noProof="1"/>
              <a:t>point</a:t>
            </a:r>
            <a:r>
              <a:rPr lang="en-US" spc="10" noProof="1"/>
              <a:t> </a:t>
            </a:r>
            <a:r>
              <a:rPr lang="en-US" noProof="1"/>
              <a:t>to</a:t>
            </a:r>
            <a:r>
              <a:rPr lang="en-US" spc="10" noProof="1"/>
              <a:t> </a:t>
            </a:r>
            <a:r>
              <a:rPr lang="en-US" noProof="1"/>
              <a:t>a</a:t>
            </a:r>
            <a:r>
              <a:rPr lang="en-US" spc="5" noProof="1"/>
              <a:t> </a:t>
            </a:r>
            <a:r>
              <a:rPr lang="en-US" spc="-20" noProof="1"/>
              <a:t>specific</a:t>
            </a:r>
            <a:r>
              <a:rPr lang="en-US" spc="10" noProof="1"/>
              <a:t> </a:t>
            </a:r>
            <a:r>
              <a:rPr lang="en-US" noProof="1"/>
              <a:t>IP</a:t>
            </a:r>
            <a:r>
              <a:rPr lang="en-US" spc="10" noProof="1"/>
              <a:t> </a:t>
            </a:r>
            <a:r>
              <a:rPr lang="en-US" spc="-45" noProof="1"/>
              <a:t>address</a:t>
            </a:r>
            <a:r>
              <a:rPr lang="en-US" spc="10" noProof="1"/>
              <a:t> </a:t>
            </a:r>
            <a:r>
              <a:rPr lang="en-US" noProof="1"/>
              <a:t>and</a:t>
            </a:r>
            <a:r>
              <a:rPr lang="en-US" spc="10" noProof="1"/>
              <a:t> </a:t>
            </a:r>
            <a:r>
              <a:rPr lang="en-US" spc="-10" noProof="1"/>
              <a:t>port.</a:t>
            </a: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lang="en-US" spc="-10" noProof="1"/>
          </a:p>
          <a:p>
            <a:pPr marL="27940" algn="ctr">
              <a:lnSpc>
                <a:spcPct val="100000"/>
              </a:lnSpc>
            </a:pPr>
            <a:r>
              <a:rPr lang="en-US" noProof="1">
                <a:solidFill>
                  <a:srgbClr val="000000"/>
                </a:solidFill>
              </a:rPr>
              <a:t>In</a:t>
            </a:r>
            <a:r>
              <a:rPr lang="en-US" spc="-5" noProof="1">
                <a:solidFill>
                  <a:srgbClr val="000000"/>
                </a:solidFill>
              </a:rPr>
              <a:t> </a:t>
            </a:r>
            <a:r>
              <a:rPr lang="en-US" noProof="1">
                <a:solidFill>
                  <a:srgbClr val="000000"/>
                </a:solidFill>
              </a:rPr>
              <a:t>both</a:t>
            </a:r>
            <a:r>
              <a:rPr lang="en-US" spc="10" noProof="1">
                <a:solidFill>
                  <a:srgbClr val="000000"/>
                </a:solidFill>
              </a:rPr>
              <a:t> </a:t>
            </a:r>
            <a:r>
              <a:rPr lang="en-US" spc="-75" noProof="1">
                <a:solidFill>
                  <a:srgbClr val="000000"/>
                </a:solidFill>
              </a:rPr>
              <a:t>cases</a:t>
            </a:r>
            <a:r>
              <a:rPr lang="en-US" spc="10" noProof="1">
                <a:solidFill>
                  <a:srgbClr val="000000"/>
                </a:solidFill>
              </a:rPr>
              <a:t> </a:t>
            </a:r>
            <a:r>
              <a:rPr lang="en-US" spc="-50" noProof="1">
                <a:solidFill>
                  <a:srgbClr val="000000"/>
                </a:solidFill>
              </a:rPr>
              <a:t>we</a:t>
            </a:r>
            <a:r>
              <a:rPr lang="en-US" spc="5" noProof="1">
                <a:solidFill>
                  <a:srgbClr val="000000"/>
                </a:solidFill>
              </a:rPr>
              <a:t> </a:t>
            </a:r>
            <a:r>
              <a:rPr lang="en-US" spc="-40" noProof="1">
                <a:solidFill>
                  <a:srgbClr val="000000"/>
                </a:solidFill>
              </a:rPr>
              <a:t>are</a:t>
            </a:r>
            <a:r>
              <a:rPr lang="en-US" spc="10" noProof="1">
                <a:solidFill>
                  <a:srgbClr val="000000"/>
                </a:solidFill>
              </a:rPr>
              <a:t> </a:t>
            </a:r>
            <a:r>
              <a:rPr lang="en-US" spc="-50" noProof="1">
                <a:solidFill>
                  <a:srgbClr val="000000"/>
                </a:solidFill>
              </a:rPr>
              <a:t>accessing</a:t>
            </a:r>
            <a:r>
              <a:rPr lang="en-US" spc="5" noProof="1">
                <a:solidFill>
                  <a:srgbClr val="000000"/>
                </a:solidFill>
              </a:rPr>
              <a:t> </a:t>
            </a:r>
            <a:r>
              <a:rPr lang="en-US" noProof="1">
                <a:solidFill>
                  <a:srgbClr val="000000"/>
                </a:solidFill>
              </a:rPr>
              <a:t>a</a:t>
            </a:r>
            <a:r>
              <a:rPr lang="en-US" spc="5" noProof="1">
                <a:solidFill>
                  <a:srgbClr val="000000"/>
                </a:solidFill>
              </a:rPr>
              <a:t> </a:t>
            </a:r>
            <a:r>
              <a:rPr lang="en-US" spc="-40" noProof="1">
                <a:solidFill>
                  <a:srgbClr val="000000"/>
                </a:solidFill>
              </a:rPr>
              <a:t>service</a:t>
            </a:r>
            <a:r>
              <a:rPr lang="en-US" spc="5" noProof="1">
                <a:solidFill>
                  <a:srgbClr val="000000"/>
                </a:solidFill>
              </a:rPr>
              <a:t> </a:t>
            </a:r>
            <a:r>
              <a:rPr lang="en-US" noProof="1">
                <a:solidFill>
                  <a:srgbClr val="000000"/>
                </a:solidFill>
              </a:rPr>
              <a:t>on</a:t>
            </a:r>
            <a:r>
              <a:rPr lang="en-US" spc="5" noProof="1">
                <a:solidFill>
                  <a:srgbClr val="000000"/>
                </a:solidFill>
              </a:rPr>
              <a:t> </a:t>
            </a:r>
            <a:r>
              <a:rPr lang="en-US" noProof="1">
                <a:solidFill>
                  <a:srgbClr val="000000"/>
                </a:solidFill>
              </a:rPr>
              <a:t>a</a:t>
            </a:r>
            <a:r>
              <a:rPr lang="en-US" spc="10" noProof="1">
                <a:solidFill>
                  <a:srgbClr val="000000"/>
                </a:solidFill>
              </a:rPr>
              <a:t> </a:t>
            </a:r>
            <a:r>
              <a:rPr lang="en-US" spc="-20" noProof="1">
                <a:solidFill>
                  <a:srgbClr val="000000"/>
                </a:solidFill>
              </a:rPr>
              <a:t>remote</a:t>
            </a:r>
            <a:r>
              <a:rPr lang="en-US" spc="5" noProof="1">
                <a:solidFill>
                  <a:srgbClr val="000000"/>
                </a:solidFill>
              </a:rPr>
              <a:t> </a:t>
            </a:r>
            <a:r>
              <a:rPr lang="en-US" spc="-10" noProof="1">
                <a:solidFill>
                  <a:srgbClr val="000000"/>
                </a:solidFill>
              </a:rPr>
              <a:t>device.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2" name="object 12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3234963"/>
              <a:ext cx="484505" cy="5080"/>
            </a:xfrm>
            <a:custGeom>
              <a:avLst/>
              <a:gdLst/>
              <a:ahLst/>
              <a:cxnLst/>
              <a:rect l="l" t="t" r="r" b="b"/>
              <a:pathLst>
                <a:path w="484505" h="5080">
                  <a:moveTo>
                    <a:pt x="0" y="5060"/>
                  </a:moveTo>
                  <a:lnTo>
                    <a:pt x="0" y="0"/>
                  </a:lnTo>
                  <a:lnTo>
                    <a:pt x="484019" y="0"/>
                  </a:lnTo>
                  <a:lnTo>
                    <a:pt x="48401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3784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40" noProof="1"/>
              <a:t>Recap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61124" rIns="0" bIns="0" rtlCol="0">
            <a:spAutoFit/>
          </a:bodyPr>
          <a:lstStyle/>
          <a:p>
            <a:pPr marL="17780" marR="92710" indent="-5715">
              <a:lnSpc>
                <a:spcPct val="116199"/>
              </a:lnSpc>
              <a:spcBef>
                <a:spcPts val="100"/>
              </a:spcBef>
            </a:pPr>
            <a:r>
              <a:rPr lang="en-US" spc="-20" noProof="1"/>
              <a:t>We’ve</a:t>
            </a:r>
            <a:r>
              <a:rPr lang="en-US" spc="-35" noProof="1"/>
              <a:t> </a:t>
            </a:r>
            <a:r>
              <a:rPr lang="en-US" spc="-70" noProof="1"/>
              <a:t>seen</a:t>
            </a:r>
            <a:r>
              <a:rPr lang="en-US" spc="10" noProof="1"/>
              <a:t> </a:t>
            </a:r>
            <a:r>
              <a:rPr lang="en-US" spc="-10" noProof="1"/>
              <a:t>how </a:t>
            </a:r>
            <a:r>
              <a:rPr lang="en-US" noProof="1"/>
              <a:t>IP</a:t>
            </a:r>
            <a:r>
              <a:rPr lang="en-US" spc="-5" noProof="1"/>
              <a:t> </a:t>
            </a:r>
            <a:r>
              <a:rPr lang="en-US" spc="-60" noProof="1"/>
              <a:t>addresses</a:t>
            </a:r>
            <a:r>
              <a:rPr lang="en-US" spc="-5" noProof="1"/>
              <a:t> </a:t>
            </a:r>
            <a:r>
              <a:rPr lang="en-US" spc="-30" noProof="1"/>
              <a:t>are</a:t>
            </a:r>
            <a:r>
              <a:rPr lang="en-US" spc="-10" noProof="1"/>
              <a:t> </a:t>
            </a:r>
            <a:r>
              <a:rPr lang="en-US" spc="-55" noProof="1"/>
              <a:t>used</a:t>
            </a:r>
            <a:r>
              <a:rPr lang="en-US" spc="-5" noProof="1"/>
              <a:t> </a:t>
            </a:r>
            <a:r>
              <a:rPr lang="en-US" noProof="1"/>
              <a:t>to</a:t>
            </a:r>
            <a:r>
              <a:rPr lang="en-US" spc="-10" noProof="1"/>
              <a:t> </a:t>
            </a:r>
            <a:r>
              <a:rPr lang="en-US" b="1" spc="-10" noProof="1">
                <a:latin typeface="Arial"/>
                <a:cs typeface="Arial"/>
              </a:rPr>
              <a:t>identify</a:t>
            </a:r>
            <a:r>
              <a:rPr lang="en-US" b="1" spc="10" noProof="1">
                <a:latin typeface="Arial"/>
                <a:cs typeface="Arial"/>
              </a:rPr>
              <a:t> </a:t>
            </a:r>
            <a:r>
              <a:rPr lang="en-US" b="1" spc="-45" noProof="1">
                <a:latin typeface="Arial"/>
                <a:cs typeface="Arial"/>
              </a:rPr>
              <a:t>devices</a:t>
            </a:r>
            <a:r>
              <a:rPr lang="en-US" spc="-45" noProof="1"/>
              <a:t>,</a:t>
            </a:r>
            <a:r>
              <a:rPr lang="en-US" spc="-10" noProof="1"/>
              <a:t> </a:t>
            </a:r>
            <a:r>
              <a:rPr lang="en-US" noProof="1"/>
              <a:t>and</a:t>
            </a:r>
            <a:r>
              <a:rPr lang="en-US" spc="-10" noProof="1"/>
              <a:t> how</a:t>
            </a:r>
            <a:r>
              <a:rPr lang="en-US" spc="-5" noProof="1"/>
              <a:t> </a:t>
            </a:r>
            <a:r>
              <a:rPr lang="en-US" spc="-10" noProof="1"/>
              <a:t>there’s private </a:t>
            </a:r>
            <a:r>
              <a:rPr lang="en-US" noProof="1"/>
              <a:t>and</a:t>
            </a:r>
            <a:r>
              <a:rPr lang="en-US" spc="-5" noProof="1"/>
              <a:t> </a:t>
            </a:r>
            <a:r>
              <a:rPr lang="en-US" noProof="1"/>
              <a:t>public</a:t>
            </a:r>
            <a:r>
              <a:rPr lang="en-US" spc="-10" noProof="1"/>
              <a:t> </a:t>
            </a:r>
            <a:r>
              <a:rPr lang="en-US" spc="-25" noProof="1"/>
              <a:t>IP </a:t>
            </a:r>
            <a:r>
              <a:rPr lang="en-US" spc="-60" noProof="1"/>
              <a:t>addresses</a:t>
            </a:r>
            <a:r>
              <a:rPr lang="en-US" spc="10" noProof="1"/>
              <a:t> </a:t>
            </a:r>
            <a:r>
              <a:rPr lang="en-US" noProof="1"/>
              <a:t>that</a:t>
            </a:r>
            <a:r>
              <a:rPr lang="en-US" spc="15" noProof="1"/>
              <a:t> </a:t>
            </a:r>
            <a:r>
              <a:rPr lang="en-US" spc="-30" noProof="1"/>
              <a:t>are</a:t>
            </a:r>
            <a:r>
              <a:rPr lang="en-US" spc="15" noProof="1"/>
              <a:t> </a:t>
            </a:r>
            <a:r>
              <a:rPr lang="en-US" spc="-55" noProof="1"/>
              <a:t>used</a:t>
            </a:r>
            <a:r>
              <a:rPr lang="en-US" spc="15" noProof="1"/>
              <a:t> </a:t>
            </a:r>
            <a:r>
              <a:rPr lang="en-US" noProof="1"/>
              <a:t>to</a:t>
            </a:r>
            <a:r>
              <a:rPr lang="en-US" spc="15" noProof="1"/>
              <a:t> </a:t>
            </a:r>
            <a:r>
              <a:rPr lang="en-US" noProof="1"/>
              <a:t>identify</a:t>
            </a:r>
            <a:r>
              <a:rPr lang="en-US" spc="15" noProof="1"/>
              <a:t> </a:t>
            </a:r>
            <a:r>
              <a:rPr lang="en-US" spc="-45" noProof="1"/>
              <a:t>devices</a:t>
            </a:r>
            <a:r>
              <a:rPr lang="en-US" spc="15" noProof="1"/>
              <a:t> </a:t>
            </a:r>
            <a:r>
              <a:rPr lang="en-US" b="1" spc="-10" noProof="1">
                <a:latin typeface="Arial"/>
                <a:cs typeface="Arial"/>
              </a:rPr>
              <a:t>within</a:t>
            </a:r>
            <a:r>
              <a:rPr lang="en-US" b="1" spc="35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a</a:t>
            </a:r>
            <a:r>
              <a:rPr lang="en-US" b="1" spc="30" noProof="1">
                <a:latin typeface="Arial"/>
                <a:cs typeface="Arial"/>
              </a:rPr>
              <a:t> </a:t>
            </a:r>
            <a:r>
              <a:rPr lang="en-US" b="1" spc="-30" noProof="1">
                <a:latin typeface="Arial"/>
                <a:cs typeface="Arial"/>
              </a:rPr>
              <a:t>network</a:t>
            </a:r>
            <a:r>
              <a:rPr lang="en-US" b="1" spc="15" noProof="1">
                <a:latin typeface="Arial"/>
                <a:cs typeface="Arial"/>
              </a:rPr>
              <a:t> </a:t>
            </a:r>
            <a:r>
              <a:rPr lang="en-US" noProof="1"/>
              <a:t>and</a:t>
            </a:r>
            <a:r>
              <a:rPr lang="en-US" spc="15" noProof="1"/>
              <a:t> </a:t>
            </a:r>
            <a:r>
              <a:rPr lang="en-US" b="1" noProof="1">
                <a:latin typeface="Arial"/>
                <a:cs typeface="Arial"/>
              </a:rPr>
              <a:t>on</a:t>
            </a:r>
            <a:r>
              <a:rPr lang="en-US" b="1" spc="30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the</a:t>
            </a:r>
            <a:r>
              <a:rPr lang="en-US" b="1" spc="35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internet</a:t>
            </a:r>
            <a:r>
              <a:rPr lang="en-US" b="1" spc="15" noProof="1">
                <a:latin typeface="Arial"/>
                <a:cs typeface="Arial"/>
              </a:rPr>
              <a:t> </a:t>
            </a:r>
            <a:r>
              <a:rPr lang="en-US" spc="-30" noProof="1"/>
              <a:t>respectively.</a:t>
            </a:r>
            <a:r>
              <a:rPr lang="en-US" spc="100" noProof="1"/>
              <a:t> </a:t>
            </a:r>
            <a:r>
              <a:rPr lang="en-US" spc="-20" noProof="1"/>
              <a:t>Some </a:t>
            </a:r>
            <a:r>
              <a:rPr lang="en-US" spc="-30" noProof="1"/>
              <a:t>questions</a:t>
            </a:r>
            <a:r>
              <a:rPr lang="en-US" spc="65" noProof="1"/>
              <a:t> </a:t>
            </a:r>
            <a:r>
              <a:rPr lang="en-US" noProof="1"/>
              <a:t>to</a:t>
            </a:r>
            <a:r>
              <a:rPr lang="en-US" spc="70" noProof="1"/>
              <a:t> </a:t>
            </a:r>
            <a:r>
              <a:rPr lang="en-US" noProof="1"/>
              <a:t>think</a:t>
            </a:r>
            <a:r>
              <a:rPr lang="en-US" spc="65" noProof="1"/>
              <a:t> </a:t>
            </a:r>
            <a:r>
              <a:rPr lang="en-US" spc="-10" noProof="1"/>
              <a:t>about:</a:t>
            </a:r>
          </a:p>
          <a:p>
            <a:pPr marL="245110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5110" algn="l"/>
              </a:tabLst>
            </a:pPr>
            <a:r>
              <a:rPr lang="en-US" noProof="1"/>
              <a:t>How do</a:t>
            </a:r>
            <a:r>
              <a:rPr lang="en-US" spc="5" noProof="1"/>
              <a:t> </a:t>
            </a:r>
            <a:r>
              <a:rPr lang="en-US" noProof="1"/>
              <a:t>multiple</a:t>
            </a:r>
            <a:r>
              <a:rPr lang="en-US" spc="5" noProof="1"/>
              <a:t> </a:t>
            </a:r>
            <a:r>
              <a:rPr lang="en-US" spc="-45" noProof="1"/>
              <a:t>devices</a:t>
            </a:r>
            <a:r>
              <a:rPr lang="en-US" spc="5" noProof="1"/>
              <a:t> </a:t>
            </a:r>
            <a:r>
              <a:rPr lang="en-US" noProof="1"/>
              <a:t>in a</a:t>
            </a:r>
            <a:r>
              <a:rPr lang="en-US" spc="5" noProof="1"/>
              <a:t> </a:t>
            </a:r>
            <a:r>
              <a:rPr lang="en-US" spc="-20" noProof="1"/>
              <a:t>network</a:t>
            </a:r>
            <a:r>
              <a:rPr lang="en-US" spc="5" noProof="1"/>
              <a:t> </a:t>
            </a:r>
            <a:r>
              <a:rPr lang="en-US" spc="-55" noProof="1"/>
              <a:t>share</a:t>
            </a:r>
            <a:r>
              <a:rPr lang="en-US" spc="5" noProof="1"/>
              <a:t> </a:t>
            </a:r>
            <a:r>
              <a:rPr lang="en-US" noProof="1"/>
              <a:t>a </a:t>
            </a:r>
            <a:r>
              <a:rPr lang="en-US" spc="-25" noProof="1"/>
              <a:t>single</a:t>
            </a:r>
            <a:r>
              <a:rPr lang="en-US" spc="5" noProof="1"/>
              <a:t> </a:t>
            </a:r>
            <a:r>
              <a:rPr lang="en-US" noProof="1"/>
              <a:t>public</a:t>
            </a:r>
            <a:r>
              <a:rPr lang="en-US" spc="5" noProof="1"/>
              <a:t> </a:t>
            </a:r>
            <a:r>
              <a:rPr lang="en-US" noProof="1"/>
              <a:t>IP</a:t>
            </a:r>
            <a:r>
              <a:rPr lang="en-US" spc="5" noProof="1"/>
              <a:t> </a:t>
            </a:r>
            <a:r>
              <a:rPr lang="en-US" spc="-10" noProof="1"/>
              <a:t>address?</a:t>
            </a:r>
          </a:p>
          <a:p>
            <a:pPr marL="239395" indent="-141605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lang="en-US" noProof="1"/>
              <a:t>What</a:t>
            </a:r>
            <a:r>
              <a:rPr lang="en-US" spc="5" noProof="1"/>
              <a:t> </a:t>
            </a:r>
            <a:r>
              <a:rPr lang="en-US" spc="-40" noProof="1"/>
              <a:t>even</a:t>
            </a:r>
            <a:r>
              <a:rPr lang="en-US" spc="5" noProof="1"/>
              <a:t> </a:t>
            </a:r>
            <a:r>
              <a:rPr lang="en-US" noProof="1"/>
              <a:t>is</a:t>
            </a:r>
            <a:r>
              <a:rPr lang="en-US" spc="10" noProof="1"/>
              <a:t> </a:t>
            </a:r>
            <a:r>
              <a:rPr lang="en-US" noProof="1"/>
              <a:t>a</a:t>
            </a:r>
            <a:r>
              <a:rPr lang="en-US" spc="5" noProof="1"/>
              <a:t> </a:t>
            </a:r>
            <a:r>
              <a:rPr lang="en-US" spc="-10" noProof="1"/>
              <a:t>network?</a:t>
            </a:r>
          </a:p>
          <a:p>
            <a:pPr marL="245745" marR="5080" indent="-147955">
              <a:lnSpc>
                <a:spcPct val="116199"/>
              </a:lnSpc>
              <a:buChar char="•"/>
              <a:tabLst>
                <a:tab pos="245745" algn="l"/>
              </a:tabLst>
            </a:pPr>
            <a:r>
              <a:rPr lang="en-US" noProof="1"/>
              <a:t>How</a:t>
            </a:r>
            <a:r>
              <a:rPr lang="en-US" spc="-20" noProof="1"/>
              <a:t> </a:t>
            </a:r>
            <a:r>
              <a:rPr lang="en-US" noProof="1"/>
              <a:t>do</a:t>
            </a:r>
            <a:r>
              <a:rPr lang="en-US" spc="-5" noProof="1"/>
              <a:t> </a:t>
            </a:r>
            <a:r>
              <a:rPr lang="en-US" spc="-40" noProof="1"/>
              <a:t>we</a:t>
            </a:r>
            <a:r>
              <a:rPr lang="en-US" spc="-10" noProof="1"/>
              <a:t> </a:t>
            </a:r>
            <a:r>
              <a:rPr lang="en-US" spc="-40" noProof="1"/>
              <a:t>manage</a:t>
            </a:r>
            <a:r>
              <a:rPr lang="en-US" spc="-15" noProof="1"/>
              <a:t> </a:t>
            </a:r>
            <a:r>
              <a:rPr lang="en-US" noProof="1"/>
              <a:t>the</a:t>
            </a:r>
            <a:r>
              <a:rPr lang="en-US" spc="-10" noProof="1"/>
              <a:t> </a:t>
            </a:r>
            <a:r>
              <a:rPr lang="en-US" noProof="1"/>
              <a:t>IP</a:t>
            </a:r>
            <a:r>
              <a:rPr lang="en-US" spc="-10" noProof="1"/>
              <a:t> </a:t>
            </a:r>
            <a:r>
              <a:rPr lang="en-US" spc="-60" noProof="1"/>
              <a:t>addresses</a:t>
            </a:r>
            <a:r>
              <a:rPr lang="en-US" noProof="1"/>
              <a:t> in</a:t>
            </a:r>
            <a:r>
              <a:rPr lang="en-US" spc="-15" noProof="1"/>
              <a:t> </a:t>
            </a:r>
            <a:r>
              <a:rPr lang="en-US" noProof="1"/>
              <a:t>a</a:t>
            </a:r>
            <a:r>
              <a:rPr lang="en-US" spc="-5" noProof="1"/>
              <a:t> </a:t>
            </a:r>
            <a:r>
              <a:rPr lang="en-US" spc="-20" noProof="1"/>
              <a:t>network?</a:t>
            </a:r>
            <a:r>
              <a:rPr lang="en-US" spc="70" noProof="1"/>
              <a:t> </a:t>
            </a:r>
            <a:r>
              <a:rPr lang="en-US" noProof="1"/>
              <a:t>How</a:t>
            </a:r>
            <a:r>
              <a:rPr lang="en-US" spc="-10" noProof="1"/>
              <a:t> </a:t>
            </a:r>
            <a:r>
              <a:rPr lang="en-US" noProof="1"/>
              <a:t>do</a:t>
            </a:r>
            <a:r>
              <a:rPr lang="en-US" spc="-10" noProof="1"/>
              <a:t> </a:t>
            </a:r>
            <a:r>
              <a:rPr lang="en-US" spc="-40" noProof="1"/>
              <a:t>we</a:t>
            </a:r>
            <a:r>
              <a:rPr lang="en-US" spc="-10" noProof="1"/>
              <a:t> </a:t>
            </a:r>
            <a:r>
              <a:rPr lang="en-US" spc="-45" noProof="1"/>
              <a:t>choose</a:t>
            </a:r>
            <a:r>
              <a:rPr lang="en-US" spc="-10" noProof="1"/>
              <a:t> </a:t>
            </a:r>
            <a:r>
              <a:rPr lang="en-US" noProof="1"/>
              <a:t>which</a:t>
            </a:r>
            <a:r>
              <a:rPr lang="en-US" spc="-10" noProof="1"/>
              <a:t> </a:t>
            </a:r>
            <a:r>
              <a:rPr lang="en-US" spc="-45" noProof="1"/>
              <a:t>devices</a:t>
            </a:r>
            <a:r>
              <a:rPr lang="en-US" spc="-10" noProof="1"/>
              <a:t> </a:t>
            </a:r>
            <a:r>
              <a:rPr lang="en-US" noProof="1"/>
              <a:t>get</a:t>
            </a:r>
            <a:r>
              <a:rPr lang="en-US" spc="-10" noProof="1"/>
              <a:t> </a:t>
            </a:r>
            <a:r>
              <a:rPr lang="en-US" noProof="1"/>
              <a:t>which</a:t>
            </a:r>
            <a:r>
              <a:rPr lang="en-US" spc="-10" noProof="1"/>
              <a:t> </a:t>
            </a:r>
            <a:r>
              <a:rPr lang="en-US" spc="-25" noProof="1"/>
              <a:t>IP </a:t>
            </a:r>
            <a:r>
              <a:rPr lang="en-US" spc="-10" noProof="1"/>
              <a:t>addresses?</a:t>
            </a:r>
          </a:p>
          <a:p>
            <a:pPr marL="17780" marR="213995">
              <a:lnSpc>
                <a:spcPct val="116199"/>
              </a:lnSpc>
              <a:spcBef>
                <a:spcPts val="625"/>
              </a:spcBef>
            </a:pPr>
            <a:r>
              <a:rPr lang="en-US" noProof="1"/>
              <a:t>Let’s</a:t>
            </a:r>
            <a:r>
              <a:rPr lang="en-US" spc="10" noProof="1"/>
              <a:t> </a:t>
            </a:r>
            <a:r>
              <a:rPr lang="en-US" spc="-35" noProof="1"/>
              <a:t>explore</a:t>
            </a:r>
            <a:r>
              <a:rPr lang="en-US" spc="5" noProof="1"/>
              <a:t> </a:t>
            </a:r>
            <a:r>
              <a:rPr lang="en-US" spc="-30" noProof="1"/>
              <a:t>these</a:t>
            </a:r>
            <a:r>
              <a:rPr lang="en-US" spc="10" noProof="1"/>
              <a:t> </a:t>
            </a:r>
            <a:r>
              <a:rPr lang="en-US" spc="-30" noProof="1"/>
              <a:t>questions</a:t>
            </a:r>
            <a:r>
              <a:rPr lang="en-US" spc="10" noProof="1"/>
              <a:t> </a:t>
            </a:r>
            <a:r>
              <a:rPr lang="en-US" noProof="1"/>
              <a:t>further</a:t>
            </a:r>
            <a:r>
              <a:rPr lang="en-US" spc="10" noProof="1"/>
              <a:t> </a:t>
            </a:r>
            <a:r>
              <a:rPr lang="en-US" noProof="1"/>
              <a:t>starting</a:t>
            </a:r>
            <a:r>
              <a:rPr lang="en-US" spc="10" noProof="1"/>
              <a:t> </a:t>
            </a:r>
            <a:r>
              <a:rPr lang="en-US" noProof="1"/>
              <a:t>with</a:t>
            </a:r>
            <a:r>
              <a:rPr lang="en-US" spc="10" noProof="1"/>
              <a:t> </a:t>
            </a:r>
            <a:r>
              <a:rPr lang="en-US" noProof="1"/>
              <a:t>a</a:t>
            </a:r>
            <a:r>
              <a:rPr lang="en-US" spc="10" noProof="1"/>
              <a:t> </a:t>
            </a:r>
            <a:r>
              <a:rPr lang="en-US" noProof="1"/>
              <a:t>situation</a:t>
            </a:r>
            <a:r>
              <a:rPr lang="en-US" spc="10" noProof="1"/>
              <a:t> </a:t>
            </a:r>
            <a:r>
              <a:rPr lang="en-US" spc="-10" noProof="1"/>
              <a:t>you</a:t>
            </a:r>
            <a:r>
              <a:rPr lang="en-US" spc="10" noProof="1"/>
              <a:t> </a:t>
            </a:r>
            <a:r>
              <a:rPr lang="en-US" spc="-20" noProof="1"/>
              <a:t>may</a:t>
            </a:r>
            <a:r>
              <a:rPr lang="en-US" spc="10" noProof="1"/>
              <a:t> </a:t>
            </a:r>
            <a:r>
              <a:rPr lang="en-US" noProof="1"/>
              <a:t>be</a:t>
            </a:r>
            <a:r>
              <a:rPr lang="en-US" spc="10" noProof="1"/>
              <a:t> </a:t>
            </a:r>
            <a:r>
              <a:rPr lang="en-US" noProof="1"/>
              <a:t>familiar</a:t>
            </a:r>
            <a:r>
              <a:rPr lang="en-US" spc="10" noProof="1"/>
              <a:t> </a:t>
            </a:r>
            <a:r>
              <a:rPr lang="en-US" noProof="1"/>
              <a:t>with:</a:t>
            </a:r>
            <a:r>
              <a:rPr lang="en-US" spc="95" noProof="1"/>
              <a:t> </a:t>
            </a:r>
            <a:r>
              <a:rPr lang="en-US" spc="-10" noProof="1"/>
              <a:t>your</a:t>
            </a:r>
            <a:r>
              <a:rPr lang="en-US" spc="10" noProof="1"/>
              <a:t> </a:t>
            </a:r>
            <a:r>
              <a:rPr lang="en-US" spc="-20" noProof="1"/>
              <a:t>home </a:t>
            </a:r>
            <a:r>
              <a:rPr lang="en-US" spc="-10" noProof="1"/>
              <a:t>network.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629285" cy="5080"/>
            </a:xfrm>
            <a:custGeom>
              <a:avLst/>
              <a:gdLst/>
              <a:ahLst/>
              <a:cxnLst/>
              <a:rect l="l" t="t" r="r" b="b"/>
              <a:pathLst>
                <a:path w="629285" h="5080">
                  <a:moveTo>
                    <a:pt x="0" y="5060"/>
                  </a:moveTo>
                  <a:lnTo>
                    <a:pt x="0" y="0"/>
                  </a:lnTo>
                  <a:lnTo>
                    <a:pt x="629216" y="0"/>
                  </a:lnTo>
                  <a:lnTo>
                    <a:pt x="62921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Our</a:t>
            </a:r>
            <a:r>
              <a:rPr lang="en-US" spc="5" noProof="1"/>
              <a:t> </a:t>
            </a:r>
            <a:r>
              <a:rPr lang="en-US" spc="-25" noProof="1"/>
              <a:t>home</a:t>
            </a:r>
            <a:r>
              <a:rPr lang="en-US" spc="5" noProof="1"/>
              <a:t> </a:t>
            </a:r>
            <a:r>
              <a:rPr lang="en-US" spc="-35" noProof="1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779834"/>
            <a:ext cx="5065395" cy="50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Let’s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imagine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simple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home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some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connected.</a:t>
            </a:r>
            <a:r>
              <a:rPr lang="en-US" sz="900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example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could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computer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right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now,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phone,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smart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TV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 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smart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speaker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(like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Amazon Echo).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5056" y="1368397"/>
            <a:ext cx="2369903" cy="119958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678180" cy="5080"/>
            </a:xfrm>
            <a:custGeom>
              <a:avLst/>
              <a:gdLst/>
              <a:ahLst/>
              <a:cxnLst/>
              <a:rect l="l" t="t" r="r" b="b"/>
              <a:pathLst>
                <a:path w="678180" h="5080">
                  <a:moveTo>
                    <a:pt x="0" y="5060"/>
                  </a:moveTo>
                  <a:lnTo>
                    <a:pt x="0" y="0"/>
                  </a:lnTo>
                  <a:lnTo>
                    <a:pt x="677645" y="0"/>
                  </a:lnTo>
                  <a:lnTo>
                    <a:pt x="67764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Our</a:t>
            </a:r>
            <a:r>
              <a:rPr lang="en-US" spc="5" noProof="1"/>
              <a:t> </a:t>
            </a:r>
            <a:r>
              <a:rPr lang="en-US" spc="-25" noProof="1"/>
              <a:t>home</a:t>
            </a:r>
            <a:r>
              <a:rPr lang="en-US" spc="5" noProof="1"/>
              <a:t> </a:t>
            </a:r>
            <a:r>
              <a:rPr lang="en-US" spc="-35" noProof="1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742470"/>
            <a:ext cx="4844415" cy="583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talk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themselves. F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example,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am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playing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song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spotify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my phone,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send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smart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speaker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smart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speaker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playing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song.</a:t>
            </a:r>
            <a:endParaRPr lang="en-US" sz="900" noProof="1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8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happening?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phone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directly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talking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smart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speaker?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3488" y="1405798"/>
            <a:ext cx="2153025" cy="119954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726440" cy="5080"/>
            </a:xfrm>
            <a:custGeom>
              <a:avLst/>
              <a:gdLst/>
              <a:ahLst/>
              <a:cxnLst/>
              <a:rect l="l" t="t" r="r" b="b"/>
              <a:pathLst>
                <a:path w="726440" h="5080">
                  <a:moveTo>
                    <a:pt x="0" y="5060"/>
                  </a:moveTo>
                  <a:lnTo>
                    <a:pt x="0" y="0"/>
                  </a:lnTo>
                  <a:lnTo>
                    <a:pt x="726073" y="0"/>
                  </a:lnTo>
                  <a:lnTo>
                    <a:pt x="726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0" noProof="1"/>
              <a:t>Your</a:t>
            </a:r>
            <a:r>
              <a:rPr lang="en-US" spc="-15" noProof="1"/>
              <a:t> </a:t>
            </a:r>
            <a:r>
              <a:rPr lang="en-US" spc="-10" noProof="1"/>
              <a:t>router and</a:t>
            </a:r>
            <a:r>
              <a:rPr lang="en-US" spc="-15" noProof="1"/>
              <a:t> </a:t>
            </a:r>
            <a:r>
              <a:rPr lang="en-US" spc="-25" noProof="1"/>
              <a:t>NAT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503482"/>
            <a:ext cx="5048250" cy="879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6830" indent="3810" algn="just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No!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There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player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am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sure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heard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it: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router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8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device we must 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restart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working.</a:t>
            </a:r>
            <a:endParaRPr lang="en-US" sz="900" noProof="1">
              <a:latin typeface="Arial"/>
              <a:cs typeface="Arial"/>
            </a:endParaRPr>
          </a:p>
          <a:p>
            <a:pPr marL="16510" marR="5080" indent="-4445">
              <a:lnSpc>
                <a:spcPct val="116199"/>
              </a:lnSpc>
              <a:spcBef>
                <a:spcPts val="62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router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receptionist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network.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responsible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routing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between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r>
              <a:rPr lang="en-US" sz="900" spc="1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phone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wants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talk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smart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speaker,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sends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message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router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router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sends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smart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speaker.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8538" y="1644787"/>
            <a:ext cx="2222928" cy="119954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774700" cy="5080"/>
            </a:xfrm>
            <a:custGeom>
              <a:avLst/>
              <a:gdLst/>
              <a:ahLst/>
              <a:cxnLst/>
              <a:rect l="l" t="t" r="r" b="b"/>
              <a:pathLst>
                <a:path w="774700" h="5080">
                  <a:moveTo>
                    <a:pt x="0" y="5060"/>
                  </a:moveTo>
                  <a:lnTo>
                    <a:pt x="0" y="0"/>
                  </a:lnTo>
                  <a:lnTo>
                    <a:pt x="774501" y="0"/>
                  </a:lnTo>
                  <a:lnTo>
                    <a:pt x="77450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0" noProof="1"/>
              <a:t>Your</a:t>
            </a:r>
            <a:r>
              <a:rPr lang="en-US" spc="-15" noProof="1"/>
              <a:t> </a:t>
            </a:r>
            <a:r>
              <a:rPr lang="en-US" spc="-10" noProof="1"/>
              <a:t>router and</a:t>
            </a:r>
            <a:r>
              <a:rPr lang="en-US" spc="-15" noProof="1"/>
              <a:t> </a:t>
            </a:r>
            <a:r>
              <a:rPr lang="en-US" spc="-25" noProof="1"/>
              <a:t>NAT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776231"/>
            <a:ext cx="5015230" cy="312420"/>
            <a:chOff x="372646" y="1776231"/>
            <a:chExt cx="5015230" cy="312420"/>
          </a:xfrm>
        </p:grpSpPr>
        <p:sp>
          <p:nvSpPr>
            <p:cNvPr id="4" name="object 4"/>
            <p:cNvSpPr/>
            <p:nvPr/>
          </p:nvSpPr>
          <p:spPr>
            <a:xfrm>
              <a:off x="377994" y="1781578"/>
              <a:ext cx="5004435" cy="301625"/>
            </a:xfrm>
            <a:custGeom>
              <a:avLst/>
              <a:gdLst/>
              <a:ahLst/>
              <a:cxnLst/>
              <a:rect l="l" t="t" r="r" b="b"/>
              <a:pathLst>
                <a:path w="5004435" h="301625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65432"/>
                  </a:lnTo>
                  <a:lnTo>
                    <a:pt x="2829" y="279445"/>
                  </a:lnTo>
                  <a:lnTo>
                    <a:pt x="10544" y="290888"/>
                  </a:lnTo>
                  <a:lnTo>
                    <a:pt x="21987" y="298603"/>
                  </a:lnTo>
                  <a:lnTo>
                    <a:pt x="36000" y="301432"/>
                  </a:lnTo>
                  <a:lnTo>
                    <a:pt x="4968064" y="301432"/>
                  </a:lnTo>
                  <a:lnTo>
                    <a:pt x="4982077" y="298603"/>
                  </a:lnTo>
                  <a:lnTo>
                    <a:pt x="4993521" y="290888"/>
                  </a:lnTo>
                  <a:lnTo>
                    <a:pt x="5001236" y="279445"/>
                  </a:lnTo>
                  <a:lnTo>
                    <a:pt x="5004065" y="265432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782557"/>
              <a:ext cx="5002530" cy="299720"/>
            </a:xfrm>
            <a:custGeom>
              <a:avLst/>
              <a:gdLst/>
              <a:ahLst/>
              <a:cxnLst/>
              <a:rect l="l" t="t" r="r" b="b"/>
              <a:pathLst>
                <a:path w="5002530" h="299719">
                  <a:moveTo>
                    <a:pt x="0" y="264453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64453"/>
                  </a:lnTo>
                  <a:lnTo>
                    <a:pt x="4999354" y="278085"/>
                  </a:lnTo>
                  <a:lnTo>
                    <a:pt x="4991849" y="289217"/>
                  </a:lnTo>
                  <a:lnTo>
                    <a:pt x="4980717" y="296722"/>
                  </a:lnTo>
                  <a:lnTo>
                    <a:pt x="4967085" y="299474"/>
                  </a:lnTo>
                  <a:lnTo>
                    <a:pt x="35021" y="299474"/>
                  </a:lnTo>
                  <a:lnTo>
                    <a:pt x="21389" y="296722"/>
                  </a:lnTo>
                  <a:lnTo>
                    <a:pt x="10257" y="289217"/>
                  </a:lnTo>
                  <a:lnTo>
                    <a:pt x="2752" y="278085"/>
                  </a:lnTo>
                  <a:lnTo>
                    <a:pt x="0" y="264453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72646" y="2403941"/>
            <a:ext cx="5015230" cy="312420"/>
            <a:chOff x="372646" y="2403941"/>
            <a:chExt cx="5015230" cy="312420"/>
          </a:xfrm>
        </p:grpSpPr>
        <p:sp>
          <p:nvSpPr>
            <p:cNvPr id="7" name="object 7"/>
            <p:cNvSpPr/>
            <p:nvPr/>
          </p:nvSpPr>
          <p:spPr>
            <a:xfrm>
              <a:off x="377994" y="2409289"/>
              <a:ext cx="5004435" cy="301625"/>
            </a:xfrm>
            <a:custGeom>
              <a:avLst/>
              <a:gdLst/>
              <a:ahLst/>
              <a:cxnLst/>
              <a:rect l="l" t="t" r="r" b="b"/>
              <a:pathLst>
                <a:path w="5004435" h="301625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65432"/>
                  </a:lnTo>
                  <a:lnTo>
                    <a:pt x="2829" y="279445"/>
                  </a:lnTo>
                  <a:lnTo>
                    <a:pt x="10544" y="290888"/>
                  </a:lnTo>
                  <a:lnTo>
                    <a:pt x="21987" y="298603"/>
                  </a:lnTo>
                  <a:lnTo>
                    <a:pt x="36000" y="301432"/>
                  </a:lnTo>
                  <a:lnTo>
                    <a:pt x="4968064" y="301432"/>
                  </a:lnTo>
                  <a:lnTo>
                    <a:pt x="4982077" y="298603"/>
                  </a:lnTo>
                  <a:lnTo>
                    <a:pt x="4993521" y="290888"/>
                  </a:lnTo>
                  <a:lnTo>
                    <a:pt x="5001236" y="279445"/>
                  </a:lnTo>
                  <a:lnTo>
                    <a:pt x="5004065" y="265432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378973" y="2410268"/>
              <a:ext cx="5002530" cy="299720"/>
            </a:xfrm>
            <a:custGeom>
              <a:avLst/>
              <a:gdLst/>
              <a:ahLst/>
              <a:cxnLst/>
              <a:rect l="l" t="t" r="r" b="b"/>
              <a:pathLst>
                <a:path w="5002530" h="299719">
                  <a:moveTo>
                    <a:pt x="0" y="264453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64453"/>
                  </a:lnTo>
                  <a:lnTo>
                    <a:pt x="4999354" y="278085"/>
                  </a:lnTo>
                  <a:lnTo>
                    <a:pt x="4991849" y="289217"/>
                  </a:lnTo>
                  <a:lnTo>
                    <a:pt x="4980717" y="296722"/>
                  </a:lnTo>
                  <a:lnTo>
                    <a:pt x="4967085" y="299474"/>
                  </a:lnTo>
                  <a:lnTo>
                    <a:pt x="35021" y="299474"/>
                  </a:lnTo>
                  <a:lnTo>
                    <a:pt x="21389" y="296722"/>
                  </a:lnTo>
                  <a:lnTo>
                    <a:pt x="10257" y="289217"/>
                  </a:lnTo>
                  <a:lnTo>
                    <a:pt x="2752" y="278085"/>
                  </a:lnTo>
                  <a:lnTo>
                    <a:pt x="0" y="264453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xfrm>
            <a:off x="341718" y="633263"/>
            <a:ext cx="5071110" cy="20054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 marR="5080">
              <a:lnSpc>
                <a:spcPct val="116199"/>
              </a:lnSpc>
              <a:spcBef>
                <a:spcPts val="100"/>
              </a:spcBef>
            </a:pPr>
            <a:r>
              <a:rPr lang="en-US" spc="-40" noProof="1"/>
              <a:t>Remember</a:t>
            </a:r>
            <a:r>
              <a:rPr lang="en-US" spc="-5" noProof="1"/>
              <a:t> </a:t>
            </a:r>
            <a:r>
              <a:rPr lang="en-US" spc="-40" noProof="1"/>
              <a:t>we</a:t>
            </a:r>
            <a:r>
              <a:rPr lang="en-US" spc="-5" noProof="1"/>
              <a:t> </a:t>
            </a:r>
            <a:r>
              <a:rPr lang="en-US" spc="-20" noProof="1"/>
              <a:t>said</a:t>
            </a:r>
            <a:r>
              <a:rPr lang="en-US" spc="-5" noProof="1"/>
              <a:t> </a:t>
            </a:r>
            <a:r>
              <a:rPr lang="en-US" spc="-10" noProof="1"/>
              <a:t>there</a:t>
            </a:r>
            <a:r>
              <a:rPr lang="en-US" spc="-5" noProof="1"/>
              <a:t> </a:t>
            </a:r>
            <a:r>
              <a:rPr lang="en-US" spc="-30" noProof="1"/>
              <a:t>are</a:t>
            </a:r>
            <a:r>
              <a:rPr lang="en-US" spc="-5" noProof="1"/>
              <a:t> </a:t>
            </a:r>
            <a:r>
              <a:rPr lang="en-US" noProof="1"/>
              <a:t>different</a:t>
            </a:r>
            <a:r>
              <a:rPr lang="en-US" spc="-5" noProof="1"/>
              <a:t> </a:t>
            </a:r>
            <a:r>
              <a:rPr lang="en-US" spc="-10" noProof="1"/>
              <a:t>private</a:t>
            </a:r>
            <a:r>
              <a:rPr lang="en-US" spc="-5" noProof="1"/>
              <a:t> </a:t>
            </a:r>
            <a:r>
              <a:rPr lang="en-US" noProof="1"/>
              <a:t>IP </a:t>
            </a:r>
            <a:r>
              <a:rPr lang="en-US" spc="-40" noProof="1"/>
              <a:t>ranges</a:t>
            </a:r>
            <a:r>
              <a:rPr lang="en-US" spc="-5" noProof="1"/>
              <a:t> </a:t>
            </a:r>
            <a:r>
              <a:rPr lang="en-US" spc="-45" noProof="1"/>
              <a:t>reserved</a:t>
            </a:r>
            <a:r>
              <a:rPr lang="en-US" spc="-5" noProof="1"/>
              <a:t> </a:t>
            </a:r>
            <a:r>
              <a:rPr lang="en-US" noProof="1"/>
              <a:t>for</a:t>
            </a:r>
            <a:r>
              <a:rPr lang="en-US" spc="-5" noProof="1"/>
              <a:t> </a:t>
            </a:r>
            <a:r>
              <a:rPr lang="en-US" spc="-10" noProof="1"/>
              <a:t>private</a:t>
            </a:r>
            <a:r>
              <a:rPr lang="en-US" spc="-5" noProof="1"/>
              <a:t> </a:t>
            </a:r>
            <a:r>
              <a:rPr lang="en-US" spc="-30" noProof="1"/>
              <a:t>networks?</a:t>
            </a:r>
            <a:r>
              <a:rPr lang="en-US" spc="75" noProof="1"/>
              <a:t> </a:t>
            </a:r>
            <a:r>
              <a:rPr lang="en-US" noProof="1"/>
              <a:t>Well, the</a:t>
            </a:r>
            <a:r>
              <a:rPr lang="en-US" spc="-5" noProof="1"/>
              <a:t> </a:t>
            </a:r>
            <a:r>
              <a:rPr lang="en-US" spc="-10" noProof="1"/>
              <a:t>router </a:t>
            </a:r>
            <a:r>
              <a:rPr lang="en-US" spc="-70" noProof="1"/>
              <a:t>uses</a:t>
            </a:r>
            <a:r>
              <a:rPr lang="en-US" spc="10" noProof="1"/>
              <a:t> </a:t>
            </a:r>
            <a:r>
              <a:rPr lang="en-US" spc="-30" noProof="1"/>
              <a:t>these</a:t>
            </a:r>
            <a:r>
              <a:rPr lang="en-US" spc="10" noProof="1"/>
              <a:t> </a:t>
            </a:r>
            <a:r>
              <a:rPr lang="en-US" spc="-10" noProof="1"/>
              <a:t>private</a:t>
            </a:r>
            <a:r>
              <a:rPr lang="en-US" spc="10" noProof="1"/>
              <a:t> </a:t>
            </a:r>
            <a:r>
              <a:rPr lang="en-US" noProof="1"/>
              <a:t>IP</a:t>
            </a:r>
            <a:r>
              <a:rPr lang="en-US" spc="10" noProof="1"/>
              <a:t> </a:t>
            </a:r>
            <a:r>
              <a:rPr lang="en-US" spc="-60" noProof="1"/>
              <a:t>addresses</a:t>
            </a:r>
            <a:r>
              <a:rPr lang="en-US" spc="10" noProof="1"/>
              <a:t> </a:t>
            </a:r>
            <a:r>
              <a:rPr lang="en-US" noProof="1"/>
              <a:t>to</a:t>
            </a:r>
            <a:r>
              <a:rPr lang="en-US" spc="10" noProof="1"/>
              <a:t> </a:t>
            </a:r>
            <a:r>
              <a:rPr lang="en-US" noProof="1"/>
              <a:t>identify</a:t>
            </a:r>
            <a:r>
              <a:rPr lang="en-US" spc="10" noProof="1"/>
              <a:t> </a:t>
            </a:r>
            <a:r>
              <a:rPr lang="en-US" noProof="1"/>
              <a:t>the</a:t>
            </a:r>
            <a:r>
              <a:rPr lang="en-US" spc="10" noProof="1"/>
              <a:t> </a:t>
            </a:r>
            <a:r>
              <a:rPr lang="en-US" spc="-45" noProof="1"/>
              <a:t>devices</a:t>
            </a:r>
            <a:r>
              <a:rPr lang="en-US" spc="10" noProof="1"/>
              <a:t> </a:t>
            </a:r>
            <a:r>
              <a:rPr lang="en-US" noProof="1"/>
              <a:t>in</a:t>
            </a:r>
            <a:r>
              <a:rPr lang="en-US" spc="10" noProof="1"/>
              <a:t> </a:t>
            </a:r>
            <a:r>
              <a:rPr lang="en-US" noProof="1"/>
              <a:t>the</a:t>
            </a:r>
            <a:r>
              <a:rPr lang="en-US" spc="10" noProof="1"/>
              <a:t> </a:t>
            </a:r>
            <a:r>
              <a:rPr lang="en-US" spc="-10" noProof="1"/>
              <a:t>network.</a:t>
            </a:r>
            <a:r>
              <a:rPr lang="en-US" spc="95" noProof="1"/>
              <a:t> </a:t>
            </a:r>
            <a:r>
              <a:rPr lang="en-US" spc="-20" noProof="1"/>
              <a:t>So</a:t>
            </a:r>
            <a:r>
              <a:rPr lang="en-US" spc="10" noProof="1"/>
              <a:t> </a:t>
            </a:r>
            <a:r>
              <a:rPr lang="en-US" spc="-25" noProof="1"/>
              <a:t>when</a:t>
            </a:r>
            <a:r>
              <a:rPr lang="en-US" spc="10" noProof="1"/>
              <a:t> </a:t>
            </a:r>
            <a:r>
              <a:rPr lang="en-US" noProof="1"/>
              <a:t>my</a:t>
            </a:r>
            <a:r>
              <a:rPr lang="en-US" spc="10" noProof="1"/>
              <a:t> </a:t>
            </a:r>
            <a:r>
              <a:rPr lang="en-US" spc="-30" noProof="1"/>
              <a:t>phone</a:t>
            </a:r>
            <a:r>
              <a:rPr lang="en-US" spc="10" noProof="1"/>
              <a:t> </a:t>
            </a:r>
            <a:r>
              <a:rPr lang="en-US" spc="-55" noProof="1"/>
              <a:t>sends</a:t>
            </a:r>
            <a:r>
              <a:rPr lang="en-US" spc="10" noProof="1"/>
              <a:t> </a:t>
            </a:r>
            <a:r>
              <a:rPr lang="en-US" spc="-50" noProof="1"/>
              <a:t>a</a:t>
            </a:r>
            <a:r>
              <a:rPr lang="en-US" spc="500" noProof="1"/>
              <a:t> </a:t>
            </a:r>
            <a:r>
              <a:rPr lang="en-US" spc="-75" noProof="1"/>
              <a:t>message</a:t>
            </a:r>
            <a:r>
              <a:rPr lang="en-US" spc="20" noProof="1"/>
              <a:t> </a:t>
            </a:r>
            <a:r>
              <a:rPr lang="en-US" noProof="1"/>
              <a:t>to</a:t>
            </a:r>
            <a:r>
              <a:rPr lang="en-US" spc="25" noProof="1"/>
              <a:t> </a:t>
            </a:r>
            <a:r>
              <a:rPr lang="en-US" noProof="1"/>
              <a:t>the</a:t>
            </a:r>
            <a:r>
              <a:rPr lang="en-US" spc="25" noProof="1"/>
              <a:t> </a:t>
            </a:r>
            <a:r>
              <a:rPr lang="en-US" spc="-10" noProof="1"/>
              <a:t>smart</a:t>
            </a:r>
            <a:r>
              <a:rPr lang="en-US" spc="25" noProof="1"/>
              <a:t> </a:t>
            </a:r>
            <a:r>
              <a:rPr lang="en-US" spc="-40" noProof="1"/>
              <a:t>speaker,</a:t>
            </a:r>
            <a:r>
              <a:rPr lang="en-US" spc="25" noProof="1"/>
              <a:t> </a:t>
            </a:r>
            <a:r>
              <a:rPr lang="en-US" b="1" noProof="1">
                <a:latin typeface="Arial"/>
                <a:cs typeface="Arial"/>
              </a:rPr>
              <a:t>it</a:t>
            </a:r>
            <a:r>
              <a:rPr lang="en-US" b="1" spc="45" noProof="1">
                <a:latin typeface="Arial"/>
                <a:cs typeface="Arial"/>
              </a:rPr>
              <a:t> </a:t>
            </a:r>
            <a:r>
              <a:rPr lang="en-US" b="1" spc="-75" noProof="1">
                <a:latin typeface="Arial"/>
                <a:cs typeface="Arial"/>
              </a:rPr>
              <a:t>uses</a:t>
            </a:r>
            <a:r>
              <a:rPr lang="en-US" b="1" spc="40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the</a:t>
            </a:r>
            <a:r>
              <a:rPr lang="en-US" b="1" spc="45" noProof="1">
                <a:latin typeface="Arial"/>
                <a:cs typeface="Arial"/>
              </a:rPr>
              <a:t> </a:t>
            </a:r>
            <a:r>
              <a:rPr lang="en-US" b="1" spc="-20" noProof="1">
                <a:latin typeface="Arial"/>
                <a:cs typeface="Arial"/>
              </a:rPr>
              <a:t>private</a:t>
            </a:r>
            <a:r>
              <a:rPr lang="en-US" b="1" spc="45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IP</a:t>
            </a:r>
            <a:r>
              <a:rPr lang="en-US" b="1" spc="45" noProof="1">
                <a:latin typeface="Arial"/>
                <a:cs typeface="Arial"/>
              </a:rPr>
              <a:t> </a:t>
            </a:r>
            <a:r>
              <a:rPr lang="en-US" b="1" spc="-55" noProof="1">
                <a:latin typeface="Arial"/>
                <a:cs typeface="Arial"/>
              </a:rPr>
              <a:t>address</a:t>
            </a:r>
            <a:r>
              <a:rPr lang="en-US" b="1" spc="45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of</a:t>
            </a:r>
            <a:r>
              <a:rPr lang="en-US" b="1" spc="40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the</a:t>
            </a:r>
            <a:r>
              <a:rPr lang="en-US" b="1" spc="45" noProof="1">
                <a:latin typeface="Arial"/>
                <a:cs typeface="Arial"/>
              </a:rPr>
              <a:t> </a:t>
            </a:r>
            <a:r>
              <a:rPr lang="en-US" b="1" spc="-20" noProof="1">
                <a:latin typeface="Arial"/>
                <a:cs typeface="Arial"/>
              </a:rPr>
              <a:t>smart</a:t>
            </a:r>
            <a:r>
              <a:rPr lang="en-US" b="1" spc="45" noProof="1">
                <a:latin typeface="Arial"/>
                <a:cs typeface="Arial"/>
              </a:rPr>
              <a:t> </a:t>
            </a:r>
            <a:r>
              <a:rPr lang="en-US" b="1" spc="-35" noProof="1">
                <a:latin typeface="Arial"/>
                <a:cs typeface="Arial"/>
              </a:rPr>
              <a:t>speaker</a:t>
            </a:r>
            <a:r>
              <a:rPr lang="en-US" spc="-35" noProof="1"/>
              <a:t>.</a:t>
            </a:r>
            <a:r>
              <a:rPr lang="en-US" spc="114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spc="-55" noProof="1"/>
              <a:t>same</a:t>
            </a:r>
            <a:r>
              <a:rPr lang="en-US" spc="25" noProof="1"/>
              <a:t> </a:t>
            </a:r>
            <a:r>
              <a:rPr lang="en-US" spc="-40" noProof="1"/>
              <a:t>way</a:t>
            </a:r>
            <a:r>
              <a:rPr lang="en-US" spc="20" noProof="1"/>
              <a:t> </a:t>
            </a:r>
            <a:r>
              <a:rPr lang="en-US" spc="-50" noProof="1"/>
              <a:t>a</a:t>
            </a:r>
            <a:r>
              <a:rPr lang="en-US" noProof="1"/>
              <a:t> hotel</a:t>
            </a:r>
            <a:r>
              <a:rPr lang="en-US" spc="15" noProof="1"/>
              <a:t> </a:t>
            </a:r>
            <a:r>
              <a:rPr lang="en-US" spc="-70" noProof="1"/>
              <a:t>uses</a:t>
            </a:r>
            <a:r>
              <a:rPr lang="en-US" spc="15" noProof="1"/>
              <a:t> </a:t>
            </a:r>
            <a:r>
              <a:rPr lang="en-US" noProof="1"/>
              <a:t>room</a:t>
            </a:r>
            <a:r>
              <a:rPr lang="en-US" spc="20" noProof="1"/>
              <a:t> </a:t>
            </a:r>
            <a:r>
              <a:rPr lang="en-US" spc="-25" noProof="1"/>
              <a:t>numbers</a:t>
            </a:r>
            <a:r>
              <a:rPr lang="en-US" spc="15" noProof="1"/>
              <a:t> </a:t>
            </a:r>
            <a:r>
              <a:rPr lang="en-US" noProof="1"/>
              <a:t>to</a:t>
            </a:r>
            <a:r>
              <a:rPr lang="en-US" spc="20" noProof="1"/>
              <a:t> </a:t>
            </a:r>
            <a:r>
              <a:rPr lang="en-US" noProof="1"/>
              <a:t>identify</a:t>
            </a:r>
            <a:r>
              <a:rPr lang="en-US" spc="15" noProof="1"/>
              <a:t> </a:t>
            </a:r>
            <a:r>
              <a:rPr lang="en-US" spc="-10" noProof="1"/>
              <a:t>rooms.</a:t>
            </a:r>
          </a:p>
          <a:p>
            <a:pPr marL="12700" marR="436245" indent="5080">
              <a:lnSpc>
                <a:spcPct val="116199"/>
              </a:lnSpc>
              <a:spcBef>
                <a:spcPts val="625"/>
              </a:spcBef>
            </a:pPr>
            <a:r>
              <a:rPr lang="en-US" noProof="1"/>
              <a:t>In</a:t>
            </a:r>
            <a:r>
              <a:rPr lang="en-US" spc="-5" noProof="1"/>
              <a:t> </a:t>
            </a:r>
            <a:r>
              <a:rPr lang="en-US" noProof="1"/>
              <a:t>fact, let’s do an </a:t>
            </a:r>
            <a:r>
              <a:rPr lang="en-US" spc="-10" noProof="1"/>
              <a:t>experiment.</a:t>
            </a:r>
            <a:r>
              <a:rPr lang="en-US" spc="80" noProof="1"/>
              <a:t> </a:t>
            </a:r>
            <a:r>
              <a:rPr lang="en-US" spc="-10" noProof="1"/>
              <a:t>Open</a:t>
            </a:r>
            <a:r>
              <a:rPr lang="en-US" noProof="1"/>
              <a:t> a terminal and</a:t>
            </a:r>
            <a:r>
              <a:rPr lang="en-US" spc="-5" noProof="1"/>
              <a:t> </a:t>
            </a:r>
            <a:r>
              <a:rPr lang="en-US" noProof="1"/>
              <a:t>run the </a:t>
            </a:r>
            <a:r>
              <a:rPr lang="en-US" spc="-10" noProof="1"/>
              <a:t>following</a:t>
            </a:r>
            <a:r>
              <a:rPr lang="en-US" noProof="1"/>
              <a:t> </a:t>
            </a:r>
            <a:r>
              <a:rPr lang="en-US" spc="-25" noProof="1"/>
              <a:t>command</a:t>
            </a:r>
            <a:r>
              <a:rPr lang="en-US" noProof="1"/>
              <a:t> if </a:t>
            </a:r>
            <a:r>
              <a:rPr lang="en-US" spc="-10" noProof="1"/>
              <a:t>you</a:t>
            </a:r>
            <a:r>
              <a:rPr lang="en-US" spc="-5" noProof="1"/>
              <a:t> </a:t>
            </a:r>
            <a:r>
              <a:rPr lang="en-US" spc="-30" noProof="1"/>
              <a:t>are</a:t>
            </a:r>
            <a:r>
              <a:rPr lang="en-US" noProof="1"/>
              <a:t> </a:t>
            </a:r>
            <a:r>
              <a:rPr lang="en-US" spc="-25" noProof="1"/>
              <a:t>on </a:t>
            </a:r>
            <a:r>
              <a:rPr lang="en-US" spc="-10" noProof="1"/>
              <a:t>Windows:</a:t>
            </a: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lang="en-US" spc="-10" noProof="1"/>
          </a:p>
          <a:p>
            <a:pPr marL="215900">
              <a:lnSpc>
                <a:spcPct val="100000"/>
              </a:lnSpc>
            </a:pPr>
            <a:r>
              <a:rPr lang="en-US" sz="800" spc="-10" noProof="1">
                <a:solidFill>
                  <a:srgbClr val="000000"/>
                </a:solidFill>
                <a:latin typeface="Courier New"/>
                <a:cs typeface="Courier New"/>
              </a:rPr>
              <a:t>Node&gt; ipconfig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7780">
              <a:lnSpc>
                <a:spcPct val="100000"/>
              </a:lnSpc>
            </a:pPr>
            <a:r>
              <a:rPr lang="en-US" noProof="1"/>
              <a:t>Or</a:t>
            </a:r>
            <a:r>
              <a:rPr lang="en-US" spc="5" noProof="1"/>
              <a:t> </a:t>
            </a:r>
            <a:r>
              <a:rPr lang="en-US" noProof="1"/>
              <a:t>if</a:t>
            </a:r>
            <a:r>
              <a:rPr lang="en-US" spc="10" noProof="1"/>
              <a:t> </a:t>
            </a:r>
            <a:r>
              <a:rPr lang="en-US" spc="-10" noProof="1"/>
              <a:t>you</a:t>
            </a:r>
            <a:r>
              <a:rPr lang="en-US" spc="5" noProof="1"/>
              <a:t> </a:t>
            </a:r>
            <a:r>
              <a:rPr lang="en-US" spc="-30" noProof="1"/>
              <a:t>are</a:t>
            </a:r>
            <a:r>
              <a:rPr lang="en-US" spc="10" noProof="1"/>
              <a:t> </a:t>
            </a:r>
            <a:r>
              <a:rPr lang="en-US" noProof="1"/>
              <a:t>on</a:t>
            </a:r>
            <a:r>
              <a:rPr lang="en-US" spc="5" noProof="1"/>
              <a:t> </a:t>
            </a:r>
            <a:r>
              <a:rPr lang="en-US" noProof="1"/>
              <a:t>Linux</a:t>
            </a:r>
            <a:r>
              <a:rPr lang="en-US" spc="10" noProof="1"/>
              <a:t> </a:t>
            </a:r>
            <a:r>
              <a:rPr lang="en-US" noProof="1"/>
              <a:t>or</a:t>
            </a:r>
            <a:r>
              <a:rPr lang="en-US" spc="10" noProof="1"/>
              <a:t> </a:t>
            </a:r>
            <a:r>
              <a:rPr lang="en-US" spc="-10" noProof="1"/>
              <a:t>MacOS:</a:t>
            </a: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lang="en-US" spc="-10" noProof="1"/>
          </a:p>
          <a:p>
            <a:pPr marL="215900">
              <a:lnSpc>
                <a:spcPct val="100000"/>
              </a:lnSpc>
            </a:pPr>
            <a:r>
              <a:rPr lang="en-US" sz="800" spc="-10" noProof="1">
                <a:solidFill>
                  <a:srgbClr val="000000"/>
                </a:solidFill>
                <a:latin typeface="Courier New"/>
                <a:cs typeface="Courier New"/>
              </a:rPr>
              <a:t>$ ifconfig</a:t>
            </a:r>
            <a:endParaRPr lang="en-US" sz="800" noProof="1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822960" cy="5080"/>
            </a:xfrm>
            <a:custGeom>
              <a:avLst/>
              <a:gdLst/>
              <a:ahLst/>
              <a:cxnLst/>
              <a:rect l="l" t="t" r="r" b="b"/>
              <a:pathLst>
                <a:path w="822960" h="5080">
                  <a:moveTo>
                    <a:pt x="0" y="5060"/>
                  </a:moveTo>
                  <a:lnTo>
                    <a:pt x="0" y="0"/>
                  </a:lnTo>
                  <a:lnTo>
                    <a:pt x="822842" y="0"/>
                  </a:lnTo>
                  <a:lnTo>
                    <a:pt x="82284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0" noProof="1"/>
              <a:t>Your</a:t>
            </a:r>
            <a:r>
              <a:rPr lang="en-US" spc="-15" noProof="1"/>
              <a:t> </a:t>
            </a:r>
            <a:r>
              <a:rPr lang="en-US" spc="-10" noProof="1"/>
              <a:t>router and</a:t>
            </a:r>
            <a:r>
              <a:rPr lang="en-US" spc="-15" noProof="1"/>
              <a:t> </a:t>
            </a:r>
            <a:r>
              <a:rPr lang="en-US" spc="-25" noProof="1"/>
              <a:t>NAT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39418" y="1281900"/>
            <a:ext cx="742950" cy="122555"/>
            <a:chOff x="1339418" y="1281900"/>
            <a:chExt cx="742950" cy="122555"/>
          </a:xfrm>
        </p:grpSpPr>
        <p:sp>
          <p:nvSpPr>
            <p:cNvPr id="4" name="object 4"/>
            <p:cNvSpPr/>
            <p:nvPr/>
          </p:nvSpPr>
          <p:spPr>
            <a:xfrm>
              <a:off x="1339418" y="1281900"/>
              <a:ext cx="742950" cy="122555"/>
            </a:xfrm>
            <a:custGeom>
              <a:avLst/>
              <a:gdLst/>
              <a:ahLst/>
              <a:cxnLst/>
              <a:rect l="l" t="t" r="r" b="b"/>
              <a:pathLst>
                <a:path w="742950" h="122555">
                  <a:moveTo>
                    <a:pt x="70671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351"/>
                  </a:lnTo>
                  <a:lnTo>
                    <a:pt x="2829" y="100364"/>
                  </a:lnTo>
                  <a:lnTo>
                    <a:pt x="10544" y="111807"/>
                  </a:lnTo>
                  <a:lnTo>
                    <a:pt x="21987" y="119522"/>
                  </a:lnTo>
                  <a:lnTo>
                    <a:pt x="36000" y="122351"/>
                  </a:lnTo>
                  <a:lnTo>
                    <a:pt x="706713" y="122351"/>
                  </a:lnTo>
                  <a:lnTo>
                    <a:pt x="720727" y="119522"/>
                  </a:lnTo>
                  <a:lnTo>
                    <a:pt x="732170" y="111807"/>
                  </a:lnTo>
                  <a:lnTo>
                    <a:pt x="739885" y="100364"/>
                  </a:lnTo>
                  <a:lnTo>
                    <a:pt x="742714" y="86351"/>
                  </a:lnTo>
                  <a:lnTo>
                    <a:pt x="742714" y="36000"/>
                  </a:lnTo>
                  <a:lnTo>
                    <a:pt x="739885" y="21987"/>
                  </a:lnTo>
                  <a:lnTo>
                    <a:pt x="732170" y="10544"/>
                  </a:lnTo>
                  <a:lnTo>
                    <a:pt x="720727" y="2829"/>
                  </a:lnTo>
                  <a:lnTo>
                    <a:pt x="70671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339418" y="1281900"/>
              <a:ext cx="742950" cy="122555"/>
            </a:xfrm>
            <a:custGeom>
              <a:avLst/>
              <a:gdLst/>
              <a:ahLst/>
              <a:cxnLst/>
              <a:rect l="l" t="t" r="r" b="b"/>
              <a:pathLst>
                <a:path w="742950" h="122555">
                  <a:moveTo>
                    <a:pt x="70671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351"/>
                  </a:lnTo>
                  <a:lnTo>
                    <a:pt x="2829" y="100364"/>
                  </a:lnTo>
                  <a:lnTo>
                    <a:pt x="10544" y="111807"/>
                  </a:lnTo>
                  <a:lnTo>
                    <a:pt x="21987" y="119522"/>
                  </a:lnTo>
                  <a:lnTo>
                    <a:pt x="36000" y="122351"/>
                  </a:lnTo>
                  <a:lnTo>
                    <a:pt x="706713" y="122351"/>
                  </a:lnTo>
                  <a:lnTo>
                    <a:pt x="720727" y="119522"/>
                  </a:lnTo>
                  <a:lnTo>
                    <a:pt x="732170" y="111807"/>
                  </a:lnTo>
                  <a:lnTo>
                    <a:pt x="739885" y="100364"/>
                  </a:lnTo>
                  <a:lnTo>
                    <a:pt x="742714" y="86351"/>
                  </a:lnTo>
                  <a:lnTo>
                    <a:pt x="742714" y="36000"/>
                  </a:lnTo>
                  <a:lnTo>
                    <a:pt x="739885" y="21987"/>
                  </a:lnTo>
                  <a:lnTo>
                    <a:pt x="732170" y="10544"/>
                  </a:lnTo>
                  <a:lnTo>
                    <a:pt x="720727" y="2829"/>
                  </a:lnTo>
                  <a:lnTo>
                    <a:pt x="70671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4335" y="1229109"/>
            <a:ext cx="5091430" cy="90233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27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you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look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spc="1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IPv4</a:t>
            </a:r>
            <a:r>
              <a:rPr lang="en-US" sz="900" spc="-70" noProof="1">
                <a:latin typeface="Courier New"/>
                <a:cs typeface="Courier New"/>
              </a:rPr>
              <a:t> </a:t>
            </a:r>
            <a:r>
              <a:rPr lang="en-US" sz="900" spc="-45" noProof="1">
                <a:latin typeface="Courier New"/>
                <a:cs typeface="Courier New"/>
              </a:rPr>
              <a:t>Address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95" noProof="1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fits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192.168.x.x,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10.x.x.x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or</a:t>
            </a:r>
            <a:endParaRPr lang="en-US" sz="900" noProof="1">
              <a:latin typeface="Arial"/>
              <a:cs typeface="Arial"/>
            </a:endParaRPr>
          </a:p>
          <a:p>
            <a:pPr marL="15240" marR="5080" indent="-3175">
              <a:lnSpc>
                <a:spcPct val="116199"/>
              </a:lnSpc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172.16.x.x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-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172.31.x.x.</a:t>
            </a:r>
            <a:r>
              <a:rPr lang="en-US" sz="900" spc="1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Most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times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regular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homes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192.168.x.x.</a:t>
            </a:r>
            <a:r>
              <a:rPr lang="en-US" sz="900" spc="1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analogous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how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hotels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room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numbers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(like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room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101)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unique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world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5240" marR="27940">
              <a:lnSpc>
                <a:spcPct val="116199"/>
              </a:lnSpc>
              <a:spcBef>
                <a:spcPts val="62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instead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visit a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  <a:hlinkClick r:id="rId2"/>
              </a:rPr>
              <a:t>whatismyip.com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will </a:t>
            </a:r>
            <a:r>
              <a:rPr lang="en-US" sz="900" spc="-105" noProof="1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IP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address.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public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5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identifies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outside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world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871855" cy="5080"/>
            </a:xfrm>
            <a:custGeom>
              <a:avLst/>
              <a:gdLst/>
              <a:ahLst/>
              <a:cxnLst/>
              <a:rect l="l" t="t" r="r" b="b"/>
              <a:pathLst>
                <a:path w="871855" h="5080">
                  <a:moveTo>
                    <a:pt x="0" y="5060"/>
                  </a:moveTo>
                  <a:lnTo>
                    <a:pt x="0" y="0"/>
                  </a:lnTo>
                  <a:lnTo>
                    <a:pt x="871270" y="0"/>
                  </a:lnTo>
                  <a:lnTo>
                    <a:pt x="87127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0" noProof="1"/>
              <a:t>Your</a:t>
            </a:r>
            <a:r>
              <a:rPr lang="en-US" spc="-15" noProof="1"/>
              <a:t> </a:t>
            </a:r>
            <a:r>
              <a:rPr lang="en-US" spc="-10" noProof="1"/>
              <a:t>router and</a:t>
            </a:r>
            <a:r>
              <a:rPr lang="en-US" spc="-15" noProof="1"/>
              <a:t> </a:t>
            </a:r>
            <a:r>
              <a:rPr lang="en-US" spc="-25" noProof="1"/>
              <a:t>NAT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3138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Let’s </a:t>
            </a:r>
            <a:r>
              <a:rPr lang="en-US" spc="-95" noProof="1"/>
              <a:t>see</a:t>
            </a:r>
            <a:r>
              <a:rPr lang="en-US" spc="35" noProof="1"/>
              <a:t> </a:t>
            </a:r>
            <a:r>
              <a:rPr lang="en-US" spc="-10" noProof="1"/>
              <a:t>now</a:t>
            </a:r>
            <a:r>
              <a:rPr lang="en-US" spc="20" noProof="1"/>
              <a:t> </a:t>
            </a:r>
            <a:r>
              <a:rPr lang="en-US" spc="-10" noProof="1"/>
              <a:t>how</a:t>
            </a:r>
            <a:r>
              <a:rPr lang="en-US" spc="15" noProof="1"/>
              <a:t> </a:t>
            </a:r>
            <a:r>
              <a:rPr lang="en-US" noProof="1"/>
              <a:t>the</a:t>
            </a:r>
            <a:r>
              <a:rPr lang="en-US" spc="20" noProof="1"/>
              <a:t> </a:t>
            </a:r>
            <a:r>
              <a:rPr lang="en-US" noProof="1"/>
              <a:t>router</a:t>
            </a:r>
            <a:r>
              <a:rPr lang="en-US" spc="20" noProof="1"/>
              <a:t> </a:t>
            </a:r>
            <a:r>
              <a:rPr lang="en-US" spc="-70" noProof="1"/>
              <a:t>uses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b="1" spc="-35" noProof="1">
                <a:latin typeface="Arial"/>
                <a:cs typeface="Arial"/>
              </a:rPr>
              <a:t>public</a:t>
            </a:r>
            <a:r>
              <a:rPr lang="en-US" b="1" spc="35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IP</a:t>
            </a:r>
            <a:r>
              <a:rPr lang="en-US" b="1" spc="40" noProof="1">
                <a:latin typeface="Arial"/>
                <a:cs typeface="Arial"/>
              </a:rPr>
              <a:t> </a:t>
            </a:r>
            <a:r>
              <a:rPr lang="en-US" b="1" spc="-55" noProof="1">
                <a:latin typeface="Arial"/>
                <a:cs typeface="Arial"/>
              </a:rPr>
              <a:t>address</a:t>
            </a:r>
            <a:r>
              <a:rPr lang="en-US" b="1" spc="35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to</a:t>
            </a:r>
            <a:r>
              <a:rPr lang="en-US" b="1" spc="35" noProof="1">
                <a:latin typeface="Arial"/>
                <a:cs typeface="Arial"/>
              </a:rPr>
              <a:t> </a:t>
            </a:r>
            <a:r>
              <a:rPr lang="en-US" b="1" spc="-35" noProof="1">
                <a:latin typeface="Arial"/>
                <a:cs typeface="Arial"/>
              </a:rPr>
              <a:t>communicate</a:t>
            </a:r>
            <a:r>
              <a:rPr lang="en-US" b="1" spc="35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with</a:t>
            </a:r>
            <a:r>
              <a:rPr lang="en-US" b="1" spc="40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the</a:t>
            </a:r>
            <a:r>
              <a:rPr lang="en-US" b="1" spc="35" noProof="1">
                <a:latin typeface="Arial"/>
                <a:cs typeface="Arial"/>
              </a:rPr>
              <a:t> </a:t>
            </a:r>
            <a:r>
              <a:rPr lang="en-US" b="1" spc="-10" noProof="1">
                <a:latin typeface="Arial"/>
                <a:cs typeface="Arial"/>
              </a:rPr>
              <a:t>internet</a:t>
            </a:r>
            <a:r>
              <a:rPr lang="en-US" spc="-10" noProof="1"/>
              <a:t>.</a:t>
            </a:r>
          </a:p>
          <a:p>
            <a:pPr marL="17780" marR="98425">
              <a:lnSpc>
                <a:spcPct val="116199"/>
              </a:lnSpc>
              <a:spcBef>
                <a:spcPts val="625"/>
              </a:spcBef>
            </a:pPr>
            <a:r>
              <a:rPr lang="en-US" spc="-25" noProof="1"/>
              <a:t>Imagine</a:t>
            </a:r>
            <a:r>
              <a:rPr lang="en-US" spc="10" noProof="1"/>
              <a:t> </a:t>
            </a:r>
            <a:r>
              <a:rPr lang="en-US" spc="-10" noProof="1"/>
              <a:t>you</a:t>
            </a:r>
            <a:r>
              <a:rPr lang="en-US" spc="10" noProof="1"/>
              <a:t> </a:t>
            </a:r>
            <a:r>
              <a:rPr lang="en-US" spc="-30" noProof="1"/>
              <a:t>are</a:t>
            </a:r>
            <a:r>
              <a:rPr lang="en-US" spc="10" noProof="1"/>
              <a:t> </a:t>
            </a:r>
            <a:r>
              <a:rPr lang="en-US" spc="-20" noProof="1"/>
              <a:t>staying</a:t>
            </a:r>
            <a:r>
              <a:rPr lang="en-US" spc="15" noProof="1"/>
              <a:t> </a:t>
            </a:r>
            <a:r>
              <a:rPr lang="en-US" noProof="1"/>
              <a:t>in</a:t>
            </a:r>
            <a:r>
              <a:rPr lang="en-US" spc="10" noProof="1"/>
              <a:t> </a:t>
            </a:r>
            <a:r>
              <a:rPr lang="en-US" noProof="1"/>
              <a:t>the</a:t>
            </a:r>
            <a:r>
              <a:rPr lang="en-US" spc="10" noProof="1"/>
              <a:t> </a:t>
            </a:r>
            <a:r>
              <a:rPr lang="en-US" noProof="1"/>
              <a:t>hotel</a:t>
            </a:r>
            <a:r>
              <a:rPr lang="en-US" spc="10" noProof="1"/>
              <a:t> </a:t>
            </a:r>
            <a:r>
              <a:rPr lang="en-US" noProof="1"/>
              <a:t>and</a:t>
            </a:r>
            <a:r>
              <a:rPr lang="en-US" spc="15" noProof="1"/>
              <a:t> </a:t>
            </a:r>
            <a:r>
              <a:rPr lang="en-US" noProof="1"/>
              <a:t>want</a:t>
            </a:r>
            <a:r>
              <a:rPr lang="en-US" spc="10" noProof="1"/>
              <a:t> </a:t>
            </a:r>
            <a:r>
              <a:rPr lang="en-US" noProof="1"/>
              <a:t>to</a:t>
            </a:r>
            <a:r>
              <a:rPr lang="en-US" spc="10" noProof="1"/>
              <a:t> </a:t>
            </a:r>
            <a:r>
              <a:rPr lang="en-US" spc="-55" noProof="1"/>
              <a:t>send</a:t>
            </a:r>
            <a:r>
              <a:rPr lang="en-US" spc="15" noProof="1"/>
              <a:t> </a:t>
            </a:r>
            <a:r>
              <a:rPr lang="en-US" noProof="1"/>
              <a:t>a</a:t>
            </a:r>
            <a:r>
              <a:rPr lang="en-US" spc="10" noProof="1"/>
              <a:t> </a:t>
            </a:r>
            <a:r>
              <a:rPr lang="en-US" noProof="1"/>
              <a:t>letter</a:t>
            </a:r>
            <a:r>
              <a:rPr lang="en-US" spc="10" noProof="1"/>
              <a:t> </a:t>
            </a:r>
            <a:r>
              <a:rPr lang="en-US" noProof="1"/>
              <a:t>to</a:t>
            </a:r>
            <a:r>
              <a:rPr lang="en-US" spc="10" noProof="1"/>
              <a:t> </a:t>
            </a:r>
            <a:r>
              <a:rPr lang="en-US" noProof="1"/>
              <a:t>a</a:t>
            </a:r>
            <a:r>
              <a:rPr lang="en-US" spc="15" noProof="1"/>
              <a:t> </a:t>
            </a:r>
            <a:r>
              <a:rPr lang="en-US" spc="-10" noProof="1"/>
              <a:t>friend’s</a:t>
            </a:r>
            <a:r>
              <a:rPr lang="en-US" spc="10" noProof="1"/>
              <a:t> </a:t>
            </a:r>
            <a:r>
              <a:rPr lang="en-US" spc="-25" noProof="1"/>
              <a:t>home</a:t>
            </a:r>
            <a:r>
              <a:rPr lang="en-US" spc="10" noProof="1"/>
              <a:t> </a:t>
            </a:r>
            <a:r>
              <a:rPr lang="en-US" noProof="1"/>
              <a:t>(and</a:t>
            </a:r>
            <a:r>
              <a:rPr lang="en-US" spc="15" noProof="1"/>
              <a:t> </a:t>
            </a:r>
            <a:r>
              <a:rPr lang="en-US" spc="-25" noProof="1"/>
              <a:t>imagine</a:t>
            </a:r>
            <a:r>
              <a:rPr lang="en-US" spc="10" noProof="1"/>
              <a:t> </a:t>
            </a:r>
            <a:r>
              <a:rPr lang="en-US" spc="-25" noProof="1"/>
              <a:t>the </a:t>
            </a:r>
            <a:r>
              <a:rPr lang="en-US" noProof="1"/>
              <a:t>hotel</a:t>
            </a:r>
            <a:r>
              <a:rPr lang="en-US" spc="10" noProof="1"/>
              <a:t> </a:t>
            </a:r>
            <a:r>
              <a:rPr lang="en-US" noProof="1"/>
              <a:t>is</a:t>
            </a:r>
            <a:r>
              <a:rPr lang="en-US" spc="15" noProof="1"/>
              <a:t> </a:t>
            </a:r>
            <a:r>
              <a:rPr lang="en-US" noProof="1"/>
              <a:t>willing</a:t>
            </a:r>
            <a:r>
              <a:rPr lang="en-US" spc="10" noProof="1"/>
              <a:t> </a:t>
            </a:r>
            <a:r>
              <a:rPr lang="en-US" noProof="1"/>
              <a:t>to</a:t>
            </a:r>
            <a:r>
              <a:rPr lang="en-US" spc="15" noProof="1"/>
              <a:t> </a:t>
            </a:r>
            <a:r>
              <a:rPr lang="en-US" spc="-55" noProof="1"/>
              <a:t>send</a:t>
            </a:r>
            <a:r>
              <a:rPr lang="en-US" spc="10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noProof="1"/>
              <a:t>letter</a:t>
            </a:r>
            <a:r>
              <a:rPr lang="en-US" spc="15" noProof="1"/>
              <a:t> </a:t>
            </a:r>
            <a:r>
              <a:rPr lang="en-US" noProof="1"/>
              <a:t>for</a:t>
            </a:r>
            <a:r>
              <a:rPr lang="en-US" spc="10" noProof="1"/>
              <a:t> </a:t>
            </a:r>
            <a:r>
              <a:rPr lang="en-US" noProof="1"/>
              <a:t>you).</a:t>
            </a:r>
            <a:r>
              <a:rPr lang="en-US" spc="100" noProof="1"/>
              <a:t> </a:t>
            </a:r>
            <a:r>
              <a:rPr lang="en-US" spc="-20" noProof="1"/>
              <a:t>You</a:t>
            </a:r>
            <a:r>
              <a:rPr lang="en-US" spc="15" noProof="1"/>
              <a:t> </a:t>
            </a:r>
            <a:r>
              <a:rPr lang="en-US" spc="-10" noProof="1"/>
              <a:t>would</a:t>
            </a:r>
            <a:r>
              <a:rPr lang="en-US" spc="10" noProof="1"/>
              <a:t> </a:t>
            </a:r>
            <a:r>
              <a:rPr lang="en-US" noProof="1"/>
              <a:t>write</a:t>
            </a:r>
            <a:r>
              <a:rPr lang="en-US" spc="15" noProof="1"/>
              <a:t> </a:t>
            </a:r>
            <a:r>
              <a:rPr lang="en-US" noProof="1"/>
              <a:t>the</a:t>
            </a:r>
            <a:r>
              <a:rPr lang="en-US" spc="10" noProof="1"/>
              <a:t> </a:t>
            </a:r>
            <a:r>
              <a:rPr lang="en-US" spc="-45" noProof="1"/>
              <a:t>address</a:t>
            </a:r>
            <a:r>
              <a:rPr lang="en-US" spc="15" noProof="1"/>
              <a:t> </a:t>
            </a:r>
            <a:r>
              <a:rPr lang="en-US" noProof="1"/>
              <a:t>of</a:t>
            </a:r>
            <a:r>
              <a:rPr lang="en-US" spc="15" noProof="1"/>
              <a:t> </a:t>
            </a:r>
            <a:r>
              <a:rPr lang="en-US" spc="-10" noProof="1"/>
              <a:t>your</a:t>
            </a:r>
            <a:r>
              <a:rPr lang="en-US" spc="10" noProof="1"/>
              <a:t> </a:t>
            </a:r>
            <a:r>
              <a:rPr lang="en-US" spc="-10" noProof="1"/>
              <a:t>friend’s</a:t>
            </a:r>
            <a:r>
              <a:rPr lang="en-US" spc="15" noProof="1"/>
              <a:t> </a:t>
            </a:r>
            <a:r>
              <a:rPr lang="en-US" spc="-25" noProof="1"/>
              <a:t>home</a:t>
            </a:r>
            <a:r>
              <a:rPr lang="en-US" spc="10" noProof="1"/>
              <a:t> </a:t>
            </a:r>
            <a:r>
              <a:rPr lang="en-US" noProof="1"/>
              <a:t>on</a:t>
            </a:r>
            <a:r>
              <a:rPr lang="en-US" spc="15" noProof="1"/>
              <a:t> </a:t>
            </a:r>
            <a:r>
              <a:rPr lang="en-US" spc="-25" noProof="1"/>
              <a:t>the </a:t>
            </a:r>
            <a:r>
              <a:rPr lang="en-US" spc="-35" noProof="1"/>
              <a:t>envelope,</a:t>
            </a:r>
            <a:r>
              <a:rPr lang="en-US" spc="30" noProof="1"/>
              <a:t> </a:t>
            </a:r>
            <a:r>
              <a:rPr lang="en-US" spc="-10" noProof="1"/>
              <a:t>hand</a:t>
            </a:r>
            <a:r>
              <a:rPr lang="en-US" spc="35" noProof="1"/>
              <a:t> </a:t>
            </a:r>
            <a:r>
              <a:rPr lang="en-US" noProof="1"/>
              <a:t>it</a:t>
            </a:r>
            <a:r>
              <a:rPr lang="en-US" spc="35" noProof="1"/>
              <a:t> </a:t>
            </a:r>
            <a:r>
              <a:rPr lang="en-US" noProof="1"/>
              <a:t>to</a:t>
            </a:r>
            <a:r>
              <a:rPr lang="en-US" spc="35" noProof="1"/>
              <a:t> </a:t>
            </a:r>
            <a:r>
              <a:rPr lang="en-US" noProof="1"/>
              <a:t>the</a:t>
            </a:r>
            <a:r>
              <a:rPr lang="en-US" spc="35" noProof="1"/>
              <a:t> </a:t>
            </a:r>
            <a:r>
              <a:rPr lang="en-US" spc="-10" noProof="1"/>
              <a:t>receptionist,</a:t>
            </a:r>
            <a:r>
              <a:rPr lang="en-US" spc="35" noProof="1"/>
              <a:t> </a:t>
            </a:r>
            <a:r>
              <a:rPr lang="en-US" noProof="1"/>
              <a:t>and</a:t>
            </a:r>
            <a:r>
              <a:rPr lang="en-US" spc="35" noProof="1"/>
              <a:t> </a:t>
            </a:r>
            <a:r>
              <a:rPr lang="en-US" noProof="1"/>
              <a:t>the</a:t>
            </a:r>
            <a:r>
              <a:rPr lang="en-US" spc="35" noProof="1"/>
              <a:t> </a:t>
            </a:r>
            <a:r>
              <a:rPr lang="en-US" spc="-20" noProof="1"/>
              <a:t>receptionist</a:t>
            </a:r>
            <a:r>
              <a:rPr lang="en-US" spc="35" noProof="1"/>
              <a:t> </a:t>
            </a:r>
            <a:r>
              <a:rPr lang="en-US" spc="-10" noProof="1"/>
              <a:t>would</a:t>
            </a:r>
            <a:r>
              <a:rPr lang="en-US" spc="35" noProof="1"/>
              <a:t> </a:t>
            </a:r>
            <a:r>
              <a:rPr lang="en-US" spc="-55" noProof="1"/>
              <a:t>send</a:t>
            </a:r>
            <a:r>
              <a:rPr lang="en-US" spc="30" noProof="1"/>
              <a:t> </a:t>
            </a:r>
            <a:r>
              <a:rPr lang="en-US" noProof="1"/>
              <a:t>it</a:t>
            </a:r>
            <a:r>
              <a:rPr lang="en-US" spc="35" noProof="1"/>
              <a:t> </a:t>
            </a:r>
            <a:r>
              <a:rPr lang="en-US" noProof="1"/>
              <a:t>to</a:t>
            </a:r>
            <a:r>
              <a:rPr lang="en-US" spc="35" noProof="1"/>
              <a:t> </a:t>
            </a:r>
            <a:r>
              <a:rPr lang="en-US" spc="-10" noProof="1"/>
              <a:t>your</a:t>
            </a:r>
            <a:r>
              <a:rPr lang="en-US" spc="35" noProof="1"/>
              <a:t> </a:t>
            </a:r>
            <a:r>
              <a:rPr lang="en-US" spc="-10" noProof="1"/>
              <a:t>friend’s</a:t>
            </a:r>
            <a:r>
              <a:rPr lang="en-US" spc="35" noProof="1"/>
              <a:t> </a:t>
            </a:r>
            <a:r>
              <a:rPr lang="en-US" spc="-10" noProof="1"/>
              <a:t>home.</a:t>
            </a:r>
          </a:p>
          <a:p>
            <a:pPr marL="17780" marR="5080">
              <a:lnSpc>
                <a:spcPct val="116199"/>
              </a:lnSpc>
              <a:spcBef>
                <a:spcPts val="630"/>
              </a:spcBef>
            </a:pPr>
            <a:r>
              <a:rPr lang="en-US" noProof="1"/>
              <a:t>More </a:t>
            </a:r>
            <a:r>
              <a:rPr lang="en-US" spc="-30" noProof="1"/>
              <a:t>people</a:t>
            </a:r>
            <a:r>
              <a:rPr lang="en-US" noProof="1"/>
              <a:t> on the hotel </a:t>
            </a:r>
            <a:r>
              <a:rPr lang="en-US" spc="-20" noProof="1"/>
              <a:t>may</a:t>
            </a:r>
            <a:r>
              <a:rPr lang="en-US" noProof="1"/>
              <a:t> be </a:t>
            </a:r>
            <a:r>
              <a:rPr lang="en-US" spc="-35" noProof="1"/>
              <a:t>sending</a:t>
            </a:r>
            <a:r>
              <a:rPr lang="en-US" noProof="1"/>
              <a:t> letters to their </a:t>
            </a:r>
            <a:r>
              <a:rPr lang="en-US" spc="-30" noProof="1"/>
              <a:t>respective</a:t>
            </a:r>
            <a:r>
              <a:rPr lang="en-US" noProof="1"/>
              <a:t> </a:t>
            </a:r>
            <a:r>
              <a:rPr lang="en-US" spc="-10" noProof="1"/>
              <a:t>friends’</a:t>
            </a:r>
            <a:r>
              <a:rPr lang="en-US" noProof="1"/>
              <a:t> </a:t>
            </a:r>
            <a:r>
              <a:rPr lang="en-US" spc="-35" noProof="1"/>
              <a:t>homes,</a:t>
            </a:r>
            <a:r>
              <a:rPr lang="en-US" noProof="1"/>
              <a:t> </a:t>
            </a:r>
            <a:r>
              <a:rPr lang="en-US" spc="-25" noProof="1"/>
              <a:t>so</a:t>
            </a:r>
            <a:r>
              <a:rPr lang="en-US" noProof="1"/>
              <a:t> the</a:t>
            </a:r>
            <a:r>
              <a:rPr lang="en-US" spc="5" noProof="1"/>
              <a:t> </a:t>
            </a:r>
            <a:r>
              <a:rPr lang="en-US" spc="-10" noProof="1"/>
              <a:t>receptionist </a:t>
            </a:r>
            <a:r>
              <a:rPr lang="en-US" b="1" spc="-45" noProof="1">
                <a:latin typeface="Arial"/>
                <a:cs typeface="Arial"/>
              </a:rPr>
              <a:t>needs</a:t>
            </a:r>
            <a:r>
              <a:rPr lang="en-US" b="1" spc="10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to</a:t>
            </a:r>
            <a:r>
              <a:rPr lang="en-US" b="1" spc="15" noProof="1">
                <a:latin typeface="Arial"/>
                <a:cs typeface="Arial"/>
              </a:rPr>
              <a:t> </a:t>
            </a:r>
            <a:r>
              <a:rPr lang="en-US" b="1" spc="-30" noProof="1">
                <a:latin typeface="Arial"/>
                <a:cs typeface="Arial"/>
              </a:rPr>
              <a:t>keep</a:t>
            </a:r>
            <a:r>
              <a:rPr lang="en-US" b="1" spc="10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track</a:t>
            </a:r>
            <a:r>
              <a:rPr lang="en-US" b="1" spc="15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of</a:t>
            </a:r>
            <a:r>
              <a:rPr lang="en-US" b="1" spc="10" noProof="1">
                <a:latin typeface="Arial"/>
                <a:cs typeface="Arial"/>
              </a:rPr>
              <a:t> </a:t>
            </a:r>
            <a:r>
              <a:rPr lang="en-US" b="1" spc="-30" noProof="1">
                <a:latin typeface="Arial"/>
                <a:cs typeface="Arial"/>
              </a:rPr>
              <a:t>which</a:t>
            </a:r>
            <a:r>
              <a:rPr lang="en-US" b="1" spc="15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letter</a:t>
            </a:r>
            <a:r>
              <a:rPr lang="en-US" b="1" spc="10" noProof="1">
                <a:latin typeface="Arial"/>
                <a:cs typeface="Arial"/>
              </a:rPr>
              <a:t> </a:t>
            </a:r>
            <a:r>
              <a:rPr lang="en-US" b="1" spc="-45" noProof="1">
                <a:latin typeface="Arial"/>
                <a:cs typeface="Arial"/>
              </a:rPr>
              <a:t>goes</a:t>
            </a:r>
            <a:r>
              <a:rPr lang="en-US" b="1" spc="15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to</a:t>
            </a:r>
            <a:r>
              <a:rPr lang="en-US" b="1" spc="10" noProof="1">
                <a:latin typeface="Arial"/>
                <a:cs typeface="Arial"/>
              </a:rPr>
              <a:t> </a:t>
            </a:r>
            <a:r>
              <a:rPr lang="en-US" b="1" spc="-30" noProof="1">
                <a:latin typeface="Arial"/>
                <a:cs typeface="Arial"/>
              </a:rPr>
              <a:t>which</a:t>
            </a:r>
            <a:r>
              <a:rPr lang="en-US" b="1" spc="15" noProof="1">
                <a:latin typeface="Arial"/>
                <a:cs typeface="Arial"/>
              </a:rPr>
              <a:t> </a:t>
            </a:r>
            <a:r>
              <a:rPr lang="en-US" b="1" spc="-30" noProof="1">
                <a:latin typeface="Arial"/>
                <a:cs typeface="Arial"/>
              </a:rPr>
              <a:t>home</a:t>
            </a:r>
            <a:r>
              <a:rPr lang="en-US" b="1" spc="-5" noProof="1">
                <a:latin typeface="Arial"/>
                <a:cs typeface="Arial"/>
              </a:rPr>
              <a:t> </a:t>
            </a:r>
            <a:r>
              <a:rPr lang="en-US" spc="-25" noProof="1"/>
              <a:t>so</a:t>
            </a:r>
            <a:r>
              <a:rPr lang="en-US" spc="-5" noProof="1"/>
              <a:t> </a:t>
            </a:r>
            <a:r>
              <a:rPr lang="en-US" spc="-25" noProof="1"/>
              <a:t>when</a:t>
            </a:r>
            <a:r>
              <a:rPr lang="en-US" noProof="1"/>
              <a:t> the</a:t>
            </a:r>
            <a:r>
              <a:rPr lang="en-US" spc="-5" noProof="1"/>
              <a:t> </a:t>
            </a:r>
            <a:r>
              <a:rPr lang="en-US" spc="-55" noProof="1"/>
              <a:t>responses</a:t>
            </a:r>
            <a:r>
              <a:rPr lang="en-US" spc="-5" noProof="1"/>
              <a:t> </a:t>
            </a:r>
            <a:r>
              <a:rPr lang="en-US" spc="-30" noProof="1"/>
              <a:t>come</a:t>
            </a:r>
            <a:r>
              <a:rPr lang="en-US" noProof="1"/>
              <a:t> </a:t>
            </a:r>
            <a:r>
              <a:rPr lang="en-US" spc="-10" noProof="1"/>
              <a:t>back,</a:t>
            </a:r>
            <a:r>
              <a:rPr lang="en-US" spc="-5" noProof="1"/>
              <a:t> </a:t>
            </a:r>
            <a:r>
              <a:rPr lang="en-US" spc="-25" noProof="1"/>
              <a:t>the </a:t>
            </a:r>
            <a:r>
              <a:rPr lang="en-US" spc="-20" noProof="1"/>
              <a:t>receptionist</a:t>
            </a:r>
            <a:r>
              <a:rPr lang="en-US" spc="30" noProof="1"/>
              <a:t> </a:t>
            </a:r>
            <a:r>
              <a:rPr lang="en-US" spc="-30" noProof="1"/>
              <a:t>knows</a:t>
            </a:r>
            <a:r>
              <a:rPr lang="en-US" spc="30" noProof="1"/>
              <a:t> </a:t>
            </a:r>
            <a:r>
              <a:rPr lang="en-US" noProof="1"/>
              <a:t>to</a:t>
            </a:r>
            <a:r>
              <a:rPr lang="en-US" spc="30" noProof="1"/>
              <a:t> </a:t>
            </a:r>
            <a:r>
              <a:rPr lang="en-US" spc="-10" noProof="1"/>
              <a:t>whom</a:t>
            </a:r>
            <a:r>
              <a:rPr lang="en-US" spc="30" noProof="1"/>
              <a:t> </a:t>
            </a:r>
            <a:r>
              <a:rPr lang="en-US" noProof="1"/>
              <a:t>to</a:t>
            </a:r>
            <a:r>
              <a:rPr lang="en-US" spc="30" noProof="1"/>
              <a:t> </a:t>
            </a:r>
            <a:r>
              <a:rPr lang="en-US" spc="-20" noProof="1"/>
              <a:t>give</a:t>
            </a:r>
            <a:r>
              <a:rPr lang="en-US" spc="30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spc="-10" noProof="1"/>
              <a:t>letter.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920115" cy="5080"/>
            </a:xfrm>
            <a:custGeom>
              <a:avLst/>
              <a:gdLst/>
              <a:ahLst/>
              <a:cxnLst/>
              <a:rect l="l" t="t" r="r" b="b"/>
              <a:pathLst>
                <a:path w="920115" h="5080">
                  <a:moveTo>
                    <a:pt x="0" y="5060"/>
                  </a:moveTo>
                  <a:lnTo>
                    <a:pt x="0" y="0"/>
                  </a:lnTo>
                  <a:lnTo>
                    <a:pt x="919699" y="0"/>
                  </a:lnTo>
                  <a:lnTo>
                    <a:pt x="91969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0" noProof="1"/>
              <a:t>Your</a:t>
            </a:r>
            <a:r>
              <a:rPr lang="en-US" spc="-15" noProof="1"/>
              <a:t> </a:t>
            </a:r>
            <a:r>
              <a:rPr lang="en-US" spc="-10" noProof="1"/>
              <a:t>router and</a:t>
            </a:r>
            <a:r>
              <a:rPr lang="en-US" spc="-15" noProof="1"/>
              <a:t> </a:t>
            </a:r>
            <a:r>
              <a:rPr lang="en-US" spc="-25" noProof="1"/>
              <a:t>NAT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990768"/>
            <a:ext cx="5069840" cy="137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router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does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thing.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phone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streaming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YouTube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video,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smart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TV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streaming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Netflix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movie,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router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handling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phone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YouTube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your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smart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TV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Netflix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both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through</a:t>
            </a:r>
            <a:r>
              <a:rPr lang="en-US" sz="9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6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IPs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b="1" spc="5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YouTube</a:t>
            </a:r>
            <a:r>
              <a:rPr lang="en-US" sz="9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Netflix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2700" marR="55880">
              <a:lnSpc>
                <a:spcPct val="116199"/>
              </a:lnSpc>
              <a:spcBef>
                <a:spcPts val="62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router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5" noProof="1">
                <a:solidFill>
                  <a:srgbClr val="22373A"/>
                </a:solidFill>
                <a:latin typeface="Arial"/>
                <a:cs typeface="Arial"/>
              </a:rPr>
              <a:t>keeps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track of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responses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come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back,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knows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whom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send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response.</a:t>
            </a:r>
            <a:r>
              <a:rPr lang="en-US" sz="900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terms,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called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5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Translation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(NAT)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protocol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routers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allow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multiple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addresses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share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single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address. Read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about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NAT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  <a:hlinkClick r:id="rId2"/>
              </a:rPr>
              <a:t>here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968375" cy="5080"/>
            </a:xfrm>
            <a:custGeom>
              <a:avLst/>
              <a:gdLst/>
              <a:ahLst/>
              <a:cxnLst/>
              <a:rect l="l" t="t" r="r" b="b"/>
              <a:pathLst>
                <a:path w="968375" h="5080">
                  <a:moveTo>
                    <a:pt x="0" y="5060"/>
                  </a:moveTo>
                  <a:lnTo>
                    <a:pt x="0" y="0"/>
                  </a:lnTo>
                  <a:lnTo>
                    <a:pt x="968039" y="0"/>
                  </a:lnTo>
                  <a:lnTo>
                    <a:pt x="96803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55" noProof="1"/>
              <a:t> </a:t>
            </a:r>
            <a:r>
              <a:rPr lang="en-US" spc="-25" noProof="1"/>
              <a:t>is</a:t>
            </a:r>
            <a:r>
              <a:rPr lang="en-US" spc="55" noProof="1"/>
              <a:t> </a:t>
            </a:r>
            <a:r>
              <a:rPr lang="en-US" noProof="1"/>
              <a:t>a</a:t>
            </a:r>
            <a:r>
              <a:rPr lang="en-US" spc="55" noProof="1"/>
              <a:t> </a:t>
            </a:r>
            <a:r>
              <a:rPr lang="en-US" spc="-40" noProof="1"/>
              <a:t>network?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454942"/>
            <a:ext cx="5085715" cy="1459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2705">
              <a:lnSpc>
                <a:spcPct val="116199"/>
              </a:lnSpc>
              <a:spcBef>
                <a:spcPts val="100"/>
              </a:spcBef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far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talking about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networks,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IPs to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communicate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within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communicate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?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1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?</a:t>
            </a:r>
            <a:endParaRPr lang="en-US" sz="900" noProof="1">
              <a:latin typeface="Arial"/>
              <a:cs typeface="Arial"/>
            </a:endParaRPr>
          </a:p>
          <a:p>
            <a:pPr marL="16510" marR="5080" indent="-4445" algn="just">
              <a:lnSpc>
                <a:spcPct val="116199"/>
              </a:lnSpc>
              <a:spcBef>
                <a:spcPts val="62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collection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connected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each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other.</a:t>
            </a:r>
            <a:r>
              <a:rPr lang="en-US" sz="900" spc="1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home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example,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phone,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smart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TV, 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smart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speaker,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and 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computer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all part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 the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and they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are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identified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IPs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6510" marR="68580" algn="just">
              <a:lnSpc>
                <a:spcPct val="116199"/>
              </a:lnSpc>
              <a:spcBef>
                <a:spcPts val="62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hotel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analogy,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is 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hotel and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different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rooms,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room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number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would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address.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91309" y="1993200"/>
            <a:ext cx="1777395" cy="89966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016635" cy="5080"/>
            </a:xfrm>
            <a:custGeom>
              <a:avLst/>
              <a:gdLst/>
              <a:ahLst/>
              <a:cxnLst/>
              <a:rect l="l" t="t" r="r" b="b"/>
              <a:pathLst>
                <a:path w="1016635" h="5080">
                  <a:moveTo>
                    <a:pt x="0" y="5060"/>
                  </a:moveTo>
                  <a:lnTo>
                    <a:pt x="0" y="0"/>
                  </a:lnTo>
                  <a:lnTo>
                    <a:pt x="1016467" y="0"/>
                  </a:lnTo>
                  <a:lnTo>
                    <a:pt x="101646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55" noProof="1"/>
              <a:t> </a:t>
            </a:r>
            <a:r>
              <a:rPr lang="en-US" spc="-25" noProof="1"/>
              <a:t>is</a:t>
            </a:r>
            <a:r>
              <a:rPr lang="en-US" spc="55" noProof="1"/>
              <a:t> </a:t>
            </a:r>
            <a:r>
              <a:rPr lang="en-US" noProof="1"/>
              <a:t>a</a:t>
            </a:r>
            <a:r>
              <a:rPr lang="en-US" spc="55" noProof="1"/>
              <a:t> </a:t>
            </a:r>
            <a:r>
              <a:rPr lang="en-US" spc="-40" noProof="1"/>
              <a:t>network?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562029"/>
            <a:ext cx="4825365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10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home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only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world.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There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many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networks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world;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home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network,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given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network,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of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university,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etc.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060" y="986369"/>
            <a:ext cx="3775878" cy="179941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064895" cy="5080"/>
            </a:xfrm>
            <a:custGeom>
              <a:avLst/>
              <a:gdLst/>
              <a:ahLst/>
              <a:cxnLst/>
              <a:rect l="l" t="t" r="r" b="b"/>
              <a:pathLst>
                <a:path w="1064895" h="5080">
                  <a:moveTo>
                    <a:pt x="0" y="5060"/>
                  </a:moveTo>
                  <a:lnTo>
                    <a:pt x="0" y="0"/>
                  </a:lnTo>
                  <a:lnTo>
                    <a:pt x="1064896" y="0"/>
                  </a:lnTo>
                  <a:lnTo>
                    <a:pt x="106489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55" noProof="1"/>
              <a:t> </a:t>
            </a:r>
            <a:r>
              <a:rPr lang="en-US" spc="-25" noProof="1"/>
              <a:t>is</a:t>
            </a:r>
            <a:r>
              <a:rPr lang="en-US" spc="55" noProof="1"/>
              <a:t> </a:t>
            </a:r>
            <a:r>
              <a:rPr lang="en-US" noProof="1"/>
              <a:t>the</a:t>
            </a:r>
            <a:r>
              <a:rPr lang="en-US" spc="55" noProof="1"/>
              <a:t> </a:t>
            </a:r>
            <a:r>
              <a:rPr lang="en-US" spc="-20" noProof="1"/>
              <a:t>internet?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711991"/>
            <a:ext cx="5065395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Networks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hierarchical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lang="en-US" sz="900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made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up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networks,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sales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department,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marketing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department,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etc.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2663" y="1136350"/>
            <a:ext cx="2754669" cy="149945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113790" cy="5080"/>
            </a:xfrm>
            <a:custGeom>
              <a:avLst/>
              <a:gdLst/>
              <a:ahLst/>
              <a:cxnLst/>
              <a:rect l="l" t="t" r="r" b="b"/>
              <a:pathLst>
                <a:path w="1113790" h="5080">
                  <a:moveTo>
                    <a:pt x="0" y="5060"/>
                  </a:moveTo>
                  <a:lnTo>
                    <a:pt x="0" y="0"/>
                  </a:lnTo>
                  <a:lnTo>
                    <a:pt x="1113324" y="0"/>
                  </a:lnTo>
                  <a:lnTo>
                    <a:pt x="111332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55" noProof="1"/>
              <a:t> </a:t>
            </a:r>
            <a:r>
              <a:rPr lang="en-US" spc="-25" noProof="1"/>
              <a:t>is</a:t>
            </a:r>
            <a:r>
              <a:rPr lang="en-US" spc="55" noProof="1"/>
              <a:t> </a:t>
            </a:r>
            <a:r>
              <a:rPr lang="en-US" noProof="1"/>
              <a:t>the</a:t>
            </a:r>
            <a:r>
              <a:rPr lang="en-US" spc="55" noProof="1"/>
              <a:t> </a:t>
            </a:r>
            <a:r>
              <a:rPr lang="en-US" spc="-20" noProof="1"/>
              <a:t>internet?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348847"/>
            <a:ext cx="5069840" cy="718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Although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networks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exist,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most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common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scenario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networks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connected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rest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world.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fact,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nothing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biggest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networks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world.</a:t>
            </a:r>
            <a:endParaRPr lang="en-US" sz="900" noProof="1">
              <a:latin typeface="Arial"/>
              <a:cs typeface="Arial"/>
            </a:endParaRPr>
          </a:p>
          <a:p>
            <a:pPr marL="16510" marR="136525" indent="-4445">
              <a:lnSpc>
                <a:spcPct val="116199"/>
              </a:lnSpc>
              <a:spcBef>
                <a:spcPts val="62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 why from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our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home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0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anything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available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internet, like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YouTube,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Netflix,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or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even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this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lecture.</a:t>
            </a:r>
            <a:r>
              <a:rPr lang="en-US" sz="900" spc="8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whole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picture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would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look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like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this: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4567" y="1329457"/>
            <a:ext cx="3490873" cy="179933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210310" cy="5080"/>
            </a:xfrm>
            <a:custGeom>
              <a:avLst/>
              <a:gdLst/>
              <a:ahLst/>
              <a:cxnLst/>
              <a:rect l="l" t="t" r="r" b="b"/>
              <a:pathLst>
                <a:path w="1210310" h="5080">
                  <a:moveTo>
                    <a:pt x="0" y="5060"/>
                  </a:moveTo>
                  <a:lnTo>
                    <a:pt x="0" y="0"/>
                  </a:lnTo>
                  <a:lnTo>
                    <a:pt x="1210093" y="0"/>
                  </a:lnTo>
                  <a:lnTo>
                    <a:pt x="121009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55" noProof="1"/>
              <a:t> </a:t>
            </a:r>
            <a:r>
              <a:rPr lang="en-US" spc="-25" noProof="1"/>
              <a:t>is</a:t>
            </a:r>
            <a:r>
              <a:rPr lang="en-US" spc="55" noProof="1"/>
              <a:t> </a:t>
            </a:r>
            <a:r>
              <a:rPr lang="en-US" noProof="1"/>
              <a:t>the</a:t>
            </a:r>
            <a:r>
              <a:rPr lang="en-US" spc="55" noProof="1"/>
              <a:t> </a:t>
            </a:r>
            <a:r>
              <a:rPr lang="en-US" spc="-20" noProof="1"/>
              <a:t>internet?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1850299"/>
            <a:ext cx="563880" cy="122555"/>
            <a:chOff x="359994" y="1850299"/>
            <a:chExt cx="563880" cy="122555"/>
          </a:xfrm>
        </p:grpSpPr>
        <p:sp>
          <p:nvSpPr>
            <p:cNvPr id="4" name="object 4"/>
            <p:cNvSpPr/>
            <p:nvPr/>
          </p:nvSpPr>
          <p:spPr>
            <a:xfrm>
              <a:off x="359994" y="1850299"/>
              <a:ext cx="563880" cy="122555"/>
            </a:xfrm>
            <a:custGeom>
              <a:avLst/>
              <a:gdLst/>
              <a:ahLst/>
              <a:cxnLst/>
              <a:rect l="l" t="t" r="r" b="b"/>
              <a:pathLst>
                <a:path w="563880" h="122555">
                  <a:moveTo>
                    <a:pt x="52736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009"/>
                  </a:lnTo>
                  <a:lnTo>
                    <a:pt x="2829" y="100022"/>
                  </a:lnTo>
                  <a:lnTo>
                    <a:pt x="10544" y="111465"/>
                  </a:lnTo>
                  <a:lnTo>
                    <a:pt x="21987" y="119181"/>
                  </a:lnTo>
                  <a:lnTo>
                    <a:pt x="36000" y="122010"/>
                  </a:lnTo>
                  <a:lnTo>
                    <a:pt x="527362" y="122010"/>
                  </a:lnTo>
                  <a:lnTo>
                    <a:pt x="541374" y="119181"/>
                  </a:lnTo>
                  <a:lnTo>
                    <a:pt x="552817" y="111465"/>
                  </a:lnTo>
                  <a:lnTo>
                    <a:pt x="560533" y="100022"/>
                  </a:lnTo>
                  <a:lnTo>
                    <a:pt x="563362" y="86009"/>
                  </a:lnTo>
                  <a:lnTo>
                    <a:pt x="563362" y="36000"/>
                  </a:lnTo>
                  <a:lnTo>
                    <a:pt x="560533" y="21987"/>
                  </a:lnTo>
                  <a:lnTo>
                    <a:pt x="552817" y="10544"/>
                  </a:lnTo>
                  <a:lnTo>
                    <a:pt x="541374" y="2829"/>
                  </a:lnTo>
                  <a:lnTo>
                    <a:pt x="52736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59994" y="1850299"/>
              <a:ext cx="563880" cy="122555"/>
            </a:xfrm>
            <a:custGeom>
              <a:avLst/>
              <a:gdLst/>
              <a:ahLst/>
              <a:cxnLst/>
              <a:rect l="l" t="t" r="r" b="b"/>
              <a:pathLst>
                <a:path w="563880" h="122555">
                  <a:moveTo>
                    <a:pt x="52736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009"/>
                  </a:lnTo>
                  <a:lnTo>
                    <a:pt x="2829" y="100022"/>
                  </a:lnTo>
                  <a:lnTo>
                    <a:pt x="10544" y="111465"/>
                  </a:lnTo>
                  <a:lnTo>
                    <a:pt x="21987" y="119181"/>
                  </a:lnTo>
                  <a:lnTo>
                    <a:pt x="36000" y="122010"/>
                  </a:lnTo>
                  <a:lnTo>
                    <a:pt x="527362" y="122010"/>
                  </a:lnTo>
                  <a:lnTo>
                    <a:pt x="541374" y="119181"/>
                  </a:lnTo>
                  <a:lnTo>
                    <a:pt x="552817" y="111465"/>
                  </a:lnTo>
                  <a:lnTo>
                    <a:pt x="560533" y="100022"/>
                  </a:lnTo>
                  <a:lnTo>
                    <a:pt x="563362" y="86009"/>
                  </a:lnTo>
                  <a:lnTo>
                    <a:pt x="563362" y="36000"/>
                  </a:lnTo>
                  <a:lnTo>
                    <a:pt x="560533" y="21987"/>
                  </a:lnTo>
                  <a:lnTo>
                    <a:pt x="552817" y="10544"/>
                  </a:lnTo>
                  <a:lnTo>
                    <a:pt x="541374" y="2829"/>
                  </a:lnTo>
                  <a:lnTo>
                    <a:pt x="52736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18985" rIns="0" bIns="0" rtlCol="0">
            <a:spAutoFit/>
          </a:bodyPr>
          <a:lstStyle/>
          <a:p>
            <a:pPr marL="17780" marR="132080" indent="-5715">
              <a:lnSpc>
                <a:spcPct val="116199"/>
              </a:lnSpc>
              <a:spcBef>
                <a:spcPts val="100"/>
              </a:spcBef>
            </a:pPr>
            <a:r>
              <a:rPr lang="en-US" spc="-10" noProof="1"/>
              <a:t>We</a:t>
            </a:r>
            <a:r>
              <a:rPr lang="en-US" spc="20" noProof="1"/>
              <a:t> </a:t>
            </a:r>
            <a:r>
              <a:rPr lang="en-US" spc="-10" noProof="1"/>
              <a:t>constantly</a:t>
            </a:r>
            <a:r>
              <a:rPr lang="en-US" spc="20" noProof="1"/>
              <a:t> </a:t>
            </a:r>
            <a:r>
              <a:rPr lang="en-US" spc="-55" noProof="1"/>
              <a:t>use</a:t>
            </a:r>
            <a:r>
              <a:rPr lang="en-US" spc="25" noProof="1"/>
              <a:t> </a:t>
            </a:r>
            <a:r>
              <a:rPr lang="en-US" spc="-30" noProof="1"/>
              <a:t>concepts</a:t>
            </a:r>
            <a:r>
              <a:rPr lang="en-US" spc="20" noProof="1"/>
              <a:t> </a:t>
            </a:r>
            <a:r>
              <a:rPr lang="en-US" noProof="1"/>
              <a:t>like</a:t>
            </a:r>
            <a:r>
              <a:rPr lang="en-US" spc="20" noProof="1"/>
              <a:t> </a:t>
            </a:r>
            <a:r>
              <a:rPr lang="en-US" i="1" noProof="1">
                <a:latin typeface="Arial"/>
                <a:cs typeface="Arial"/>
              </a:rPr>
              <a:t>the</a:t>
            </a:r>
            <a:r>
              <a:rPr lang="en-US" i="1" spc="25" noProof="1">
                <a:latin typeface="Arial"/>
                <a:cs typeface="Arial"/>
              </a:rPr>
              <a:t> </a:t>
            </a:r>
            <a:r>
              <a:rPr lang="en-US" i="1" spc="-10" noProof="1">
                <a:latin typeface="Arial"/>
                <a:cs typeface="Arial"/>
              </a:rPr>
              <a:t>cloud</a:t>
            </a:r>
            <a:r>
              <a:rPr lang="en-US" i="1" spc="20" noProof="1">
                <a:latin typeface="Arial"/>
                <a:cs typeface="Arial"/>
              </a:rPr>
              <a:t> </a:t>
            </a:r>
            <a:r>
              <a:rPr lang="en-US" noProof="1"/>
              <a:t>or</a:t>
            </a:r>
            <a:r>
              <a:rPr lang="en-US" spc="25" noProof="1"/>
              <a:t> </a:t>
            </a:r>
            <a:r>
              <a:rPr lang="en-US" i="1" noProof="1">
                <a:latin typeface="Arial"/>
                <a:cs typeface="Arial"/>
              </a:rPr>
              <a:t>the</a:t>
            </a:r>
            <a:r>
              <a:rPr lang="en-US" i="1" spc="20" noProof="1">
                <a:latin typeface="Arial"/>
                <a:cs typeface="Arial"/>
              </a:rPr>
              <a:t> </a:t>
            </a:r>
            <a:r>
              <a:rPr lang="en-US" i="1" noProof="1">
                <a:latin typeface="Arial"/>
                <a:cs typeface="Arial"/>
              </a:rPr>
              <a:t>internet</a:t>
            </a:r>
            <a:r>
              <a:rPr lang="en-US" i="1" spc="20" noProof="1">
                <a:latin typeface="Arial"/>
                <a:cs typeface="Arial"/>
              </a:rPr>
              <a:t> </a:t>
            </a:r>
            <a:r>
              <a:rPr lang="en-US" noProof="1"/>
              <a:t>without</a:t>
            </a:r>
            <a:r>
              <a:rPr lang="en-US" spc="25" noProof="1"/>
              <a:t> </a:t>
            </a:r>
            <a:r>
              <a:rPr lang="en-US" spc="-10" noProof="1"/>
              <a:t>really</a:t>
            </a:r>
            <a:r>
              <a:rPr lang="en-US" spc="20" noProof="1"/>
              <a:t> </a:t>
            </a:r>
            <a:r>
              <a:rPr lang="en-US" noProof="1"/>
              <a:t>thinking</a:t>
            </a:r>
            <a:r>
              <a:rPr lang="en-US" spc="25" noProof="1"/>
              <a:t> </a:t>
            </a:r>
            <a:r>
              <a:rPr lang="en-US" noProof="1"/>
              <a:t>that</a:t>
            </a:r>
            <a:r>
              <a:rPr lang="en-US" spc="20" noProof="1"/>
              <a:t> </a:t>
            </a:r>
            <a:r>
              <a:rPr lang="en-US" noProof="1"/>
              <a:t>this</a:t>
            </a:r>
            <a:r>
              <a:rPr lang="en-US" spc="20" noProof="1"/>
              <a:t> </a:t>
            </a:r>
            <a:r>
              <a:rPr lang="en-US" noProof="1"/>
              <a:t>is</a:t>
            </a:r>
            <a:r>
              <a:rPr lang="en-US" spc="25" noProof="1"/>
              <a:t> </a:t>
            </a:r>
            <a:r>
              <a:rPr lang="en-US" noProof="1"/>
              <a:t>just</a:t>
            </a:r>
            <a:r>
              <a:rPr lang="en-US" spc="20" noProof="1"/>
              <a:t> </a:t>
            </a:r>
            <a:r>
              <a:rPr lang="en-US" spc="-50" noProof="1"/>
              <a:t>a</a:t>
            </a:r>
            <a:r>
              <a:rPr lang="en-US" spc="-40" noProof="1"/>
              <a:t> colossal</a:t>
            </a:r>
            <a:r>
              <a:rPr lang="en-US" spc="5" noProof="1"/>
              <a:t> </a:t>
            </a:r>
            <a:r>
              <a:rPr lang="en-US" noProof="1"/>
              <a:t>amount</a:t>
            </a:r>
            <a:r>
              <a:rPr lang="en-US" spc="10" noProof="1"/>
              <a:t> </a:t>
            </a:r>
            <a:r>
              <a:rPr lang="en-US" noProof="1"/>
              <a:t>of</a:t>
            </a:r>
            <a:r>
              <a:rPr lang="en-US" spc="10" noProof="1"/>
              <a:t> </a:t>
            </a:r>
            <a:r>
              <a:rPr lang="en-US" spc="-45" noProof="1"/>
              <a:t>devices</a:t>
            </a:r>
            <a:r>
              <a:rPr lang="en-US" spc="5" noProof="1"/>
              <a:t> </a:t>
            </a:r>
            <a:r>
              <a:rPr lang="en-US" spc="-30" noProof="1"/>
              <a:t>connected</a:t>
            </a:r>
            <a:r>
              <a:rPr lang="en-US" spc="10" noProof="1"/>
              <a:t> </a:t>
            </a:r>
            <a:r>
              <a:rPr lang="en-US" spc="-35" noProof="1"/>
              <a:t>between</a:t>
            </a:r>
            <a:r>
              <a:rPr lang="en-US" spc="10" noProof="1"/>
              <a:t> </a:t>
            </a:r>
            <a:r>
              <a:rPr lang="en-US" spc="-10" noProof="1"/>
              <a:t>them.</a:t>
            </a: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lang="en-US" spc="-10" noProof="1"/>
              <a:t>When</a:t>
            </a:r>
            <a:r>
              <a:rPr lang="en-US" spc="15" noProof="1"/>
              <a:t> </a:t>
            </a:r>
            <a:r>
              <a:rPr lang="en-US" noProof="1"/>
              <a:t>I</a:t>
            </a:r>
            <a:r>
              <a:rPr lang="en-US" spc="20" noProof="1"/>
              <a:t> </a:t>
            </a:r>
            <a:r>
              <a:rPr lang="en-US" noProof="1"/>
              <a:t>want</a:t>
            </a:r>
            <a:r>
              <a:rPr lang="en-US" spc="15" noProof="1"/>
              <a:t> </a:t>
            </a:r>
            <a:r>
              <a:rPr lang="en-US" noProof="1"/>
              <a:t>to</a:t>
            </a:r>
            <a:r>
              <a:rPr lang="en-US" spc="20" noProof="1"/>
              <a:t> </a:t>
            </a:r>
            <a:r>
              <a:rPr lang="en-US" spc="-20" noProof="1"/>
              <a:t>connect</a:t>
            </a:r>
            <a:r>
              <a:rPr lang="en-US" spc="15" noProof="1"/>
              <a:t> </a:t>
            </a:r>
            <a:r>
              <a:rPr lang="en-US" noProof="1"/>
              <a:t>to</a:t>
            </a:r>
            <a:r>
              <a:rPr lang="en-US" spc="20" noProof="1"/>
              <a:t> </a:t>
            </a:r>
            <a:r>
              <a:rPr lang="en-US" noProof="1"/>
              <a:t>an</a:t>
            </a:r>
            <a:r>
              <a:rPr lang="en-US" spc="15" noProof="1"/>
              <a:t> </a:t>
            </a:r>
            <a:r>
              <a:rPr lang="en-US" spc="-25" noProof="1"/>
              <a:t>EC2</a:t>
            </a:r>
            <a:r>
              <a:rPr lang="en-US" spc="20" noProof="1"/>
              <a:t> </a:t>
            </a:r>
            <a:r>
              <a:rPr lang="en-US" spc="-25" noProof="1"/>
              <a:t>machine</a:t>
            </a:r>
            <a:r>
              <a:rPr lang="en-US" spc="15" noProof="1"/>
              <a:t> </a:t>
            </a:r>
            <a:r>
              <a:rPr lang="en-US" noProof="1"/>
              <a:t>in</a:t>
            </a:r>
            <a:r>
              <a:rPr lang="en-US" spc="20" noProof="1"/>
              <a:t> </a:t>
            </a:r>
            <a:r>
              <a:rPr lang="en-US" i="1" noProof="1">
                <a:latin typeface="Arial"/>
                <a:cs typeface="Arial"/>
              </a:rPr>
              <a:t>the</a:t>
            </a:r>
            <a:r>
              <a:rPr lang="en-US" i="1" spc="15" noProof="1">
                <a:latin typeface="Arial"/>
                <a:cs typeface="Arial"/>
              </a:rPr>
              <a:t> </a:t>
            </a:r>
            <a:r>
              <a:rPr lang="en-US" i="1" noProof="1">
                <a:latin typeface="Arial"/>
                <a:cs typeface="Arial"/>
              </a:rPr>
              <a:t>cloud</a:t>
            </a:r>
            <a:r>
              <a:rPr lang="en-US" noProof="1"/>
              <a:t>,</a:t>
            </a:r>
            <a:r>
              <a:rPr lang="en-US" spc="20" noProof="1"/>
              <a:t> </a:t>
            </a:r>
            <a:r>
              <a:rPr lang="en-US" spc="-30" noProof="1"/>
              <a:t>(assuming</a:t>
            </a:r>
            <a:r>
              <a:rPr lang="en-US" spc="15" noProof="1"/>
              <a:t> </a:t>
            </a:r>
            <a:r>
              <a:rPr lang="en-US" noProof="1"/>
              <a:t>it</a:t>
            </a:r>
            <a:r>
              <a:rPr lang="en-US" spc="20" noProof="1"/>
              <a:t> </a:t>
            </a:r>
            <a:r>
              <a:rPr lang="en-US" noProof="1"/>
              <a:t>is</a:t>
            </a:r>
            <a:r>
              <a:rPr lang="en-US" spc="15" noProof="1"/>
              <a:t> </a:t>
            </a:r>
            <a:r>
              <a:rPr lang="en-US" noProof="1"/>
              <a:t>on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noProof="1"/>
              <a:t>default</a:t>
            </a:r>
            <a:r>
              <a:rPr lang="en-US" spc="20" noProof="1"/>
              <a:t> </a:t>
            </a:r>
            <a:r>
              <a:rPr lang="en-US" spc="-10" noProof="1"/>
              <a:t>region</a:t>
            </a:r>
          </a:p>
          <a:p>
            <a:pPr marL="17780" marR="5080" indent="12065">
              <a:lnSpc>
                <a:spcPct val="116199"/>
              </a:lnSpc>
            </a:pPr>
            <a:r>
              <a:rPr lang="en-US" spc="-75" noProof="1">
                <a:solidFill>
                  <a:srgbClr val="000000"/>
                </a:solidFill>
                <a:latin typeface="Courier New"/>
                <a:cs typeface="Courier New"/>
              </a:rPr>
              <a:t>us-east-1</a:t>
            </a:r>
            <a:r>
              <a:rPr lang="en-US" spc="-445" noProof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noProof="1"/>
              <a:t>),</a:t>
            </a:r>
            <a:r>
              <a:rPr lang="en-US" spc="20" noProof="1"/>
              <a:t> </a:t>
            </a:r>
            <a:r>
              <a:rPr lang="en-US" noProof="1"/>
              <a:t>I</a:t>
            </a:r>
            <a:r>
              <a:rPr lang="en-US" spc="25" noProof="1"/>
              <a:t> </a:t>
            </a:r>
            <a:r>
              <a:rPr lang="en-US" noProof="1"/>
              <a:t>am</a:t>
            </a:r>
            <a:r>
              <a:rPr lang="en-US" spc="30" noProof="1"/>
              <a:t> </a:t>
            </a:r>
            <a:r>
              <a:rPr lang="en-US" noProof="1"/>
              <a:t>just</a:t>
            </a:r>
            <a:r>
              <a:rPr lang="en-US" spc="25" noProof="1"/>
              <a:t> </a:t>
            </a:r>
            <a:r>
              <a:rPr lang="en-US" spc="-35" noProof="1"/>
              <a:t>sending</a:t>
            </a:r>
            <a:r>
              <a:rPr lang="en-US" spc="30" noProof="1"/>
              <a:t> </a:t>
            </a:r>
            <a:r>
              <a:rPr lang="en-US" spc="-10" noProof="1"/>
              <a:t>electrical</a:t>
            </a:r>
            <a:r>
              <a:rPr lang="en-US" spc="30" noProof="1"/>
              <a:t> </a:t>
            </a:r>
            <a:r>
              <a:rPr lang="en-US" spc="-30" noProof="1"/>
              <a:t>signals</a:t>
            </a:r>
            <a:r>
              <a:rPr lang="en-US" spc="25" noProof="1"/>
              <a:t> </a:t>
            </a:r>
            <a:r>
              <a:rPr lang="en-US" noProof="1"/>
              <a:t>to</a:t>
            </a:r>
            <a:r>
              <a:rPr lang="en-US" spc="30" noProof="1"/>
              <a:t> </a:t>
            </a:r>
            <a:r>
              <a:rPr lang="en-US" noProof="1"/>
              <a:t>a</a:t>
            </a:r>
            <a:r>
              <a:rPr lang="en-US" spc="30" noProof="1"/>
              <a:t> </a:t>
            </a:r>
            <a:r>
              <a:rPr lang="en-US" spc="-10" noProof="1"/>
              <a:t>computer</a:t>
            </a:r>
            <a:r>
              <a:rPr lang="en-US" spc="25" noProof="1"/>
              <a:t> </a:t>
            </a:r>
            <a:r>
              <a:rPr lang="en-US" spc="-10" noProof="1"/>
              <a:t>located</a:t>
            </a:r>
            <a:r>
              <a:rPr lang="en-US" spc="30" noProof="1"/>
              <a:t> </a:t>
            </a:r>
            <a:r>
              <a:rPr lang="en-US" noProof="1"/>
              <a:t>in</a:t>
            </a:r>
            <a:r>
              <a:rPr lang="en-US" spc="30" noProof="1"/>
              <a:t> </a:t>
            </a:r>
            <a:r>
              <a:rPr lang="en-US" noProof="1"/>
              <a:t>a</a:t>
            </a:r>
            <a:r>
              <a:rPr lang="en-US" spc="25" noProof="1"/>
              <a:t> </a:t>
            </a:r>
            <a:r>
              <a:rPr lang="en-US" spc="-20" noProof="1"/>
              <a:t>datacenter</a:t>
            </a:r>
            <a:r>
              <a:rPr lang="en-US" spc="30" noProof="1"/>
              <a:t> </a:t>
            </a:r>
            <a:r>
              <a:rPr lang="en-US" noProof="1"/>
              <a:t>in</a:t>
            </a:r>
            <a:r>
              <a:rPr lang="en-US" spc="30" noProof="1"/>
              <a:t> </a:t>
            </a:r>
            <a:r>
              <a:rPr lang="en-US" noProof="1"/>
              <a:t>the</a:t>
            </a:r>
            <a:r>
              <a:rPr lang="en-US" spc="25" noProof="1"/>
              <a:t> </a:t>
            </a:r>
            <a:r>
              <a:rPr lang="en-US" spc="-10" noProof="1"/>
              <a:t>United States.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1258570" cy="5080"/>
            </a:xfrm>
            <a:custGeom>
              <a:avLst/>
              <a:gdLst/>
              <a:ahLst/>
              <a:cxnLst/>
              <a:rect l="l" t="t" r="r" b="b"/>
              <a:pathLst>
                <a:path w="1258570" h="5080">
                  <a:moveTo>
                    <a:pt x="0" y="5060"/>
                  </a:moveTo>
                  <a:lnTo>
                    <a:pt x="0" y="0"/>
                  </a:lnTo>
                  <a:lnTo>
                    <a:pt x="1258521" y="0"/>
                  </a:lnTo>
                  <a:lnTo>
                    <a:pt x="125852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55" noProof="1"/>
              <a:t> </a:t>
            </a:r>
            <a:r>
              <a:rPr lang="en-US" spc="-25" noProof="1"/>
              <a:t>is</a:t>
            </a:r>
            <a:r>
              <a:rPr lang="en-US" spc="55" noProof="1"/>
              <a:t> </a:t>
            </a:r>
            <a:r>
              <a:rPr lang="en-US" noProof="1"/>
              <a:t>the</a:t>
            </a:r>
            <a:r>
              <a:rPr lang="en-US" spc="55" noProof="1"/>
              <a:t> </a:t>
            </a:r>
            <a:r>
              <a:rPr lang="en-US" spc="-20" noProof="1"/>
              <a:t>internet?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990768"/>
            <a:ext cx="5072380" cy="1379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7620" indent="-4445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Think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moment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insane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trip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electrical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signals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make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computer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machine.</a:t>
            </a:r>
            <a:r>
              <a:rPr lang="en-US" sz="900" spc="114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computer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router,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router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home</a:t>
            </a:r>
            <a:r>
              <a:rPr lang="en-US" sz="900" spc="5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series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routers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managed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Providers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(ISPs)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Spain,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there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has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5" noProof="1">
                <a:solidFill>
                  <a:srgbClr val="22373A"/>
                </a:solidFill>
                <a:latin typeface="Arial"/>
                <a:cs typeface="Arial"/>
              </a:rPr>
              <a:t>cross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Atlantic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Ocean</a:t>
            </a:r>
            <a:r>
              <a:rPr lang="en-US" sz="9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reach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United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States,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 then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through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series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routers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managed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by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ISPs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United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States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finally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reach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datacenter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located.</a:t>
            </a:r>
            <a:endParaRPr lang="en-US" sz="900" noProof="1">
              <a:latin typeface="Arial"/>
              <a:cs typeface="Arial"/>
            </a:endParaRPr>
          </a:p>
          <a:p>
            <a:pPr marL="16510" marR="5080" indent="-4445">
              <a:lnSpc>
                <a:spcPct val="116199"/>
              </a:lnSpc>
              <a:spcBef>
                <a:spcPts val="62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internet is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possible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because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of an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immense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infrastructure of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cables,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routers,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switches,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and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servers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connected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each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other.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fact,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there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huge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amount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cables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under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ocean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different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continents.</a:t>
            </a:r>
            <a:r>
              <a:rPr lang="en-US" sz="900" spc="8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95" noProof="1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 map of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these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cables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  <a:hlinkClick r:id="rId2"/>
              </a:rPr>
              <a:t>submarinecablemap.com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307465" cy="5080"/>
            </a:xfrm>
            <a:custGeom>
              <a:avLst/>
              <a:gdLst/>
              <a:ahLst/>
              <a:cxnLst/>
              <a:rect l="l" t="t" r="r" b="b"/>
              <a:pathLst>
                <a:path w="1307465" h="5080">
                  <a:moveTo>
                    <a:pt x="0" y="5060"/>
                  </a:moveTo>
                  <a:lnTo>
                    <a:pt x="0" y="0"/>
                  </a:lnTo>
                  <a:lnTo>
                    <a:pt x="1306862" y="0"/>
                  </a:lnTo>
                  <a:lnTo>
                    <a:pt x="130686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2763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What</a:t>
            </a:r>
            <a:r>
              <a:rPr lang="en-US" sz="1000" b="1" spc="5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is</a:t>
            </a:r>
            <a:r>
              <a:rPr lang="en-US" sz="1000" b="1" spc="5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lang="en-US" sz="1000" b="1" spc="5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0" noProof="1">
                <a:solidFill>
                  <a:srgbClr val="F9F9F9"/>
                </a:solidFill>
                <a:latin typeface="Arial"/>
                <a:cs typeface="Arial"/>
              </a:rPr>
              <a:t>internet?</a:t>
            </a:r>
            <a:endParaRPr lang="en-US" sz="10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536" y="475651"/>
            <a:ext cx="4848937" cy="239906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355725" cy="5080"/>
            </a:xfrm>
            <a:custGeom>
              <a:avLst/>
              <a:gdLst/>
              <a:ahLst/>
              <a:cxnLst/>
              <a:rect l="l" t="t" r="r" b="b"/>
              <a:pathLst>
                <a:path w="1355725" h="5080">
                  <a:moveTo>
                    <a:pt x="0" y="5060"/>
                  </a:moveTo>
                  <a:lnTo>
                    <a:pt x="0" y="0"/>
                  </a:lnTo>
                  <a:lnTo>
                    <a:pt x="1355290" y="0"/>
                  </a:lnTo>
                  <a:lnTo>
                    <a:pt x="135529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55" noProof="1"/>
              <a:t> </a:t>
            </a:r>
            <a:r>
              <a:rPr lang="en-US" spc="-25" noProof="1"/>
              <a:t>is</a:t>
            </a:r>
            <a:r>
              <a:rPr lang="en-US" spc="55" noProof="1"/>
              <a:t> </a:t>
            </a:r>
            <a:r>
              <a:rPr lang="en-US" noProof="1"/>
              <a:t>the</a:t>
            </a:r>
            <a:r>
              <a:rPr lang="en-US" spc="55" noProof="1"/>
              <a:t> </a:t>
            </a:r>
            <a:r>
              <a:rPr lang="en-US" spc="-20" noProof="1"/>
              <a:t>internet?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62054"/>
            <a:ext cx="4634865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you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ever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thought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you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doing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anything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internet,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you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may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sending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electrical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signals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60" noProof="1">
                <a:solidFill>
                  <a:srgbClr val="22373A"/>
                </a:solidFill>
                <a:latin typeface="Arial"/>
                <a:cs typeface="Arial"/>
              </a:rPr>
              <a:t>crossing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ocean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?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0451" y="986413"/>
            <a:ext cx="2399109" cy="1799331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403985" cy="5080"/>
            </a:xfrm>
            <a:custGeom>
              <a:avLst/>
              <a:gdLst/>
              <a:ahLst/>
              <a:cxnLst/>
              <a:rect l="l" t="t" r="r" b="b"/>
              <a:pathLst>
                <a:path w="1403985" h="5080">
                  <a:moveTo>
                    <a:pt x="0" y="5060"/>
                  </a:moveTo>
                  <a:lnTo>
                    <a:pt x="0" y="0"/>
                  </a:lnTo>
                  <a:lnTo>
                    <a:pt x="1403719" y="0"/>
                  </a:lnTo>
                  <a:lnTo>
                    <a:pt x="140371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5" noProof="1"/>
              <a:t>Playing</a:t>
            </a:r>
            <a:r>
              <a:rPr lang="en-US" spc="30" noProof="1"/>
              <a:t> </a:t>
            </a:r>
            <a:r>
              <a:rPr lang="en-US" noProof="1"/>
              <a:t>with</a:t>
            </a:r>
            <a:r>
              <a:rPr lang="en-US" spc="30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spc="-10" noProof="1"/>
              <a:t>internet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28355" y="1090471"/>
            <a:ext cx="264795" cy="146050"/>
            <a:chOff x="1628355" y="1090471"/>
            <a:chExt cx="264795" cy="146050"/>
          </a:xfrm>
        </p:grpSpPr>
        <p:sp>
          <p:nvSpPr>
            <p:cNvPr id="4" name="object 4"/>
            <p:cNvSpPr/>
            <p:nvPr/>
          </p:nvSpPr>
          <p:spPr>
            <a:xfrm>
              <a:off x="1628355" y="1090471"/>
              <a:ext cx="264795" cy="146050"/>
            </a:xfrm>
            <a:custGeom>
              <a:avLst/>
              <a:gdLst/>
              <a:ahLst/>
              <a:cxnLst/>
              <a:rect l="l" t="t" r="r" b="b"/>
              <a:pathLst>
                <a:path w="264794" h="14605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9695"/>
                  </a:lnTo>
                  <a:lnTo>
                    <a:pt x="2829" y="123708"/>
                  </a:lnTo>
                  <a:lnTo>
                    <a:pt x="10544" y="135151"/>
                  </a:lnTo>
                  <a:lnTo>
                    <a:pt x="21987" y="142866"/>
                  </a:lnTo>
                  <a:lnTo>
                    <a:pt x="36000" y="145695"/>
                  </a:lnTo>
                  <a:lnTo>
                    <a:pt x="228441" y="145695"/>
                  </a:lnTo>
                  <a:lnTo>
                    <a:pt x="242454" y="142866"/>
                  </a:lnTo>
                  <a:lnTo>
                    <a:pt x="253897" y="135151"/>
                  </a:lnTo>
                  <a:lnTo>
                    <a:pt x="261612" y="123708"/>
                  </a:lnTo>
                  <a:lnTo>
                    <a:pt x="264441" y="109695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628355" y="1090471"/>
              <a:ext cx="264795" cy="146050"/>
            </a:xfrm>
            <a:custGeom>
              <a:avLst/>
              <a:gdLst/>
              <a:ahLst/>
              <a:cxnLst/>
              <a:rect l="l" t="t" r="r" b="b"/>
              <a:pathLst>
                <a:path w="264794" h="14605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9695"/>
                  </a:lnTo>
                  <a:lnTo>
                    <a:pt x="2829" y="123708"/>
                  </a:lnTo>
                  <a:lnTo>
                    <a:pt x="10544" y="135151"/>
                  </a:lnTo>
                  <a:lnTo>
                    <a:pt x="21987" y="142866"/>
                  </a:lnTo>
                  <a:lnTo>
                    <a:pt x="36000" y="145695"/>
                  </a:lnTo>
                  <a:lnTo>
                    <a:pt x="228441" y="145695"/>
                  </a:lnTo>
                  <a:lnTo>
                    <a:pt x="242454" y="142866"/>
                  </a:lnTo>
                  <a:lnTo>
                    <a:pt x="253897" y="135151"/>
                  </a:lnTo>
                  <a:lnTo>
                    <a:pt x="261612" y="123708"/>
                  </a:lnTo>
                  <a:lnTo>
                    <a:pt x="264441" y="109695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72646" y="1461625"/>
            <a:ext cx="5015230" cy="311785"/>
            <a:chOff x="372646" y="1461625"/>
            <a:chExt cx="5015230" cy="311785"/>
          </a:xfrm>
        </p:grpSpPr>
        <p:sp>
          <p:nvSpPr>
            <p:cNvPr id="7" name="object 7"/>
            <p:cNvSpPr/>
            <p:nvPr/>
          </p:nvSpPr>
          <p:spPr>
            <a:xfrm>
              <a:off x="377994" y="1466972"/>
              <a:ext cx="5004435" cy="300990"/>
            </a:xfrm>
            <a:custGeom>
              <a:avLst/>
              <a:gdLst/>
              <a:ahLst/>
              <a:cxnLst/>
              <a:rect l="l" t="t" r="r" b="b"/>
              <a:pathLst>
                <a:path w="5004435" h="300989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64926"/>
                  </a:lnTo>
                  <a:lnTo>
                    <a:pt x="2829" y="278939"/>
                  </a:lnTo>
                  <a:lnTo>
                    <a:pt x="10544" y="290382"/>
                  </a:lnTo>
                  <a:lnTo>
                    <a:pt x="21987" y="298097"/>
                  </a:lnTo>
                  <a:lnTo>
                    <a:pt x="36000" y="300927"/>
                  </a:lnTo>
                  <a:lnTo>
                    <a:pt x="4968064" y="300927"/>
                  </a:lnTo>
                  <a:lnTo>
                    <a:pt x="4982077" y="298097"/>
                  </a:lnTo>
                  <a:lnTo>
                    <a:pt x="4993521" y="290382"/>
                  </a:lnTo>
                  <a:lnTo>
                    <a:pt x="5001236" y="278939"/>
                  </a:lnTo>
                  <a:lnTo>
                    <a:pt x="5004065" y="264926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378973" y="1467951"/>
              <a:ext cx="5002530" cy="299085"/>
            </a:xfrm>
            <a:custGeom>
              <a:avLst/>
              <a:gdLst/>
              <a:ahLst/>
              <a:cxnLst/>
              <a:rect l="l" t="t" r="r" b="b"/>
              <a:pathLst>
                <a:path w="5002530" h="299085">
                  <a:moveTo>
                    <a:pt x="0" y="263947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63947"/>
                  </a:lnTo>
                  <a:lnTo>
                    <a:pt x="4999354" y="277579"/>
                  </a:lnTo>
                  <a:lnTo>
                    <a:pt x="4991849" y="288711"/>
                  </a:lnTo>
                  <a:lnTo>
                    <a:pt x="4980717" y="296216"/>
                  </a:lnTo>
                  <a:lnTo>
                    <a:pt x="4967085" y="298968"/>
                  </a:lnTo>
                  <a:lnTo>
                    <a:pt x="35021" y="298968"/>
                  </a:lnTo>
                  <a:lnTo>
                    <a:pt x="21389" y="296216"/>
                  </a:lnTo>
                  <a:lnTo>
                    <a:pt x="10257" y="288711"/>
                  </a:lnTo>
                  <a:lnTo>
                    <a:pt x="2752" y="277579"/>
                  </a:lnTo>
                  <a:lnTo>
                    <a:pt x="0" y="263947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1718" y="876303"/>
            <a:ext cx="5026025" cy="1609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 marR="80645" indent="-5715">
              <a:lnSpc>
                <a:spcPct val="116199"/>
              </a:lnSpc>
              <a:spcBef>
                <a:spcPts val="100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do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 quick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experiment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know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far 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electrical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signals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travel to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reach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given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location.</a:t>
            </a:r>
            <a:r>
              <a:rPr lang="en-US" sz="900" spc="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ping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measure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takes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signal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our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computer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 a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given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location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back.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  <a:spcBef>
                <a:spcPts val="5"/>
              </a:spcBef>
            </a:pPr>
            <a:r>
              <a:rPr lang="en-US" sz="800" spc="-55" noProof="1">
                <a:solidFill>
                  <a:srgbClr val="05287C"/>
                </a:solidFill>
                <a:latin typeface="Courier New"/>
                <a:cs typeface="Courier New"/>
              </a:rPr>
              <a:t>$ ping</a:t>
            </a:r>
            <a:r>
              <a:rPr lang="en-US" sz="800" spc="-50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google.es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7780" marR="5080" indent="-4445">
              <a:lnSpc>
                <a:spcPct val="116199"/>
              </a:lnSpc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above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send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signal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google.es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measure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takes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signal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go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come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back.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takes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called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round-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trip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measured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milliseconds.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round-trip time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good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indicator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far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location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computer.</a:t>
            </a:r>
            <a:r>
              <a:rPr lang="en-US" sz="900" spc="8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bigger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round-trip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time,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farther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location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is.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1452245" cy="5080"/>
            </a:xfrm>
            <a:custGeom>
              <a:avLst/>
              <a:gdLst/>
              <a:ahLst/>
              <a:cxnLst/>
              <a:rect l="l" t="t" r="r" b="b"/>
              <a:pathLst>
                <a:path w="1452245" h="5080">
                  <a:moveTo>
                    <a:pt x="0" y="5060"/>
                  </a:moveTo>
                  <a:lnTo>
                    <a:pt x="0" y="0"/>
                  </a:lnTo>
                  <a:lnTo>
                    <a:pt x="1452147" y="0"/>
                  </a:lnTo>
                  <a:lnTo>
                    <a:pt x="145214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5" noProof="1"/>
              <a:t>Playing</a:t>
            </a:r>
            <a:r>
              <a:rPr lang="en-US" spc="30" noProof="1"/>
              <a:t> </a:t>
            </a:r>
            <a:r>
              <a:rPr lang="en-US" noProof="1"/>
              <a:t>with</a:t>
            </a:r>
            <a:r>
              <a:rPr lang="en-US" spc="30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spc="-10" noProof="1"/>
              <a:t>internet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614521"/>
            <a:ext cx="5015230" cy="706120"/>
            <a:chOff x="372646" y="1614521"/>
            <a:chExt cx="5015230" cy="706120"/>
          </a:xfrm>
        </p:grpSpPr>
        <p:sp>
          <p:nvSpPr>
            <p:cNvPr id="4" name="object 4"/>
            <p:cNvSpPr/>
            <p:nvPr/>
          </p:nvSpPr>
          <p:spPr>
            <a:xfrm>
              <a:off x="377994" y="1619868"/>
              <a:ext cx="5004435" cy="695325"/>
            </a:xfrm>
            <a:custGeom>
              <a:avLst/>
              <a:gdLst/>
              <a:ahLst/>
              <a:cxnLst/>
              <a:rect l="l" t="t" r="r" b="b"/>
              <a:pathLst>
                <a:path w="5004435" h="695325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8904"/>
                  </a:lnTo>
                  <a:lnTo>
                    <a:pt x="2829" y="672917"/>
                  </a:lnTo>
                  <a:lnTo>
                    <a:pt x="10544" y="684361"/>
                  </a:lnTo>
                  <a:lnTo>
                    <a:pt x="21987" y="692076"/>
                  </a:lnTo>
                  <a:lnTo>
                    <a:pt x="36000" y="694905"/>
                  </a:lnTo>
                  <a:lnTo>
                    <a:pt x="4968064" y="694905"/>
                  </a:lnTo>
                  <a:lnTo>
                    <a:pt x="4982077" y="692076"/>
                  </a:lnTo>
                  <a:lnTo>
                    <a:pt x="4993521" y="684361"/>
                  </a:lnTo>
                  <a:lnTo>
                    <a:pt x="5001236" y="672917"/>
                  </a:lnTo>
                  <a:lnTo>
                    <a:pt x="5004065" y="658904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620848"/>
              <a:ext cx="5002530" cy="693420"/>
            </a:xfrm>
            <a:custGeom>
              <a:avLst/>
              <a:gdLst/>
              <a:ahLst/>
              <a:cxnLst/>
              <a:rect l="l" t="t" r="r" b="b"/>
              <a:pathLst>
                <a:path w="5002530" h="693419">
                  <a:moveTo>
                    <a:pt x="0" y="657925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657925"/>
                  </a:lnTo>
                  <a:lnTo>
                    <a:pt x="4999354" y="671557"/>
                  </a:lnTo>
                  <a:lnTo>
                    <a:pt x="4991849" y="682689"/>
                  </a:lnTo>
                  <a:lnTo>
                    <a:pt x="4980717" y="690194"/>
                  </a:lnTo>
                  <a:lnTo>
                    <a:pt x="4967085" y="692946"/>
                  </a:lnTo>
                  <a:lnTo>
                    <a:pt x="35021" y="692946"/>
                  </a:lnTo>
                  <a:lnTo>
                    <a:pt x="21389" y="690194"/>
                  </a:lnTo>
                  <a:lnTo>
                    <a:pt x="10257" y="682689"/>
                  </a:lnTo>
                  <a:lnTo>
                    <a:pt x="2752" y="671557"/>
                  </a:lnTo>
                  <a:lnTo>
                    <a:pt x="0" y="657925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3319" y="1029224"/>
            <a:ext cx="5053965" cy="1202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95" noProof="1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much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time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does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take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reach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parts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world,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domain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names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know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located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different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countries.</a:t>
            </a:r>
            <a:r>
              <a:rPr lang="en-US" sz="900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example,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 domains: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</a:pPr>
            <a:r>
              <a:rPr lang="en-US" sz="800" spc="-55" noProof="1">
                <a:solidFill>
                  <a:srgbClr val="05287C"/>
                </a:solidFill>
                <a:latin typeface="Courier New"/>
                <a:cs typeface="Courier New"/>
              </a:rPr>
              <a:t>$ ping</a:t>
            </a:r>
            <a:r>
              <a:rPr lang="en-US" sz="800" spc="-45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es.pool.ntp.org</a:t>
            </a:r>
            <a:r>
              <a:rPr lang="en-US" sz="800" spc="-40" noProof="1"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lang="en-US" sz="800" i="1" spc="-4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10" noProof="1">
                <a:solidFill>
                  <a:srgbClr val="60A0AF"/>
                </a:solidFill>
                <a:latin typeface="Courier New"/>
                <a:cs typeface="Courier New"/>
              </a:rPr>
              <a:t>Spain</a:t>
            </a:r>
            <a:endParaRPr lang="en-US" sz="800" noProof="1">
              <a:latin typeface="Courier New"/>
              <a:cs typeface="Courier New"/>
            </a:endParaRPr>
          </a:p>
          <a:p>
            <a:pPr marL="214629">
              <a:lnSpc>
                <a:spcPct val="100000"/>
              </a:lnSpc>
              <a:spcBef>
                <a:spcPts val="75"/>
              </a:spcBef>
            </a:pPr>
            <a:r>
              <a:rPr lang="en-US" sz="800" spc="-55" noProof="1">
                <a:solidFill>
                  <a:srgbClr val="05287C"/>
                </a:solidFill>
                <a:latin typeface="Courier New"/>
                <a:cs typeface="Courier New"/>
              </a:rPr>
              <a:t>$ ping</a:t>
            </a:r>
            <a:r>
              <a:rPr lang="en-US" sz="800" spc="-35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us.pool.ntp.org</a:t>
            </a:r>
            <a:r>
              <a:rPr lang="en-US" sz="800" spc="-35" noProof="1"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lang="en-US" sz="800" i="1" spc="-40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65" noProof="1">
                <a:solidFill>
                  <a:srgbClr val="60A0AF"/>
                </a:solidFill>
                <a:latin typeface="Courier New"/>
                <a:cs typeface="Courier New"/>
              </a:rPr>
              <a:t>United</a:t>
            </a:r>
            <a:r>
              <a:rPr lang="en-US" sz="800" i="1" spc="-40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10" noProof="1">
                <a:solidFill>
                  <a:srgbClr val="60A0AF"/>
                </a:solidFill>
                <a:latin typeface="Courier New"/>
                <a:cs typeface="Courier New"/>
              </a:rPr>
              <a:t>States</a:t>
            </a:r>
            <a:endParaRPr lang="en-US" sz="800" noProof="1">
              <a:latin typeface="Courier New"/>
              <a:cs typeface="Courier New"/>
            </a:endParaRPr>
          </a:p>
          <a:p>
            <a:pPr marL="214629">
              <a:lnSpc>
                <a:spcPct val="100000"/>
              </a:lnSpc>
              <a:spcBef>
                <a:spcPts val="70"/>
              </a:spcBef>
            </a:pPr>
            <a:r>
              <a:rPr lang="en-US" sz="800" spc="-55" noProof="1">
                <a:solidFill>
                  <a:srgbClr val="05287C"/>
                </a:solidFill>
                <a:latin typeface="Courier New"/>
                <a:cs typeface="Courier New"/>
              </a:rPr>
              <a:t>$ ping</a:t>
            </a:r>
            <a:r>
              <a:rPr lang="en-US" sz="800" spc="-45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ru.pool.ntp.org</a:t>
            </a:r>
            <a:r>
              <a:rPr lang="en-US" sz="800" spc="-40" noProof="1"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lang="en-US" sz="800" i="1" spc="-4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10" noProof="1">
                <a:solidFill>
                  <a:srgbClr val="60A0AF"/>
                </a:solidFill>
                <a:latin typeface="Courier New"/>
                <a:cs typeface="Courier New"/>
              </a:rPr>
              <a:t>Russia</a:t>
            </a:r>
            <a:endParaRPr lang="en-US" sz="800" noProof="1">
              <a:latin typeface="Courier New"/>
              <a:cs typeface="Courier New"/>
            </a:endParaRPr>
          </a:p>
          <a:p>
            <a:pPr marL="214629">
              <a:lnSpc>
                <a:spcPct val="100000"/>
              </a:lnSpc>
              <a:spcBef>
                <a:spcPts val="70"/>
              </a:spcBef>
            </a:pPr>
            <a:r>
              <a:rPr lang="en-US" sz="800" spc="-55" noProof="1">
                <a:solidFill>
                  <a:srgbClr val="05287C"/>
                </a:solidFill>
                <a:latin typeface="Courier New"/>
                <a:cs typeface="Courier New"/>
              </a:rPr>
              <a:t>$ ping</a:t>
            </a:r>
            <a:r>
              <a:rPr lang="en-US" sz="800" spc="-45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nz.pool.ntp.org</a:t>
            </a:r>
            <a:r>
              <a:rPr lang="en-US" sz="800" spc="-45" noProof="1"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lang="en-US" sz="800" i="1" spc="-50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New</a:t>
            </a:r>
            <a:r>
              <a:rPr lang="en-US" sz="800" i="1" spc="-50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10" noProof="1">
                <a:solidFill>
                  <a:srgbClr val="60A0AF"/>
                </a:solidFill>
                <a:latin typeface="Courier New"/>
                <a:cs typeface="Courier New"/>
              </a:rPr>
              <a:t>Zealand</a:t>
            </a:r>
            <a:endParaRPr lang="en-US" sz="800" noProof="1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1500505" cy="5080"/>
            </a:xfrm>
            <a:custGeom>
              <a:avLst/>
              <a:gdLst/>
              <a:ahLst/>
              <a:cxnLst/>
              <a:rect l="l" t="t" r="r" b="b"/>
              <a:pathLst>
                <a:path w="1500505" h="5080">
                  <a:moveTo>
                    <a:pt x="0" y="5060"/>
                  </a:moveTo>
                  <a:lnTo>
                    <a:pt x="0" y="0"/>
                  </a:lnTo>
                  <a:lnTo>
                    <a:pt x="1500487" y="0"/>
                  </a:lnTo>
                  <a:lnTo>
                    <a:pt x="150048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5" noProof="1"/>
              <a:t>Playing</a:t>
            </a:r>
            <a:r>
              <a:rPr lang="en-US" spc="30" noProof="1"/>
              <a:t> </a:t>
            </a:r>
            <a:r>
              <a:rPr lang="en-US" noProof="1"/>
              <a:t>with</a:t>
            </a:r>
            <a:r>
              <a:rPr lang="en-US" spc="30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spc="-10" noProof="1"/>
              <a:t>internet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308172" y="1090074"/>
            <a:ext cx="443865" cy="114300"/>
            <a:chOff x="3308172" y="1090074"/>
            <a:chExt cx="443865" cy="114300"/>
          </a:xfrm>
        </p:grpSpPr>
        <p:sp>
          <p:nvSpPr>
            <p:cNvPr id="4" name="object 4"/>
            <p:cNvSpPr/>
            <p:nvPr/>
          </p:nvSpPr>
          <p:spPr>
            <a:xfrm>
              <a:off x="3308172" y="1090074"/>
              <a:ext cx="443865" cy="114300"/>
            </a:xfrm>
            <a:custGeom>
              <a:avLst/>
              <a:gdLst/>
              <a:ahLst/>
              <a:cxnLst/>
              <a:rect l="l" t="t" r="r" b="b"/>
              <a:pathLst>
                <a:path w="443864" h="114300">
                  <a:moveTo>
                    <a:pt x="40779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78266"/>
                  </a:lnTo>
                  <a:lnTo>
                    <a:pt x="2829" y="92279"/>
                  </a:lnTo>
                  <a:lnTo>
                    <a:pt x="10544" y="103722"/>
                  </a:lnTo>
                  <a:lnTo>
                    <a:pt x="21987" y="111437"/>
                  </a:lnTo>
                  <a:lnTo>
                    <a:pt x="36000" y="114266"/>
                  </a:lnTo>
                  <a:lnTo>
                    <a:pt x="407793" y="114266"/>
                  </a:lnTo>
                  <a:lnTo>
                    <a:pt x="421806" y="111437"/>
                  </a:lnTo>
                  <a:lnTo>
                    <a:pt x="433249" y="103722"/>
                  </a:lnTo>
                  <a:lnTo>
                    <a:pt x="440964" y="92279"/>
                  </a:lnTo>
                  <a:lnTo>
                    <a:pt x="443793" y="78266"/>
                  </a:lnTo>
                  <a:lnTo>
                    <a:pt x="443793" y="36000"/>
                  </a:lnTo>
                  <a:lnTo>
                    <a:pt x="440964" y="21987"/>
                  </a:lnTo>
                  <a:lnTo>
                    <a:pt x="433249" y="10544"/>
                  </a:lnTo>
                  <a:lnTo>
                    <a:pt x="421806" y="2829"/>
                  </a:lnTo>
                  <a:lnTo>
                    <a:pt x="40779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308172" y="1090074"/>
              <a:ext cx="443865" cy="114300"/>
            </a:xfrm>
            <a:custGeom>
              <a:avLst/>
              <a:gdLst/>
              <a:ahLst/>
              <a:cxnLst/>
              <a:rect l="l" t="t" r="r" b="b"/>
              <a:pathLst>
                <a:path w="443864" h="114300">
                  <a:moveTo>
                    <a:pt x="40779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78266"/>
                  </a:lnTo>
                  <a:lnTo>
                    <a:pt x="2829" y="92279"/>
                  </a:lnTo>
                  <a:lnTo>
                    <a:pt x="10544" y="103722"/>
                  </a:lnTo>
                  <a:lnTo>
                    <a:pt x="21987" y="111437"/>
                  </a:lnTo>
                  <a:lnTo>
                    <a:pt x="36000" y="114266"/>
                  </a:lnTo>
                  <a:lnTo>
                    <a:pt x="407793" y="114266"/>
                  </a:lnTo>
                  <a:lnTo>
                    <a:pt x="421806" y="111437"/>
                  </a:lnTo>
                  <a:lnTo>
                    <a:pt x="433249" y="103722"/>
                  </a:lnTo>
                  <a:lnTo>
                    <a:pt x="440964" y="92279"/>
                  </a:lnTo>
                  <a:lnTo>
                    <a:pt x="443793" y="78266"/>
                  </a:lnTo>
                  <a:lnTo>
                    <a:pt x="443793" y="36000"/>
                  </a:lnTo>
                  <a:lnTo>
                    <a:pt x="440964" y="21987"/>
                  </a:lnTo>
                  <a:lnTo>
                    <a:pt x="433249" y="10544"/>
                  </a:lnTo>
                  <a:lnTo>
                    <a:pt x="421806" y="2829"/>
                  </a:lnTo>
                  <a:lnTo>
                    <a:pt x="40779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492472" y="1089961"/>
            <a:ext cx="623570" cy="114935"/>
            <a:chOff x="4492472" y="1089961"/>
            <a:chExt cx="623570" cy="114935"/>
          </a:xfrm>
        </p:grpSpPr>
        <p:sp>
          <p:nvSpPr>
            <p:cNvPr id="7" name="object 7"/>
            <p:cNvSpPr/>
            <p:nvPr/>
          </p:nvSpPr>
          <p:spPr>
            <a:xfrm>
              <a:off x="4492472" y="1089961"/>
              <a:ext cx="623570" cy="114935"/>
            </a:xfrm>
            <a:custGeom>
              <a:avLst/>
              <a:gdLst/>
              <a:ahLst/>
              <a:cxnLst/>
              <a:rect l="l" t="t" r="r" b="b"/>
              <a:pathLst>
                <a:path w="623570" h="114934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78494"/>
                  </a:lnTo>
                  <a:lnTo>
                    <a:pt x="2829" y="92507"/>
                  </a:lnTo>
                  <a:lnTo>
                    <a:pt x="10544" y="103950"/>
                  </a:lnTo>
                  <a:lnTo>
                    <a:pt x="21987" y="111665"/>
                  </a:lnTo>
                  <a:lnTo>
                    <a:pt x="36000" y="114494"/>
                  </a:lnTo>
                  <a:lnTo>
                    <a:pt x="587145" y="114494"/>
                  </a:lnTo>
                  <a:lnTo>
                    <a:pt x="601158" y="111665"/>
                  </a:lnTo>
                  <a:lnTo>
                    <a:pt x="612602" y="103950"/>
                  </a:lnTo>
                  <a:lnTo>
                    <a:pt x="620317" y="92507"/>
                  </a:lnTo>
                  <a:lnTo>
                    <a:pt x="623146" y="78494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4492472" y="1089961"/>
              <a:ext cx="623570" cy="114935"/>
            </a:xfrm>
            <a:custGeom>
              <a:avLst/>
              <a:gdLst/>
              <a:ahLst/>
              <a:cxnLst/>
              <a:rect l="l" t="t" r="r" b="b"/>
              <a:pathLst>
                <a:path w="623570" h="114934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78494"/>
                  </a:lnTo>
                  <a:lnTo>
                    <a:pt x="2829" y="92507"/>
                  </a:lnTo>
                  <a:lnTo>
                    <a:pt x="10544" y="103950"/>
                  </a:lnTo>
                  <a:lnTo>
                    <a:pt x="21987" y="111665"/>
                  </a:lnTo>
                  <a:lnTo>
                    <a:pt x="36000" y="114494"/>
                  </a:lnTo>
                  <a:lnTo>
                    <a:pt x="587145" y="114494"/>
                  </a:lnTo>
                  <a:lnTo>
                    <a:pt x="601158" y="111665"/>
                  </a:lnTo>
                  <a:lnTo>
                    <a:pt x="612602" y="103950"/>
                  </a:lnTo>
                  <a:lnTo>
                    <a:pt x="620317" y="92507"/>
                  </a:lnTo>
                  <a:lnTo>
                    <a:pt x="623146" y="78494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372646" y="1614521"/>
            <a:ext cx="5015230" cy="706120"/>
            <a:chOff x="372646" y="1614521"/>
            <a:chExt cx="5015230" cy="706120"/>
          </a:xfrm>
        </p:grpSpPr>
        <p:sp>
          <p:nvSpPr>
            <p:cNvPr id="10" name="object 10"/>
            <p:cNvSpPr/>
            <p:nvPr/>
          </p:nvSpPr>
          <p:spPr>
            <a:xfrm>
              <a:off x="377994" y="1619868"/>
              <a:ext cx="5004435" cy="695325"/>
            </a:xfrm>
            <a:custGeom>
              <a:avLst/>
              <a:gdLst/>
              <a:ahLst/>
              <a:cxnLst/>
              <a:rect l="l" t="t" r="r" b="b"/>
              <a:pathLst>
                <a:path w="5004435" h="695325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8904"/>
                  </a:lnTo>
                  <a:lnTo>
                    <a:pt x="2829" y="672917"/>
                  </a:lnTo>
                  <a:lnTo>
                    <a:pt x="10544" y="684361"/>
                  </a:lnTo>
                  <a:lnTo>
                    <a:pt x="21987" y="692076"/>
                  </a:lnTo>
                  <a:lnTo>
                    <a:pt x="36000" y="694905"/>
                  </a:lnTo>
                  <a:lnTo>
                    <a:pt x="4968064" y="694905"/>
                  </a:lnTo>
                  <a:lnTo>
                    <a:pt x="4982077" y="692076"/>
                  </a:lnTo>
                  <a:lnTo>
                    <a:pt x="4993521" y="684361"/>
                  </a:lnTo>
                  <a:lnTo>
                    <a:pt x="5001236" y="672917"/>
                  </a:lnTo>
                  <a:lnTo>
                    <a:pt x="5004065" y="658904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1" name="object 11"/>
            <p:cNvSpPr/>
            <p:nvPr/>
          </p:nvSpPr>
          <p:spPr>
            <a:xfrm>
              <a:off x="378973" y="1620848"/>
              <a:ext cx="5002530" cy="693420"/>
            </a:xfrm>
            <a:custGeom>
              <a:avLst/>
              <a:gdLst/>
              <a:ahLst/>
              <a:cxnLst/>
              <a:rect l="l" t="t" r="r" b="b"/>
              <a:pathLst>
                <a:path w="5002530" h="693419">
                  <a:moveTo>
                    <a:pt x="0" y="657925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657925"/>
                  </a:lnTo>
                  <a:lnTo>
                    <a:pt x="4999354" y="671557"/>
                  </a:lnTo>
                  <a:lnTo>
                    <a:pt x="4991849" y="682689"/>
                  </a:lnTo>
                  <a:lnTo>
                    <a:pt x="4980717" y="690194"/>
                  </a:lnTo>
                  <a:lnTo>
                    <a:pt x="4967085" y="692946"/>
                  </a:lnTo>
                  <a:lnTo>
                    <a:pt x="35021" y="692946"/>
                  </a:lnTo>
                  <a:lnTo>
                    <a:pt x="21389" y="690194"/>
                  </a:lnTo>
                  <a:lnTo>
                    <a:pt x="10257" y="682689"/>
                  </a:lnTo>
                  <a:lnTo>
                    <a:pt x="2752" y="671557"/>
                  </a:lnTo>
                  <a:lnTo>
                    <a:pt x="0" y="657925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92100" y="1040018"/>
            <a:ext cx="5293185" cy="11879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Another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explore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tracert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lang="en-US" sz="900" b="1" spc="1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75" noProof="1">
                <a:latin typeface="Courier New"/>
                <a:cs typeface="Courier New"/>
              </a:rPr>
              <a:t>traceroute</a:t>
            </a:r>
            <a:r>
              <a:rPr lang="en-US" sz="900" b="1" spc="-114" noProof="1">
                <a:latin typeface="Courier New"/>
                <a:cs typeface="Courier New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for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MacOS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Linux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users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).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shows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path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takes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reach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given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location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printing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addresses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routers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goes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through.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3995">
              <a:lnSpc>
                <a:spcPct val="100000"/>
              </a:lnSpc>
            </a:pPr>
            <a:r>
              <a:rPr lang="en-US" sz="800" spc="-60" noProof="1">
                <a:latin typeface="Courier New"/>
                <a:cs typeface="Courier New"/>
              </a:rPr>
              <a:t>$ tracert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es.pool.ntp.org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lang="en-US" sz="800" i="1" spc="-3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20" noProof="1">
                <a:solidFill>
                  <a:srgbClr val="60A0AF"/>
                </a:solidFill>
                <a:latin typeface="Courier New"/>
                <a:cs typeface="Courier New"/>
              </a:rPr>
              <a:t>Spain</a:t>
            </a:r>
            <a:endParaRPr lang="en-US" sz="800" noProof="1">
              <a:latin typeface="Courier New"/>
              <a:cs typeface="Courier New"/>
            </a:endParaRPr>
          </a:p>
          <a:p>
            <a:pPr marL="213995" marR="2656840">
              <a:lnSpc>
                <a:spcPct val="107400"/>
              </a:lnSpc>
            </a:pPr>
            <a:r>
              <a:rPr lang="en-US" sz="800" spc="-60" noProof="1">
                <a:latin typeface="Courier New"/>
                <a:cs typeface="Courier New"/>
              </a:rPr>
              <a:t>$ tracert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us.pool.ntp.org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lang="en-US" sz="800" i="1" spc="-2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65" noProof="1">
                <a:solidFill>
                  <a:srgbClr val="60A0AF"/>
                </a:solidFill>
                <a:latin typeface="Courier New"/>
                <a:cs typeface="Courier New"/>
              </a:rPr>
              <a:t>United</a:t>
            </a:r>
            <a:r>
              <a:rPr lang="en-US" sz="800" i="1" spc="-30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States </a:t>
            </a:r>
          </a:p>
          <a:p>
            <a:pPr marL="213995" marR="2656840">
              <a:lnSpc>
                <a:spcPct val="107400"/>
              </a:lnSpc>
            </a:pPr>
            <a:r>
              <a:rPr lang="en-US" sz="800" spc="-60" noProof="1">
                <a:latin typeface="Courier New"/>
                <a:cs typeface="Courier New"/>
              </a:rPr>
              <a:t>$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tracert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ru.pool.ntp.org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lang="en-US" sz="800" i="1" spc="-3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10" noProof="1">
                <a:solidFill>
                  <a:srgbClr val="60A0AF"/>
                </a:solidFill>
                <a:latin typeface="Courier New"/>
                <a:cs typeface="Courier New"/>
              </a:rPr>
              <a:t>Russia </a:t>
            </a:r>
          </a:p>
          <a:p>
            <a:pPr marL="213995" marR="2656840">
              <a:lnSpc>
                <a:spcPct val="107400"/>
              </a:lnSpc>
            </a:pPr>
            <a:r>
              <a:rPr lang="en-US" sz="800" spc="-60" noProof="1">
                <a:latin typeface="Courier New"/>
                <a:cs typeface="Courier New"/>
              </a:rPr>
              <a:t>$</a:t>
            </a:r>
            <a:r>
              <a:rPr lang="en-US" sz="800" i="1" spc="-10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tracert</a:t>
            </a:r>
            <a:r>
              <a:rPr lang="en-US" sz="800" spc="-35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nz.pool.ntp.org</a:t>
            </a:r>
            <a:r>
              <a:rPr lang="en-US" sz="800" spc="-35" noProof="1"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#</a:t>
            </a:r>
            <a:r>
              <a:rPr lang="en-US" sz="800" i="1" spc="-35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60" noProof="1">
                <a:solidFill>
                  <a:srgbClr val="60A0AF"/>
                </a:solidFill>
                <a:latin typeface="Courier New"/>
                <a:cs typeface="Courier New"/>
              </a:rPr>
              <a:t>New</a:t>
            </a:r>
            <a:r>
              <a:rPr lang="en-US" sz="800" i="1" spc="-40" noProof="1">
                <a:solidFill>
                  <a:srgbClr val="60A0AF"/>
                </a:solidFill>
                <a:latin typeface="Courier New"/>
                <a:cs typeface="Courier New"/>
              </a:rPr>
              <a:t> </a:t>
            </a:r>
            <a:r>
              <a:rPr lang="en-US" sz="800" i="1" spc="-10" noProof="1">
                <a:solidFill>
                  <a:srgbClr val="60A0AF"/>
                </a:solidFill>
                <a:latin typeface="Courier New"/>
                <a:cs typeface="Courier New"/>
              </a:rPr>
              <a:t>Zealand</a:t>
            </a:r>
            <a:endParaRPr lang="en-US" sz="800" noProof="1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4" name="object 14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3234963"/>
              <a:ext cx="1549400" cy="5080"/>
            </a:xfrm>
            <a:custGeom>
              <a:avLst/>
              <a:gdLst/>
              <a:ahLst/>
              <a:cxnLst/>
              <a:rect l="l" t="t" r="r" b="b"/>
              <a:pathLst>
                <a:path w="1549400" h="5080">
                  <a:moveTo>
                    <a:pt x="0" y="5060"/>
                  </a:moveTo>
                  <a:lnTo>
                    <a:pt x="0" y="0"/>
                  </a:lnTo>
                  <a:lnTo>
                    <a:pt x="1548916" y="0"/>
                  </a:lnTo>
                  <a:lnTo>
                    <a:pt x="154891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3784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40" noProof="1"/>
              <a:t>Recap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1718" y="1160491"/>
            <a:ext cx="4833620" cy="1061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 marR="5080" indent="-5715">
              <a:lnSpc>
                <a:spcPct val="116199"/>
              </a:lnSpc>
              <a:spcBef>
                <a:spcPts val="100"/>
              </a:spcBef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We’ve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0" noProof="1">
                <a:solidFill>
                  <a:srgbClr val="22373A"/>
                </a:solidFill>
                <a:latin typeface="Arial"/>
                <a:cs typeface="Arial"/>
              </a:rPr>
              <a:t>seen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collection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connected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each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biggest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networks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world.</a:t>
            </a:r>
            <a:r>
              <a:rPr lang="en-US" sz="900" spc="1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Some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questions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think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about:</a:t>
            </a:r>
            <a:endParaRPr lang="en-US" sz="900" noProof="1">
              <a:latin typeface="Arial"/>
              <a:cs typeface="Arial"/>
            </a:endParaRPr>
          </a:p>
          <a:p>
            <a:pPr marL="245110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511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can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single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made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up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multiple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networks?</a:t>
            </a:r>
            <a:endParaRPr lang="en-US" sz="900" noProof="1">
              <a:latin typeface="Arial"/>
              <a:cs typeface="Arial"/>
            </a:endParaRPr>
          </a:p>
          <a:p>
            <a:pPr marL="245110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511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does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router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choose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give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get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connected?</a:t>
            </a:r>
            <a:endParaRPr lang="en-US" sz="900" noProof="1">
              <a:latin typeface="Arial"/>
              <a:cs typeface="Arial"/>
            </a:endParaRPr>
          </a:p>
          <a:p>
            <a:pPr marL="245745" marR="29209" indent="-147955">
              <a:lnSpc>
                <a:spcPct val="116199"/>
              </a:lnSpc>
              <a:buChar char="•"/>
              <a:tabLst>
                <a:tab pos="24574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does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router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decide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traﬀic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goes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can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talk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other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subnet?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597660" cy="5080"/>
            </a:xfrm>
            <a:custGeom>
              <a:avLst/>
              <a:gdLst/>
              <a:ahLst/>
              <a:cxnLst/>
              <a:rect l="l" t="t" r="r" b="b"/>
              <a:pathLst>
                <a:path w="1597660" h="5080">
                  <a:moveTo>
                    <a:pt x="0" y="5060"/>
                  </a:moveTo>
                  <a:lnTo>
                    <a:pt x="0" y="0"/>
                  </a:lnTo>
                  <a:lnTo>
                    <a:pt x="1597344" y="0"/>
                  </a:lnTo>
                  <a:lnTo>
                    <a:pt x="159734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865"/>
            <a:ext cx="7156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spc="-3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Subnetting</a:t>
            </a:r>
            <a:endParaRPr lang="en-US" sz="1100" noProof="1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755"/>
            <a:ext cx="2505710" cy="5080"/>
            <a:chOff x="1627403" y="1647755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755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755"/>
              <a:ext cx="695325" cy="5080"/>
            </a:xfrm>
            <a:custGeom>
              <a:avLst/>
              <a:gdLst/>
              <a:ahLst/>
              <a:cxnLst/>
              <a:rect l="l" t="t" r="r" b="b"/>
              <a:pathLst>
                <a:path w="695325" h="5080">
                  <a:moveTo>
                    <a:pt x="0" y="5060"/>
                  </a:moveTo>
                  <a:lnTo>
                    <a:pt x="0" y="0"/>
                  </a:lnTo>
                  <a:lnTo>
                    <a:pt x="694735" y="0"/>
                  </a:lnTo>
                  <a:lnTo>
                    <a:pt x="69473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55" noProof="1"/>
              <a:t> </a:t>
            </a:r>
            <a:r>
              <a:rPr lang="en-US" spc="-25" noProof="1"/>
              <a:t>is</a:t>
            </a:r>
            <a:r>
              <a:rPr lang="en-US" spc="55" noProof="1"/>
              <a:t> </a:t>
            </a:r>
            <a:r>
              <a:rPr lang="en-US" noProof="1"/>
              <a:t>a</a:t>
            </a:r>
            <a:r>
              <a:rPr lang="en-US" spc="55" noProof="1"/>
              <a:t> </a:t>
            </a:r>
            <a:r>
              <a:rPr lang="en-US" spc="-45" noProof="1"/>
              <a:t>subnet?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41718" y="555625"/>
            <a:ext cx="5071110" cy="2628822"/>
          </a:xfrm>
          <a:prstGeom prst="rect">
            <a:avLst/>
          </a:prstGeom>
        </p:spPr>
        <p:txBody>
          <a:bodyPr vert="horz" wrap="square" lIns="0" tIns="289839" rIns="0" bIns="0" rtlCol="0">
            <a:spAutoFit/>
          </a:bodyPr>
          <a:lstStyle/>
          <a:p>
            <a:pPr marL="17780" marR="309880" indent="-5715">
              <a:lnSpc>
                <a:spcPct val="116199"/>
              </a:lnSpc>
              <a:spcBef>
                <a:spcPts val="100"/>
              </a:spcBef>
            </a:pPr>
            <a:r>
              <a:rPr lang="en-US" noProof="1"/>
              <a:t>While</a:t>
            </a:r>
            <a:r>
              <a:rPr lang="en-US" spc="5" noProof="1"/>
              <a:t> </a:t>
            </a:r>
            <a:r>
              <a:rPr lang="en-US" spc="-20" noProof="1"/>
              <a:t>explaining</a:t>
            </a:r>
            <a:r>
              <a:rPr lang="en-US" spc="10" noProof="1"/>
              <a:t> </a:t>
            </a:r>
            <a:r>
              <a:rPr lang="en-US" noProof="1"/>
              <a:t>what</a:t>
            </a:r>
            <a:r>
              <a:rPr lang="en-US" spc="5" noProof="1"/>
              <a:t> </a:t>
            </a:r>
            <a:r>
              <a:rPr lang="en-US" noProof="1"/>
              <a:t>is</a:t>
            </a:r>
            <a:r>
              <a:rPr lang="en-US" spc="10" noProof="1"/>
              <a:t> </a:t>
            </a:r>
            <a:r>
              <a:rPr lang="en-US" noProof="1"/>
              <a:t>the</a:t>
            </a:r>
            <a:r>
              <a:rPr lang="en-US" spc="5" noProof="1"/>
              <a:t> </a:t>
            </a:r>
            <a:r>
              <a:rPr lang="en-US" noProof="1"/>
              <a:t>internet,</a:t>
            </a:r>
            <a:r>
              <a:rPr lang="en-US" spc="10" noProof="1"/>
              <a:t> </a:t>
            </a:r>
            <a:r>
              <a:rPr lang="en-US" spc="-40" noProof="1"/>
              <a:t>we</a:t>
            </a:r>
            <a:r>
              <a:rPr lang="en-US" spc="10" noProof="1"/>
              <a:t> </a:t>
            </a:r>
            <a:r>
              <a:rPr lang="en-US" spc="-20" noProof="1"/>
              <a:t>mentioned</a:t>
            </a:r>
            <a:r>
              <a:rPr lang="en-US" spc="5" noProof="1"/>
              <a:t> </a:t>
            </a:r>
            <a:r>
              <a:rPr lang="en-US" noProof="1"/>
              <a:t>that</a:t>
            </a:r>
            <a:r>
              <a:rPr lang="en-US" spc="10" noProof="1"/>
              <a:t> </a:t>
            </a:r>
            <a:r>
              <a:rPr lang="en-US" noProof="1"/>
              <a:t>a</a:t>
            </a:r>
            <a:r>
              <a:rPr lang="en-US" spc="5" noProof="1"/>
              <a:t> </a:t>
            </a:r>
            <a:r>
              <a:rPr lang="en-US" spc="-20" noProof="1"/>
              <a:t>network</a:t>
            </a:r>
            <a:r>
              <a:rPr lang="en-US" spc="10" noProof="1"/>
              <a:t> </a:t>
            </a:r>
            <a:r>
              <a:rPr lang="en-US" spc="-10" noProof="1"/>
              <a:t>can</a:t>
            </a:r>
            <a:r>
              <a:rPr lang="en-US" spc="10" noProof="1"/>
              <a:t> </a:t>
            </a:r>
            <a:r>
              <a:rPr lang="en-US" noProof="1"/>
              <a:t>be</a:t>
            </a:r>
            <a:r>
              <a:rPr lang="en-US" spc="5" noProof="1"/>
              <a:t> </a:t>
            </a:r>
            <a:r>
              <a:rPr lang="en-US" spc="-30" noProof="1"/>
              <a:t>made</a:t>
            </a:r>
            <a:r>
              <a:rPr lang="en-US" spc="10" noProof="1"/>
              <a:t> </a:t>
            </a:r>
            <a:r>
              <a:rPr lang="en-US" noProof="1"/>
              <a:t>up</a:t>
            </a:r>
            <a:r>
              <a:rPr lang="en-US" spc="5" noProof="1"/>
              <a:t> </a:t>
            </a:r>
            <a:r>
              <a:rPr lang="en-US" noProof="1"/>
              <a:t>of</a:t>
            </a:r>
            <a:r>
              <a:rPr lang="en-US" spc="10" noProof="1"/>
              <a:t> </a:t>
            </a:r>
            <a:r>
              <a:rPr lang="en-US" spc="-10" noProof="1"/>
              <a:t>different networks.</a:t>
            </a:r>
          </a:p>
          <a:p>
            <a:pPr marL="13970">
              <a:lnSpc>
                <a:spcPct val="100000"/>
              </a:lnSpc>
              <a:spcBef>
                <a:spcPts val="800"/>
              </a:spcBef>
            </a:pPr>
            <a:r>
              <a:rPr lang="en-US" noProof="1"/>
              <a:t>This</a:t>
            </a:r>
            <a:r>
              <a:rPr lang="en-US" spc="-5" noProof="1"/>
              <a:t> </a:t>
            </a:r>
            <a:r>
              <a:rPr lang="en-US" noProof="1"/>
              <a:t>is</a:t>
            </a:r>
            <a:r>
              <a:rPr lang="en-US" spc="5" noProof="1"/>
              <a:t> </a:t>
            </a:r>
            <a:r>
              <a:rPr lang="en-US" spc="-30" noProof="1"/>
              <a:t>where</a:t>
            </a:r>
            <a:r>
              <a:rPr lang="en-US" spc="5" noProof="1"/>
              <a:t> </a:t>
            </a:r>
            <a:r>
              <a:rPr lang="en-US" b="1" spc="-45" noProof="1">
                <a:latin typeface="Arial"/>
                <a:cs typeface="Arial"/>
              </a:rPr>
              <a:t>subnets</a:t>
            </a:r>
            <a:r>
              <a:rPr lang="en-US" b="1" spc="5" noProof="1">
                <a:latin typeface="Arial"/>
                <a:cs typeface="Arial"/>
              </a:rPr>
              <a:t> </a:t>
            </a:r>
            <a:r>
              <a:rPr lang="en-US" spc="-30" noProof="1"/>
              <a:t>come</a:t>
            </a:r>
            <a:r>
              <a:rPr lang="en-US" spc="5" noProof="1"/>
              <a:t> </a:t>
            </a:r>
            <a:r>
              <a:rPr lang="en-US" noProof="1"/>
              <a:t>into</a:t>
            </a:r>
            <a:r>
              <a:rPr lang="en-US" spc="5" noProof="1"/>
              <a:t> </a:t>
            </a:r>
            <a:r>
              <a:rPr lang="en-US" spc="-20" noProof="1"/>
              <a:t>play.</a:t>
            </a:r>
            <a:r>
              <a:rPr lang="en-US" spc="90" noProof="1"/>
              <a:t> </a:t>
            </a:r>
            <a:r>
              <a:rPr lang="en-US" noProof="1"/>
              <a:t>A</a:t>
            </a:r>
            <a:r>
              <a:rPr lang="en-US" spc="5" noProof="1"/>
              <a:t> </a:t>
            </a:r>
            <a:r>
              <a:rPr lang="en-US" b="1" spc="-35" noProof="1">
                <a:latin typeface="Arial"/>
                <a:cs typeface="Arial"/>
              </a:rPr>
              <a:t>subnet</a:t>
            </a:r>
            <a:r>
              <a:rPr lang="en-US" b="1" spc="5" noProof="1">
                <a:latin typeface="Arial"/>
                <a:cs typeface="Arial"/>
              </a:rPr>
              <a:t> </a:t>
            </a:r>
            <a:r>
              <a:rPr lang="en-US" noProof="1"/>
              <a:t>is</a:t>
            </a:r>
            <a:r>
              <a:rPr lang="en-US" spc="10" noProof="1"/>
              <a:t> </a:t>
            </a:r>
            <a:r>
              <a:rPr lang="en-US" noProof="1"/>
              <a:t>a</a:t>
            </a:r>
            <a:r>
              <a:rPr lang="en-US" spc="5" noProof="1"/>
              <a:t> </a:t>
            </a:r>
            <a:r>
              <a:rPr lang="en-US" spc="-30" noProof="1"/>
              <a:t>way</a:t>
            </a:r>
            <a:r>
              <a:rPr lang="en-US" spc="5" noProof="1"/>
              <a:t> </a:t>
            </a:r>
            <a:r>
              <a:rPr lang="en-US" noProof="1"/>
              <a:t>of</a:t>
            </a:r>
            <a:r>
              <a:rPr lang="en-US" spc="5" noProof="1"/>
              <a:t> </a:t>
            </a:r>
            <a:r>
              <a:rPr lang="en-US" noProof="1"/>
              <a:t>dividing</a:t>
            </a:r>
            <a:r>
              <a:rPr lang="en-US" spc="5" noProof="1"/>
              <a:t> </a:t>
            </a:r>
            <a:r>
              <a:rPr lang="en-US" noProof="1"/>
              <a:t>a</a:t>
            </a:r>
            <a:r>
              <a:rPr lang="en-US" spc="5" noProof="1"/>
              <a:t> </a:t>
            </a:r>
            <a:r>
              <a:rPr lang="en-US" spc="-20" noProof="1"/>
              <a:t>network</a:t>
            </a:r>
            <a:r>
              <a:rPr lang="en-US" spc="5" noProof="1"/>
              <a:t> </a:t>
            </a:r>
            <a:r>
              <a:rPr lang="en-US" noProof="1"/>
              <a:t>into</a:t>
            </a:r>
            <a:r>
              <a:rPr lang="en-US" spc="5" noProof="1"/>
              <a:t> </a:t>
            </a:r>
            <a:r>
              <a:rPr lang="en-US" spc="-25" noProof="1"/>
              <a:t>smaller</a:t>
            </a:r>
            <a:r>
              <a:rPr lang="en-US" spc="10" noProof="1"/>
              <a:t> </a:t>
            </a:r>
            <a:r>
              <a:rPr lang="en-US" spc="-10" noProof="1"/>
              <a:t>networks.</a:t>
            </a:r>
          </a:p>
          <a:p>
            <a:pPr marL="13970">
              <a:lnSpc>
                <a:spcPct val="100000"/>
              </a:lnSpc>
              <a:spcBef>
                <a:spcPts val="800"/>
              </a:spcBef>
            </a:pPr>
            <a:endParaRPr lang="en-US" spc="-10" noProof="1"/>
          </a:p>
          <a:p>
            <a:pPr marL="13970" marR="99060">
              <a:lnSpc>
                <a:spcPct val="116199"/>
              </a:lnSpc>
              <a:spcBef>
                <a:spcPts val="100"/>
              </a:spcBef>
            </a:pPr>
            <a:r>
              <a:rPr lang="en-US" spc="-35" noProof="1"/>
              <a:t>The subnets</a:t>
            </a:r>
            <a:r>
              <a:rPr lang="en-US" spc="5" noProof="1"/>
              <a:t> </a:t>
            </a:r>
            <a:r>
              <a:rPr lang="en-US" spc="-10" noProof="1"/>
              <a:t>allow</a:t>
            </a:r>
            <a:r>
              <a:rPr lang="en-US" spc="5" noProof="1"/>
              <a:t> </a:t>
            </a:r>
            <a:r>
              <a:rPr lang="en-US" spc="-10" noProof="1"/>
              <a:t>us</a:t>
            </a:r>
            <a:r>
              <a:rPr lang="en-US" spc="5" noProof="1"/>
              <a:t> </a:t>
            </a:r>
            <a:r>
              <a:rPr lang="en-US" noProof="1"/>
              <a:t>to</a:t>
            </a:r>
            <a:r>
              <a:rPr lang="en-US" spc="5" noProof="1"/>
              <a:t> </a:t>
            </a:r>
            <a:r>
              <a:rPr lang="en-US" spc="-10" noProof="1"/>
              <a:t>divide</a:t>
            </a:r>
            <a:r>
              <a:rPr lang="en-US" spc="5" noProof="1"/>
              <a:t> </a:t>
            </a:r>
            <a:r>
              <a:rPr lang="en-US" noProof="1"/>
              <a:t>a</a:t>
            </a:r>
            <a:r>
              <a:rPr lang="en-US" spc="5" noProof="1"/>
              <a:t> </a:t>
            </a:r>
            <a:r>
              <a:rPr lang="en-US" spc="-20" noProof="1"/>
              <a:t>network</a:t>
            </a:r>
            <a:r>
              <a:rPr lang="en-US" spc="5" noProof="1"/>
              <a:t> </a:t>
            </a:r>
            <a:r>
              <a:rPr lang="en-US" noProof="1"/>
              <a:t>into</a:t>
            </a:r>
            <a:r>
              <a:rPr lang="en-US" spc="5" noProof="1"/>
              <a:t> </a:t>
            </a:r>
            <a:r>
              <a:rPr lang="en-US" spc="-25" noProof="1"/>
              <a:t>smaller</a:t>
            </a:r>
            <a:r>
              <a:rPr lang="en-US" spc="5" noProof="1"/>
              <a:t> </a:t>
            </a:r>
            <a:r>
              <a:rPr lang="en-US" spc="-30" noProof="1"/>
              <a:t>networks</a:t>
            </a:r>
            <a:r>
              <a:rPr lang="en-US" spc="5" noProof="1"/>
              <a:t> </a:t>
            </a:r>
            <a:r>
              <a:rPr lang="en-US" noProof="1"/>
              <a:t>and</a:t>
            </a:r>
            <a:r>
              <a:rPr lang="en-US" spc="5" noProof="1"/>
              <a:t> </a:t>
            </a:r>
            <a:r>
              <a:rPr lang="en-US" spc="-10" noProof="1"/>
              <a:t>control </a:t>
            </a:r>
            <a:r>
              <a:rPr lang="en-US" noProof="1"/>
              <a:t>which</a:t>
            </a:r>
            <a:r>
              <a:rPr lang="en-US" spc="5" noProof="1"/>
              <a:t> </a:t>
            </a:r>
            <a:r>
              <a:rPr lang="en-US" spc="-20" noProof="1"/>
              <a:t>subnet</a:t>
            </a:r>
            <a:r>
              <a:rPr lang="en-US" spc="5" noProof="1"/>
              <a:t> </a:t>
            </a:r>
            <a:r>
              <a:rPr lang="en-US" spc="-10" noProof="1"/>
              <a:t>can</a:t>
            </a:r>
            <a:r>
              <a:rPr lang="en-US" spc="10" noProof="1"/>
              <a:t> </a:t>
            </a:r>
            <a:r>
              <a:rPr lang="en-US" noProof="1"/>
              <a:t>talk</a:t>
            </a:r>
            <a:r>
              <a:rPr lang="en-US" spc="5" noProof="1"/>
              <a:t> </a:t>
            </a:r>
            <a:r>
              <a:rPr lang="en-US" noProof="1"/>
              <a:t>to</a:t>
            </a:r>
            <a:r>
              <a:rPr lang="en-US" spc="10" noProof="1"/>
              <a:t> </a:t>
            </a:r>
            <a:r>
              <a:rPr lang="en-US" noProof="1"/>
              <a:t>which</a:t>
            </a:r>
            <a:r>
              <a:rPr lang="en-US" spc="5" noProof="1"/>
              <a:t> </a:t>
            </a:r>
            <a:r>
              <a:rPr lang="en-US" noProof="1"/>
              <a:t>other</a:t>
            </a:r>
            <a:r>
              <a:rPr lang="en-US" spc="5" noProof="1"/>
              <a:t> </a:t>
            </a:r>
            <a:r>
              <a:rPr lang="en-US" spc="-10" noProof="1"/>
              <a:t>subnet.</a:t>
            </a:r>
          </a:p>
          <a:p>
            <a:pPr marL="17780" marR="5080">
              <a:lnSpc>
                <a:spcPct val="116199"/>
              </a:lnSpc>
              <a:spcBef>
                <a:spcPts val="625"/>
              </a:spcBef>
            </a:pPr>
            <a:r>
              <a:rPr lang="en-US" noProof="1"/>
              <a:t>In</a:t>
            </a:r>
            <a:r>
              <a:rPr lang="en-US" spc="-5" noProof="1"/>
              <a:t> </a:t>
            </a:r>
            <a:r>
              <a:rPr lang="en-US" noProof="1"/>
              <a:t>the </a:t>
            </a:r>
            <a:r>
              <a:rPr lang="en-US" spc="-65" noProof="1"/>
              <a:t>case</a:t>
            </a:r>
            <a:r>
              <a:rPr lang="en-US" spc="5" noProof="1"/>
              <a:t> </a:t>
            </a:r>
            <a:r>
              <a:rPr lang="en-US" noProof="1"/>
              <a:t>of a </a:t>
            </a:r>
            <a:r>
              <a:rPr lang="en-US" spc="-30" noProof="1"/>
              <a:t>company</a:t>
            </a:r>
            <a:r>
              <a:rPr lang="en-US" spc="5" noProof="1"/>
              <a:t> </a:t>
            </a:r>
            <a:r>
              <a:rPr lang="en-US" spc="-50" noProof="1"/>
              <a:t>we</a:t>
            </a:r>
            <a:r>
              <a:rPr lang="en-US" noProof="1"/>
              <a:t> </a:t>
            </a:r>
            <a:r>
              <a:rPr lang="en-US" spc="-30" noProof="1"/>
              <a:t>may</a:t>
            </a:r>
            <a:r>
              <a:rPr lang="en-US" noProof="1"/>
              <a:t> want the</a:t>
            </a:r>
            <a:r>
              <a:rPr lang="en-US" spc="5" noProof="1"/>
              <a:t> </a:t>
            </a:r>
            <a:r>
              <a:rPr lang="en-US" spc="-20" noProof="1"/>
              <a:t>subnet</a:t>
            </a:r>
            <a:r>
              <a:rPr lang="en-US" noProof="1"/>
              <a:t> of </a:t>
            </a:r>
            <a:r>
              <a:rPr lang="en-US" spc="-65" noProof="1"/>
              <a:t>sales</a:t>
            </a:r>
            <a:r>
              <a:rPr lang="en-US" spc="5" noProof="1"/>
              <a:t> </a:t>
            </a:r>
            <a:r>
              <a:rPr lang="en-US" spc="-20" noProof="1"/>
              <a:t>department</a:t>
            </a:r>
            <a:r>
              <a:rPr lang="en-US" noProof="1"/>
              <a:t> </a:t>
            </a:r>
            <a:r>
              <a:rPr lang="en-US" spc="-10" noProof="1"/>
              <a:t>and</a:t>
            </a:r>
            <a:r>
              <a:rPr lang="en-US" noProof="1"/>
              <a:t> the </a:t>
            </a:r>
            <a:r>
              <a:rPr lang="en-US" spc="-20" noProof="1"/>
              <a:t>subnet</a:t>
            </a:r>
            <a:r>
              <a:rPr lang="en-US" noProof="1"/>
              <a:t> of</a:t>
            </a:r>
            <a:r>
              <a:rPr lang="en-US" spc="5" noProof="1"/>
              <a:t> </a:t>
            </a:r>
            <a:r>
              <a:rPr lang="en-US" noProof="1"/>
              <a:t>the </a:t>
            </a:r>
            <a:r>
              <a:rPr lang="en-US" spc="-10" noProof="1"/>
              <a:t>marketing department</a:t>
            </a:r>
            <a:r>
              <a:rPr lang="en-US" spc="35" noProof="1"/>
              <a:t> </a:t>
            </a:r>
            <a:r>
              <a:rPr lang="en-US" noProof="1"/>
              <a:t>to</a:t>
            </a:r>
            <a:r>
              <a:rPr lang="en-US" spc="40" noProof="1"/>
              <a:t> </a:t>
            </a:r>
            <a:r>
              <a:rPr lang="en-US" noProof="1"/>
              <a:t>be</a:t>
            </a:r>
            <a:r>
              <a:rPr lang="en-US" spc="40" noProof="1"/>
              <a:t> </a:t>
            </a:r>
            <a:r>
              <a:rPr lang="en-US" spc="-20" noProof="1"/>
              <a:t>able</a:t>
            </a:r>
            <a:r>
              <a:rPr lang="en-US" spc="35" noProof="1"/>
              <a:t> </a:t>
            </a:r>
            <a:r>
              <a:rPr lang="en-US" noProof="1"/>
              <a:t>to</a:t>
            </a:r>
            <a:r>
              <a:rPr lang="en-US" spc="40" noProof="1"/>
              <a:t> </a:t>
            </a:r>
            <a:r>
              <a:rPr lang="en-US" noProof="1"/>
              <a:t>talk</a:t>
            </a:r>
            <a:r>
              <a:rPr lang="en-US" spc="40" noProof="1"/>
              <a:t> </a:t>
            </a:r>
            <a:r>
              <a:rPr lang="en-US" noProof="1"/>
              <a:t>to</a:t>
            </a:r>
            <a:r>
              <a:rPr lang="en-US" spc="35" noProof="1"/>
              <a:t> </a:t>
            </a:r>
            <a:r>
              <a:rPr lang="en-US" noProof="1"/>
              <a:t>the</a:t>
            </a:r>
            <a:r>
              <a:rPr lang="en-US" spc="40" noProof="1"/>
              <a:t> </a:t>
            </a:r>
            <a:r>
              <a:rPr lang="en-US" spc="-20" noProof="1"/>
              <a:t>subnet</a:t>
            </a:r>
            <a:r>
              <a:rPr lang="en-US" spc="40" noProof="1"/>
              <a:t> </a:t>
            </a:r>
            <a:r>
              <a:rPr lang="en-US" noProof="1"/>
              <a:t>of</a:t>
            </a:r>
            <a:r>
              <a:rPr lang="en-US" spc="40" noProof="1"/>
              <a:t> </a:t>
            </a:r>
            <a:r>
              <a:rPr lang="en-US" noProof="1"/>
              <a:t>IT</a:t>
            </a:r>
            <a:r>
              <a:rPr lang="en-US" spc="35" noProof="1"/>
              <a:t> </a:t>
            </a:r>
            <a:r>
              <a:rPr lang="en-US" spc="-10" noProof="1"/>
              <a:t>administration,</a:t>
            </a:r>
            <a:r>
              <a:rPr lang="en-US" spc="40" noProof="1"/>
              <a:t> </a:t>
            </a:r>
            <a:r>
              <a:rPr lang="en-US" noProof="1"/>
              <a:t>but</a:t>
            </a:r>
            <a:r>
              <a:rPr lang="en-US" spc="40" noProof="1"/>
              <a:t> </a:t>
            </a:r>
            <a:r>
              <a:rPr lang="en-US" spc="-40" noProof="1"/>
              <a:t>we</a:t>
            </a:r>
            <a:r>
              <a:rPr lang="en-US" spc="35" noProof="1"/>
              <a:t> </a:t>
            </a:r>
            <a:r>
              <a:rPr lang="en-US" noProof="1"/>
              <a:t>don’t</a:t>
            </a:r>
            <a:r>
              <a:rPr lang="en-US" spc="40" noProof="1"/>
              <a:t> </a:t>
            </a:r>
            <a:r>
              <a:rPr lang="en-US" noProof="1"/>
              <a:t>want</a:t>
            </a:r>
            <a:r>
              <a:rPr lang="en-US" spc="40" noProof="1"/>
              <a:t> </a:t>
            </a:r>
            <a:r>
              <a:rPr lang="en-US" noProof="1"/>
              <a:t>the</a:t>
            </a:r>
            <a:r>
              <a:rPr lang="en-US" spc="40" noProof="1"/>
              <a:t> </a:t>
            </a:r>
            <a:r>
              <a:rPr lang="en-US" spc="-20" noProof="1"/>
              <a:t>subnet</a:t>
            </a:r>
            <a:r>
              <a:rPr lang="en-US" spc="35" noProof="1"/>
              <a:t> </a:t>
            </a:r>
            <a:r>
              <a:rPr lang="en-US" spc="-25" noProof="1"/>
              <a:t>of</a:t>
            </a:r>
            <a:r>
              <a:rPr lang="en-US" spc="500" noProof="1"/>
              <a:t> </a:t>
            </a:r>
            <a:r>
              <a:rPr lang="en-US" spc="-55" noProof="1"/>
              <a:t>sales</a:t>
            </a:r>
            <a:r>
              <a:rPr lang="en-US" spc="35" noProof="1"/>
              <a:t> </a:t>
            </a:r>
            <a:r>
              <a:rPr lang="en-US" noProof="1"/>
              <a:t>to</a:t>
            </a:r>
            <a:r>
              <a:rPr lang="en-US" spc="35" noProof="1"/>
              <a:t> </a:t>
            </a:r>
            <a:r>
              <a:rPr lang="en-US" noProof="1"/>
              <a:t>be</a:t>
            </a:r>
            <a:r>
              <a:rPr lang="en-US" spc="35" noProof="1"/>
              <a:t> </a:t>
            </a:r>
            <a:r>
              <a:rPr lang="en-US" spc="-20" noProof="1"/>
              <a:t>able</a:t>
            </a:r>
            <a:r>
              <a:rPr lang="en-US" spc="35" noProof="1"/>
              <a:t> </a:t>
            </a:r>
            <a:r>
              <a:rPr lang="en-US" noProof="1"/>
              <a:t>to</a:t>
            </a:r>
            <a:r>
              <a:rPr lang="en-US" spc="35" noProof="1"/>
              <a:t> </a:t>
            </a:r>
            <a:r>
              <a:rPr lang="en-US" noProof="1"/>
              <a:t>talk</a:t>
            </a:r>
            <a:r>
              <a:rPr lang="en-US" spc="35" noProof="1"/>
              <a:t> </a:t>
            </a:r>
            <a:r>
              <a:rPr lang="en-US" noProof="1"/>
              <a:t>to</a:t>
            </a:r>
            <a:r>
              <a:rPr lang="en-US" spc="35" noProof="1"/>
              <a:t> </a:t>
            </a:r>
            <a:r>
              <a:rPr lang="en-US" noProof="1"/>
              <a:t>the</a:t>
            </a:r>
            <a:r>
              <a:rPr lang="en-US" spc="35" noProof="1"/>
              <a:t> </a:t>
            </a:r>
            <a:r>
              <a:rPr lang="en-US" spc="-20" noProof="1"/>
              <a:t>subnet</a:t>
            </a:r>
            <a:r>
              <a:rPr lang="en-US" spc="35" noProof="1"/>
              <a:t> </a:t>
            </a:r>
            <a:r>
              <a:rPr lang="en-US" noProof="1"/>
              <a:t>of</a:t>
            </a:r>
            <a:r>
              <a:rPr lang="en-US" spc="35" noProof="1"/>
              <a:t> </a:t>
            </a:r>
            <a:r>
              <a:rPr lang="en-US" spc="-10" noProof="1"/>
              <a:t>marketing.</a:t>
            </a:r>
          </a:p>
          <a:p>
            <a:pPr marL="17780" marR="297180" indent="-5715">
              <a:lnSpc>
                <a:spcPct val="116199"/>
              </a:lnSpc>
              <a:spcBef>
                <a:spcPts val="625"/>
              </a:spcBef>
            </a:pPr>
            <a:r>
              <a:rPr lang="en-US" spc="-10" noProof="1"/>
              <a:t>We</a:t>
            </a:r>
            <a:r>
              <a:rPr lang="en-US" spc="15" noProof="1"/>
              <a:t> </a:t>
            </a:r>
            <a:r>
              <a:rPr lang="en-US" spc="-10" noProof="1"/>
              <a:t>could</a:t>
            </a:r>
            <a:r>
              <a:rPr lang="en-US" spc="15" noProof="1"/>
              <a:t> </a:t>
            </a:r>
            <a:r>
              <a:rPr lang="en-US" spc="-25" noProof="1"/>
              <a:t>also</a:t>
            </a:r>
            <a:r>
              <a:rPr lang="en-US" spc="20" noProof="1"/>
              <a:t> </a:t>
            </a:r>
            <a:r>
              <a:rPr lang="en-US" spc="-35" noProof="1"/>
              <a:t>have</a:t>
            </a:r>
            <a:r>
              <a:rPr lang="en-US" spc="15" noProof="1"/>
              <a:t> </a:t>
            </a:r>
            <a:r>
              <a:rPr lang="en-US" noProof="1"/>
              <a:t>a</a:t>
            </a:r>
            <a:r>
              <a:rPr lang="en-US" spc="20" noProof="1"/>
              <a:t> </a:t>
            </a:r>
            <a:r>
              <a:rPr lang="en-US" spc="-20" noProof="1"/>
              <a:t>security</a:t>
            </a:r>
            <a:r>
              <a:rPr lang="en-US" spc="15" noProof="1"/>
              <a:t> </a:t>
            </a:r>
            <a:r>
              <a:rPr lang="en-US" spc="-35" noProof="1"/>
              <a:t>camera</a:t>
            </a:r>
            <a:r>
              <a:rPr lang="en-US" spc="15" noProof="1"/>
              <a:t> </a:t>
            </a:r>
            <a:r>
              <a:rPr lang="en-US" spc="-20" noProof="1"/>
              <a:t>subnet</a:t>
            </a:r>
            <a:r>
              <a:rPr lang="en-US" spc="20" noProof="1"/>
              <a:t> </a:t>
            </a:r>
            <a:r>
              <a:rPr lang="en-US" noProof="1"/>
              <a:t>that</a:t>
            </a:r>
            <a:r>
              <a:rPr lang="en-US" spc="15" noProof="1"/>
              <a:t> </a:t>
            </a:r>
            <a:r>
              <a:rPr lang="en-US" spc="-40" noProof="1"/>
              <a:t>we</a:t>
            </a:r>
            <a:r>
              <a:rPr lang="en-US" spc="20" noProof="1"/>
              <a:t> </a:t>
            </a:r>
            <a:r>
              <a:rPr lang="en-US" noProof="1"/>
              <a:t>don’t</a:t>
            </a:r>
            <a:r>
              <a:rPr lang="en-US" spc="15" noProof="1"/>
              <a:t> </a:t>
            </a:r>
            <a:r>
              <a:rPr lang="en-US" noProof="1"/>
              <a:t>want</a:t>
            </a:r>
            <a:r>
              <a:rPr lang="en-US" spc="15" noProof="1"/>
              <a:t> </a:t>
            </a:r>
            <a:r>
              <a:rPr lang="en-US" noProof="1"/>
              <a:t>to</a:t>
            </a:r>
            <a:r>
              <a:rPr lang="en-US" spc="20" noProof="1"/>
              <a:t> </a:t>
            </a:r>
            <a:r>
              <a:rPr lang="en-US" spc="-20" noProof="1"/>
              <a:t>communicate</a:t>
            </a:r>
            <a:r>
              <a:rPr lang="en-US" spc="15" noProof="1"/>
              <a:t> </a:t>
            </a:r>
            <a:r>
              <a:rPr lang="en-US" noProof="1"/>
              <a:t>with</a:t>
            </a:r>
            <a:r>
              <a:rPr lang="en-US" spc="20" noProof="1"/>
              <a:t> </a:t>
            </a:r>
            <a:r>
              <a:rPr lang="en-US" spc="-10" noProof="1"/>
              <a:t>any</a:t>
            </a:r>
            <a:r>
              <a:rPr lang="en-US" spc="15" noProof="1"/>
              <a:t> </a:t>
            </a:r>
            <a:r>
              <a:rPr lang="en-US" spc="-10" noProof="1"/>
              <a:t>other </a:t>
            </a:r>
            <a:r>
              <a:rPr lang="en-US" spc="-20" noProof="1"/>
              <a:t>subnet</a:t>
            </a:r>
            <a:r>
              <a:rPr lang="en-US" spc="-5" noProof="1"/>
              <a:t> </a:t>
            </a:r>
            <a:r>
              <a:rPr lang="en-US" b="1" spc="-20" noProof="1"/>
              <a:t>nor</a:t>
            </a:r>
            <a:r>
              <a:rPr lang="en-US" b="1" spc="10" noProof="1"/>
              <a:t> </a:t>
            </a:r>
            <a:r>
              <a:rPr lang="en-US" b="1" noProof="1"/>
              <a:t>with</a:t>
            </a:r>
            <a:r>
              <a:rPr lang="en-US" b="1" spc="15" noProof="1"/>
              <a:t> </a:t>
            </a:r>
            <a:r>
              <a:rPr lang="en-US" b="1" noProof="1"/>
              <a:t>the</a:t>
            </a:r>
            <a:r>
              <a:rPr lang="en-US" b="1" spc="10" noProof="1"/>
              <a:t> </a:t>
            </a:r>
            <a:r>
              <a:rPr lang="en-US" b="1" spc="-10" noProof="1"/>
              <a:t>internet</a:t>
            </a:r>
            <a:r>
              <a:rPr lang="en-US" spc="-10" noProof="1"/>
              <a:t>.</a:t>
            </a:r>
          </a:p>
          <a:p>
            <a:pPr marL="13970">
              <a:lnSpc>
                <a:spcPct val="100000"/>
              </a:lnSpc>
              <a:spcBef>
                <a:spcPts val="800"/>
              </a:spcBef>
            </a:pPr>
            <a:endParaRPr lang="en-US" spc="-10" noProof="1"/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1645920" cy="5080"/>
            </a:xfrm>
            <a:custGeom>
              <a:avLst/>
              <a:gdLst/>
              <a:ahLst/>
              <a:cxnLst/>
              <a:rect l="l" t="t" r="r" b="b"/>
              <a:pathLst>
                <a:path w="1645920" h="5080">
                  <a:moveTo>
                    <a:pt x="0" y="5060"/>
                  </a:moveTo>
                  <a:lnTo>
                    <a:pt x="0" y="0"/>
                  </a:lnTo>
                  <a:lnTo>
                    <a:pt x="1645772" y="0"/>
                  </a:lnTo>
                  <a:lnTo>
                    <a:pt x="164577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55" noProof="1"/>
              <a:t> </a:t>
            </a:r>
            <a:r>
              <a:rPr lang="en-US" spc="-25" noProof="1"/>
              <a:t>is</a:t>
            </a:r>
            <a:r>
              <a:rPr lang="en-US" spc="55" noProof="1"/>
              <a:t> </a:t>
            </a:r>
            <a:r>
              <a:rPr lang="en-US" noProof="1"/>
              <a:t>a</a:t>
            </a:r>
            <a:r>
              <a:rPr lang="en-US" spc="55" noProof="1"/>
              <a:t> </a:t>
            </a:r>
            <a:r>
              <a:rPr lang="en-US" spc="-45" noProof="1"/>
              <a:t>subnet?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1216908"/>
            <a:ext cx="2775585" cy="138430"/>
            <a:chOff x="359994" y="1216908"/>
            <a:chExt cx="2775585" cy="138430"/>
          </a:xfrm>
        </p:grpSpPr>
        <p:sp>
          <p:nvSpPr>
            <p:cNvPr id="4" name="object 4"/>
            <p:cNvSpPr/>
            <p:nvPr/>
          </p:nvSpPr>
          <p:spPr>
            <a:xfrm>
              <a:off x="359994" y="1216908"/>
              <a:ext cx="2775585" cy="138430"/>
            </a:xfrm>
            <a:custGeom>
              <a:avLst/>
              <a:gdLst/>
              <a:ahLst/>
              <a:cxnLst/>
              <a:rect l="l" t="t" r="r" b="b"/>
              <a:pathLst>
                <a:path w="2775585" h="138430">
                  <a:moveTo>
                    <a:pt x="273937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1838"/>
                  </a:lnTo>
                  <a:lnTo>
                    <a:pt x="2829" y="115851"/>
                  </a:lnTo>
                  <a:lnTo>
                    <a:pt x="10544" y="127294"/>
                  </a:lnTo>
                  <a:lnTo>
                    <a:pt x="21987" y="135009"/>
                  </a:lnTo>
                  <a:lnTo>
                    <a:pt x="36000" y="137838"/>
                  </a:lnTo>
                  <a:lnTo>
                    <a:pt x="2739373" y="137838"/>
                  </a:lnTo>
                  <a:lnTo>
                    <a:pt x="2753386" y="135009"/>
                  </a:lnTo>
                  <a:lnTo>
                    <a:pt x="2764829" y="127294"/>
                  </a:lnTo>
                  <a:lnTo>
                    <a:pt x="2772544" y="115851"/>
                  </a:lnTo>
                  <a:lnTo>
                    <a:pt x="2775373" y="101838"/>
                  </a:lnTo>
                  <a:lnTo>
                    <a:pt x="2775373" y="36000"/>
                  </a:lnTo>
                  <a:lnTo>
                    <a:pt x="2772544" y="21987"/>
                  </a:lnTo>
                  <a:lnTo>
                    <a:pt x="2764829" y="10544"/>
                  </a:lnTo>
                  <a:lnTo>
                    <a:pt x="2753386" y="2829"/>
                  </a:lnTo>
                  <a:lnTo>
                    <a:pt x="273937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59994" y="1216908"/>
              <a:ext cx="2775585" cy="138430"/>
            </a:xfrm>
            <a:custGeom>
              <a:avLst/>
              <a:gdLst/>
              <a:ahLst/>
              <a:cxnLst/>
              <a:rect l="l" t="t" r="r" b="b"/>
              <a:pathLst>
                <a:path w="2775585" h="138430">
                  <a:moveTo>
                    <a:pt x="273937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1838"/>
                  </a:lnTo>
                  <a:lnTo>
                    <a:pt x="2829" y="115851"/>
                  </a:lnTo>
                  <a:lnTo>
                    <a:pt x="10544" y="127294"/>
                  </a:lnTo>
                  <a:lnTo>
                    <a:pt x="21987" y="135009"/>
                  </a:lnTo>
                  <a:lnTo>
                    <a:pt x="36000" y="137838"/>
                  </a:lnTo>
                  <a:lnTo>
                    <a:pt x="2739373" y="137838"/>
                  </a:lnTo>
                  <a:lnTo>
                    <a:pt x="2753386" y="135009"/>
                  </a:lnTo>
                  <a:lnTo>
                    <a:pt x="2764829" y="127294"/>
                  </a:lnTo>
                  <a:lnTo>
                    <a:pt x="2772544" y="115851"/>
                  </a:lnTo>
                  <a:lnTo>
                    <a:pt x="2775373" y="101838"/>
                  </a:lnTo>
                  <a:lnTo>
                    <a:pt x="2775373" y="36000"/>
                  </a:lnTo>
                  <a:lnTo>
                    <a:pt x="2772544" y="21987"/>
                  </a:lnTo>
                  <a:lnTo>
                    <a:pt x="2764829" y="10544"/>
                  </a:lnTo>
                  <a:lnTo>
                    <a:pt x="2753386" y="2829"/>
                  </a:lnTo>
                  <a:lnTo>
                    <a:pt x="273937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848327" y="1444307"/>
            <a:ext cx="4032250" cy="356235"/>
            <a:chOff x="863993" y="1987027"/>
            <a:chExt cx="4032250" cy="356235"/>
          </a:xfrm>
        </p:grpSpPr>
        <p:sp>
          <p:nvSpPr>
            <p:cNvPr id="7" name="object 7"/>
            <p:cNvSpPr/>
            <p:nvPr/>
          </p:nvSpPr>
          <p:spPr>
            <a:xfrm>
              <a:off x="863993" y="1987027"/>
              <a:ext cx="4032250" cy="356235"/>
            </a:xfrm>
            <a:custGeom>
              <a:avLst/>
              <a:gdLst/>
              <a:ahLst/>
              <a:cxnLst/>
              <a:rect l="l" t="t" r="r" b="b"/>
              <a:pathLst>
                <a:path w="4032250" h="356235">
                  <a:moveTo>
                    <a:pt x="3978067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301741"/>
                  </a:lnTo>
                  <a:lnTo>
                    <a:pt x="4243" y="322760"/>
                  </a:lnTo>
                  <a:lnTo>
                    <a:pt x="15816" y="339925"/>
                  </a:lnTo>
                  <a:lnTo>
                    <a:pt x="32980" y="351497"/>
                  </a:lnTo>
                  <a:lnTo>
                    <a:pt x="54000" y="355741"/>
                  </a:lnTo>
                  <a:lnTo>
                    <a:pt x="3978067" y="355741"/>
                  </a:lnTo>
                  <a:lnTo>
                    <a:pt x="3999086" y="351497"/>
                  </a:lnTo>
                  <a:lnTo>
                    <a:pt x="4016251" y="339925"/>
                  </a:lnTo>
                  <a:lnTo>
                    <a:pt x="4027823" y="322760"/>
                  </a:lnTo>
                  <a:lnTo>
                    <a:pt x="4032067" y="301741"/>
                  </a:lnTo>
                  <a:lnTo>
                    <a:pt x="4032067" y="54000"/>
                  </a:lnTo>
                  <a:lnTo>
                    <a:pt x="4027823" y="32980"/>
                  </a:lnTo>
                  <a:lnTo>
                    <a:pt x="4016251" y="15816"/>
                  </a:lnTo>
                  <a:lnTo>
                    <a:pt x="3999086" y="4243"/>
                  </a:lnTo>
                  <a:lnTo>
                    <a:pt x="3978067" y="0"/>
                  </a:lnTo>
                  <a:close/>
                </a:path>
              </a:pathLst>
            </a:custGeom>
            <a:solidFill>
              <a:srgbClr val="880C58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881993" y="2005027"/>
              <a:ext cx="3996690" cy="320040"/>
            </a:xfrm>
            <a:custGeom>
              <a:avLst/>
              <a:gdLst/>
              <a:ahLst/>
              <a:cxnLst/>
              <a:rect l="l" t="t" r="r" b="b"/>
              <a:pathLst>
                <a:path w="3996690" h="320039">
                  <a:moveTo>
                    <a:pt x="396006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83741"/>
                  </a:lnTo>
                  <a:lnTo>
                    <a:pt x="2829" y="297754"/>
                  </a:lnTo>
                  <a:lnTo>
                    <a:pt x="10544" y="309197"/>
                  </a:lnTo>
                  <a:lnTo>
                    <a:pt x="21987" y="316912"/>
                  </a:lnTo>
                  <a:lnTo>
                    <a:pt x="36000" y="319741"/>
                  </a:lnTo>
                  <a:lnTo>
                    <a:pt x="3960067" y="319741"/>
                  </a:lnTo>
                  <a:lnTo>
                    <a:pt x="3974080" y="316912"/>
                  </a:lnTo>
                  <a:lnTo>
                    <a:pt x="3985523" y="309197"/>
                  </a:lnTo>
                  <a:lnTo>
                    <a:pt x="3993238" y="297754"/>
                  </a:lnTo>
                  <a:lnTo>
                    <a:pt x="3996067" y="283741"/>
                  </a:lnTo>
                  <a:lnTo>
                    <a:pt x="3996067" y="36000"/>
                  </a:lnTo>
                  <a:lnTo>
                    <a:pt x="3993238" y="21987"/>
                  </a:lnTo>
                  <a:lnTo>
                    <a:pt x="3985523" y="10544"/>
                  </a:lnTo>
                  <a:lnTo>
                    <a:pt x="3974080" y="2829"/>
                  </a:lnTo>
                  <a:lnTo>
                    <a:pt x="3960067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7294" y="1005043"/>
            <a:ext cx="5065395" cy="666208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Remember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ranges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mentioned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earlier?</a:t>
            </a:r>
            <a:endParaRPr lang="en-US" sz="900" noProof="1">
              <a:latin typeface="Arial"/>
              <a:cs typeface="Arial"/>
            </a:endParaRPr>
          </a:p>
          <a:p>
            <a:pPr marL="24765">
              <a:lnSpc>
                <a:spcPct val="100000"/>
              </a:lnSpc>
              <a:spcBef>
                <a:spcPts val="175"/>
              </a:spcBef>
            </a:pPr>
            <a:r>
              <a:rPr lang="en-US" sz="900" spc="-70" noProof="1">
                <a:latin typeface="Courier New"/>
                <a:cs typeface="Courier New"/>
              </a:rPr>
              <a:t>10.x.x.x, 172.16.x.x - 172.31.x.x, </a:t>
            </a:r>
            <a:r>
              <a:rPr lang="en-US" sz="900" spc="-10" noProof="1">
                <a:latin typeface="Courier New"/>
                <a:cs typeface="Courier New"/>
              </a:rPr>
              <a:t>192.168.x.x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0"/>
              </a:spcBef>
            </a:pPr>
            <a:endParaRPr lang="en-US" sz="900" noProof="1">
              <a:latin typeface="Arial"/>
              <a:cs typeface="Arial"/>
            </a:endParaRPr>
          </a:p>
          <a:p>
            <a:pPr marL="5080" algn="ctr">
              <a:lnSpc>
                <a:spcPct val="100000"/>
              </a:lnSpc>
            </a:pPr>
            <a:r>
              <a:rPr lang="en-US" sz="900" noProof="1">
                <a:latin typeface="Arial"/>
                <a:cs typeface="Arial"/>
              </a:rPr>
              <a:t>How</a:t>
            </a:r>
            <a:r>
              <a:rPr lang="en-US" sz="900" spc="-15" noProof="1">
                <a:latin typeface="Arial"/>
                <a:cs typeface="Arial"/>
              </a:rPr>
              <a:t> </a:t>
            </a:r>
            <a:r>
              <a:rPr lang="en-US" sz="900" noProof="1">
                <a:latin typeface="Arial"/>
                <a:cs typeface="Arial"/>
              </a:rPr>
              <a:t>do</a:t>
            </a:r>
            <a:r>
              <a:rPr lang="en-US" sz="900" spc="-10" noProof="1">
                <a:latin typeface="Arial"/>
                <a:cs typeface="Arial"/>
              </a:rPr>
              <a:t> </a:t>
            </a:r>
            <a:r>
              <a:rPr lang="en-US" sz="900" spc="-50" noProof="1">
                <a:latin typeface="Arial"/>
                <a:cs typeface="Arial"/>
              </a:rPr>
              <a:t>we</a:t>
            </a:r>
            <a:r>
              <a:rPr lang="en-US" sz="900" spc="-15" noProof="1">
                <a:latin typeface="Arial"/>
                <a:cs typeface="Arial"/>
              </a:rPr>
              <a:t> </a:t>
            </a:r>
            <a:r>
              <a:rPr lang="en-US" sz="900" spc="-25" noProof="1">
                <a:latin typeface="Arial"/>
                <a:cs typeface="Arial"/>
              </a:rPr>
              <a:t>define</a:t>
            </a:r>
            <a:r>
              <a:rPr lang="en-US" sz="900" spc="-10" noProof="1">
                <a:latin typeface="Arial"/>
                <a:cs typeface="Arial"/>
              </a:rPr>
              <a:t> </a:t>
            </a:r>
            <a:r>
              <a:rPr lang="en-US" sz="900" spc="-50" noProof="1">
                <a:latin typeface="Arial"/>
                <a:cs typeface="Arial"/>
              </a:rPr>
              <a:t>address</a:t>
            </a:r>
            <a:r>
              <a:rPr lang="en-US" sz="900" spc="-10" noProof="1">
                <a:latin typeface="Arial"/>
                <a:cs typeface="Arial"/>
              </a:rPr>
              <a:t> </a:t>
            </a:r>
            <a:r>
              <a:rPr lang="en-US" sz="900" spc="-40" noProof="1">
                <a:latin typeface="Arial"/>
                <a:cs typeface="Arial"/>
              </a:rPr>
              <a:t>ranges</a:t>
            </a:r>
            <a:r>
              <a:rPr lang="en-US" sz="900" spc="-15" noProof="1">
                <a:latin typeface="Arial"/>
                <a:cs typeface="Arial"/>
              </a:rPr>
              <a:t> </a:t>
            </a:r>
            <a:r>
              <a:rPr lang="en-US" sz="900" noProof="1">
                <a:latin typeface="Arial"/>
                <a:cs typeface="Arial"/>
              </a:rPr>
              <a:t>for</a:t>
            </a:r>
            <a:r>
              <a:rPr lang="en-US" sz="900" spc="-10" noProof="1">
                <a:latin typeface="Arial"/>
                <a:cs typeface="Arial"/>
              </a:rPr>
              <a:t> subnets?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1743075" cy="5080"/>
            </a:xfrm>
            <a:custGeom>
              <a:avLst/>
              <a:gdLst/>
              <a:ahLst/>
              <a:cxnLst/>
              <a:rect l="l" t="t" r="r" b="b"/>
              <a:pathLst>
                <a:path w="1743075" h="5080">
                  <a:moveTo>
                    <a:pt x="0" y="5060"/>
                  </a:moveTo>
                  <a:lnTo>
                    <a:pt x="0" y="0"/>
                  </a:lnTo>
                  <a:lnTo>
                    <a:pt x="1742541" y="0"/>
                  </a:lnTo>
                  <a:lnTo>
                    <a:pt x="174254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14" name="object 13">
            <a:extLst>
              <a:ext uri="{FF2B5EF4-FFF2-40B4-BE49-F238E27FC236}">
                <a16:creationId xmlns:a16="http://schemas.microsoft.com/office/drawing/2014/main" id="{3463E815-16FA-9EAD-09AD-1B85FDC939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2100" y="1216908"/>
            <a:ext cx="5071110" cy="1979930"/>
          </a:xfrm>
          <a:prstGeom prst="rect">
            <a:avLst/>
          </a:prstGeom>
        </p:spPr>
        <p:txBody>
          <a:bodyPr vert="horz" wrap="square" lIns="0" tIns="70885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275"/>
              </a:spcBef>
            </a:pPr>
            <a:r>
              <a:rPr lang="en-US" spc="-20" noProof="1"/>
              <a:t>You</a:t>
            </a:r>
            <a:r>
              <a:rPr lang="en-US" spc="5" noProof="1"/>
              <a:t> </a:t>
            </a:r>
            <a:r>
              <a:rPr lang="en-US" spc="-20" noProof="1"/>
              <a:t>may</a:t>
            </a:r>
            <a:r>
              <a:rPr lang="en-US" spc="10" noProof="1"/>
              <a:t> </a:t>
            </a:r>
            <a:r>
              <a:rPr lang="en-US" spc="-35" noProof="1"/>
              <a:t>have</a:t>
            </a:r>
            <a:r>
              <a:rPr lang="en-US" spc="5" noProof="1"/>
              <a:t> </a:t>
            </a:r>
            <a:r>
              <a:rPr lang="en-US" spc="-10" noProof="1"/>
              <a:t>noticed</a:t>
            </a:r>
            <a:r>
              <a:rPr lang="en-US" spc="10" noProof="1"/>
              <a:t> </a:t>
            </a:r>
            <a:r>
              <a:rPr lang="en-US" noProof="1"/>
              <a:t>that</a:t>
            </a:r>
            <a:r>
              <a:rPr lang="en-US" spc="5" noProof="1"/>
              <a:t> </a:t>
            </a:r>
            <a:r>
              <a:rPr lang="en-US" noProof="1"/>
              <a:t>IP</a:t>
            </a:r>
            <a:r>
              <a:rPr lang="en-US" spc="10" noProof="1"/>
              <a:t> </a:t>
            </a:r>
            <a:r>
              <a:rPr lang="en-US" spc="-60" noProof="1"/>
              <a:t>addresses</a:t>
            </a:r>
            <a:r>
              <a:rPr lang="en-US" spc="5" noProof="1"/>
              <a:t> </a:t>
            </a:r>
            <a:r>
              <a:rPr lang="en-US" noProof="1"/>
              <a:t>often</a:t>
            </a:r>
            <a:r>
              <a:rPr lang="en-US" spc="10" noProof="1"/>
              <a:t> </a:t>
            </a:r>
            <a:r>
              <a:rPr lang="en-US" spc="-30" noProof="1"/>
              <a:t>come</a:t>
            </a:r>
            <a:r>
              <a:rPr lang="en-US" spc="10" noProof="1"/>
              <a:t> </a:t>
            </a:r>
            <a:r>
              <a:rPr lang="en-US" noProof="1"/>
              <a:t>with</a:t>
            </a:r>
            <a:r>
              <a:rPr lang="en-US" spc="5" noProof="1"/>
              <a:t> </a:t>
            </a:r>
            <a:r>
              <a:rPr lang="en-US" noProof="1"/>
              <a:t>a</a:t>
            </a:r>
            <a:r>
              <a:rPr lang="en-US" spc="10" noProof="1"/>
              <a:t> </a:t>
            </a:r>
            <a:r>
              <a:rPr lang="en-US" noProof="1"/>
              <a:t>trailing</a:t>
            </a:r>
            <a:r>
              <a:rPr lang="en-US" spc="5" noProof="1"/>
              <a:t> </a:t>
            </a:r>
            <a:r>
              <a:rPr lang="en-US" spc="-40" noProof="1"/>
              <a:t>slash</a:t>
            </a:r>
            <a:r>
              <a:rPr lang="en-US" spc="10" noProof="1"/>
              <a:t> </a:t>
            </a:r>
            <a:r>
              <a:rPr lang="en-US" noProof="1"/>
              <a:t>and</a:t>
            </a:r>
            <a:r>
              <a:rPr lang="en-US" spc="5" noProof="1"/>
              <a:t> </a:t>
            </a:r>
            <a:r>
              <a:rPr lang="en-US" noProof="1"/>
              <a:t>a</a:t>
            </a:r>
            <a:r>
              <a:rPr lang="en-US" spc="10" noProof="1"/>
              <a:t> </a:t>
            </a:r>
            <a:r>
              <a:rPr lang="en-US" noProof="1"/>
              <a:t>number.</a:t>
            </a:r>
            <a:r>
              <a:rPr lang="en-US" spc="90" noProof="1"/>
              <a:t> </a:t>
            </a:r>
            <a:r>
              <a:rPr lang="en-US" spc="-10" noProof="1"/>
              <a:t>For</a:t>
            </a:r>
            <a:r>
              <a:rPr lang="en-US" spc="10" noProof="1"/>
              <a:t> </a:t>
            </a:r>
            <a:r>
              <a:rPr lang="en-US" spc="-10" noProof="1"/>
              <a:t>example,</a:t>
            </a:r>
          </a:p>
          <a:p>
            <a:pPr marL="30480">
              <a:lnSpc>
                <a:spcPct val="100000"/>
              </a:lnSpc>
              <a:spcBef>
                <a:spcPts val="175"/>
              </a:spcBef>
            </a:pPr>
            <a:r>
              <a:rPr lang="en-US" spc="-75" noProof="1">
                <a:solidFill>
                  <a:srgbClr val="000000"/>
                </a:solidFill>
                <a:latin typeface="Courier New"/>
                <a:cs typeface="Courier New"/>
              </a:rPr>
              <a:t>192.168.1.0/24</a:t>
            </a:r>
            <a:r>
              <a:rPr lang="en-US" spc="-375" noProof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pc="-50" noProof="1"/>
              <a:t>.</a:t>
            </a:r>
          </a:p>
          <a:p>
            <a:pPr marL="17780" marR="5080" indent="-4445">
              <a:lnSpc>
                <a:spcPct val="116199"/>
              </a:lnSpc>
              <a:spcBef>
                <a:spcPts val="625"/>
              </a:spcBef>
            </a:pPr>
            <a:r>
              <a:rPr lang="en-US" noProof="1"/>
              <a:t>This</a:t>
            </a:r>
            <a:r>
              <a:rPr lang="en-US" spc="75" noProof="1"/>
              <a:t> </a:t>
            </a:r>
            <a:r>
              <a:rPr lang="en-US" spc="-75" noProof="1">
                <a:solidFill>
                  <a:srgbClr val="000000"/>
                </a:solidFill>
                <a:latin typeface="Courier New"/>
                <a:cs typeface="Courier New"/>
              </a:rPr>
              <a:t>/24</a:t>
            </a:r>
            <a:r>
              <a:rPr lang="en-US" spc="-135" noProof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noProof="1"/>
              <a:t>is</a:t>
            </a:r>
            <a:r>
              <a:rPr lang="en-US" spc="25" noProof="1"/>
              <a:t> </a:t>
            </a:r>
            <a:r>
              <a:rPr lang="en-US" spc="-20" noProof="1"/>
              <a:t>called</a:t>
            </a:r>
            <a:r>
              <a:rPr lang="en-US" spc="25" noProof="1"/>
              <a:t> </a:t>
            </a:r>
            <a:r>
              <a:rPr lang="en-US" noProof="1"/>
              <a:t>the</a:t>
            </a:r>
            <a:r>
              <a:rPr lang="en-US" spc="25" noProof="1"/>
              <a:t> </a:t>
            </a:r>
            <a:r>
              <a:rPr lang="en-US" b="1" spc="-35" noProof="1">
                <a:latin typeface="Arial"/>
                <a:cs typeface="Arial"/>
              </a:rPr>
              <a:t>subnet</a:t>
            </a:r>
            <a:r>
              <a:rPr lang="en-US" b="1" spc="45" noProof="1">
                <a:latin typeface="Arial"/>
                <a:cs typeface="Arial"/>
              </a:rPr>
              <a:t> </a:t>
            </a:r>
            <a:r>
              <a:rPr lang="en-US" b="1" spc="-35" noProof="1">
                <a:latin typeface="Arial"/>
                <a:cs typeface="Arial"/>
              </a:rPr>
              <a:t>mask</a:t>
            </a:r>
            <a:r>
              <a:rPr lang="en-US" b="1" spc="25" noProof="1">
                <a:latin typeface="Arial"/>
                <a:cs typeface="Arial"/>
              </a:rPr>
              <a:t> </a:t>
            </a:r>
            <a:r>
              <a:rPr lang="en-US" noProof="1"/>
              <a:t>and</a:t>
            </a:r>
            <a:r>
              <a:rPr lang="en-US" spc="25" noProof="1"/>
              <a:t> </a:t>
            </a:r>
            <a:r>
              <a:rPr lang="en-US" noProof="1"/>
              <a:t>it</a:t>
            </a:r>
            <a:r>
              <a:rPr lang="en-US" spc="25" noProof="1"/>
              <a:t> </a:t>
            </a:r>
            <a:r>
              <a:rPr lang="en-US" spc="-45" noProof="1"/>
              <a:t>means</a:t>
            </a:r>
            <a:r>
              <a:rPr lang="en-US" spc="30" noProof="1"/>
              <a:t> </a:t>
            </a:r>
            <a:r>
              <a:rPr lang="en-US" noProof="1"/>
              <a:t>that</a:t>
            </a:r>
            <a:r>
              <a:rPr lang="en-US" spc="25" noProof="1"/>
              <a:t> </a:t>
            </a:r>
            <a:r>
              <a:rPr lang="en-US" spc="-40" noProof="1"/>
              <a:t>we</a:t>
            </a:r>
            <a:r>
              <a:rPr lang="en-US" spc="25" noProof="1"/>
              <a:t> </a:t>
            </a:r>
            <a:r>
              <a:rPr lang="en-US" spc="-30" noProof="1"/>
              <a:t>are</a:t>
            </a:r>
            <a:r>
              <a:rPr lang="en-US" spc="25" noProof="1"/>
              <a:t> </a:t>
            </a:r>
            <a:r>
              <a:rPr lang="en-US" noProof="1"/>
              <a:t>not</a:t>
            </a:r>
            <a:r>
              <a:rPr lang="en-US" spc="25" noProof="1"/>
              <a:t> </a:t>
            </a:r>
            <a:r>
              <a:rPr lang="en-US" noProof="1"/>
              <a:t>in</a:t>
            </a:r>
            <a:r>
              <a:rPr lang="en-US" spc="25" noProof="1"/>
              <a:t> </a:t>
            </a:r>
            <a:r>
              <a:rPr lang="en-US" noProof="1"/>
              <a:t>front</a:t>
            </a:r>
            <a:r>
              <a:rPr lang="en-US" spc="25" noProof="1"/>
              <a:t> </a:t>
            </a:r>
            <a:r>
              <a:rPr lang="en-US" noProof="1"/>
              <a:t>of</a:t>
            </a:r>
            <a:r>
              <a:rPr lang="en-US" spc="30" noProof="1"/>
              <a:t> </a:t>
            </a:r>
            <a:r>
              <a:rPr lang="en-US" noProof="1"/>
              <a:t>an</a:t>
            </a:r>
            <a:r>
              <a:rPr lang="en-US" spc="25" noProof="1"/>
              <a:t> </a:t>
            </a:r>
            <a:r>
              <a:rPr lang="en-US" noProof="1"/>
              <a:t>IP</a:t>
            </a:r>
            <a:r>
              <a:rPr lang="en-US" spc="25" noProof="1"/>
              <a:t> </a:t>
            </a:r>
            <a:r>
              <a:rPr lang="en-US" spc="-45" noProof="1"/>
              <a:t>address</a:t>
            </a:r>
            <a:r>
              <a:rPr lang="en-US" spc="25" noProof="1"/>
              <a:t> </a:t>
            </a:r>
            <a:r>
              <a:rPr lang="en-US" noProof="1"/>
              <a:t>but</a:t>
            </a:r>
            <a:r>
              <a:rPr lang="en-US" spc="25" noProof="1"/>
              <a:t> </a:t>
            </a:r>
            <a:r>
              <a:rPr lang="en-US" noProof="1"/>
              <a:t>an</a:t>
            </a:r>
            <a:r>
              <a:rPr lang="en-US" spc="25" noProof="1"/>
              <a:t> </a:t>
            </a:r>
            <a:r>
              <a:rPr lang="en-US" b="1" spc="-25" noProof="1">
                <a:latin typeface="Arial"/>
                <a:cs typeface="Arial"/>
              </a:rPr>
              <a:t>IP </a:t>
            </a:r>
            <a:r>
              <a:rPr lang="en-US" b="1" spc="-55" noProof="1">
                <a:latin typeface="Arial"/>
                <a:cs typeface="Arial"/>
              </a:rPr>
              <a:t>address</a:t>
            </a:r>
            <a:r>
              <a:rPr lang="en-US" b="1" spc="-10" noProof="1">
                <a:latin typeface="Arial"/>
                <a:cs typeface="Arial"/>
              </a:rPr>
              <a:t> </a:t>
            </a:r>
            <a:r>
              <a:rPr lang="en-US" b="1" spc="-20" noProof="1">
                <a:latin typeface="Arial"/>
                <a:cs typeface="Arial"/>
              </a:rPr>
              <a:t>range</a:t>
            </a:r>
            <a:r>
              <a:rPr lang="en-US" spc="-20" noProof="1"/>
              <a:t>,</a:t>
            </a:r>
            <a:r>
              <a:rPr lang="en-US" spc="25" noProof="1"/>
              <a:t> </a:t>
            </a:r>
            <a:r>
              <a:rPr lang="en-US" noProof="1"/>
              <a:t>in</a:t>
            </a:r>
            <a:r>
              <a:rPr lang="en-US" spc="25" noProof="1"/>
              <a:t> </a:t>
            </a:r>
            <a:r>
              <a:rPr lang="en-US" noProof="1"/>
              <a:t>this</a:t>
            </a:r>
            <a:r>
              <a:rPr lang="en-US" spc="25" noProof="1"/>
              <a:t> </a:t>
            </a:r>
            <a:r>
              <a:rPr lang="en-US" spc="-50" noProof="1"/>
              <a:t>case,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25" noProof="1"/>
              <a:t> </a:t>
            </a:r>
            <a:r>
              <a:rPr lang="en-US" spc="-30" noProof="1"/>
              <a:t>range</a:t>
            </a:r>
            <a:r>
              <a:rPr lang="en-US" spc="25" noProof="1"/>
              <a:t> </a:t>
            </a:r>
            <a:r>
              <a:rPr lang="en-US" noProof="1"/>
              <a:t>of</a:t>
            </a:r>
            <a:r>
              <a:rPr lang="en-US" spc="25" noProof="1"/>
              <a:t> </a:t>
            </a:r>
            <a:r>
              <a:rPr lang="en-US" noProof="1"/>
              <a:t>IP</a:t>
            </a:r>
            <a:r>
              <a:rPr lang="en-US" spc="25" noProof="1"/>
              <a:t> </a:t>
            </a:r>
            <a:r>
              <a:rPr lang="en-US" spc="-60" noProof="1"/>
              <a:t>addresses</a:t>
            </a:r>
            <a:r>
              <a:rPr lang="en-US" spc="25" noProof="1"/>
              <a:t> </a:t>
            </a:r>
            <a:r>
              <a:rPr lang="en-US" spc="-30" noProof="1"/>
              <a:t>between</a:t>
            </a:r>
            <a:r>
              <a:rPr lang="en-US" spc="110" noProof="1"/>
              <a:t> </a:t>
            </a:r>
            <a:r>
              <a:rPr lang="en-US" spc="-75" noProof="1">
                <a:solidFill>
                  <a:srgbClr val="000000"/>
                </a:solidFill>
                <a:latin typeface="Courier New"/>
                <a:cs typeface="Courier New"/>
              </a:rPr>
              <a:t>192.168.1.0</a:t>
            </a:r>
            <a:r>
              <a:rPr lang="en-US" spc="-135" noProof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noProof="1"/>
              <a:t>and</a:t>
            </a:r>
            <a:r>
              <a:rPr lang="en-US" spc="114" noProof="1"/>
              <a:t> </a:t>
            </a:r>
            <a:r>
              <a:rPr lang="en-US" spc="-75" noProof="1">
                <a:solidFill>
                  <a:srgbClr val="000000"/>
                </a:solidFill>
                <a:latin typeface="Courier New"/>
                <a:cs typeface="Courier New"/>
              </a:rPr>
              <a:t>192.168.1.255</a:t>
            </a:r>
            <a:r>
              <a:rPr lang="en-US" spc="-445" noProof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pc="-50" noProof="1"/>
              <a:t>.</a:t>
            </a: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55" noProof="1"/>
              <a:t> </a:t>
            </a:r>
            <a:r>
              <a:rPr lang="en-US" spc="-25" noProof="1"/>
              <a:t>is</a:t>
            </a:r>
            <a:r>
              <a:rPr lang="en-US" spc="55" noProof="1"/>
              <a:t> </a:t>
            </a:r>
            <a:r>
              <a:rPr lang="en-US" noProof="1"/>
              <a:t>a</a:t>
            </a:r>
            <a:r>
              <a:rPr lang="en-US" spc="55" noProof="1"/>
              <a:t> </a:t>
            </a:r>
            <a:r>
              <a:rPr lang="en-US" spc="-45" noProof="1"/>
              <a:t>subnet?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2316" y="1706485"/>
            <a:ext cx="204657" cy="1390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3432" y="2104795"/>
            <a:ext cx="204657" cy="1390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73388" y="2104795"/>
            <a:ext cx="144873" cy="1390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2915" y="2104795"/>
            <a:ext cx="204657" cy="1390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6792" y="2264117"/>
            <a:ext cx="144873" cy="13909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43319" y="944604"/>
            <a:ext cx="4944745" cy="1459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130810">
              <a:lnSpc>
                <a:spcPct val="116199"/>
              </a:lnSpc>
              <a:spcBef>
                <a:spcPts val="100"/>
              </a:spcBef>
            </a:pP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Remember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earlier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said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32-bit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number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divided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four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8-bit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numbers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separated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dots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simple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terms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means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built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4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numbers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0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255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separated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dots.</a:t>
            </a:r>
            <a:endParaRPr lang="en-US" sz="900" noProof="1">
              <a:latin typeface="Arial"/>
              <a:cs typeface="Arial"/>
            </a:endParaRPr>
          </a:p>
          <a:p>
            <a:pPr marL="16510" marR="67945" indent="-4445">
              <a:lnSpc>
                <a:spcPct val="116199"/>
              </a:lnSpc>
              <a:spcBef>
                <a:spcPts val="62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mask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is a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way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of telling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part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5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fixed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part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can change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lang="en-US" sz="900" spc="8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case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/24</a:t>
            </a:r>
            <a:r>
              <a:rPr lang="en-US" sz="900" spc="-44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24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bits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fixed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last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8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bits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change,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means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 the last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number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 the IP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be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any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number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0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255.</a:t>
            </a:r>
            <a:endParaRPr lang="en-US" sz="900" noProof="1">
              <a:latin typeface="Arial"/>
              <a:cs typeface="Arial"/>
            </a:endParaRPr>
          </a:p>
          <a:p>
            <a:pPr marL="16510" marR="5080">
              <a:lnSpc>
                <a:spcPct val="116199"/>
              </a:lnSpc>
              <a:spcBef>
                <a:spcPts val="62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common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masks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/16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/8</a:t>
            </a:r>
            <a:r>
              <a:rPr lang="en-US" sz="900" spc="-44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lang="en-US" sz="900" spc="18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/16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means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16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bits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fixed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last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16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bits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change.</a:t>
            </a:r>
            <a:r>
              <a:rPr lang="en-US" sz="900" spc="1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/8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means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first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8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bits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fixed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last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24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bits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change.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0" name="object 10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1839595" cy="5080"/>
            </a:xfrm>
            <a:custGeom>
              <a:avLst/>
              <a:gdLst/>
              <a:ahLst/>
              <a:cxnLst/>
              <a:rect l="l" t="t" r="r" b="b"/>
              <a:pathLst>
                <a:path w="1839595" h="5080">
                  <a:moveTo>
                    <a:pt x="0" y="5060"/>
                  </a:moveTo>
                  <a:lnTo>
                    <a:pt x="0" y="0"/>
                  </a:lnTo>
                  <a:lnTo>
                    <a:pt x="1839310" y="0"/>
                  </a:lnTo>
                  <a:lnTo>
                    <a:pt x="183931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55" noProof="1"/>
              <a:t> </a:t>
            </a:r>
            <a:r>
              <a:rPr lang="en-US" spc="-25" noProof="1"/>
              <a:t>is</a:t>
            </a:r>
            <a:r>
              <a:rPr lang="en-US" spc="55" noProof="1"/>
              <a:t> </a:t>
            </a:r>
            <a:r>
              <a:rPr lang="en-US" noProof="1"/>
              <a:t>a</a:t>
            </a:r>
            <a:r>
              <a:rPr lang="en-US" spc="55" noProof="1"/>
              <a:t> </a:t>
            </a:r>
            <a:r>
              <a:rPr lang="en-US" spc="-45" noProof="1"/>
              <a:t>subnet?</a:t>
            </a:r>
          </a:p>
        </p:txBody>
      </p:sp>
      <p:sp>
        <p:nvSpPr>
          <p:cNvPr id="3" name="object 3"/>
          <p:cNvSpPr/>
          <p:nvPr/>
        </p:nvSpPr>
        <p:spPr>
          <a:xfrm>
            <a:off x="2032711" y="1449679"/>
            <a:ext cx="1694814" cy="0"/>
          </a:xfrm>
          <a:custGeom>
            <a:avLst/>
            <a:gdLst/>
            <a:ahLst/>
            <a:cxnLst/>
            <a:rect l="l" t="t" r="r" b="b"/>
            <a:pathLst>
              <a:path w="1694814">
                <a:moveTo>
                  <a:pt x="0" y="0"/>
                </a:moveTo>
                <a:lnTo>
                  <a:pt x="1694573" y="0"/>
                </a:lnTo>
              </a:path>
            </a:pathLst>
          </a:custGeom>
          <a:ln w="9109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4" name="object 4"/>
          <p:cNvSpPr txBox="1"/>
          <p:nvPr/>
        </p:nvSpPr>
        <p:spPr>
          <a:xfrm>
            <a:off x="347294" y="983466"/>
            <a:ext cx="5019675" cy="650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Depending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how many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octets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fixed,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can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amount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private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IPs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available.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lang="en-US" sz="900" noProof="1">
              <a:latin typeface="Arial"/>
              <a:cs typeface="Arial"/>
            </a:endParaRPr>
          </a:p>
          <a:p>
            <a:pPr marR="131445" algn="ctr">
              <a:lnSpc>
                <a:spcPct val="100000"/>
              </a:lnSpc>
              <a:spcBef>
                <a:spcPts val="5"/>
              </a:spcBef>
              <a:tabLst>
                <a:tab pos="791845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Mask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	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Number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IPs</a:t>
            </a:r>
            <a:endParaRPr lang="en-US" sz="900" noProof="1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32711" y="1669491"/>
            <a:ext cx="1694814" cy="0"/>
          </a:xfrm>
          <a:custGeom>
            <a:avLst/>
            <a:gdLst/>
            <a:ahLst/>
            <a:cxnLst/>
            <a:rect l="l" t="t" r="r" b="b"/>
            <a:pathLst>
              <a:path w="1694814">
                <a:moveTo>
                  <a:pt x="0" y="0"/>
                </a:moveTo>
                <a:lnTo>
                  <a:pt x="1694573" y="0"/>
                </a:lnTo>
              </a:path>
            </a:pathLst>
          </a:custGeom>
          <a:ln w="5693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6" name="object 6"/>
          <p:cNvSpPr txBox="1"/>
          <p:nvPr/>
        </p:nvSpPr>
        <p:spPr>
          <a:xfrm>
            <a:off x="2020011" y="1667488"/>
            <a:ext cx="201295" cy="50355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/8</a:t>
            </a:r>
            <a:endParaRPr lang="en-US" sz="900" noProof="1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/16</a:t>
            </a:r>
            <a:endParaRPr lang="en-US" sz="900" noProof="1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/24</a:t>
            </a:r>
            <a:endParaRPr lang="en-US" sz="900" noProof="1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12148" y="1667488"/>
            <a:ext cx="928369" cy="50355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16,777,216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(2^24)</a:t>
            </a:r>
            <a:endParaRPr lang="en-US" sz="900" noProof="1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65,536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(2^16)</a:t>
            </a:r>
            <a:endParaRPr lang="en-US" sz="900" noProof="1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256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(2^8)</a:t>
            </a:r>
            <a:endParaRPr lang="en-US" sz="900" noProof="1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032711" y="2207958"/>
            <a:ext cx="1694814" cy="0"/>
          </a:xfrm>
          <a:custGeom>
            <a:avLst/>
            <a:gdLst/>
            <a:ahLst/>
            <a:cxnLst/>
            <a:rect l="l" t="t" r="r" b="b"/>
            <a:pathLst>
              <a:path w="1694814">
                <a:moveTo>
                  <a:pt x="0" y="0"/>
                </a:moveTo>
                <a:lnTo>
                  <a:pt x="1694573" y="0"/>
                </a:lnTo>
              </a:path>
            </a:pathLst>
          </a:custGeom>
          <a:ln w="9109">
            <a:solidFill>
              <a:srgbClr val="22373A"/>
            </a:solidFill>
          </a:ln>
        </p:spPr>
        <p:txBody>
          <a:bodyPr wrap="square" lIns="0" tIns="0" rIns="0" bIns="0" rtlCol="0"/>
          <a:lstStyle/>
          <a:p>
            <a:endParaRPr lang="en-US" noProof="1"/>
          </a:p>
        </p:txBody>
      </p:sp>
      <p:grpSp>
        <p:nvGrpSpPr>
          <p:cNvPr id="9" name="object 9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0" name="object 10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1887855" cy="5080"/>
            </a:xfrm>
            <a:custGeom>
              <a:avLst/>
              <a:gdLst/>
              <a:ahLst/>
              <a:cxnLst/>
              <a:rect l="l" t="t" r="r" b="b"/>
              <a:pathLst>
                <a:path w="1887855" h="5080">
                  <a:moveTo>
                    <a:pt x="0" y="5060"/>
                  </a:moveTo>
                  <a:lnTo>
                    <a:pt x="0" y="0"/>
                  </a:lnTo>
                  <a:lnTo>
                    <a:pt x="1887739" y="0"/>
                  </a:lnTo>
                  <a:lnTo>
                    <a:pt x="188773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55" noProof="1"/>
              <a:t> </a:t>
            </a:r>
            <a:r>
              <a:rPr lang="en-US" spc="-25" noProof="1"/>
              <a:t>is</a:t>
            </a:r>
            <a:r>
              <a:rPr lang="en-US" spc="55" noProof="1"/>
              <a:t> </a:t>
            </a:r>
            <a:r>
              <a:rPr lang="en-US" noProof="1"/>
              <a:t>a</a:t>
            </a:r>
            <a:r>
              <a:rPr lang="en-US" spc="55" noProof="1"/>
              <a:t> </a:t>
            </a:r>
            <a:r>
              <a:rPr lang="en-US" spc="-45" noProof="1"/>
              <a:t>subnet?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26237" y="1333120"/>
            <a:ext cx="504190" cy="123189"/>
            <a:chOff x="626237" y="1333120"/>
            <a:chExt cx="504190" cy="123189"/>
          </a:xfrm>
        </p:grpSpPr>
        <p:sp>
          <p:nvSpPr>
            <p:cNvPr id="4" name="object 4"/>
            <p:cNvSpPr/>
            <p:nvPr/>
          </p:nvSpPr>
          <p:spPr>
            <a:xfrm>
              <a:off x="626237" y="1333120"/>
              <a:ext cx="504190" cy="123189"/>
            </a:xfrm>
            <a:custGeom>
              <a:avLst/>
              <a:gdLst/>
              <a:ahLst/>
              <a:cxnLst/>
              <a:rect l="l" t="t" r="r" b="b"/>
              <a:pathLst>
                <a:path w="504190" h="123190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467577" y="122693"/>
                  </a:lnTo>
                  <a:lnTo>
                    <a:pt x="481590" y="119864"/>
                  </a:lnTo>
                  <a:lnTo>
                    <a:pt x="493033" y="112148"/>
                  </a:lnTo>
                  <a:lnTo>
                    <a:pt x="500748" y="100705"/>
                  </a:lnTo>
                  <a:lnTo>
                    <a:pt x="503577" y="86692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626237" y="1333120"/>
              <a:ext cx="504190" cy="123189"/>
            </a:xfrm>
            <a:custGeom>
              <a:avLst/>
              <a:gdLst/>
              <a:ahLst/>
              <a:cxnLst/>
              <a:rect l="l" t="t" r="r" b="b"/>
              <a:pathLst>
                <a:path w="504190" h="123190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467577" y="122693"/>
                  </a:lnTo>
                  <a:lnTo>
                    <a:pt x="481590" y="119864"/>
                  </a:lnTo>
                  <a:lnTo>
                    <a:pt x="493033" y="112148"/>
                  </a:lnTo>
                  <a:lnTo>
                    <a:pt x="500748" y="100705"/>
                  </a:lnTo>
                  <a:lnTo>
                    <a:pt x="503577" y="86692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210856" y="1165592"/>
            <a:ext cx="840740" cy="290830"/>
            <a:chOff x="1210856" y="1165592"/>
            <a:chExt cx="840740" cy="290830"/>
          </a:xfrm>
        </p:grpSpPr>
        <p:sp>
          <p:nvSpPr>
            <p:cNvPr id="7" name="object 7"/>
            <p:cNvSpPr/>
            <p:nvPr/>
          </p:nvSpPr>
          <p:spPr>
            <a:xfrm>
              <a:off x="1210856" y="1165592"/>
              <a:ext cx="683260" cy="139700"/>
            </a:xfrm>
            <a:custGeom>
              <a:avLst/>
              <a:gdLst/>
              <a:ahLst/>
              <a:cxnLst/>
              <a:rect l="l" t="t" r="r" b="b"/>
              <a:pathLst>
                <a:path w="683260" h="139700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646930" y="139090"/>
                  </a:lnTo>
                  <a:lnTo>
                    <a:pt x="660943" y="136261"/>
                  </a:lnTo>
                  <a:lnTo>
                    <a:pt x="672386" y="128546"/>
                  </a:lnTo>
                  <a:lnTo>
                    <a:pt x="680101" y="117103"/>
                  </a:lnTo>
                  <a:lnTo>
                    <a:pt x="682930" y="103090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1210856" y="1165592"/>
              <a:ext cx="683260" cy="139700"/>
            </a:xfrm>
            <a:custGeom>
              <a:avLst/>
              <a:gdLst/>
              <a:ahLst/>
              <a:cxnLst/>
              <a:rect l="l" t="t" r="r" b="b"/>
              <a:pathLst>
                <a:path w="683260" h="139700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646930" y="139090"/>
                  </a:lnTo>
                  <a:lnTo>
                    <a:pt x="660943" y="136261"/>
                  </a:lnTo>
                  <a:lnTo>
                    <a:pt x="672386" y="128546"/>
                  </a:lnTo>
                  <a:lnTo>
                    <a:pt x="680101" y="117103"/>
                  </a:lnTo>
                  <a:lnTo>
                    <a:pt x="682930" y="103090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1308696" y="1333120"/>
              <a:ext cx="742950" cy="123189"/>
            </a:xfrm>
            <a:custGeom>
              <a:avLst/>
              <a:gdLst/>
              <a:ahLst/>
              <a:cxnLst/>
              <a:rect l="l" t="t" r="r" b="b"/>
              <a:pathLst>
                <a:path w="742950" h="123190">
                  <a:moveTo>
                    <a:pt x="70671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706713" y="122693"/>
                  </a:lnTo>
                  <a:lnTo>
                    <a:pt x="720727" y="119864"/>
                  </a:lnTo>
                  <a:lnTo>
                    <a:pt x="732170" y="112148"/>
                  </a:lnTo>
                  <a:lnTo>
                    <a:pt x="739885" y="100705"/>
                  </a:lnTo>
                  <a:lnTo>
                    <a:pt x="742714" y="86692"/>
                  </a:lnTo>
                  <a:lnTo>
                    <a:pt x="742714" y="36000"/>
                  </a:lnTo>
                  <a:lnTo>
                    <a:pt x="739885" y="21987"/>
                  </a:lnTo>
                  <a:lnTo>
                    <a:pt x="732170" y="10544"/>
                  </a:lnTo>
                  <a:lnTo>
                    <a:pt x="720727" y="2829"/>
                  </a:lnTo>
                  <a:lnTo>
                    <a:pt x="70671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1308696" y="1333120"/>
              <a:ext cx="742950" cy="123189"/>
            </a:xfrm>
            <a:custGeom>
              <a:avLst/>
              <a:gdLst/>
              <a:ahLst/>
              <a:cxnLst/>
              <a:rect l="l" t="t" r="r" b="b"/>
              <a:pathLst>
                <a:path w="742950" h="123190">
                  <a:moveTo>
                    <a:pt x="70671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706713" y="122693"/>
                  </a:lnTo>
                  <a:lnTo>
                    <a:pt x="720727" y="119864"/>
                  </a:lnTo>
                  <a:lnTo>
                    <a:pt x="732170" y="112148"/>
                  </a:lnTo>
                  <a:lnTo>
                    <a:pt x="739885" y="100705"/>
                  </a:lnTo>
                  <a:lnTo>
                    <a:pt x="742714" y="86692"/>
                  </a:lnTo>
                  <a:lnTo>
                    <a:pt x="742714" y="36000"/>
                  </a:lnTo>
                  <a:lnTo>
                    <a:pt x="739885" y="21987"/>
                  </a:lnTo>
                  <a:lnTo>
                    <a:pt x="732170" y="10544"/>
                  </a:lnTo>
                  <a:lnTo>
                    <a:pt x="720727" y="2829"/>
                  </a:lnTo>
                  <a:lnTo>
                    <a:pt x="70671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1110691" y="1802891"/>
            <a:ext cx="683260" cy="457834"/>
            <a:chOff x="1110691" y="1802891"/>
            <a:chExt cx="683260" cy="457834"/>
          </a:xfrm>
        </p:grpSpPr>
        <p:sp>
          <p:nvSpPr>
            <p:cNvPr id="12" name="object 12"/>
            <p:cNvSpPr/>
            <p:nvPr/>
          </p:nvSpPr>
          <p:spPr>
            <a:xfrm>
              <a:off x="1110691" y="1802891"/>
              <a:ext cx="683260" cy="139700"/>
            </a:xfrm>
            <a:custGeom>
              <a:avLst/>
              <a:gdLst/>
              <a:ahLst/>
              <a:cxnLst/>
              <a:rect l="l" t="t" r="r" b="b"/>
              <a:pathLst>
                <a:path w="683260" h="139700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646930" y="139090"/>
                  </a:lnTo>
                  <a:lnTo>
                    <a:pt x="660943" y="136261"/>
                  </a:lnTo>
                  <a:lnTo>
                    <a:pt x="672386" y="128546"/>
                  </a:lnTo>
                  <a:lnTo>
                    <a:pt x="680101" y="117103"/>
                  </a:lnTo>
                  <a:lnTo>
                    <a:pt x="682930" y="103090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1110691" y="1802891"/>
              <a:ext cx="683260" cy="139700"/>
            </a:xfrm>
            <a:custGeom>
              <a:avLst/>
              <a:gdLst/>
              <a:ahLst/>
              <a:cxnLst/>
              <a:rect l="l" t="t" r="r" b="b"/>
              <a:pathLst>
                <a:path w="683260" h="139700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646930" y="139090"/>
                  </a:lnTo>
                  <a:lnTo>
                    <a:pt x="660943" y="136261"/>
                  </a:lnTo>
                  <a:lnTo>
                    <a:pt x="672386" y="128546"/>
                  </a:lnTo>
                  <a:lnTo>
                    <a:pt x="680101" y="117103"/>
                  </a:lnTo>
                  <a:lnTo>
                    <a:pt x="682930" y="103090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4" name="object 14"/>
            <p:cNvSpPr/>
            <p:nvPr/>
          </p:nvSpPr>
          <p:spPr>
            <a:xfrm>
              <a:off x="1110691" y="1962225"/>
              <a:ext cx="683260" cy="139700"/>
            </a:xfrm>
            <a:custGeom>
              <a:avLst/>
              <a:gdLst/>
              <a:ahLst/>
              <a:cxnLst/>
              <a:rect l="l" t="t" r="r" b="b"/>
              <a:pathLst>
                <a:path w="683260" h="139700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646930" y="139090"/>
                  </a:lnTo>
                  <a:lnTo>
                    <a:pt x="660943" y="136261"/>
                  </a:lnTo>
                  <a:lnTo>
                    <a:pt x="672386" y="128546"/>
                  </a:lnTo>
                  <a:lnTo>
                    <a:pt x="680101" y="117103"/>
                  </a:lnTo>
                  <a:lnTo>
                    <a:pt x="682930" y="103090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5" name="object 15"/>
            <p:cNvSpPr/>
            <p:nvPr/>
          </p:nvSpPr>
          <p:spPr>
            <a:xfrm>
              <a:off x="1110691" y="1962225"/>
              <a:ext cx="683260" cy="139700"/>
            </a:xfrm>
            <a:custGeom>
              <a:avLst/>
              <a:gdLst/>
              <a:ahLst/>
              <a:cxnLst/>
              <a:rect l="l" t="t" r="r" b="b"/>
              <a:pathLst>
                <a:path w="683260" h="139700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646930" y="139090"/>
                  </a:lnTo>
                  <a:lnTo>
                    <a:pt x="660943" y="136261"/>
                  </a:lnTo>
                  <a:lnTo>
                    <a:pt x="672386" y="128546"/>
                  </a:lnTo>
                  <a:lnTo>
                    <a:pt x="680101" y="117103"/>
                  </a:lnTo>
                  <a:lnTo>
                    <a:pt x="682930" y="103090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6" name="object 16"/>
            <p:cNvSpPr/>
            <p:nvPr/>
          </p:nvSpPr>
          <p:spPr>
            <a:xfrm>
              <a:off x="1110691" y="2121547"/>
              <a:ext cx="683260" cy="139700"/>
            </a:xfrm>
            <a:custGeom>
              <a:avLst/>
              <a:gdLst/>
              <a:ahLst/>
              <a:cxnLst/>
              <a:rect l="l" t="t" r="r" b="b"/>
              <a:pathLst>
                <a:path w="683260" h="139700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646930" y="139090"/>
                  </a:lnTo>
                  <a:lnTo>
                    <a:pt x="660943" y="136261"/>
                  </a:lnTo>
                  <a:lnTo>
                    <a:pt x="672386" y="128546"/>
                  </a:lnTo>
                  <a:lnTo>
                    <a:pt x="680101" y="117103"/>
                  </a:lnTo>
                  <a:lnTo>
                    <a:pt x="682930" y="103090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7" name="object 17"/>
            <p:cNvSpPr/>
            <p:nvPr/>
          </p:nvSpPr>
          <p:spPr>
            <a:xfrm>
              <a:off x="1110691" y="2121547"/>
              <a:ext cx="683260" cy="139700"/>
            </a:xfrm>
            <a:custGeom>
              <a:avLst/>
              <a:gdLst/>
              <a:ahLst/>
              <a:cxnLst/>
              <a:rect l="l" t="t" r="r" b="b"/>
              <a:pathLst>
                <a:path w="683260" h="139700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646930" y="139090"/>
                  </a:lnTo>
                  <a:lnTo>
                    <a:pt x="660943" y="136261"/>
                  </a:lnTo>
                  <a:lnTo>
                    <a:pt x="672386" y="128546"/>
                  </a:lnTo>
                  <a:lnTo>
                    <a:pt x="680101" y="117103"/>
                  </a:lnTo>
                  <a:lnTo>
                    <a:pt x="682930" y="103090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2785897" y="1811097"/>
            <a:ext cx="504190" cy="441959"/>
            <a:chOff x="2785897" y="1811097"/>
            <a:chExt cx="504190" cy="441959"/>
          </a:xfrm>
        </p:grpSpPr>
        <p:sp>
          <p:nvSpPr>
            <p:cNvPr id="19" name="object 19"/>
            <p:cNvSpPr/>
            <p:nvPr/>
          </p:nvSpPr>
          <p:spPr>
            <a:xfrm>
              <a:off x="2785897" y="1811097"/>
              <a:ext cx="504190" cy="123189"/>
            </a:xfrm>
            <a:custGeom>
              <a:avLst/>
              <a:gdLst/>
              <a:ahLst/>
              <a:cxnLst/>
              <a:rect l="l" t="t" r="r" b="b"/>
              <a:pathLst>
                <a:path w="504189" h="12318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467577" y="122693"/>
                  </a:lnTo>
                  <a:lnTo>
                    <a:pt x="481590" y="119864"/>
                  </a:lnTo>
                  <a:lnTo>
                    <a:pt x="493033" y="112148"/>
                  </a:lnTo>
                  <a:lnTo>
                    <a:pt x="500748" y="100705"/>
                  </a:lnTo>
                  <a:lnTo>
                    <a:pt x="503577" y="86692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0" name="object 20"/>
            <p:cNvSpPr/>
            <p:nvPr/>
          </p:nvSpPr>
          <p:spPr>
            <a:xfrm>
              <a:off x="2785897" y="1811097"/>
              <a:ext cx="504190" cy="123189"/>
            </a:xfrm>
            <a:custGeom>
              <a:avLst/>
              <a:gdLst/>
              <a:ahLst/>
              <a:cxnLst/>
              <a:rect l="l" t="t" r="r" b="b"/>
              <a:pathLst>
                <a:path w="504189" h="12318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467577" y="122693"/>
                  </a:lnTo>
                  <a:lnTo>
                    <a:pt x="481590" y="119864"/>
                  </a:lnTo>
                  <a:lnTo>
                    <a:pt x="493033" y="112148"/>
                  </a:lnTo>
                  <a:lnTo>
                    <a:pt x="500748" y="100705"/>
                  </a:lnTo>
                  <a:lnTo>
                    <a:pt x="503577" y="86692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1" name="object 21"/>
            <p:cNvSpPr/>
            <p:nvPr/>
          </p:nvSpPr>
          <p:spPr>
            <a:xfrm>
              <a:off x="2785897" y="1970419"/>
              <a:ext cx="504190" cy="123189"/>
            </a:xfrm>
            <a:custGeom>
              <a:avLst/>
              <a:gdLst/>
              <a:ahLst/>
              <a:cxnLst/>
              <a:rect l="l" t="t" r="r" b="b"/>
              <a:pathLst>
                <a:path w="504189" h="12318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467577" y="122693"/>
                  </a:lnTo>
                  <a:lnTo>
                    <a:pt x="481590" y="119864"/>
                  </a:lnTo>
                  <a:lnTo>
                    <a:pt x="493033" y="112148"/>
                  </a:lnTo>
                  <a:lnTo>
                    <a:pt x="500748" y="100705"/>
                  </a:lnTo>
                  <a:lnTo>
                    <a:pt x="503577" y="86692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2" name="object 22"/>
            <p:cNvSpPr/>
            <p:nvPr/>
          </p:nvSpPr>
          <p:spPr>
            <a:xfrm>
              <a:off x="2785897" y="1970419"/>
              <a:ext cx="504190" cy="123189"/>
            </a:xfrm>
            <a:custGeom>
              <a:avLst/>
              <a:gdLst/>
              <a:ahLst/>
              <a:cxnLst/>
              <a:rect l="l" t="t" r="r" b="b"/>
              <a:pathLst>
                <a:path w="504189" h="12318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467577" y="122693"/>
                  </a:lnTo>
                  <a:lnTo>
                    <a:pt x="481590" y="119864"/>
                  </a:lnTo>
                  <a:lnTo>
                    <a:pt x="493033" y="112148"/>
                  </a:lnTo>
                  <a:lnTo>
                    <a:pt x="500748" y="100705"/>
                  </a:lnTo>
                  <a:lnTo>
                    <a:pt x="503577" y="86692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3" name="object 23"/>
            <p:cNvSpPr/>
            <p:nvPr/>
          </p:nvSpPr>
          <p:spPr>
            <a:xfrm>
              <a:off x="2785897" y="2129740"/>
              <a:ext cx="504190" cy="123189"/>
            </a:xfrm>
            <a:custGeom>
              <a:avLst/>
              <a:gdLst/>
              <a:ahLst/>
              <a:cxnLst/>
              <a:rect l="l" t="t" r="r" b="b"/>
              <a:pathLst>
                <a:path w="504189" h="12318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467577" y="122693"/>
                  </a:lnTo>
                  <a:lnTo>
                    <a:pt x="481590" y="119864"/>
                  </a:lnTo>
                  <a:lnTo>
                    <a:pt x="493033" y="112148"/>
                  </a:lnTo>
                  <a:lnTo>
                    <a:pt x="500748" y="100705"/>
                  </a:lnTo>
                  <a:lnTo>
                    <a:pt x="503577" y="86692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4" name="object 24"/>
            <p:cNvSpPr/>
            <p:nvPr/>
          </p:nvSpPr>
          <p:spPr>
            <a:xfrm>
              <a:off x="2785897" y="2129740"/>
              <a:ext cx="504190" cy="123189"/>
            </a:xfrm>
            <a:custGeom>
              <a:avLst/>
              <a:gdLst/>
              <a:ahLst/>
              <a:cxnLst/>
              <a:rect l="l" t="t" r="r" b="b"/>
              <a:pathLst>
                <a:path w="504189" h="12318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467577" y="122693"/>
                  </a:lnTo>
                  <a:lnTo>
                    <a:pt x="481590" y="119864"/>
                  </a:lnTo>
                  <a:lnTo>
                    <a:pt x="493033" y="112148"/>
                  </a:lnTo>
                  <a:lnTo>
                    <a:pt x="500748" y="100705"/>
                  </a:lnTo>
                  <a:lnTo>
                    <a:pt x="503577" y="86692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3468370" y="1811097"/>
            <a:ext cx="623570" cy="441959"/>
            <a:chOff x="3468370" y="1811097"/>
            <a:chExt cx="623570" cy="441959"/>
          </a:xfrm>
        </p:grpSpPr>
        <p:sp>
          <p:nvSpPr>
            <p:cNvPr id="26" name="object 26"/>
            <p:cNvSpPr/>
            <p:nvPr/>
          </p:nvSpPr>
          <p:spPr>
            <a:xfrm>
              <a:off x="3468370" y="1811097"/>
              <a:ext cx="623570" cy="123189"/>
            </a:xfrm>
            <a:custGeom>
              <a:avLst/>
              <a:gdLst/>
              <a:ahLst/>
              <a:cxnLst/>
              <a:rect l="l" t="t" r="r" b="b"/>
              <a:pathLst>
                <a:path w="623570" h="123189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587145" y="122693"/>
                  </a:lnTo>
                  <a:lnTo>
                    <a:pt x="601158" y="119864"/>
                  </a:lnTo>
                  <a:lnTo>
                    <a:pt x="612602" y="112148"/>
                  </a:lnTo>
                  <a:lnTo>
                    <a:pt x="620317" y="100705"/>
                  </a:lnTo>
                  <a:lnTo>
                    <a:pt x="623146" y="86692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7" name="object 27"/>
            <p:cNvSpPr/>
            <p:nvPr/>
          </p:nvSpPr>
          <p:spPr>
            <a:xfrm>
              <a:off x="3468370" y="1811097"/>
              <a:ext cx="623570" cy="123189"/>
            </a:xfrm>
            <a:custGeom>
              <a:avLst/>
              <a:gdLst/>
              <a:ahLst/>
              <a:cxnLst/>
              <a:rect l="l" t="t" r="r" b="b"/>
              <a:pathLst>
                <a:path w="623570" h="123189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587145" y="122693"/>
                  </a:lnTo>
                  <a:lnTo>
                    <a:pt x="601158" y="119864"/>
                  </a:lnTo>
                  <a:lnTo>
                    <a:pt x="612602" y="112148"/>
                  </a:lnTo>
                  <a:lnTo>
                    <a:pt x="620317" y="100705"/>
                  </a:lnTo>
                  <a:lnTo>
                    <a:pt x="623146" y="86692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8" name="object 28"/>
            <p:cNvSpPr/>
            <p:nvPr/>
          </p:nvSpPr>
          <p:spPr>
            <a:xfrm>
              <a:off x="3468370" y="1970419"/>
              <a:ext cx="623570" cy="123189"/>
            </a:xfrm>
            <a:custGeom>
              <a:avLst/>
              <a:gdLst/>
              <a:ahLst/>
              <a:cxnLst/>
              <a:rect l="l" t="t" r="r" b="b"/>
              <a:pathLst>
                <a:path w="623570" h="123189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587145" y="122693"/>
                  </a:lnTo>
                  <a:lnTo>
                    <a:pt x="601158" y="119864"/>
                  </a:lnTo>
                  <a:lnTo>
                    <a:pt x="612602" y="112148"/>
                  </a:lnTo>
                  <a:lnTo>
                    <a:pt x="620317" y="100705"/>
                  </a:lnTo>
                  <a:lnTo>
                    <a:pt x="623146" y="86692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9" name="object 29"/>
            <p:cNvSpPr/>
            <p:nvPr/>
          </p:nvSpPr>
          <p:spPr>
            <a:xfrm>
              <a:off x="3468370" y="1970419"/>
              <a:ext cx="623570" cy="123189"/>
            </a:xfrm>
            <a:custGeom>
              <a:avLst/>
              <a:gdLst/>
              <a:ahLst/>
              <a:cxnLst/>
              <a:rect l="l" t="t" r="r" b="b"/>
              <a:pathLst>
                <a:path w="623570" h="123189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587145" y="122693"/>
                  </a:lnTo>
                  <a:lnTo>
                    <a:pt x="601158" y="119864"/>
                  </a:lnTo>
                  <a:lnTo>
                    <a:pt x="612602" y="112148"/>
                  </a:lnTo>
                  <a:lnTo>
                    <a:pt x="620317" y="100705"/>
                  </a:lnTo>
                  <a:lnTo>
                    <a:pt x="623146" y="86692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30" name="object 30"/>
            <p:cNvSpPr/>
            <p:nvPr/>
          </p:nvSpPr>
          <p:spPr>
            <a:xfrm>
              <a:off x="3468370" y="2129740"/>
              <a:ext cx="623570" cy="123189"/>
            </a:xfrm>
            <a:custGeom>
              <a:avLst/>
              <a:gdLst/>
              <a:ahLst/>
              <a:cxnLst/>
              <a:rect l="l" t="t" r="r" b="b"/>
              <a:pathLst>
                <a:path w="623570" h="123189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587145" y="122693"/>
                  </a:lnTo>
                  <a:lnTo>
                    <a:pt x="601158" y="119864"/>
                  </a:lnTo>
                  <a:lnTo>
                    <a:pt x="612602" y="112148"/>
                  </a:lnTo>
                  <a:lnTo>
                    <a:pt x="620317" y="100705"/>
                  </a:lnTo>
                  <a:lnTo>
                    <a:pt x="623146" y="86692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31" name="object 31"/>
            <p:cNvSpPr/>
            <p:nvPr/>
          </p:nvSpPr>
          <p:spPr>
            <a:xfrm>
              <a:off x="3468370" y="2129740"/>
              <a:ext cx="623570" cy="123189"/>
            </a:xfrm>
            <a:custGeom>
              <a:avLst/>
              <a:gdLst/>
              <a:ahLst/>
              <a:cxnLst/>
              <a:rect l="l" t="t" r="r" b="b"/>
              <a:pathLst>
                <a:path w="623570" h="123189">
                  <a:moveTo>
                    <a:pt x="58714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692"/>
                  </a:lnTo>
                  <a:lnTo>
                    <a:pt x="2829" y="100705"/>
                  </a:lnTo>
                  <a:lnTo>
                    <a:pt x="10544" y="112148"/>
                  </a:lnTo>
                  <a:lnTo>
                    <a:pt x="21987" y="119864"/>
                  </a:lnTo>
                  <a:lnTo>
                    <a:pt x="36000" y="122693"/>
                  </a:lnTo>
                  <a:lnTo>
                    <a:pt x="587145" y="122693"/>
                  </a:lnTo>
                  <a:lnTo>
                    <a:pt x="601158" y="119864"/>
                  </a:lnTo>
                  <a:lnTo>
                    <a:pt x="612602" y="112148"/>
                  </a:lnTo>
                  <a:lnTo>
                    <a:pt x="620317" y="100705"/>
                  </a:lnTo>
                  <a:lnTo>
                    <a:pt x="623146" y="86692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8" y="2829"/>
                  </a:lnTo>
                  <a:lnTo>
                    <a:pt x="5871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47294" y="961355"/>
            <a:ext cx="5065395" cy="1459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Let’s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0" noProof="1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example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divide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into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subnets.</a:t>
            </a:r>
            <a:r>
              <a:rPr lang="en-US" sz="900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Imagine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range</a:t>
            </a:r>
            <a:r>
              <a:rPr lang="en-US" sz="900" spc="1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10.0.0.0/16</a:t>
            </a:r>
            <a:r>
              <a:rPr lang="en-US" sz="900" spc="-44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means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total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65,536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65" noProof="1">
                <a:solidFill>
                  <a:srgbClr val="22373A"/>
                </a:solidFill>
                <a:latin typeface="Arial"/>
                <a:cs typeface="Arial"/>
              </a:rPr>
              <a:t>addresses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available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ranging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10.0.0.0</a:t>
            </a:r>
            <a:r>
              <a:rPr lang="en-US" sz="900" spc="-9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10.0.255.255</a:t>
            </a:r>
            <a:r>
              <a:rPr lang="en-US" sz="900" spc="-434" noProof="1">
                <a:latin typeface="Courier New"/>
                <a:cs typeface="Courier New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wanted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divide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two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subnets,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could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ranges: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1:</a:t>
            </a:r>
            <a:r>
              <a:rPr lang="en-US" sz="900" spc="2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10.0.1.0/24</a:t>
            </a:r>
            <a:r>
              <a:rPr lang="en-US" sz="900" spc="-12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(IP</a:t>
            </a:r>
            <a:r>
              <a:rPr lang="en-US" sz="900" spc="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addresses</a:t>
            </a:r>
            <a:r>
              <a:rPr lang="en-US" sz="9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10.0.1.0</a:t>
            </a:r>
            <a:r>
              <a:rPr lang="en-US" sz="900" spc="-12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10.0.1.255</a:t>
            </a:r>
            <a:r>
              <a:rPr lang="en-US" sz="900" spc="-445" noProof="1">
                <a:latin typeface="Courier New"/>
                <a:cs typeface="Courier New"/>
              </a:rPr>
              <a:t> 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)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2:</a:t>
            </a:r>
            <a:r>
              <a:rPr lang="en-US" sz="900" spc="2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10.0.2.0/24</a:t>
            </a:r>
            <a:r>
              <a:rPr lang="en-US" sz="900" spc="-12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(IP</a:t>
            </a:r>
            <a:r>
              <a:rPr lang="en-US" sz="900" spc="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addresses</a:t>
            </a:r>
            <a:r>
              <a:rPr lang="en-US" sz="9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10.0.2.0</a:t>
            </a:r>
            <a:r>
              <a:rPr lang="en-US" sz="900" spc="-12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10.0.2.255</a:t>
            </a:r>
            <a:r>
              <a:rPr lang="en-US" sz="900" spc="-445" noProof="1">
                <a:latin typeface="Courier New"/>
                <a:cs typeface="Courier New"/>
              </a:rPr>
              <a:t> 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)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3:</a:t>
            </a:r>
            <a:r>
              <a:rPr lang="en-US" sz="900" spc="2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10.0.3.0/24</a:t>
            </a:r>
            <a:r>
              <a:rPr lang="en-US" sz="900" spc="-12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(IP</a:t>
            </a:r>
            <a:r>
              <a:rPr lang="en-US" sz="900" spc="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addresses</a:t>
            </a:r>
            <a:r>
              <a:rPr lang="en-US" sz="9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10.0.3.0</a:t>
            </a:r>
            <a:r>
              <a:rPr lang="en-US" sz="900" spc="-12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10.0.3.255</a:t>
            </a:r>
            <a:r>
              <a:rPr lang="en-US" sz="900" spc="-445" noProof="1">
                <a:latin typeface="Courier New"/>
                <a:cs typeface="Courier New"/>
              </a:rPr>
              <a:t> 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)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etc.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34" name="object 34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35" name="object 35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36" name="object 36"/>
            <p:cNvSpPr/>
            <p:nvPr/>
          </p:nvSpPr>
          <p:spPr>
            <a:xfrm>
              <a:off x="0" y="3234963"/>
              <a:ext cx="1936750" cy="5080"/>
            </a:xfrm>
            <a:custGeom>
              <a:avLst/>
              <a:gdLst/>
              <a:ahLst/>
              <a:cxnLst/>
              <a:rect l="l" t="t" r="r" b="b"/>
              <a:pathLst>
                <a:path w="1936750" h="5080">
                  <a:moveTo>
                    <a:pt x="0" y="5060"/>
                  </a:moveTo>
                  <a:lnTo>
                    <a:pt x="0" y="0"/>
                  </a:lnTo>
                  <a:lnTo>
                    <a:pt x="1936167" y="0"/>
                  </a:lnTo>
                  <a:lnTo>
                    <a:pt x="193616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55" noProof="1"/>
              <a:t> </a:t>
            </a:r>
            <a:r>
              <a:rPr lang="en-US" spc="-25" noProof="1"/>
              <a:t>is</a:t>
            </a:r>
            <a:r>
              <a:rPr lang="en-US" spc="55" noProof="1"/>
              <a:t> </a:t>
            </a:r>
            <a:r>
              <a:rPr lang="en-US" noProof="1"/>
              <a:t>a</a:t>
            </a:r>
            <a:r>
              <a:rPr lang="en-US" spc="55" noProof="1"/>
              <a:t> </a:t>
            </a:r>
            <a:r>
              <a:rPr lang="en-US" spc="-45" noProof="1"/>
              <a:t>subnet?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412143"/>
            <a:ext cx="5065395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if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had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company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want 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divide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our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into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cameras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marketing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department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could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setup: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9904" y="836474"/>
            <a:ext cx="3840204" cy="2099194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1985010" cy="5080"/>
            </a:xfrm>
            <a:custGeom>
              <a:avLst/>
              <a:gdLst/>
              <a:ahLst/>
              <a:cxnLst/>
              <a:rect l="l" t="t" r="r" b="b"/>
              <a:pathLst>
                <a:path w="1985010" h="5080">
                  <a:moveTo>
                    <a:pt x="0" y="5060"/>
                  </a:moveTo>
                  <a:lnTo>
                    <a:pt x="0" y="0"/>
                  </a:lnTo>
                  <a:lnTo>
                    <a:pt x="1984595" y="0"/>
                  </a:lnTo>
                  <a:lnTo>
                    <a:pt x="198459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55" noProof="1"/>
              <a:t> </a:t>
            </a:r>
            <a:r>
              <a:rPr lang="en-US" spc="-25" noProof="1"/>
              <a:t>is</a:t>
            </a:r>
            <a:r>
              <a:rPr lang="en-US" spc="55" noProof="1"/>
              <a:t> </a:t>
            </a:r>
            <a:r>
              <a:rPr lang="en-US" noProof="1"/>
              <a:t>a</a:t>
            </a:r>
            <a:r>
              <a:rPr lang="en-US" spc="55" noProof="1"/>
              <a:t> </a:t>
            </a:r>
            <a:r>
              <a:rPr lang="en-US" spc="-45" noProof="1"/>
              <a:t>subnet?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9927" rIns="0" bIns="0" rtlCol="0">
            <a:spAutoFit/>
          </a:bodyPr>
          <a:lstStyle/>
          <a:p>
            <a:pPr marL="17780" marR="75565" indent="-4445">
              <a:lnSpc>
                <a:spcPct val="116199"/>
              </a:lnSpc>
              <a:spcBef>
                <a:spcPts val="100"/>
              </a:spcBef>
            </a:pPr>
            <a:r>
              <a:rPr lang="en-US" noProof="1"/>
              <a:t>And</a:t>
            </a:r>
            <a:r>
              <a:rPr lang="en-US" spc="-5" noProof="1"/>
              <a:t> </a:t>
            </a:r>
            <a:r>
              <a:rPr lang="en-US" spc="-10" noProof="1"/>
              <a:t>how</a:t>
            </a:r>
            <a:r>
              <a:rPr lang="en-US" noProof="1"/>
              <a:t> do </a:t>
            </a:r>
            <a:r>
              <a:rPr lang="en-US" spc="-10" noProof="1"/>
              <a:t>routers</a:t>
            </a:r>
            <a:r>
              <a:rPr lang="en-US" noProof="1"/>
              <a:t> </a:t>
            </a:r>
            <a:r>
              <a:rPr lang="en-US" spc="-10" noProof="1"/>
              <a:t>apply</a:t>
            </a:r>
            <a:r>
              <a:rPr lang="en-US" spc="-5" noProof="1"/>
              <a:t> </a:t>
            </a:r>
            <a:r>
              <a:rPr lang="en-US" noProof="1"/>
              <a:t>different </a:t>
            </a:r>
            <a:r>
              <a:rPr lang="en-US" spc="-25" noProof="1"/>
              <a:t>rules</a:t>
            </a:r>
            <a:r>
              <a:rPr lang="en-US" noProof="1"/>
              <a:t> to different</a:t>
            </a:r>
            <a:r>
              <a:rPr lang="en-US" spc="-5" noProof="1"/>
              <a:t> </a:t>
            </a:r>
            <a:r>
              <a:rPr lang="en-US" spc="-35" noProof="1"/>
              <a:t>subnets?</a:t>
            </a:r>
            <a:r>
              <a:rPr lang="en-US" spc="85" noProof="1"/>
              <a:t> </a:t>
            </a:r>
            <a:r>
              <a:rPr lang="en-US" noProof="1"/>
              <a:t>They</a:t>
            </a:r>
            <a:r>
              <a:rPr lang="en-US" spc="-5" noProof="1"/>
              <a:t> </a:t>
            </a:r>
            <a:r>
              <a:rPr lang="en-US" spc="-55" noProof="1"/>
              <a:t>use</a:t>
            </a:r>
            <a:r>
              <a:rPr lang="en-US" noProof="1"/>
              <a:t> </a:t>
            </a:r>
            <a:r>
              <a:rPr lang="en-US" b="1" noProof="1">
                <a:latin typeface="Arial"/>
                <a:cs typeface="Arial"/>
              </a:rPr>
              <a:t>route</a:t>
            </a:r>
            <a:r>
              <a:rPr lang="en-US" b="1" spc="15" noProof="1">
                <a:latin typeface="Arial"/>
                <a:cs typeface="Arial"/>
              </a:rPr>
              <a:t> </a:t>
            </a:r>
            <a:r>
              <a:rPr lang="en-US" b="1" spc="-10" noProof="1">
                <a:latin typeface="Arial"/>
                <a:cs typeface="Arial"/>
              </a:rPr>
              <a:t>tables</a:t>
            </a:r>
            <a:r>
              <a:rPr lang="en-US" spc="-10" noProof="1"/>
              <a:t>.</a:t>
            </a:r>
            <a:r>
              <a:rPr lang="en-US" spc="80" noProof="1"/>
              <a:t> </a:t>
            </a:r>
            <a:r>
              <a:rPr lang="en-US" noProof="1"/>
              <a:t>It </a:t>
            </a:r>
            <a:r>
              <a:rPr lang="en-US" spc="-30" noProof="1"/>
              <a:t>consists</a:t>
            </a:r>
            <a:r>
              <a:rPr lang="en-US" noProof="1"/>
              <a:t> of </a:t>
            </a:r>
            <a:r>
              <a:rPr lang="en-US" spc="-50" noProof="1"/>
              <a:t>a</a:t>
            </a:r>
            <a:r>
              <a:rPr lang="en-US" noProof="1"/>
              <a:t> list</a:t>
            </a:r>
            <a:r>
              <a:rPr lang="en-US" spc="5" noProof="1"/>
              <a:t> </a:t>
            </a:r>
            <a:r>
              <a:rPr lang="en-US" noProof="1"/>
              <a:t>of</a:t>
            </a:r>
            <a:r>
              <a:rPr lang="en-US" spc="10" noProof="1"/>
              <a:t> </a:t>
            </a:r>
            <a:r>
              <a:rPr lang="en-US" spc="-25" noProof="1"/>
              <a:t>rules</a:t>
            </a:r>
            <a:r>
              <a:rPr lang="en-US" spc="5" noProof="1"/>
              <a:t> </a:t>
            </a:r>
            <a:r>
              <a:rPr lang="en-US" noProof="1"/>
              <a:t>that</a:t>
            </a:r>
            <a:r>
              <a:rPr lang="en-US" spc="10" noProof="1"/>
              <a:t> </a:t>
            </a:r>
            <a:r>
              <a:rPr lang="en-US" spc="-20" noProof="1"/>
              <a:t>specify</a:t>
            </a:r>
            <a:r>
              <a:rPr lang="en-US" spc="5" noProof="1"/>
              <a:t> </a:t>
            </a:r>
            <a:r>
              <a:rPr lang="en-US" noProof="1"/>
              <a:t>which</a:t>
            </a:r>
            <a:r>
              <a:rPr lang="en-US" spc="10" noProof="1"/>
              <a:t> </a:t>
            </a:r>
            <a:r>
              <a:rPr lang="en-US" spc="-10" noProof="1"/>
              <a:t>traﬀic</a:t>
            </a:r>
            <a:r>
              <a:rPr lang="en-US" spc="5" noProof="1"/>
              <a:t> </a:t>
            </a:r>
            <a:r>
              <a:rPr lang="en-US" spc="-10" noProof="1"/>
              <a:t>can</a:t>
            </a:r>
            <a:r>
              <a:rPr lang="en-US" spc="10" noProof="1"/>
              <a:t> </a:t>
            </a:r>
            <a:r>
              <a:rPr lang="en-US" noProof="1"/>
              <a:t>go</a:t>
            </a:r>
            <a:r>
              <a:rPr lang="en-US" spc="5" noProof="1"/>
              <a:t> </a:t>
            </a:r>
            <a:r>
              <a:rPr lang="en-US" spc="-10" noProof="1"/>
              <a:t>where.</a:t>
            </a:r>
          </a:p>
          <a:p>
            <a:pPr marL="15240" marR="5080" indent="-3175">
              <a:lnSpc>
                <a:spcPct val="116199"/>
              </a:lnSpc>
              <a:spcBef>
                <a:spcPts val="625"/>
              </a:spcBef>
            </a:pPr>
            <a:r>
              <a:rPr lang="en-US" spc="-10" noProof="1"/>
              <a:t>We</a:t>
            </a:r>
            <a:r>
              <a:rPr lang="en-US" spc="5" noProof="1"/>
              <a:t> </a:t>
            </a:r>
            <a:r>
              <a:rPr lang="en-US" spc="-10" noProof="1"/>
              <a:t>could</a:t>
            </a:r>
            <a:r>
              <a:rPr lang="en-US" spc="5" noProof="1"/>
              <a:t> </a:t>
            </a:r>
            <a:r>
              <a:rPr lang="en-US" noProof="1"/>
              <a:t>build</a:t>
            </a:r>
            <a:r>
              <a:rPr lang="en-US" spc="10" noProof="1"/>
              <a:t> </a:t>
            </a:r>
            <a:r>
              <a:rPr lang="en-US" noProof="1"/>
              <a:t>a</a:t>
            </a:r>
            <a:r>
              <a:rPr lang="en-US" spc="10" noProof="1"/>
              <a:t> </a:t>
            </a:r>
            <a:r>
              <a:rPr lang="en-US" noProof="1"/>
              <a:t>route</a:t>
            </a:r>
            <a:r>
              <a:rPr lang="en-US" spc="10" noProof="1"/>
              <a:t> </a:t>
            </a:r>
            <a:r>
              <a:rPr lang="en-US" noProof="1"/>
              <a:t>table</a:t>
            </a:r>
            <a:r>
              <a:rPr lang="en-US" spc="10" noProof="1"/>
              <a:t> </a:t>
            </a:r>
            <a:r>
              <a:rPr lang="en-US" noProof="1"/>
              <a:t>that</a:t>
            </a:r>
            <a:r>
              <a:rPr lang="en-US" spc="5" noProof="1"/>
              <a:t> </a:t>
            </a:r>
            <a:r>
              <a:rPr lang="en-US" spc="-75" noProof="1"/>
              <a:t>says</a:t>
            </a:r>
            <a:r>
              <a:rPr lang="en-US" spc="15" noProof="1"/>
              <a:t> </a:t>
            </a:r>
            <a:r>
              <a:rPr lang="en-US" noProof="1"/>
              <a:t>that</a:t>
            </a:r>
            <a:r>
              <a:rPr lang="en-US" spc="10" noProof="1"/>
              <a:t> </a:t>
            </a:r>
            <a:r>
              <a:rPr lang="en-US" spc="-20" noProof="1"/>
              <a:t>traﬀic</a:t>
            </a:r>
            <a:r>
              <a:rPr lang="en-US" spc="10" noProof="1"/>
              <a:t> </a:t>
            </a:r>
            <a:r>
              <a:rPr lang="en-US" noProof="1"/>
              <a:t>from</a:t>
            </a:r>
            <a:r>
              <a:rPr lang="en-US" spc="5" noProof="1"/>
              <a:t> </a:t>
            </a:r>
            <a:r>
              <a:rPr lang="en-US" noProof="1"/>
              <a:t>the</a:t>
            </a:r>
            <a:r>
              <a:rPr lang="en-US" spc="10" noProof="1"/>
              <a:t> </a:t>
            </a:r>
            <a:r>
              <a:rPr lang="en-US" spc="-20" noProof="1"/>
              <a:t>marketing</a:t>
            </a:r>
            <a:r>
              <a:rPr lang="en-US" spc="10" noProof="1"/>
              <a:t> </a:t>
            </a:r>
            <a:r>
              <a:rPr lang="en-US" spc="-20" noProof="1"/>
              <a:t>department</a:t>
            </a:r>
            <a:r>
              <a:rPr lang="en-US" spc="10" noProof="1"/>
              <a:t> </a:t>
            </a:r>
            <a:r>
              <a:rPr lang="en-US" spc="-10" noProof="1"/>
              <a:t>and</a:t>
            </a:r>
            <a:r>
              <a:rPr lang="en-US" spc="10" noProof="1"/>
              <a:t> </a:t>
            </a:r>
            <a:r>
              <a:rPr lang="en-US" spc="-20" noProof="1"/>
              <a:t>security</a:t>
            </a:r>
            <a:r>
              <a:rPr lang="en-US" spc="5" noProof="1"/>
              <a:t> </a:t>
            </a:r>
            <a:r>
              <a:rPr lang="en-US" spc="-55" noProof="1"/>
              <a:t>cameras</a:t>
            </a:r>
            <a:r>
              <a:rPr lang="en-US" spc="-10" noProof="1"/>
              <a:t> can </a:t>
            </a:r>
            <a:r>
              <a:rPr lang="en-US" noProof="1"/>
              <a:t>go</a:t>
            </a:r>
            <a:r>
              <a:rPr lang="en-US" spc="-5" noProof="1"/>
              <a:t> </a:t>
            </a:r>
            <a:r>
              <a:rPr lang="en-US" noProof="1"/>
              <a:t>to</a:t>
            </a:r>
            <a:r>
              <a:rPr lang="en-US" spc="-10" noProof="1"/>
              <a:t> </a:t>
            </a:r>
            <a:r>
              <a:rPr lang="en-US" noProof="1"/>
              <a:t>the</a:t>
            </a:r>
            <a:r>
              <a:rPr lang="en-US" spc="-5" noProof="1"/>
              <a:t> </a:t>
            </a:r>
            <a:r>
              <a:rPr lang="en-US" noProof="1"/>
              <a:t>internet</a:t>
            </a:r>
            <a:r>
              <a:rPr lang="en-US" spc="-5" noProof="1"/>
              <a:t> </a:t>
            </a:r>
            <a:r>
              <a:rPr lang="en-US" noProof="1"/>
              <a:t>(so</a:t>
            </a:r>
            <a:r>
              <a:rPr lang="en-US" spc="-10" noProof="1"/>
              <a:t> </a:t>
            </a:r>
            <a:r>
              <a:rPr lang="en-US" spc="-40" noProof="1"/>
              <a:t>we</a:t>
            </a:r>
            <a:r>
              <a:rPr lang="en-US" spc="-5" noProof="1"/>
              <a:t> </a:t>
            </a:r>
            <a:r>
              <a:rPr lang="en-US" spc="-20" noProof="1"/>
              <a:t>may</a:t>
            </a:r>
            <a:r>
              <a:rPr lang="en-US" spc="-10" noProof="1"/>
              <a:t> </a:t>
            </a:r>
            <a:r>
              <a:rPr lang="en-US" noProof="1"/>
              <a:t>simplify</a:t>
            </a:r>
            <a:r>
              <a:rPr lang="en-US" spc="-5" noProof="1"/>
              <a:t> </a:t>
            </a:r>
            <a:r>
              <a:rPr lang="en-US" noProof="1"/>
              <a:t>and</a:t>
            </a:r>
            <a:r>
              <a:rPr lang="en-US" spc="-5" noProof="1"/>
              <a:t> </a:t>
            </a:r>
            <a:r>
              <a:rPr lang="en-US" spc="-55" noProof="1"/>
              <a:t>say</a:t>
            </a:r>
            <a:r>
              <a:rPr lang="en-US" spc="-10" noProof="1"/>
              <a:t> </a:t>
            </a:r>
            <a:r>
              <a:rPr lang="en-US" noProof="1"/>
              <a:t>that</a:t>
            </a:r>
            <a:r>
              <a:rPr lang="en-US" spc="-5" noProof="1"/>
              <a:t> </a:t>
            </a:r>
            <a:r>
              <a:rPr lang="en-US" spc="-10" noProof="1"/>
              <a:t>traﬀic</a:t>
            </a:r>
            <a:r>
              <a:rPr lang="en-US" spc="-5" noProof="1"/>
              <a:t> </a:t>
            </a:r>
            <a:r>
              <a:rPr lang="en-US" noProof="1"/>
              <a:t>originating</a:t>
            </a:r>
            <a:r>
              <a:rPr lang="en-US" spc="-10" noProof="1"/>
              <a:t> </a:t>
            </a:r>
            <a:r>
              <a:rPr lang="en-US" noProof="1"/>
              <a:t>from</a:t>
            </a:r>
            <a:r>
              <a:rPr lang="en-US" spc="-5" noProof="1"/>
              <a:t> </a:t>
            </a:r>
            <a:r>
              <a:rPr lang="en-US" b="1" spc="-20" noProof="1">
                <a:latin typeface="Arial"/>
                <a:cs typeface="Arial"/>
              </a:rPr>
              <a:t>any</a:t>
            </a:r>
            <a:r>
              <a:rPr lang="en-US" b="1" spc="-10" noProof="1">
                <a:latin typeface="Arial"/>
                <a:cs typeface="Arial"/>
              </a:rPr>
              <a:t> </a:t>
            </a:r>
            <a:r>
              <a:rPr lang="en-US" spc="-20" noProof="1"/>
              <a:t>subnet</a:t>
            </a:r>
            <a:r>
              <a:rPr lang="en-US" spc="-5" noProof="1"/>
              <a:t> </a:t>
            </a:r>
            <a:r>
              <a:rPr lang="en-US" spc="-10" noProof="1"/>
              <a:t>can</a:t>
            </a:r>
            <a:r>
              <a:rPr lang="en-US" spc="-5" noProof="1"/>
              <a:t> </a:t>
            </a:r>
            <a:r>
              <a:rPr lang="en-US" noProof="1"/>
              <a:t>go</a:t>
            </a:r>
            <a:r>
              <a:rPr lang="en-US" spc="-10" noProof="1"/>
              <a:t> </a:t>
            </a:r>
            <a:r>
              <a:rPr lang="en-US" spc="-25" noProof="1"/>
              <a:t>to </a:t>
            </a:r>
            <a:r>
              <a:rPr lang="en-US" noProof="1"/>
              <a:t>the</a:t>
            </a:r>
            <a:r>
              <a:rPr lang="en-US" spc="20" noProof="1"/>
              <a:t> </a:t>
            </a:r>
            <a:r>
              <a:rPr lang="en-US" noProof="1"/>
              <a:t>internet),</a:t>
            </a:r>
            <a:r>
              <a:rPr lang="en-US" spc="20" noProof="1"/>
              <a:t> </a:t>
            </a:r>
            <a:r>
              <a:rPr lang="en-US" noProof="1"/>
              <a:t>but</a:t>
            </a:r>
            <a:r>
              <a:rPr lang="en-US" spc="20" noProof="1"/>
              <a:t> </a:t>
            </a:r>
            <a:r>
              <a:rPr lang="en-US" spc="-10" noProof="1"/>
              <a:t>traﬀic</a:t>
            </a:r>
            <a:r>
              <a:rPr lang="en-US" spc="20" noProof="1"/>
              <a:t> </a:t>
            </a:r>
            <a:r>
              <a:rPr lang="en-US" noProof="1"/>
              <a:t>from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20" noProof="1"/>
              <a:t> </a:t>
            </a:r>
            <a:r>
              <a:rPr lang="en-US" spc="-20" noProof="1"/>
              <a:t>marketing</a:t>
            </a:r>
            <a:r>
              <a:rPr lang="en-US" spc="20" noProof="1"/>
              <a:t> </a:t>
            </a:r>
            <a:r>
              <a:rPr lang="en-US" spc="-10" noProof="1"/>
              <a:t>department</a:t>
            </a:r>
            <a:r>
              <a:rPr lang="en-US" spc="20" noProof="1"/>
              <a:t> </a:t>
            </a:r>
            <a:r>
              <a:rPr lang="en-US" noProof="1"/>
              <a:t>can’t</a:t>
            </a:r>
            <a:r>
              <a:rPr lang="en-US" spc="20" noProof="1"/>
              <a:t> </a:t>
            </a:r>
            <a:r>
              <a:rPr lang="en-US" noProof="1"/>
              <a:t>go</a:t>
            </a:r>
            <a:r>
              <a:rPr lang="en-US" spc="20" noProof="1"/>
              <a:t> </a:t>
            </a:r>
            <a:r>
              <a:rPr lang="en-US" noProof="1"/>
              <a:t>to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20" noProof="1"/>
              <a:t> </a:t>
            </a:r>
            <a:r>
              <a:rPr lang="en-US" spc="-20" noProof="1"/>
              <a:t>security</a:t>
            </a:r>
            <a:r>
              <a:rPr lang="en-US" spc="20" noProof="1"/>
              <a:t> </a:t>
            </a:r>
            <a:r>
              <a:rPr lang="en-US" spc="-40" noProof="1"/>
              <a:t>cameras</a:t>
            </a:r>
            <a:r>
              <a:rPr lang="en-US" spc="20" noProof="1"/>
              <a:t> </a:t>
            </a:r>
            <a:r>
              <a:rPr lang="en-US" spc="-20" noProof="1"/>
              <a:t>subnet</a:t>
            </a:r>
            <a:r>
              <a:rPr lang="en-US" spc="20" noProof="1"/>
              <a:t> </a:t>
            </a:r>
            <a:r>
              <a:rPr lang="en-US" spc="-25" noProof="1"/>
              <a:t>and </a:t>
            </a:r>
            <a:r>
              <a:rPr lang="en-US" spc="-10" noProof="1"/>
              <a:t>vice</a:t>
            </a:r>
            <a:r>
              <a:rPr lang="en-US" spc="-50" noProof="1"/>
              <a:t> </a:t>
            </a:r>
            <a:r>
              <a:rPr lang="en-US" spc="-10" noProof="1"/>
              <a:t>versa.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033270" cy="5080"/>
            </a:xfrm>
            <a:custGeom>
              <a:avLst/>
              <a:gdLst/>
              <a:ahLst/>
              <a:cxnLst/>
              <a:rect l="l" t="t" r="r" b="b"/>
              <a:pathLst>
                <a:path w="2033270" h="5080">
                  <a:moveTo>
                    <a:pt x="0" y="5060"/>
                  </a:moveTo>
                  <a:lnTo>
                    <a:pt x="0" y="0"/>
                  </a:lnTo>
                  <a:lnTo>
                    <a:pt x="2032936" y="0"/>
                  </a:lnTo>
                  <a:lnTo>
                    <a:pt x="203293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865"/>
            <a:ext cx="12712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spc="-3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Networking</a:t>
            </a:r>
            <a:r>
              <a:rPr lang="en-US" sz="1100" b="1" spc="1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in</a:t>
            </a:r>
            <a:r>
              <a:rPr lang="en-US" sz="1100" b="1" spc="2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spc="-2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AWS</a:t>
            </a:r>
            <a:endParaRPr lang="en-US" sz="1100" noProof="1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755"/>
            <a:ext cx="2505710" cy="5080"/>
            <a:chOff x="1627403" y="1647755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755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755"/>
              <a:ext cx="905510" cy="5080"/>
            </a:xfrm>
            <a:custGeom>
              <a:avLst/>
              <a:gdLst/>
              <a:ahLst/>
              <a:cxnLst/>
              <a:rect l="l" t="t" r="r" b="b"/>
              <a:pathLst>
                <a:path w="905510" h="5080">
                  <a:moveTo>
                    <a:pt x="0" y="5060"/>
                  </a:moveTo>
                  <a:lnTo>
                    <a:pt x="0" y="0"/>
                  </a:lnTo>
                  <a:lnTo>
                    <a:pt x="905250" y="0"/>
                  </a:lnTo>
                  <a:lnTo>
                    <a:pt x="90525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740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How</a:t>
            </a:r>
            <a:r>
              <a:rPr lang="en-US" spc="-5" noProof="1"/>
              <a:t> </a:t>
            </a:r>
            <a:r>
              <a:rPr lang="en-US" noProof="1"/>
              <a:t>do</a:t>
            </a:r>
            <a:r>
              <a:rPr lang="en-US" spc="-5" noProof="1"/>
              <a:t> </a:t>
            </a:r>
            <a:r>
              <a:rPr lang="en-US" noProof="1"/>
              <a:t>AWS</a:t>
            </a:r>
            <a:r>
              <a:rPr lang="en-US" spc="-5" noProof="1"/>
              <a:t> </a:t>
            </a:r>
            <a:r>
              <a:rPr lang="en-US" spc="-45" noProof="1"/>
              <a:t>networks</a:t>
            </a:r>
            <a:r>
              <a:rPr lang="en-US" noProof="1"/>
              <a:t> </a:t>
            </a:r>
            <a:r>
              <a:rPr lang="en-US" spc="-40" noProof="1"/>
              <a:t>work?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66563"/>
            <a:ext cx="498221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far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talking about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networks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general,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do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networks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work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AWS?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Just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reminder,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remember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0" noProof="1">
                <a:solidFill>
                  <a:srgbClr val="22373A"/>
                </a:solidFill>
                <a:latin typeface="Arial"/>
                <a:cs typeface="Arial"/>
              </a:rPr>
              <a:t>networks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called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4567" y="981909"/>
            <a:ext cx="3490873" cy="179933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2129790" cy="5080"/>
            </a:xfrm>
            <a:custGeom>
              <a:avLst/>
              <a:gdLst/>
              <a:ahLst/>
              <a:cxnLst/>
              <a:rect l="l" t="t" r="r" b="b"/>
              <a:pathLst>
                <a:path w="2129790" h="5080">
                  <a:moveTo>
                    <a:pt x="0" y="5060"/>
                  </a:moveTo>
                  <a:lnTo>
                    <a:pt x="0" y="0"/>
                  </a:lnTo>
                  <a:lnTo>
                    <a:pt x="2129792" y="0"/>
                  </a:lnTo>
                  <a:lnTo>
                    <a:pt x="212979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740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How</a:t>
            </a:r>
            <a:r>
              <a:rPr lang="en-US" sz="1000" b="1" spc="-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do</a:t>
            </a:r>
            <a:r>
              <a:rPr lang="en-US" sz="1000" b="1" spc="-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AWS</a:t>
            </a:r>
            <a:r>
              <a:rPr lang="en-US" sz="1000" b="1" spc="-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45" noProof="1">
                <a:solidFill>
                  <a:srgbClr val="F9F9F9"/>
                </a:solidFill>
                <a:latin typeface="Arial"/>
                <a:cs typeface="Arial"/>
              </a:rPr>
              <a:t>networks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40" noProof="1">
                <a:solidFill>
                  <a:srgbClr val="F9F9F9"/>
                </a:solidFill>
                <a:latin typeface="Arial"/>
                <a:cs typeface="Arial"/>
              </a:rPr>
              <a:t>work?</a:t>
            </a:r>
            <a:endParaRPr lang="en-US" sz="1000" noProof="1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3433" y="964978"/>
            <a:ext cx="214058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course,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part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1876" y="1205958"/>
            <a:ext cx="2356255" cy="1199548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178685" cy="5080"/>
            </a:xfrm>
            <a:custGeom>
              <a:avLst/>
              <a:gdLst/>
              <a:ahLst/>
              <a:cxnLst/>
              <a:rect l="l" t="t" r="r" b="b"/>
              <a:pathLst>
                <a:path w="2178685" h="5080">
                  <a:moveTo>
                    <a:pt x="0" y="5060"/>
                  </a:moveTo>
                  <a:lnTo>
                    <a:pt x="0" y="0"/>
                  </a:lnTo>
                  <a:lnTo>
                    <a:pt x="2178221" y="0"/>
                  </a:lnTo>
                  <a:lnTo>
                    <a:pt x="217822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17405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How</a:t>
            </a:r>
            <a:r>
              <a:rPr lang="en-US" spc="-5" noProof="1"/>
              <a:t> </a:t>
            </a:r>
            <a:r>
              <a:rPr lang="en-US" noProof="1"/>
              <a:t>do</a:t>
            </a:r>
            <a:r>
              <a:rPr lang="en-US" spc="-5" noProof="1"/>
              <a:t> </a:t>
            </a:r>
            <a:r>
              <a:rPr lang="en-US" noProof="1"/>
              <a:t>AWS</a:t>
            </a:r>
            <a:r>
              <a:rPr lang="en-US" spc="-5" noProof="1"/>
              <a:t> </a:t>
            </a:r>
            <a:r>
              <a:rPr lang="en-US" spc="-45" noProof="1"/>
              <a:t>networks</a:t>
            </a:r>
            <a:r>
              <a:rPr lang="en-US" noProof="1"/>
              <a:t> </a:t>
            </a:r>
            <a:r>
              <a:rPr lang="en-US" spc="-40" noProof="1"/>
              <a:t>work?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132250"/>
            <a:ext cx="5024120" cy="1118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happens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inside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network?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How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different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70" noProof="1">
                <a:solidFill>
                  <a:srgbClr val="22373A"/>
                </a:solidFill>
                <a:latin typeface="Arial"/>
                <a:cs typeface="Arial"/>
              </a:rPr>
              <a:t>users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own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individual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space?</a:t>
            </a:r>
            <a:endParaRPr lang="en-US" sz="900" noProof="1">
              <a:latin typeface="Arial"/>
              <a:cs typeface="Arial"/>
            </a:endParaRPr>
          </a:p>
          <a:p>
            <a:pPr marL="12700" marR="220345">
              <a:lnSpc>
                <a:spcPct val="116199"/>
              </a:lnSpc>
              <a:spcBef>
                <a:spcPts val="625"/>
              </a:spcBef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Each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in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has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its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own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of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networks.</a:t>
            </a:r>
            <a:r>
              <a:rPr lang="en-US" sz="900" spc="8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These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networks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called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Virtual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Clouds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(VPCs)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fancy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lets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us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manage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own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networks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inside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AWS.</a:t>
            </a:r>
            <a:endParaRPr lang="en-US" sz="900" noProof="1">
              <a:latin typeface="Arial"/>
              <a:cs typeface="Arial"/>
            </a:endParaRPr>
          </a:p>
          <a:p>
            <a:pPr marL="12700" marR="5080">
              <a:lnSpc>
                <a:spcPct val="116199"/>
              </a:lnSpc>
              <a:spcBef>
                <a:spcPts val="630"/>
              </a:spcBef>
            </a:pP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default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everything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launch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lives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0" noProof="1">
                <a:solidFill>
                  <a:srgbClr val="22373A"/>
                </a:solidFill>
                <a:latin typeface="Arial"/>
                <a:cs typeface="Arial"/>
              </a:rPr>
              <a:t>inside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creates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configures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us.</a:t>
            </a:r>
            <a:r>
              <a:rPr lang="en-US" sz="900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VPCs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want.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226945" cy="5080"/>
            </a:xfrm>
            <a:custGeom>
              <a:avLst/>
              <a:gdLst/>
              <a:ahLst/>
              <a:cxnLst/>
              <a:rect l="l" t="t" r="r" b="b"/>
              <a:pathLst>
                <a:path w="2226945" h="5080">
                  <a:moveTo>
                    <a:pt x="0" y="5060"/>
                  </a:moveTo>
                  <a:lnTo>
                    <a:pt x="0" y="0"/>
                  </a:lnTo>
                  <a:lnTo>
                    <a:pt x="2226561" y="0"/>
                  </a:lnTo>
                  <a:lnTo>
                    <a:pt x="222656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5167"/>
            <a:ext cx="2007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spc="-1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Lab:</a:t>
            </a:r>
            <a:r>
              <a:rPr lang="en-US" sz="1100" b="1" spc="12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spc="-3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Experimenting</a:t>
            </a:r>
            <a:r>
              <a:rPr lang="en-US" sz="1100" b="1" spc="1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with</a:t>
            </a:r>
            <a:r>
              <a:rPr lang="en-US" sz="1100" b="1" spc="1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spc="-2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VPCs</a:t>
            </a:r>
            <a:endParaRPr lang="en-US" sz="1100" noProof="1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7056"/>
            <a:ext cx="2505710" cy="5080"/>
            <a:chOff x="1627403" y="1647056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7056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7056"/>
              <a:ext cx="1052830" cy="5080"/>
            </a:xfrm>
            <a:custGeom>
              <a:avLst/>
              <a:gdLst/>
              <a:ahLst/>
              <a:cxnLst/>
              <a:rect l="l" t="t" r="r" b="b"/>
              <a:pathLst>
                <a:path w="1052830" h="5080">
                  <a:moveTo>
                    <a:pt x="0" y="5060"/>
                  </a:moveTo>
                  <a:lnTo>
                    <a:pt x="0" y="0"/>
                  </a:lnTo>
                  <a:lnTo>
                    <a:pt x="1052615" y="0"/>
                  </a:lnTo>
                  <a:lnTo>
                    <a:pt x="105261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0" noProof="1"/>
              <a:t>Goal</a:t>
            </a:r>
            <a:r>
              <a:rPr lang="en-US" spc="15" noProof="1"/>
              <a:t> </a:t>
            </a:r>
            <a:r>
              <a:rPr lang="en-US" noProof="1"/>
              <a:t>of</a:t>
            </a:r>
            <a:r>
              <a:rPr lang="en-US" spc="15" noProof="1"/>
              <a:t> </a:t>
            </a:r>
            <a:r>
              <a:rPr lang="en-US" noProof="1"/>
              <a:t>the</a:t>
            </a:r>
            <a:r>
              <a:rPr lang="en-US" spc="20" noProof="1"/>
              <a:t> </a:t>
            </a:r>
            <a:r>
              <a:rPr lang="en-US" spc="-25" noProof="1"/>
              <a:t>lab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093096"/>
            <a:ext cx="4920615" cy="1198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During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 lab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will: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two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5" noProof="1">
                <a:solidFill>
                  <a:srgbClr val="22373A"/>
                </a:solidFill>
                <a:latin typeface="Arial"/>
                <a:cs typeface="Arial"/>
              </a:rPr>
              <a:t>subnets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VPC.</a:t>
            </a:r>
            <a:endParaRPr lang="en-US" sz="900" noProof="1">
              <a:latin typeface="Arial"/>
              <a:cs typeface="Arial"/>
            </a:endParaRPr>
          </a:p>
          <a:p>
            <a:pPr marL="240029" marR="5080" indent="-147955">
              <a:lnSpc>
                <a:spcPct val="116199"/>
              </a:lnSpc>
              <a:buChar char="•"/>
              <a:tabLst>
                <a:tab pos="240029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Configure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Gateway</a:t>
            </a:r>
            <a:r>
              <a:rPr lang="en-US" sz="9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Route Tables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Deploy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both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subnets.</a:t>
            </a:r>
            <a:endParaRPr lang="en-US" sz="900" noProof="1">
              <a:latin typeface="Arial"/>
              <a:cs typeface="Arial"/>
            </a:endParaRPr>
          </a:p>
          <a:p>
            <a:pPr marL="235585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235585" algn="l"/>
              </a:tabLst>
            </a:pP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from the public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468880" cy="5080"/>
            </a:xfrm>
            <a:custGeom>
              <a:avLst/>
              <a:gdLst/>
              <a:ahLst/>
              <a:cxnLst/>
              <a:rect l="l" t="t" r="r" b="b"/>
              <a:pathLst>
                <a:path w="2468880" h="5080">
                  <a:moveTo>
                    <a:pt x="0" y="5060"/>
                  </a:moveTo>
                  <a:lnTo>
                    <a:pt x="0" y="0"/>
                  </a:lnTo>
                  <a:lnTo>
                    <a:pt x="2468615" y="0"/>
                  </a:lnTo>
                  <a:lnTo>
                    <a:pt x="246861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8947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20" noProof="1">
                <a:solidFill>
                  <a:srgbClr val="F9F9F9"/>
                </a:solidFill>
                <a:latin typeface="Arial"/>
                <a:cs typeface="Arial"/>
              </a:rPr>
              <a:t>Goal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of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lang="en-US" sz="1000" b="1" spc="2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lab</a:t>
            </a:r>
            <a:endParaRPr lang="en-US" sz="10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6874" y="625581"/>
            <a:ext cx="4466254" cy="209921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2517140" cy="5080"/>
            </a:xfrm>
            <a:custGeom>
              <a:avLst/>
              <a:gdLst/>
              <a:ahLst/>
              <a:cxnLst/>
              <a:rect l="l" t="t" r="r" b="b"/>
              <a:pathLst>
                <a:path w="2517140" h="5080">
                  <a:moveTo>
                    <a:pt x="0" y="5060"/>
                  </a:moveTo>
                  <a:lnTo>
                    <a:pt x="0" y="0"/>
                  </a:lnTo>
                  <a:lnTo>
                    <a:pt x="2517043" y="0"/>
                  </a:lnTo>
                  <a:lnTo>
                    <a:pt x="251704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9467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10" noProof="1">
                <a:solidFill>
                  <a:srgbClr val="F9F9F9"/>
                </a:solidFill>
                <a:latin typeface="Arial"/>
                <a:cs typeface="Arial"/>
              </a:rPr>
              <a:t>Creating</a:t>
            </a:r>
            <a:r>
              <a:rPr lang="en-US" sz="1000" b="1" spc="1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a</a:t>
            </a:r>
            <a:r>
              <a:rPr lang="en-US" sz="1000" b="1" spc="1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VPC</a:t>
            </a:r>
            <a:endParaRPr lang="en-US" sz="10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7900" y="625557"/>
            <a:ext cx="4504221" cy="209925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2565400" cy="5080"/>
            </a:xfrm>
            <a:custGeom>
              <a:avLst/>
              <a:gdLst/>
              <a:ahLst/>
              <a:cxnLst/>
              <a:rect l="l" t="t" r="r" b="b"/>
              <a:pathLst>
                <a:path w="2565400" h="5080">
                  <a:moveTo>
                    <a:pt x="0" y="5060"/>
                  </a:moveTo>
                  <a:lnTo>
                    <a:pt x="0" y="0"/>
                  </a:lnTo>
                  <a:lnTo>
                    <a:pt x="2565384" y="0"/>
                  </a:lnTo>
                  <a:lnTo>
                    <a:pt x="256538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0" noProof="1"/>
              <a:t>Creating</a:t>
            </a:r>
            <a:r>
              <a:rPr lang="en-US" spc="10" noProof="1"/>
              <a:t> </a:t>
            </a:r>
            <a:r>
              <a:rPr lang="en-US" noProof="1"/>
              <a:t>a</a:t>
            </a:r>
            <a:r>
              <a:rPr lang="en-US" spc="10" noProof="1"/>
              <a:t> </a:t>
            </a:r>
            <a:r>
              <a:rPr lang="en-US" spc="-25" noProof="1"/>
              <a:t>VPC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79360" y="1520181"/>
            <a:ext cx="504190" cy="147320"/>
            <a:chOff x="979360" y="1520181"/>
            <a:chExt cx="504190" cy="147320"/>
          </a:xfrm>
        </p:grpSpPr>
        <p:sp>
          <p:nvSpPr>
            <p:cNvPr id="4" name="object 4"/>
            <p:cNvSpPr/>
            <p:nvPr/>
          </p:nvSpPr>
          <p:spPr>
            <a:xfrm>
              <a:off x="979360" y="1520181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90" h="14731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7" y="147290"/>
                  </a:lnTo>
                  <a:lnTo>
                    <a:pt x="481590" y="144460"/>
                  </a:lnTo>
                  <a:lnTo>
                    <a:pt x="493033" y="136745"/>
                  </a:lnTo>
                  <a:lnTo>
                    <a:pt x="500748" y="125302"/>
                  </a:lnTo>
                  <a:lnTo>
                    <a:pt x="503577" y="111289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979360" y="1520181"/>
              <a:ext cx="504190" cy="147320"/>
            </a:xfrm>
            <a:custGeom>
              <a:avLst/>
              <a:gdLst/>
              <a:ahLst/>
              <a:cxnLst/>
              <a:rect l="l" t="t" r="r" b="b"/>
              <a:pathLst>
                <a:path w="504190" h="147319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467577" y="147290"/>
                  </a:lnTo>
                  <a:lnTo>
                    <a:pt x="481590" y="144460"/>
                  </a:lnTo>
                  <a:lnTo>
                    <a:pt x="493033" y="136745"/>
                  </a:lnTo>
                  <a:lnTo>
                    <a:pt x="500748" y="125302"/>
                  </a:lnTo>
                  <a:lnTo>
                    <a:pt x="503577" y="111289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27012" y="1148426"/>
            <a:ext cx="2664460" cy="108394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160020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service.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VPC.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Choose</a:t>
            </a:r>
            <a:r>
              <a:rPr lang="en-US" sz="900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VPC </a:t>
            </a:r>
            <a:r>
              <a:rPr lang="en-US" sz="900" spc="-20" noProof="1">
                <a:latin typeface="Courier New"/>
                <a:cs typeface="Courier New"/>
              </a:rPr>
              <a:t>only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Fill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form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lang="en-US" sz="9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55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8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tag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14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test-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IPv4</a:t>
            </a:r>
            <a:r>
              <a:rPr lang="en-US" sz="8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CIDR</a:t>
            </a:r>
            <a:r>
              <a:rPr lang="en-US" sz="800" b="1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block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10.0.0.0/16</a:t>
            </a:r>
            <a:endParaRPr lang="en-US" sz="8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160020" algn="l"/>
              </a:tabLst>
            </a:pP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Leave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rest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default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VPC.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2614295" cy="5080"/>
            </a:xfrm>
            <a:custGeom>
              <a:avLst/>
              <a:gdLst/>
              <a:ahLst/>
              <a:cxnLst/>
              <a:rect l="l" t="t" r="r" b="b"/>
              <a:pathLst>
                <a:path w="2614295" h="5080">
                  <a:moveTo>
                    <a:pt x="0" y="5060"/>
                  </a:moveTo>
                  <a:lnTo>
                    <a:pt x="0" y="0"/>
                  </a:lnTo>
                  <a:lnTo>
                    <a:pt x="2613812" y="0"/>
                  </a:lnTo>
                  <a:lnTo>
                    <a:pt x="261381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26" y="59834"/>
            <a:ext cx="20237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10" noProof="1">
                <a:solidFill>
                  <a:srgbClr val="F9F9F9"/>
                </a:solidFill>
                <a:latin typeface="Arial"/>
                <a:cs typeface="Arial"/>
              </a:rPr>
              <a:t>Creating</a:t>
            </a:r>
            <a:r>
              <a:rPr lang="en-US" sz="1000" b="1" spc="1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a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30" noProof="1">
                <a:solidFill>
                  <a:srgbClr val="F9F9F9"/>
                </a:solidFill>
                <a:latin typeface="Arial"/>
                <a:cs typeface="Arial"/>
              </a:rPr>
              <a:t>public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35" noProof="1">
                <a:solidFill>
                  <a:srgbClr val="F9F9F9"/>
                </a:solidFill>
                <a:latin typeface="Arial"/>
                <a:cs typeface="Arial"/>
              </a:rPr>
              <a:t>subnet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in</a:t>
            </a:r>
            <a:r>
              <a:rPr lang="en-US" sz="1000" b="1" spc="1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a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VPC</a:t>
            </a:r>
            <a:endParaRPr lang="en-US" sz="1000" noProof="1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1718" y="514471"/>
            <a:ext cx="31305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b="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lang="en-US" sz="900" b="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add a </a:t>
            </a:r>
            <a:r>
              <a:rPr lang="en-US" sz="900" b="0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b="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to the</a:t>
            </a:r>
            <a:r>
              <a:rPr lang="en-US" sz="900" b="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VPC </a:t>
            </a:r>
            <a:r>
              <a:rPr lang="en-US" sz="900" b="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b="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just 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created.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546" y="756805"/>
            <a:ext cx="4426920" cy="2099208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2662555" cy="5080"/>
            </a:xfrm>
            <a:custGeom>
              <a:avLst/>
              <a:gdLst/>
              <a:ahLst/>
              <a:cxnLst/>
              <a:rect l="l" t="t" r="r" b="b"/>
              <a:pathLst>
                <a:path w="2662555" h="5080">
                  <a:moveTo>
                    <a:pt x="0" y="5060"/>
                  </a:moveTo>
                  <a:lnTo>
                    <a:pt x="0" y="0"/>
                  </a:lnTo>
                  <a:lnTo>
                    <a:pt x="2662241" y="0"/>
                  </a:lnTo>
                  <a:lnTo>
                    <a:pt x="266224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0" noProof="1"/>
              <a:t>Creating</a:t>
            </a:r>
            <a:r>
              <a:rPr lang="en-US" spc="10" noProof="1"/>
              <a:t> </a:t>
            </a:r>
            <a:r>
              <a:rPr lang="en-US" noProof="1"/>
              <a:t>a</a:t>
            </a:r>
            <a:r>
              <a:rPr lang="en-US" spc="15" noProof="1"/>
              <a:t> </a:t>
            </a:r>
            <a:r>
              <a:rPr lang="en-US" spc="-30" noProof="1"/>
              <a:t>public</a:t>
            </a:r>
            <a:r>
              <a:rPr lang="en-US" spc="15" noProof="1"/>
              <a:t> </a:t>
            </a:r>
            <a:r>
              <a:rPr lang="en-US" spc="-35" noProof="1"/>
              <a:t>subnet</a:t>
            </a:r>
            <a:r>
              <a:rPr lang="en-US" spc="15" noProof="1"/>
              <a:t> </a:t>
            </a:r>
            <a:r>
              <a:rPr lang="en-US" noProof="1"/>
              <a:t>in</a:t>
            </a:r>
            <a:r>
              <a:rPr lang="en-US" spc="10" noProof="1"/>
              <a:t> </a:t>
            </a:r>
            <a:r>
              <a:rPr lang="en-US" noProof="1"/>
              <a:t>a</a:t>
            </a:r>
            <a:r>
              <a:rPr lang="en-US" spc="15" noProof="1"/>
              <a:t> </a:t>
            </a:r>
            <a:r>
              <a:rPr lang="en-US" spc="-25" noProof="1"/>
              <a:t>VPC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012" y="937809"/>
            <a:ext cx="3964940" cy="150558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160020" algn="l"/>
              </a:tabLst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Navigate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r>
              <a:rPr lang="en-US" sz="900" i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35" noProof="1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lang="en-US" sz="900" i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i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5" noProof="1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lang="en-US" sz="900" i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Console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0" noProof="1">
                <a:solidFill>
                  <a:srgbClr val="22373A"/>
                </a:solidFill>
                <a:latin typeface="Arial"/>
                <a:cs typeface="Arial"/>
              </a:rPr>
              <a:t>Subnets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left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navigation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pane.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i="1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160020" algn="l"/>
              </a:tabLst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the VPC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created,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which is 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ending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with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(test-vpc).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Fill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form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lang="en-US" sz="9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55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2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test-public-subnet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spc="-25" noProof="1">
                <a:solidFill>
                  <a:srgbClr val="22373A"/>
                </a:solidFill>
                <a:latin typeface="Arial"/>
                <a:cs typeface="Arial"/>
              </a:rPr>
              <a:t>Availability</a:t>
            </a:r>
            <a:r>
              <a:rPr lang="en-US" sz="8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Zone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35" noProof="1">
                <a:solidFill>
                  <a:srgbClr val="22373A"/>
                </a:solidFill>
                <a:latin typeface="Arial"/>
                <a:cs typeface="Arial"/>
              </a:rPr>
              <a:t>us-east-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1a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zone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(or</a:t>
            </a:r>
            <a:r>
              <a:rPr lang="en-US" sz="8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any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zone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8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consistent)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IPv4</a:t>
            </a:r>
            <a:r>
              <a:rPr lang="en-US" sz="8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r>
              <a:rPr lang="en-US" sz="800" b="1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CIDR</a:t>
            </a:r>
            <a:r>
              <a:rPr lang="en-US" sz="800" b="1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block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10.0.0.0/16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(leave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default)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IPv4</a:t>
            </a:r>
            <a:r>
              <a:rPr lang="en-US" sz="8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3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8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CIDR</a:t>
            </a:r>
            <a:r>
              <a:rPr lang="en-US" sz="8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block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10.0.1.0/24</a:t>
            </a:r>
            <a:endParaRPr lang="en-US" sz="8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i="1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710815" cy="5080"/>
            </a:xfrm>
            <a:custGeom>
              <a:avLst/>
              <a:gdLst/>
              <a:ahLst/>
              <a:cxnLst/>
              <a:rect l="l" t="t" r="r" b="b"/>
              <a:pathLst>
                <a:path w="2710815" h="5080">
                  <a:moveTo>
                    <a:pt x="0" y="5060"/>
                  </a:moveTo>
                  <a:lnTo>
                    <a:pt x="0" y="0"/>
                  </a:lnTo>
                  <a:lnTo>
                    <a:pt x="2710581" y="0"/>
                  </a:lnTo>
                  <a:lnTo>
                    <a:pt x="271058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0764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10" noProof="1">
                <a:solidFill>
                  <a:srgbClr val="F9F9F9"/>
                </a:solidFill>
                <a:latin typeface="Arial"/>
                <a:cs typeface="Arial"/>
              </a:rPr>
              <a:t>Creating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a</a:t>
            </a:r>
            <a:r>
              <a:rPr lang="en-US" sz="1000" b="1" spc="1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10" noProof="1">
                <a:solidFill>
                  <a:srgbClr val="F9F9F9"/>
                </a:solidFill>
                <a:latin typeface="Arial"/>
                <a:cs typeface="Arial"/>
              </a:rPr>
              <a:t>private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35" noProof="1">
                <a:solidFill>
                  <a:srgbClr val="F9F9F9"/>
                </a:solidFill>
                <a:latin typeface="Arial"/>
                <a:cs typeface="Arial"/>
              </a:rPr>
              <a:t>subnet</a:t>
            </a:r>
            <a:r>
              <a:rPr lang="en-US" sz="1000" b="1" spc="1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in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a</a:t>
            </a:r>
            <a:r>
              <a:rPr lang="en-US" sz="1000" b="1" spc="1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VPC</a:t>
            </a:r>
            <a:endParaRPr lang="en-US" sz="1000" noProof="1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3433" y="525533"/>
            <a:ext cx="13144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add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second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one.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080" y="745658"/>
            <a:ext cx="4471853" cy="2099293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2759075" cy="5080"/>
            </a:xfrm>
            <a:custGeom>
              <a:avLst/>
              <a:gdLst/>
              <a:ahLst/>
              <a:cxnLst/>
              <a:rect l="l" t="t" r="r" b="b"/>
              <a:pathLst>
                <a:path w="2759075" h="5080">
                  <a:moveTo>
                    <a:pt x="0" y="5060"/>
                  </a:moveTo>
                  <a:lnTo>
                    <a:pt x="0" y="0"/>
                  </a:lnTo>
                  <a:lnTo>
                    <a:pt x="2759009" y="0"/>
                  </a:lnTo>
                  <a:lnTo>
                    <a:pt x="275900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0" noProof="1"/>
              <a:t>Creating</a:t>
            </a:r>
            <a:r>
              <a:rPr lang="en-US" spc="5" noProof="1"/>
              <a:t> </a:t>
            </a:r>
            <a:r>
              <a:rPr lang="en-US" noProof="1"/>
              <a:t>a</a:t>
            </a:r>
            <a:r>
              <a:rPr lang="en-US" spc="10" noProof="1"/>
              <a:t> </a:t>
            </a:r>
            <a:r>
              <a:rPr lang="en-US" spc="-10" noProof="1"/>
              <a:t>private</a:t>
            </a:r>
            <a:r>
              <a:rPr lang="en-US" spc="5" noProof="1"/>
              <a:t> </a:t>
            </a:r>
            <a:r>
              <a:rPr lang="en-US" spc="-35" noProof="1"/>
              <a:t>subnet</a:t>
            </a:r>
            <a:r>
              <a:rPr lang="en-US" spc="10" noProof="1"/>
              <a:t> </a:t>
            </a:r>
            <a:r>
              <a:rPr lang="en-US" noProof="1"/>
              <a:t>in</a:t>
            </a:r>
            <a:r>
              <a:rPr lang="en-US" spc="5" noProof="1"/>
              <a:t> </a:t>
            </a:r>
            <a:r>
              <a:rPr lang="en-US" noProof="1"/>
              <a:t>a</a:t>
            </a:r>
            <a:r>
              <a:rPr lang="en-US" spc="10" noProof="1"/>
              <a:t> </a:t>
            </a:r>
            <a:r>
              <a:rPr lang="en-US" spc="-25" noProof="1"/>
              <a:t>VPC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012" y="937809"/>
            <a:ext cx="3709670" cy="150558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160020" algn="l"/>
              </a:tabLst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Navigate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r>
              <a:rPr lang="en-US" sz="900" i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35" noProof="1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lang="en-US" sz="900" i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i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5" noProof="1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lang="en-US" sz="900" i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Console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0" noProof="1">
                <a:solidFill>
                  <a:srgbClr val="22373A"/>
                </a:solidFill>
                <a:latin typeface="Arial"/>
                <a:cs typeface="Arial"/>
              </a:rPr>
              <a:t>Subnets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left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navigation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pane.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i="1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160020" algn="l"/>
              </a:tabLst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the VPC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created,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which is 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ending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with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(test-vpc).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Fill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form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lang="en-US" sz="9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55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test-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private-subnet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spc="-25" noProof="1">
                <a:solidFill>
                  <a:srgbClr val="22373A"/>
                </a:solidFill>
                <a:latin typeface="Arial"/>
                <a:cs typeface="Arial"/>
              </a:rPr>
              <a:t>Availability</a:t>
            </a:r>
            <a:r>
              <a:rPr lang="en-US" sz="8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Zone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lang="en-US" sz="8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35" noProof="1">
                <a:solidFill>
                  <a:srgbClr val="22373A"/>
                </a:solidFill>
                <a:latin typeface="Arial"/>
                <a:cs typeface="Arial"/>
              </a:rPr>
              <a:t>us-east-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1a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zone</a:t>
            </a:r>
            <a:r>
              <a:rPr lang="en-US" sz="8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(the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30" noProof="1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lang="en-US" sz="8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subnet)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IPv4</a:t>
            </a:r>
            <a:r>
              <a:rPr lang="en-US" sz="8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r>
              <a:rPr lang="en-US" sz="800" b="1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CIDR</a:t>
            </a:r>
            <a:r>
              <a:rPr lang="en-US" sz="800" b="1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block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10.0.0.0/16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(leave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default)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IPv4</a:t>
            </a:r>
            <a:r>
              <a:rPr lang="en-US" sz="8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3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8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CIDR</a:t>
            </a:r>
            <a:r>
              <a:rPr lang="en-US" sz="8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block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10.0.2.0/24</a:t>
            </a:r>
            <a:endParaRPr lang="en-US" sz="8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i="1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2807970" cy="5080"/>
            </a:xfrm>
            <a:custGeom>
              <a:avLst/>
              <a:gdLst/>
              <a:ahLst/>
              <a:cxnLst/>
              <a:rect l="l" t="t" r="r" b="b"/>
              <a:pathLst>
                <a:path w="2807970" h="5080">
                  <a:moveTo>
                    <a:pt x="0" y="5060"/>
                  </a:moveTo>
                  <a:lnTo>
                    <a:pt x="0" y="0"/>
                  </a:lnTo>
                  <a:lnTo>
                    <a:pt x="2807438" y="0"/>
                  </a:lnTo>
                  <a:lnTo>
                    <a:pt x="280743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Default</a:t>
            </a:r>
            <a:r>
              <a:rPr lang="en-US" spc="5" noProof="1"/>
              <a:t> </a:t>
            </a:r>
            <a:r>
              <a:rPr lang="en-US" noProof="1"/>
              <a:t>route</a:t>
            </a:r>
            <a:r>
              <a:rPr lang="en-US" spc="5" noProof="1"/>
              <a:t> </a:t>
            </a:r>
            <a:r>
              <a:rPr lang="en-US" spc="-10" noProof="1"/>
              <a:t>table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433" y="793385"/>
            <a:ext cx="4995545" cy="50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10">
              <a:lnSpc>
                <a:spcPct val="116199"/>
              </a:lnSpc>
              <a:spcBef>
                <a:spcPts val="100"/>
              </a:spcBef>
            </a:pP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noticed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two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subnets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connected?</a:t>
            </a:r>
            <a:r>
              <a:rPr lang="en-US" sz="900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means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instances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public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talk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instances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subnet.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because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part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same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default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route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table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allows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traﬀic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flow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them.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5398" y="1354867"/>
            <a:ext cx="1869197" cy="119954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2856230" cy="5080"/>
            </a:xfrm>
            <a:custGeom>
              <a:avLst/>
              <a:gdLst/>
              <a:ahLst/>
              <a:cxnLst/>
              <a:rect l="l" t="t" r="r" b="b"/>
              <a:pathLst>
                <a:path w="2856230" h="5080">
                  <a:moveTo>
                    <a:pt x="0" y="5060"/>
                  </a:moveTo>
                  <a:lnTo>
                    <a:pt x="0" y="0"/>
                  </a:lnTo>
                  <a:lnTo>
                    <a:pt x="2855866" y="0"/>
                  </a:lnTo>
                  <a:lnTo>
                    <a:pt x="285586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7819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noProof="1"/>
              <a:t>Deploying</a:t>
            </a:r>
            <a:r>
              <a:rPr lang="en-US" spc="15" noProof="1"/>
              <a:t> </a:t>
            </a:r>
            <a:r>
              <a:rPr lang="en-US" noProof="1"/>
              <a:t>an</a:t>
            </a:r>
            <a:r>
              <a:rPr lang="en-US" spc="15" noProof="1"/>
              <a:t> </a:t>
            </a:r>
            <a:r>
              <a:rPr lang="en-US" noProof="1"/>
              <a:t>EC2</a:t>
            </a:r>
            <a:r>
              <a:rPr lang="en-US" spc="20" noProof="1"/>
              <a:t> </a:t>
            </a:r>
            <a:r>
              <a:rPr lang="en-US" spc="-30" noProof="1"/>
              <a:t>instance</a:t>
            </a:r>
            <a:r>
              <a:rPr lang="en-US" spc="15" noProof="1"/>
              <a:t> </a:t>
            </a:r>
            <a:r>
              <a:rPr lang="en-US" noProof="1"/>
              <a:t>in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spc="-30" noProof="1"/>
              <a:t>public</a:t>
            </a:r>
            <a:r>
              <a:rPr lang="en-US" spc="15" noProof="1"/>
              <a:t> </a:t>
            </a:r>
            <a:r>
              <a:rPr lang="en-US" spc="-25" noProof="1"/>
              <a:t>subnet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14471"/>
            <a:ext cx="345567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going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launch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inside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subnet.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439" y="756801"/>
            <a:ext cx="4461143" cy="209921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2904490" cy="5080"/>
            </a:xfrm>
            <a:custGeom>
              <a:avLst/>
              <a:gdLst/>
              <a:ahLst/>
              <a:cxnLst/>
              <a:rect l="l" t="t" r="r" b="b"/>
              <a:pathLst>
                <a:path w="2904490" h="5080">
                  <a:moveTo>
                    <a:pt x="0" y="5060"/>
                  </a:moveTo>
                  <a:lnTo>
                    <a:pt x="0" y="0"/>
                  </a:lnTo>
                  <a:lnTo>
                    <a:pt x="2904207" y="0"/>
                  </a:lnTo>
                  <a:lnTo>
                    <a:pt x="290420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7819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noProof="1"/>
              <a:t>Deploying</a:t>
            </a:r>
            <a:r>
              <a:rPr lang="en-US" spc="15" noProof="1"/>
              <a:t> </a:t>
            </a:r>
            <a:r>
              <a:rPr lang="en-US" noProof="1"/>
              <a:t>an</a:t>
            </a:r>
            <a:r>
              <a:rPr lang="en-US" spc="15" noProof="1"/>
              <a:t> </a:t>
            </a:r>
            <a:r>
              <a:rPr lang="en-US" noProof="1"/>
              <a:t>EC2</a:t>
            </a:r>
            <a:r>
              <a:rPr lang="en-US" spc="20" noProof="1"/>
              <a:t> </a:t>
            </a:r>
            <a:r>
              <a:rPr lang="en-US" spc="-30" noProof="1"/>
              <a:t>instance</a:t>
            </a:r>
            <a:r>
              <a:rPr lang="en-US" spc="15" noProof="1"/>
              <a:t> </a:t>
            </a:r>
            <a:r>
              <a:rPr lang="en-US" noProof="1"/>
              <a:t>in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spc="-30" noProof="1"/>
              <a:t>public</a:t>
            </a:r>
            <a:r>
              <a:rPr lang="en-US" spc="15" noProof="1"/>
              <a:t> </a:t>
            </a:r>
            <a:r>
              <a:rPr lang="en-US" spc="-25" noProof="1"/>
              <a:t>subnet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86813" y="1594648"/>
            <a:ext cx="616585" cy="135890"/>
            <a:chOff x="1986813" y="1594648"/>
            <a:chExt cx="616585" cy="135890"/>
          </a:xfrm>
        </p:grpSpPr>
        <p:sp>
          <p:nvSpPr>
            <p:cNvPr id="4" name="object 4"/>
            <p:cNvSpPr/>
            <p:nvPr/>
          </p:nvSpPr>
          <p:spPr>
            <a:xfrm>
              <a:off x="1986813" y="1594648"/>
              <a:ext cx="616585" cy="135890"/>
            </a:xfrm>
            <a:custGeom>
              <a:avLst/>
              <a:gdLst/>
              <a:ahLst/>
              <a:cxnLst/>
              <a:rect l="l" t="t" r="r" b="b"/>
              <a:pathLst>
                <a:path w="616585" h="135889">
                  <a:moveTo>
                    <a:pt x="5805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99434"/>
                  </a:lnTo>
                  <a:lnTo>
                    <a:pt x="2829" y="113447"/>
                  </a:lnTo>
                  <a:lnTo>
                    <a:pt x="10544" y="124890"/>
                  </a:lnTo>
                  <a:lnTo>
                    <a:pt x="21987" y="132605"/>
                  </a:lnTo>
                  <a:lnTo>
                    <a:pt x="36000" y="135434"/>
                  </a:lnTo>
                  <a:lnTo>
                    <a:pt x="580541" y="135434"/>
                  </a:lnTo>
                  <a:lnTo>
                    <a:pt x="594554" y="132605"/>
                  </a:lnTo>
                  <a:lnTo>
                    <a:pt x="605997" y="124890"/>
                  </a:lnTo>
                  <a:lnTo>
                    <a:pt x="613712" y="113447"/>
                  </a:lnTo>
                  <a:lnTo>
                    <a:pt x="616541" y="99434"/>
                  </a:lnTo>
                  <a:lnTo>
                    <a:pt x="616541" y="36000"/>
                  </a:lnTo>
                  <a:lnTo>
                    <a:pt x="613712" y="21987"/>
                  </a:lnTo>
                  <a:lnTo>
                    <a:pt x="605997" y="10544"/>
                  </a:lnTo>
                  <a:lnTo>
                    <a:pt x="594554" y="2829"/>
                  </a:lnTo>
                  <a:lnTo>
                    <a:pt x="5805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986813" y="1594648"/>
              <a:ext cx="616585" cy="135890"/>
            </a:xfrm>
            <a:custGeom>
              <a:avLst/>
              <a:gdLst/>
              <a:ahLst/>
              <a:cxnLst/>
              <a:rect l="l" t="t" r="r" b="b"/>
              <a:pathLst>
                <a:path w="616585" h="135889">
                  <a:moveTo>
                    <a:pt x="5805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99434"/>
                  </a:lnTo>
                  <a:lnTo>
                    <a:pt x="2829" y="113447"/>
                  </a:lnTo>
                  <a:lnTo>
                    <a:pt x="10544" y="124890"/>
                  </a:lnTo>
                  <a:lnTo>
                    <a:pt x="21987" y="132605"/>
                  </a:lnTo>
                  <a:lnTo>
                    <a:pt x="36000" y="135434"/>
                  </a:lnTo>
                  <a:lnTo>
                    <a:pt x="580541" y="135434"/>
                  </a:lnTo>
                  <a:lnTo>
                    <a:pt x="594554" y="132605"/>
                  </a:lnTo>
                  <a:lnTo>
                    <a:pt x="605997" y="124890"/>
                  </a:lnTo>
                  <a:lnTo>
                    <a:pt x="613712" y="113447"/>
                  </a:lnTo>
                  <a:lnTo>
                    <a:pt x="616541" y="99434"/>
                  </a:lnTo>
                  <a:lnTo>
                    <a:pt x="616541" y="36000"/>
                  </a:lnTo>
                  <a:lnTo>
                    <a:pt x="613712" y="21987"/>
                  </a:lnTo>
                  <a:lnTo>
                    <a:pt x="605997" y="10544"/>
                  </a:lnTo>
                  <a:lnTo>
                    <a:pt x="594554" y="2829"/>
                  </a:lnTo>
                  <a:lnTo>
                    <a:pt x="5805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27012" y="951995"/>
            <a:ext cx="3905885" cy="147701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160020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i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0" noProof="1">
                <a:solidFill>
                  <a:srgbClr val="22373A"/>
                </a:solidFill>
                <a:latin typeface="Arial"/>
                <a:cs typeface="Arial"/>
              </a:rPr>
              <a:t>Launch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 instance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Fill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form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lang="en-US" sz="9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public-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lang="en-US" sz="800" b="1" spc="-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pair</a:t>
            </a:r>
            <a:r>
              <a:rPr lang="en-US" sz="8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(login)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Choose</a:t>
            </a:r>
            <a:r>
              <a:rPr lang="en-US" sz="8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aws-</a:t>
            </a:r>
            <a:r>
              <a:rPr lang="en-US" sz="800" spc="-55" noProof="1">
                <a:latin typeface="Courier New"/>
                <a:cs typeface="Courier New"/>
              </a:rPr>
              <a:t>keypair</a:t>
            </a:r>
            <a:r>
              <a:rPr lang="en-US" sz="800" spc="-100" noProof="1">
                <a:latin typeface="Courier New"/>
                <a:cs typeface="Courier New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(the</a:t>
            </a:r>
            <a:r>
              <a:rPr lang="en-US" sz="8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8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8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8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already</a:t>
            </a:r>
            <a:r>
              <a:rPr lang="en-US" sz="8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lang="en-US" sz="8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using)</a:t>
            </a:r>
            <a:endParaRPr lang="en-US" sz="8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settings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tab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clik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Edit</a:t>
            </a:r>
            <a:r>
              <a:rPr lang="en-US" sz="900" i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lang="en-US" sz="9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r>
              <a:rPr lang="en-US" sz="800" b="1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-</a:t>
            </a:r>
            <a:r>
              <a:rPr lang="en-US" sz="800" b="1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25" noProof="1">
                <a:solidFill>
                  <a:srgbClr val="22373A"/>
                </a:solidFill>
                <a:latin typeface="Arial"/>
                <a:cs typeface="Arial"/>
              </a:rPr>
              <a:t>required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8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ending</a:t>
            </a:r>
            <a:r>
              <a:rPr lang="en-US" sz="8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8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(test-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vpc)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test-public-subnet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5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spc="-40" noProof="1">
                <a:solidFill>
                  <a:srgbClr val="22373A"/>
                </a:solidFill>
                <a:latin typeface="Arial"/>
                <a:cs typeface="Arial"/>
              </a:rPr>
              <a:t>Auto-</a:t>
            </a:r>
            <a:r>
              <a:rPr lang="en-US" sz="800" b="1" spc="-35" noProof="1">
                <a:solidFill>
                  <a:srgbClr val="22373A"/>
                </a:solidFill>
                <a:latin typeface="Arial"/>
                <a:cs typeface="Arial"/>
              </a:rPr>
              <a:t>assign</a:t>
            </a:r>
            <a:r>
              <a:rPr lang="en-US" sz="800" b="1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2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800" b="1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Enable</a:t>
            </a:r>
            <a:endParaRPr lang="en-US" sz="8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90"/>
              </a:spcBef>
              <a:buAutoNum type="arabicPeriod"/>
              <a:tabLst>
                <a:tab pos="160020" algn="l"/>
              </a:tabLst>
            </a:pP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Leave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rest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default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0" noProof="1">
                <a:solidFill>
                  <a:srgbClr val="22373A"/>
                </a:solidFill>
                <a:latin typeface="Arial"/>
                <a:cs typeface="Arial"/>
              </a:rPr>
              <a:t>Launch</a:t>
            </a:r>
            <a:r>
              <a:rPr lang="en-US" sz="900" i="1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2952750" cy="5080"/>
            </a:xfrm>
            <a:custGeom>
              <a:avLst/>
              <a:gdLst/>
              <a:ahLst/>
              <a:cxnLst/>
              <a:rect l="l" t="t" r="r" b="b"/>
              <a:pathLst>
                <a:path w="2952750" h="5080">
                  <a:moveTo>
                    <a:pt x="0" y="5060"/>
                  </a:moveTo>
                  <a:lnTo>
                    <a:pt x="0" y="0"/>
                  </a:lnTo>
                  <a:lnTo>
                    <a:pt x="2952635" y="0"/>
                  </a:lnTo>
                  <a:lnTo>
                    <a:pt x="295263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0066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65" noProof="1"/>
              <a:t>Accessing</a:t>
            </a:r>
            <a:r>
              <a:rPr lang="en-US" spc="30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spc="-30" noProof="1"/>
              <a:t>public</a:t>
            </a:r>
            <a:r>
              <a:rPr lang="en-US" spc="35" noProof="1"/>
              <a:t> </a:t>
            </a:r>
            <a:r>
              <a:rPr lang="en-US" noProof="1"/>
              <a:t>EC2</a:t>
            </a:r>
            <a:r>
              <a:rPr lang="en-US" spc="30" noProof="1"/>
              <a:t> </a:t>
            </a:r>
            <a:r>
              <a:rPr lang="en-US" spc="-25" noProof="1"/>
              <a:t>instance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457477"/>
            <a:ext cx="5015230" cy="320040"/>
            <a:chOff x="372646" y="1457477"/>
            <a:chExt cx="5015230" cy="320040"/>
          </a:xfrm>
        </p:grpSpPr>
        <p:sp>
          <p:nvSpPr>
            <p:cNvPr id="4" name="object 4"/>
            <p:cNvSpPr/>
            <p:nvPr/>
          </p:nvSpPr>
          <p:spPr>
            <a:xfrm>
              <a:off x="377994" y="1462825"/>
              <a:ext cx="5004435" cy="309245"/>
            </a:xfrm>
            <a:custGeom>
              <a:avLst/>
              <a:gdLst/>
              <a:ahLst/>
              <a:cxnLst/>
              <a:rect l="l" t="t" r="r" b="b"/>
              <a:pathLst>
                <a:path w="5004435" h="309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3226"/>
                  </a:lnTo>
                  <a:lnTo>
                    <a:pt x="2829" y="287239"/>
                  </a:lnTo>
                  <a:lnTo>
                    <a:pt x="10544" y="298682"/>
                  </a:lnTo>
                  <a:lnTo>
                    <a:pt x="21987" y="306398"/>
                  </a:lnTo>
                  <a:lnTo>
                    <a:pt x="36000" y="309227"/>
                  </a:lnTo>
                  <a:lnTo>
                    <a:pt x="4968064" y="309227"/>
                  </a:lnTo>
                  <a:lnTo>
                    <a:pt x="4982077" y="306398"/>
                  </a:lnTo>
                  <a:lnTo>
                    <a:pt x="4993521" y="298682"/>
                  </a:lnTo>
                  <a:lnTo>
                    <a:pt x="5001236" y="287239"/>
                  </a:lnTo>
                  <a:lnTo>
                    <a:pt x="5004065" y="273226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463804"/>
              <a:ext cx="5002530" cy="307340"/>
            </a:xfrm>
            <a:custGeom>
              <a:avLst/>
              <a:gdLst/>
              <a:ahLst/>
              <a:cxnLst/>
              <a:rect l="l" t="t" r="r" b="b"/>
              <a:pathLst>
                <a:path w="5002530" h="307339">
                  <a:moveTo>
                    <a:pt x="0" y="272247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2247"/>
                  </a:lnTo>
                  <a:lnTo>
                    <a:pt x="4999354" y="285879"/>
                  </a:lnTo>
                  <a:lnTo>
                    <a:pt x="4991849" y="297011"/>
                  </a:lnTo>
                  <a:lnTo>
                    <a:pt x="4980717" y="304516"/>
                  </a:lnTo>
                  <a:lnTo>
                    <a:pt x="4967085" y="307268"/>
                  </a:lnTo>
                  <a:lnTo>
                    <a:pt x="35021" y="307268"/>
                  </a:lnTo>
                  <a:lnTo>
                    <a:pt x="21389" y="304516"/>
                  </a:lnTo>
                  <a:lnTo>
                    <a:pt x="10257" y="297011"/>
                  </a:lnTo>
                  <a:lnTo>
                    <a:pt x="2752" y="285879"/>
                  </a:lnTo>
                  <a:lnTo>
                    <a:pt x="0" y="272247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3319" y="1213492"/>
            <a:ext cx="4997450" cy="9569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Try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command: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</a:pPr>
            <a:r>
              <a:rPr lang="en-US" sz="800" spc="-50" noProof="1">
                <a:solidFill>
                  <a:srgbClr val="05287C"/>
                </a:solidFill>
                <a:latin typeface="Courier New"/>
                <a:cs typeface="Courier New"/>
              </a:rPr>
              <a:t>$ ssh</a:t>
            </a:r>
            <a:r>
              <a:rPr lang="en-US" sz="800" spc="75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lang="en-US" sz="800" noProof="1">
                <a:solidFill>
                  <a:srgbClr val="7C8E28"/>
                </a:solidFill>
                <a:latin typeface="Courier New"/>
                <a:cs typeface="Courier New"/>
              </a:rPr>
              <a:t>i</a:t>
            </a:r>
            <a:r>
              <a:rPr lang="en-US" sz="800" spc="80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~/.ssh/aws-keypair</a:t>
            </a:r>
            <a:r>
              <a:rPr lang="en-US" sz="800" spc="7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ec2-user@</a:t>
            </a:r>
            <a:r>
              <a:rPr lang="en-US" sz="800" spc="-60" noProof="1">
                <a:solidFill>
                  <a:srgbClr val="666666"/>
                </a:solidFill>
                <a:latin typeface="Courier New"/>
                <a:cs typeface="Courier New"/>
              </a:rPr>
              <a:t>&lt;</a:t>
            </a:r>
            <a:r>
              <a:rPr lang="en-US" sz="800" spc="-60" noProof="1">
                <a:latin typeface="Courier New"/>
                <a:cs typeface="Courier New"/>
              </a:rPr>
              <a:t>your-public-ec2-instance-public-</a:t>
            </a:r>
            <a:r>
              <a:rPr lang="en-US" sz="800" spc="-25" noProof="1">
                <a:latin typeface="Courier New"/>
                <a:cs typeface="Courier New"/>
              </a:rPr>
              <a:t>ip</a:t>
            </a:r>
            <a:r>
              <a:rPr lang="en-US" sz="800" spc="-25" noProof="1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6510" marR="5080" indent="-4445">
              <a:lnSpc>
                <a:spcPct val="116199"/>
              </a:lnSpc>
              <a:spcBef>
                <a:spcPts val="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You’ll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notice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hangs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while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finally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fails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timeout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error.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Which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means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didn’t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respond.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3001645" cy="5080"/>
            </a:xfrm>
            <a:custGeom>
              <a:avLst/>
              <a:gdLst/>
              <a:ahLst/>
              <a:cxnLst/>
              <a:rect l="l" t="t" r="r" b="b"/>
              <a:pathLst>
                <a:path w="3001645" h="5080">
                  <a:moveTo>
                    <a:pt x="0" y="5060"/>
                  </a:moveTo>
                  <a:lnTo>
                    <a:pt x="0" y="0"/>
                  </a:lnTo>
                  <a:lnTo>
                    <a:pt x="3001063" y="0"/>
                  </a:lnTo>
                  <a:lnTo>
                    <a:pt x="300106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0066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65" noProof="1"/>
              <a:t>Accessing</a:t>
            </a:r>
            <a:r>
              <a:rPr lang="en-US" spc="30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spc="-30" noProof="1"/>
              <a:t>public</a:t>
            </a:r>
            <a:r>
              <a:rPr lang="en-US" spc="35" noProof="1"/>
              <a:t> </a:t>
            </a:r>
            <a:r>
              <a:rPr lang="en-US" noProof="1"/>
              <a:t>EC2</a:t>
            </a:r>
            <a:r>
              <a:rPr lang="en-US" spc="30" noProof="1"/>
              <a:t> </a:t>
            </a:r>
            <a:r>
              <a:rPr lang="en-US" spc="-25" noProof="1"/>
              <a:t>instance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1718" y="649155"/>
            <a:ext cx="5093970" cy="2092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Observations</a:t>
            </a:r>
            <a:endParaRPr lang="en-US" sz="900" noProof="1">
              <a:latin typeface="Arial"/>
              <a:cs typeface="Arial"/>
            </a:endParaRPr>
          </a:p>
          <a:p>
            <a:pPr marL="241300" indent="-143510">
              <a:lnSpc>
                <a:spcPct val="100000"/>
              </a:lnSpc>
              <a:spcBef>
                <a:spcPts val="844"/>
              </a:spcBef>
              <a:buChar char="•"/>
              <a:tabLst>
                <a:tab pos="24130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accessible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endParaRPr lang="en-US" sz="900" noProof="1">
              <a:latin typeface="Arial"/>
              <a:cs typeface="Arial"/>
            </a:endParaRPr>
          </a:p>
          <a:p>
            <a:pPr marL="241300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24130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reason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because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private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default.</a:t>
            </a:r>
            <a:endParaRPr lang="en-US" sz="900" noProof="1">
              <a:latin typeface="Arial"/>
              <a:cs typeface="Arial"/>
            </a:endParaRPr>
          </a:p>
          <a:p>
            <a:pPr marL="241300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24130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Although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named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yet.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buClr>
                <a:srgbClr val="22373A"/>
              </a:buClr>
              <a:buFont typeface="Arial"/>
              <a:buChar char="•"/>
            </a:pPr>
            <a:endParaRPr lang="en-US" sz="900" noProof="1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5"/>
              </a:spcBef>
            </a:pP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Solution</a:t>
            </a:r>
            <a:endParaRPr lang="en-US" sz="900" noProof="1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an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gateway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 a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routing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table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41300" indent="-143510">
              <a:lnSpc>
                <a:spcPct val="100000"/>
              </a:lnSpc>
              <a:spcBef>
                <a:spcPts val="625"/>
              </a:spcBef>
              <a:buChar char="•"/>
              <a:tabLst>
                <a:tab pos="24130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gateway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entrypoint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VPC.</a:t>
            </a:r>
            <a:endParaRPr lang="en-US" sz="900" noProof="1">
              <a:latin typeface="Arial"/>
              <a:cs typeface="Arial"/>
            </a:endParaRPr>
          </a:p>
          <a:p>
            <a:pPr marL="241300" indent="-143510">
              <a:lnSpc>
                <a:spcPct val="100000"/>
              </a:lnSpc>
              <a:spcBef>
                <a:spcPts val="170"/>
              </a:spcBef>
              <a:buChar char="•"/>
              <a:tabLst>
                <a:tab pos="24130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routing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table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make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able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gateway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given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subnet.</a:t>
            </a:r>
            <a:endParaRPr lang="en-US" sz="900" noProof="1">
              <a:latin typeface="Arial"/>
              <a:cs typeface="Arial"/>
            </a:endParaRPr>
          </a:p>
          <a:p>
            <a:pPr marL="245110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5110" algn="l"/>
              </a:tabLst>
            </a:pP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Once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reach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subnet,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reach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instances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subnet.</a:t>
            </a:r>
            <a:endParaRPr lang="en-US" sz="900" noProof="1">
              <a:latin typeface="Arial"/>
              <a:cs typeface="Arial"/>
            </a:endParaRPr>
          </a:p>
          <a:p>
            <a:pPr marL="245745" marR="27305" indent="-147955">
              <a:lnSpc>
                <a:spcPct val="116199"/>
              </a:lnSpc>
              <a:buChar char="•"/>
              <a:tabLst>
                <a:tab pos="24574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Doing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gateway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means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bidirectional.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instances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also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reach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internet.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049905" cy="5080"/>
            </a:xfrm>
            <a:custGeom>
              <a:avLst/>
              <a:gdLst/>
              <a:ahLst/>
              <a:cxnLst/>
              <a:rect l="l" t="t" r="r" b="b"/>
              <a:pathLst>
                <a:path w="3049905" h="5080">
                  <a:moveTo>
                    <a:pt x="0" y="5060"/>
                  </a:moveTo>
                  <a:lnTo>
                    <a:pt x="0" y="0"/>
                  </a:lnTo>
                  <a:lnTo>
                    <a:pt x="3049404" y="0"/>
                  </a:lnTo>
                  <a:lnTo>
                    <a:pt x="304940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0066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65" noProof="1"/>
              <a:t>Accessing</a:t>
            </a:r>
            <a:r>
              <a:rPr lang="en-US" spc="30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spc="-30" noProof="1"/>
              <a:t>public</a:t>
            </a:r>
            <a:r>
              <a:rPr lang="en-US" spc="35" noProof="1"/>
              <a:t> </a:t>
            </a:r>
            <a:r>
              <a:rPr lang="en-US" noProof="1"/>
              <a:t>EC2</a:t>
            </a:r>
            <a:r>
              <a:rPr lang="en-US" spc="30" noProof="1"/>
              <a:t> </a:t>
            </a:r>
            <a:r>
              <a:rPr lang="en-US" spc="-25" noProof="1"/>
              <a:t>instance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412118"/>
            <a:ext cx="4759960" cy="344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instance,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we’ll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allow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get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VPC.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We’ll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by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creating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Gateway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4329" y="836448"/>
            <a:ext cx="4551347" cy="209924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098165" cy="5080"/>
            </a:xfrm>
            <a:custGeom>
              <a:avLst/>
              <a:gdLst/>
              <a:ahLst/>
              <a:cxnLst/>
              <a:rect l="l" t="t" r="r" b="b"/>
              <a:pathLst>
                <a:path w="3098165" h="5080">
                  <a:moveTo>
                    <a:pt x="0" y="5060"/>
                  </a:moveTo>
                  <a:lnTo>
                    <a:pt x="0" y="0"/>
                  </a:lnTo>
                  <a:lnTo>
                    <a:pt x="3097832" y="0"/>
                  </a:lnTo>
                  <a:lnTo>
                    <a:pt x="309783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0066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65" noProof="1"/>
              <a:t>Accessing</a:t>
            </a:r>
            <a:r>
              <a:rPr lang="en-US" spc="30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spc="-30" noProof="1"/>
              <a:t>public</a:t>
            </a:r>
            <a:r>
              <a:rPr lang="en-US" spc="35" noProof="1"/>
              <a:t> </a:t>
            </a:r>
            <a:r>
              <a:rPr lang="en-US" noProof="1"/>
              <a:t>EC2</a:t>
            </a:r>
            <a:r>
              <a:rPr lang="en-US" spc="30" noProof="1"/>
              <a:t> </a:t>
            </a:r>
            <a:r>
              <a:rPr lang="en-US" spc="-25" noProof="1"/>
              <a:t>instance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91804" y="2293733"/>
            <a:ext cx="504190" cy="139065"/>
            <a:chOff x="1991804" y="2293733"/>
            <a:chExt cx="504190" cy="139065"/>
          </a:xfrm>
        </p:grpSpPr>
        <p:sp>
          <p:nvSpPr>
            <p:cNvPr id="4" name="object 4"/>
            <p:cNvSpPr/>
            <p:nvPr/>
          </p:nvSpPr>
          <p:spPr>
            <a:xfrm>
              <a:off x="1991804" y="2293733"/>
              <a:ext cx="504190" cy="139065"/>
            </a:xfrm>
            <a:custGeom>
              <a:avLst/>
              <a:gdLst/>
              <a:ahLst/>
              <a:cxnLst/>
              <a:rect l="l" t="t" r="r" b="b"/>
              <a:pathLst>
                <a:path w="504189" h="139064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2976"/>
                  </a:lnTo>
                  <a:lnTo>
                    <a:pt x="2829" y="116989"/>
                  </a:lnTo>
                  <a:lnTo>
                    <a:pt x="10544" y="128433"/>
                  </a:lnTo>
                  <a:lnTo>
                    <a:pt x="21987" y="136148"/>
                  </a:lnTo>
                  <a:lnTo>
                    <a:pt x="36000" y="138977"/>
                  </a:lnTo>
                  <a:lnTo>
                    <a:pt x="467577" y="138977"/>
                  </a:lnTo>
                  <a:lnTo>
                    <a:pt x="481590" y="136148"/>
                  </a:lnTo>
                  <a:lnTo>
                    <a:pt x="493033" y="128433"/>
                  </a:lnTo>
                  <a:lnTo>
                    <a:pt x="500748" y="116989"/>
                  </a:lnTo>
                  <a:lnTo>
                    <a:pt x="503577" y="102976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991804" y="2293733"/>
              <a:ext cx="504190" cy="139065"/>
            </a:xfrm>
            <a:custGeom>
              <a:avLst/>
              <a:gdLst/>
              <a:ahLst/>
              <a:cxnLst/>
              <a:rect l="l" t="t" r="r" b="b"/>
              <a:pathLst>
                <a:path w="504189" h="139064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2976"/>
                  </a:lnTo>
                  <a:lnTo>
                    <a:pt x="2829" y="116989"/>
                  </a:lnTo>
                  <a:lnTo>
                    <a:pt x="10544" y="128433"/>
                  </a:lnTo>
                  <a:lnTo>
                    <a:pt x="21987" y="136148"/>
                  </a:lnTo>
                  <a:lnTo>
                    <a:pt x="36000" y="138977"/>
                  </a:lnTo>
                  <a:lnTo>
                    <a:pt x="467577" y="138977"/>
                  </a:lnTo>
                  <a:lnTo>
                    <a:pt x="481590" y="136148"/>
                  </a:lnTo>
                  <a:lnTo>
                    <a:pt x="493033" y="128433"/>
                  </a:lnTo>
                  <a:lnTo>
                    <a:pt x="500748" y="116989"/>
                  </a:lnTo>
                  <a:lnTo>
                    <a:pt x="503577" y="102976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7294" y="923919"/>
            <a:ext cx="4039235" cy="1494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Creating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 an Internet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Gateway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44"/>
              </a:spcBef>
              <a:buAutoNum type="arabicPeriod"/>
              <a:tabLst>
                <a:tab pos="239395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r>
              <a:rPr lang="en-US" sz="900" i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i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50" noProof="1">
                <a:solidFill>
                  <a:srgbClr val="22373A"/>
                </a:solidFill>
                <a:latin typeface="Arial"/>
                <a:cs typeface="Arial"/>
              </a:rPr>
              <a:t>Gateways</a:t>
            </a:r>
            <a:r>
              <a:rPr lang="en-US" sz="900" i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left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navigation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pane.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i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i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gateway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Fill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form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lang="en-US" sz="900" noProof="1">
              <a:latin typeface="Arial"/>
              <a:cs typeface="Arial"/>
            </a:endParaRPr>
          </a:p>
          <a:p>
            <a:pPr marL="467359" lvl="1" indent="-140335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467359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test-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igw</a:t>
            </a:r>
            <a:endParaRPr lang="en-US" sz="8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i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i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gateway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Actions</a:t>
            </a:r>
            <a:r>
              <a:rPr lang="en-US" sz="900" i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top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right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corner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Attach</a:t>
            </a:r>
            <a:r>
              <a:rPr lang="en-US" sz="900" i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i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0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Choose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ending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test-vpc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Attach</a:t>
            </a:r>
            <a:r>
              <a:rPr lang="en-US" sz="900" i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i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gateway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3146425" cy="5080"/>
            </a:xfrm>
            <a:custGeom>
              <a:avLst/>
              <a:gdLst/>
              <a:ahLst/>
              <a:cxnLst/>
              <a:rect l="l" t="t" r="r" b="b"/>
              <a:pathLst>
                <a:path w="3146425" h="5080">
                  <a:moveTo>
                    <a:pt x="0" y="5060"/>
                  </a:moveTo>
                  <a:lnTo>
                    <a:pt x="0" y="0"/>
                  </a:lnTo>
                  <a:lnTo>
                    <a:pt x="3146261" y="0"/>
                  </a:lnTo>
                  <a:lnTo>
                    <a:pt x="314626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0066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65" noProof="1"/>
              <a:t>Accessing</a:t>
            </a:r>
            <a:r>
              <a:rPr lang="en-US" spc="30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spc="-30" noProof="1"/>
              <a:t>public</a:t>
            </a:r>
            <a:r>
              <a:rPr lang="en-US" spc="35" noProof="1"/>
              <a:t> </a:t>
            </a:r>
            <a:r>
              <a:rPr lang="en-US" noProof="1"/>
              <a:t>EC2</a:t>
            </a:r>
            <a:r>
              <a:rPr lang="en-US" spc="30" noProof="1"/>
              <a:t> </a:t>
            </a:r>
            <a:r>
              <a:rPr lang="en-US" spc="-25" noProof="1"/>
              <a:t>instance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793385"/>
            <a:ext cx="4899025" cy="50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getting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VPC,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still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can’t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reach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inside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subnet.</a:t>
            </a:r>
            <a:r>
              <a:rPr lang="en-US" sz="900" spc="114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because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despite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name,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still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private.</a:t>
            </a:r>
            <a:r>
              <a:rPr lang="en-US" sz="900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make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creating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Route</a:t>
            </a:r>
            <a:r>
              <a:rPr lang="en-US" sz="9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Table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2785" y="1354849"/>
            <a:ext cx="1934428" cy="119957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194685" cy="5080"/>
            </a:xfrm>
            <a:custGeom>
              <a:avLst/>
              <a:gdLst/>
              <a:ahLst/>
              <a:cxnLst/>
              <a:rect l="l" t="t" r="r" b="b"/>
              <a:pathLst>
                <a:path w="3194685" h="5080">
                  <a:moveTo>
                    <a:pt x="0" y="5060"/>
                  </a:moveTo>
                  <a:lnTo>
                    <a:pt x="0" y="0"/>
                  </a:lnTo>
                  <a:lnTo>
                    <a:pt x="3194689" y="0"/>
                  </a:lnTo>
                  <a:lnTo>
                    <a:pt x="319468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0066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65" noProof="1"/>
              <a:t>Accessing</a:t>
            </a:r>
            <a:r>
              <a:rPr lang="en-US" spc="30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spc="-30" noProof="1"/>
              <a:t>public</a:t>
            </a:r>
            <a:r>
              <a:rPr lang="en-US" spc="35" noProof="1"/>
              <a:t> </a:t>
            </a:r>
            <a:r>
              <a:rPr lang="en-US" noProof="1"/>
              <a:t>EC2</a:t>
            </a:r>
            <a:r>
              <a:rPr lang="en-US" spc="30" noProof="1"/>
              <a:t> </a:t>
            </a:r>
            <a:r>
              <a:rPr lang="en-US" spc="-25" noProof="1"/>
              <a:t>instance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15144"/>
            <a:ext cx="355917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Once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the table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created,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 be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able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reach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subnet.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597" y="756121"/>
            <a:ext cx="4534820" cy="2099219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243580" cy="5080"/>
            </a:xfrm>
            <a:custGeom>
              <a:avLst/>
              <a:gdLst/>
              <a:ahLst/>
              <a:cxnLst/>
              <a:rect l="l" t="t" r="r" b="b"/>
              <a:pathLst>
                <a:path w="3243580" h="5080">
                  <a:moveTo>
                    <a:pt x="0" y="5060"/>
                  </a:moveTo>
                  <a:lnTo>
                    <a:pt x="0" y="0"/>
                  </a:lnTo>
                  <a:lnTo>
                    <a:pt x="3243029" y="0"/>
                  </a:lnTo>
                  <a:lnTo>
                    <a:pt x="324302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0066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65" noProof="1"/>
              <a:t>Accessing</a:t>
            </a:r>
            <a:r>
              <a:rPr lang="en-US" spc="30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spc="-30" noProof="1"/>
              <a:t>public</a:t>
            </a:r>
            <a:r>
              <a:rPr lang="en-US" spc="35" noProof="1"/>
              <a:t> </a:t>
            </a:r>
            <a:r>
              <a:rPr lang="en-US" noProof="1"/>
              <a:t>EC2</a:t>
            </a:r>
            <a:r>
              <a:rPr lang="en-US" spc="30" noProof="1"/>
              <a:t> </a:t>
            </a:r>
            <a:r>
              <a:rPr lang="en-US" spc="-25" noProof="1"/>
              <a:t>instance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502063"/>
            <a:ext cx="3985895" cy="2364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Creating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Route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Table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44"/>
              </a:spcBef>
              <a:buAutoNum type="arabicPeriod"/>
              <a:tabLst>
                <a:tab pos="239395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r>
              <a:rPr lang="en-US" sz="900" i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 on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Route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35" noProof="1">
                <a:solidFill>
                  <a:srgbClr val="22373A"/>
                </a:solidFill>
                <a:latin typeface="Arial"/>
                <a:cs typeface="Arial"/>
              </a:rPr>
              <a:t>Tables</a:t>
            </a:r>
            <a:r>
              <a:rPr lang="en-US" sz="900" i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 the left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navigation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pane.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i="1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route</a:t>
            </a:r>
            <a:r>
              <a:rPr lang="en-US" sz="900" i="1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table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Fill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form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lang="en-US" sz="900" noProof="1">
              <a:latin typeface="Arial"/>
              <a:cs typeface="Arial"/>
            </a:endParaRPr>
          </a:p>
          <a:p>
            <a:pPr marL="467359" lvl="1" indent="-140335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467359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2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test-public-to-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endParaRPr lang="en-US" sz="800" noProof="1">
              <a:latin typeface="Arial"/>
              <a:cs typeface="Arial"/>
            </a:endParaRPr>
          </a:p>
          <a:p>
            <a:pPr marL="467359" lvl="1" indent="-140335">
              <a:lnSpc>
                <a:spcPct val="100000"/>
              </a:lnSpc>
              <a:spcBef>
                <a:spcPts val="75"/>
              </a:spcBef>
              <a:buFont typeface="Arial"/>
              <a:buChar char="•"/>
              <a:tabLst>
                <a:tab pos="467359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8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ending</a:t>
            </a:r>
            <a:r>
              <a:rPr lang="en-US" sz="8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8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(test-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vpc)</a:t>
            </a:r>
            <a:endParaRPr lang="en-US" sz="8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i="1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route</a:t>
            </a:r>
            <a:r>
              <a:rPr lang="en-US" sz="900" i="1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table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Actions</a:t>
            </a:r>
            <a:r>
              <a:rPr lang="en-US" sz="900" i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top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right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corner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Edit</a:t>
            </a:r>
            <a:r>
              <a:rPr lang="en-US" sz="900" i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i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0" noProof="1">
                <a:solidFill>
                  <a:srgbClr val="22373A"/>
                </a:solidFill>
                <a:latin typeface="Arial"/>
                <a:cs typeface="Arial"/>
              </a:rPr>
              <a:t>associations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Choose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55" noProof="1">
                <a:solidFill>
                  <a:srgbClr val="22373A"/>
                </a:solidFill>
                <a:latin typeface="Arial"/>
                <a:cs typeface="Arial"/>
              </a:rPr>
              <a:t>Save</a:t>
            </a:r>
            <a:r>
              <a:rPr lang="en-US" sz="900" i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associations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Actions</a:t>
            </a:r>
            <a:r>
              <a:rPr lang="en-US" sz="900" i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top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right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corner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Edit</a:t>
            </a:r>
            <a:r>
              <a:rPr lang="en-US" sz="900" i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routes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Add</a:t>
            </a:r>
            <a:r>
              <a:rPr lang="en-US" sz="900" i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route</a:t>
            </a:r>
            <a:r>
              <a:rPr lang="en-US" sz="900" i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fill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form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lang="en-US" sz="900" noProof="1">
              <a:latin typeface="Arial"/>
              <a:cs typeface="Arial"/>
            </a:endParaRPr>
          </a:p>
          <a:p>
            <a:pPr marL="467359" lvl="1" indent="-140335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467359" algn="l"/>
              </a:tabLst>
            </a:pP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Destination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0.0.0.0/0</a:t>
            </a:r>
            <a:endParaRPr lang="en-US" sz="800" noProof="1">
              <a:latin typeface="Arial"/>
              <a:cs typeface="Arial"/>
            </a:endParaRPr>
          </a:p>
          <a:p>
            <a:pPr marL="467359" lvl="1" indent="-140335">
              <a:lnSpc>
                <a:spcPct val="100000"/>
              </a:lnSpc>
              <a:spcBef>
                <a:spcPts val="75"/>
              </a:spcBef>
              <a:buFont typeface="Arial"/>
              <a:buChar char="•"/>
              <a:tabLst>
                <a:tab pos="467359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Target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30" noProof="1">
                <a:solidFill>
                  <a:srgbClr val="22373A"/>
                </a:solidFill>
                <a:latin typeface="Arial"/>
                <a:cs typeface="Arial"/>
              </a:rPr>
              <a:t>Choose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i="1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800" i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i="1" spc="-25" noProof="1">
                <a:solidFill>
                  <a:srgbClr val="22373A"/>
                </a:solidFill>
                <a:latin typeface="Arial"/>
                <a:cs typeface="Arial"/>
              </a:rPr>
              <a:t>Gateway</a:t>
            </a:r>
            <a:r>
              <a:rPr lang="en-US" sz="800" i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ending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8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(test-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igw).</a:t>
            </a:r>
            <a:endParaRPr lang="en-US" sz="800" noProof="1">
              <a:latin typeface="Arial"/>
              <a:cs typeface="Arial"/>
            </a:endParaRPr>
          </a:p>
          <a:p>
            <a:pPr marL="239395" indent="-205740">
              <a:lnSpc>
                <a:spcPct val="100000"/>
              </a:lnSpc>
              <a:spcBef>
                <a:spcPts val="190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55" noProof="1">
                <a:solidFill>
                  <a:srgbClr val="22373A"/>
                </a:solidFill>
                <a:latin typeface="Arial"/>
                <a:cs typeface="Arial"/>
              </a:rPr>
              <a:t>Save</a:t>
            </a:r>
            <a:r>
              <a:rPr lang="en-US" sz="900" i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changes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291840" cy="5080"/>
            </a:xfrm>
            <a:custGeom>
              <a:avLst/>
              <a:gdLst/>
              <a:ahLst/>
              <a:cxnLst/>
              <a:rect l="l" t="t" r="r" b="b"/>
              <a:pathLst>
                <a:path w="3291840" h="5080">
                  <a:moveTo>
                    <a:pt x="0" y="5060"/>
                  </a:moveTo>
                  <a:lnTo>
                    <a:pt x="0" y="0"/>
                  </a:lnTo>
                  <a:lnTo>
                    <a:pt x="3291458" y="0"/>
                  </a:lnTo>
                  <a:lnTo>
                    <a:pt x="329145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0066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65" noProof="1"/>
              <a:t>Accessing</a:t>
            </a:r>
            <a:r>
              <a:rPr lang="en-US" spc="30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spc="-30" noProof="1"/>
              <a:t>public</a:t>
            </a:r>
            <a:r>
              <a:rPr lang="en-US" spc="35" noProof="1"/>
              <a:t> </a:t>
            </a:r>
            <a:r>
              <a:rPr lang="en-US" noProof="1"/>
              <a:t>EC2</a:t>
            </a:r>
            <a:r>
              <a:rPr lang="en-US" spc="30" noProof="1"/>
              <a:t> </a:t>
            </a:r>
            <a:r>
              <a:rPr lang="en-US" spc="-25" noProof="1"/>
              <a:t>instance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7126" y="1428893"/>
            <a:ext cx="2794000" cy="50355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Char char="•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is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accessible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from 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endParaRPr lang="en-US" sz="900" noProof="1">
              <a:latin typeface="Arial"/>
              <a:cs typeface="Arial"/>
            </a:endParaRPr>
          </a:p>
          <a:p>
            <a:pPr marL="156210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15621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subnet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indeed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now.</a:t>
            </a:r>
            <a:endParaRPr lang="en-US" sz="900" noProof="1">
              <a:latin typeface="Arial"/>
              <a:cs typeface="Arial"/>
            </a:endParaRPr>
          </a:p>
          <a:p>
            <a:pPr marL="156210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15621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still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340100" cy="5080"/>
            </a:xfrm>
            <a:custGeom>
              <a:avLst/>
              <a:gdLst/>
              <a:ahLst/>
              <a:cxnLst/>
              <a:rect l="l" t="t" r="r" b="b"/>
              <a:pathLst>
                <a:path w="3340100" h="5080">
                  <a:moveTo>
                    <a:pt x="0" y="5060"/>
                  </a:moveTo>
                  <a:lnTo>
                    <a:pt x="0" y="0"/>
                  </a:lnTo>
                  <a:lnTo>
                    <a:pt x="3339886" y="0"/>
                  </a:lnTo>
                  <a:lnTo>
                    <a:pt x="333988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8340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noProof="1"/>
              <a:t>Deploying</a:t>
            </a:r>
            <a:r>
              <a:rPr lang="en-US" spc="10" noProof="1"/>
              <a:t> </a:t>
            </a:r>
            <a:r>
              <a:rPr lang="en-US" noProof="1"/>
              <a:t>an</a:t>
            </a:r>
            <a:r>
              <a:rPr lang="en-US" spc="10" noProof="1"/>
              <a:t> </a:t>
            </a:r>
            <a:r>
              <a:rPr lang="en-US" noProof="1"/>
              <a:t>EC2</a:t>
            </a:r>
            <a:r>
              <a:rPr lang="en-US" spc="15" noProof="1"/>
              <a:t> </a:t>
            </a:r>
            <a:r>
              <a:rPr lang="en-US" spc="-30" noProof="1"/>
              <a:t>instance</a:t>
            </a:r>
            <a:r>
              <a:rPr lang="en-US" spc="10" noProof="1"/>
              <a:t> </a:t>
            </a:r>
            <a:r>
              <a:rPr lang="en-US" noProof="1"/>
              <a:t>in</a:t>
            </a:r>
            <a:r>
              <a:rPr lang="en-US" spc="10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spc="-10" noProof="1"/>
              <a:t>private</a:t>
            </a:r>
            <a:r>
              <a:rPr lang="en-US" spc="10" noProof="1"/>
              <a:t> </a:t>
            </a:r>
            <a:r>
              <a:rPr lang="en-US" spc="-25" noProof="1"/>
              <a:t>subnet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1718" y="514459"/>
            <a:ext cx="350456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now going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launch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inside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private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subnet.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6874" y="756810"/>
            <a:ext cx="4466254" cy="2099216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388360" cy="5080"/>
            </a:xfrm>
            <a:custGeom>
              <a:avLst/>
              <a:gdLst/>
              <a:ahLst/>
              <a:cxnLst/>
              <a:rect l="l" t="t" r="r" b="b"/>
              <a:pathLst>
                <a:path w="3388360" h="5080">
                  <a:moveTo>
                    <a:pt x="0" y="5060"/>
                  </a:moveTo>
                  <a:lnTo>
                    <a:pt x="0" y="0"/>
                  </a:lnTo>
                  <a:lnTo>
                    <a:pt x="3388314" y="0"/>
                  </a:lnTo>
                  <a:lnTo>
                    <a:pt x="338831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8340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noProof="1"/>
              <a:t>Deploying</a:t>
            </a:r>
            <a:r>
              <a:rPr lang="en-US" spc="10" noProof="1"/>
              <a:t> </a:t>
            </a:r>
            <a:r>
              <a:rPr lang="en-US" noProof="1"/>
              <a:t>an</a:t>
            </a:r>
            <a:r>
              <a:rPr lang="en-US" spc="10" noProof="1"/>
              <a:t> </a:t>
            </a:r>
            <a:r>
              <a:rPr lang="en-US" noProof="1"/>
              <a:t>EC2</a:t>
            </a:r>
            <a:r>
              <a:rPr lang="en-US" spc="15" noProof="1"/>
              <a:t> </a:t>
            </a:r>
            <a:r>
              <a:rPr lang="en-US" spc="-30" noProof="1"/>
              <a:t>instance</a:t>
            </a:r>
            <a:r>
              <a:rPr lang="en-US" spc="10" noProof="1"/>
              <a:t> </a:t>
            </a:r>
            <a:r>
              <a:rPr lang="en-US" noProof="1"/>
              <a:t>in</a:t>
            </a:r>
            <a:r>
              <a:rPr lang="en-US" spc="10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spc="-10" noProof="1"/>
              <a:t>private</a:t>
            </a:r>
            <a:r>
              <a:rPr lang="en-US" spc="10" noProof="1"/>
              <a:t> </a:t>
            </a:r>
            <a:r>
              <a:rPr lang="en-US" spc="-25" noProof="1"/>
              <a:t>subnet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86813" y="1594648"/>
            <a:ext cx="616585" cy="135890"/>
            <a:chOff x="1986813" y="1594648"/>
            <a:chExt cx="616585" cy="135890"/>
          </a:xfrm>
        </p:grpSpPr>
        <p:sp>
          <p:nvSpPr>
            <p:cNvPr id="4" name="object 4"/>
            <p:cNvSpPr/>
            <p:nvPr/>
          </p:nvSpPr>
          <p:spPr>
            <a:xfrm>
              <a:off x="1986813" y="1594648"/>
              <a:ext cx="616585" cy="135890"/>
            </a:xfrm>
            <a:custGeom>
              <a:avLst/>
              <a:gdLst/>
              <a:ahLst/>
              <a:cxnLst/>
              <a:rect l="l" t="t" r="r" b="b"/>
              <a:pathLst>
                <a:path w="616585" h="135889">
                  <a:moveTo>
                    <a:pt x="5805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99434"/>
                  </a:lnTo>
                  <a:lnTo>
                    <a:pt x="2829" y="113447"/>
                  </a:lnTo>
                  <a:lnTo>
                    <a:pt x="10544" y="124890"/>
                  </a:lnTo>
                  <a:lnTo>
                    <a:pt x="21987" y="132605"/>
                  </a:lnTo>
                  <a:lnTo>
                    <a:pt x="36000" y="135434"/>
                  </a:lnTo>
                  <a:lnTo>
                    <a:pt x="580541" y="135434"/>
                  </a:lnTo>
                  <a:lnTo>
                    <a:pt x="594554" y="132605"/>
                  </a:lnTo>
                  <a:lnTo>
                    <a:pt x="605997" y="124890"/>
                  </a:lnTo>
                  <a:lnTo>
                    <a:pt x="613712" y="113447"/>
                  </a:lnTo>
                  <a:lnTo>
                    <a:pt x="616541" y="99434"/>
                  </a:lnTo>
                  <a:lnTo>
                    <a:pt x="616541" y="36000"/>
                  </a:lnTo>
                  <a:lnTo>
                    <a:pt x="613712" y="21987"/>
                  </a:lnTo>
                  <a:lnTo>
                    <a:pt x="605997" y="10544"/>
                  </a:lnTo>
                  <a:lnTo>
                    <a:pt x="594554" y="2829"/>
                  </a:lnTo>
                  <a:lnTo>
                    <a:pt x="5805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986813" y="1594648"/>
              <a:ext cx="616585" cy="135890"/>
            </a:xfrm>
            <a:custGeom>
              <a:avLst/>
              <a:gdLst/>
              <a:ahLst/>
              <a:cxnLst/>
              <a:rect l="l" t="t" r="r" b="b"/>
              <a:pathLst>
                <a:path w="616585" h="135889">
                  <a:moveTo>
                    <a:pt x="5805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99434"/>
                  </a:lnTo>
                  <a:lnTo>
                    <a:pt x="2829" y="113447"/>
                  </a:lnTo>
                  <a:lnTo>
                    <a:pt x="10544" y="124890"/>
                  </a:lnTo>
                  <a:lnTo>
                    <a:pt x="21987" y="132605"/>
                  </a:lnTo>
                  <a:lnTo>
                    <a:pt x="36000" y="135434"/>
                  </a:lnTo>
                  <a:lnTo>
                    <a:pt x="580541" y="135434"/>
                  </a:lnTo>
                  <a:lnTo>
                    <a:pt x="594554" y="132605"/>
                  </a:lnTo>
                  <a:lnTo>
                    <a:pt x="605997" y="124890"/>
                  </a:lnTo>
                  <a:lnTo>
                    <a:pt x="613712" y="113447"/>
                  </a:lnTo>
                  <a:lnTo>
                    <a:pt x="616541" y="99434"/>
                  </a:lnTo>
                  <a:lnTo>
                    <a:pt x="616541" y="36000"/>
                  </a:lnTo>
                  <a:lnTo>
                    <a:pt x="613712" y="21987"/>
                  </a:lnTo>
                  <a:lnTo>
                    <a:pt x="605997" y="10544"/>
                  </a:lnTo>
                  <a:lnTo>
                    <a:pt x="594554" y="2829"/>
                  </a:lnTo>
                  <a:lnTo>
                    <a:pt x="5805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27012" y="951995"/>
            <a:ext cx="3905885" cy="147701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160020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i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0" noProof="1">
                <a:solidFill>
                  <a:srgbClr val="22373A"/>
                </a:solidFill>
                <a:latin typeface="Arial"/>
                <a:cs typeface="Arial"/>
              </a:rPr>
              <a:t>Launch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 instance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Fill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form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lang="en-US" sz="9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private-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lang="en-US" sz="800" b="1" spc="-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pair</a:t>
            </a:r>
            <a:r>
              <a:rPr lang="en-US" sz="8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(login)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Choose</a:t>
            </a:r>
            <a:r>
              <a:rPr lang="en-US" sz="8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aws-</a:t>
            </a:r>
            <a:r>
              <a:rPr lang="en-US" sz="800" spc="-55" noProof="1">
                <a:latin typeface="Courier New"/>
                <a:cs typeface="Courier New"/>
              </a:rPr>
              <a:t>keypair</a:t>
            </a:r>
            <a:r>
              <a:rPr lang="en-US" sz="800" spc="-100" noProof="1">
                <a:latin typeface="Courier New"/>
                <a:cs typeface="Courier New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(the</a:t>
            </a:r>
            <a:r>
              <a:rPr lang="en-US" sz="8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8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8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8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already</a:t>
            </a:r>
            <a:r>
              <a:rPr lang="en-US" sz="8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lang="en-US" sz="8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using)</a:t>
            </a:r>
            <a:endParaRPr lang="en-US" sz="8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settings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tab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clik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Edit</a:t>
            </a:r>
            <a:r>
              <a:rPr lang="en-US" sz="900" i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lang="en-US" sz="9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r>
              <a:rPr lang="en-US" sz="800" b="1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-</a:t>
            </a:r>
            <a:r>
              <a:rPr lang="en-US" sz="800" b="1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25" noProof="1">
                <a:solidFill>
                  <a:srgbClr val="22373A"/>
                </a:solidFill>
                <a:latin typeface="Arial"/>
                <a:cs typeface="Arial"/>
              </a:rPr>
              <a:t>required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8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ending</a:t>
            </a:r>
            <a:r>
              <a:rPr lang="en-US" sz="8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8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(test-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vpc)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8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test-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private-subnet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5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spc="-40" noProof="1">
                <a:solidFill>
                  <a:srgbClr val="22373A"/>
                </a:solidFill>
                <a:latin typeface="Arial"/>
                <a:cs typeface="Arial"/>
              </a:rPr>
              <a:t>Auto-</a:t>
            </a:r>
            <a:r>
              <a:rPr lang="en-US" sz="800" b="1" spc="-35" noProof="1">
                <a:solidFill>
                  <a:srgbClr val="22373A"/>
                </a:solidFill>
                <a:latin typeface="Arial"/>
                <a:cs typeface="Arial"/>
              </a:rPr>
              <a:t>assign</a:t>
            </a:r>
            <a:r>
              <a:rPr lang="en-US" sz="800" b="1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2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800" b="1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Enable</a:t>
            </a:r>
            <a:endParaRPr lang="en-US" sz="8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90"/>
              </a:spcBef>
              <a:buAutoNum type="arabicPeriod"/>
              <a:tabLst>
                <a:tab pos="160020" algn="l"/>
              </a:tabLst>
            </a:pP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Leave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rest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default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0" noProof="1">
                <a:solidFill>
                  <a:srgbClr val="22373A"/>
                </a:solidFill>
                <a:latin typeface="Arial"/>
                <a:cs typeface="Arial"/>
              </a:rPr>
              <a:t>Launch</a:t>
            </a:r>
            <a:r>
              <a:rPr lang="en-US" sz="900" i="1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3437254" cy="5080"/>
            </a:xfrm>
            <a:custGeom>
              <a:avLst/>
              <a:gdLst/>
              <a:ahLst/>
              <a:cxnLst/>
              <a:rect l="l" t="t" r="r" b="b"/>
              <a:pathLst>
                <a:path w="3437254" h="5080">
                  <a:moveTo>
                    <a:pt x="0" y="5060"/>
                  </a:moveTo>
                  <a:lnTo>
                    <a:pt x="0" y="0"/>
                  </a:lnTo>
                  <a:lnTo>
                    <a:pt x="3436655" y="0"/>
                  </a:lnTo>
                  <a:lnTo>
                    <a:pt x="343665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65" noProof="1"/>
              <a:t>Accessing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25" noProof="1"/>
              <a:t> </a:t>
            </a:r>
            <a:r>
              <a:rPr lang="en-US" spc="-10" noProof="1"/>
              <a:t>private</a:t>
            </a:r>
            <a:r>
              <a:rPr lang="en-US" spc="20" noProof="1"/>
              <a:t> </a:t>
            </a:r>
            <a:r>
              <a:rPr lang="en-US" noProof="1"/>
              <a:t>EC2</a:t>
            </a:r>
            <a:r>
              <a:rPr lang="en-US" spc="25" noProof="1"/>
              <a:t> </a:t>
            </a:r>
            <a:r>
              <a:rPr lang="en-US" spc="-30" noProof="1"/>
              <a:t>instance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3500" y="1815338"/>
            <a:ext cx="5562600" cy="320040"/>
            <a:chOff x="372646" y="1815338"/>
            <a:chExt cx="5015230" cy="320040"/>
          </a:xfrm>
        </p:grpSpPr>
        <p:sp>
          <p:nvSpPr>
            <p:cNvPr id="4" name="object 4"/>
            <p:cNvSpPr/>
            <p:nvPr/>
          </p:nvSpPr>
          <p:spPr>
            <a:xfrm>
              <a:off x="377994" y="1820685"/>
              <a:ext cx="5004435" cy="309245"/>
            </a:xfrm>
            <a:custGeom>
              <a:avLst/>
              <a:gdLst/>
              <a:ahLst/>
              <a:cxnLst/>
              <a:rect l="l" t="t" r="r" b="b"/>
              <a:pathLst>
                <a:path w="5004435" h="309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3226"/>
                  </a:lnTo>
                  <a:lnTo>
                    <a:pt x="2829" y="287239"/>
                  </a:lnTo>
                  <a:lnTo>
                    <a:pt x="10544" y="298682"/>
                  </a:lnTo>
                  <a:lnTo>
                    <a:pt x="21987" y="306398"/>
                  </a:lnTo>
                  <a:lnTo>
                    <a:pt x="36000" y="309227"/>
                  </a:lnTo>
                  <a:lnTo>
                    <a:pt x="4968064" y="309227"/>
                  </a:lnTo>
                  <a:lnTo>
                    <a:pt x="4982077" y="306398"/>
                  </a:lnTo>
                  <a:lnTo>
                    <a:pt x="4993521" y="298682"/>
                  </a:lnTo>
                  <a:lnTo>
                    <a:pt x="5001236" y="287239"/>
                  </a:lnTo>
                  <a:lnTo>
                    <a:pt x="5004065" y="273226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821664"/>
              <a:ext cx="5002530" cy="307340"/>
            </a:xfrm>
            <a:custGeom>
              <a:avLst/>
              <a:gdLst/>
              <a:ahLst/>
              <a:cxnLst/>
              <a:rect l="l" t="t" r="r" b="b"/>
              <a:pathLst>
                <a:path w="5002530" h="307339">
                  <a:moveTo>
                    <a:pt x="0" y="272247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2247"/>
                  </a:lnTo>
                  <a:lnTo>
                    <a:pt x="4999354" y="285879"/>
                  </a:lnTo>
                  <a:lnTo>
                    <a:pt x="4991849" y="297011"/>
                  </a:lnTo>
                  <a:lnTo>
                    <a:pt x="4980717" y="304516"/>
                  </a:lnTo>
                  <a:lnTo>
                    <a:pt x="4967085" y="307268"/>
                  </a:lnTo>
                  <a:lnTo>
                    <a:pt x="35021" y="307268"/>
                  </a:lnTo>
                  <a:lnTo>
                    <a:pt x="21389" y="304516"/>
                  </a:lnTo>
                  <a:lnTo>
                    <a:pt x="10257" y="297011"/>
                  </a:lnTo>
                  <a:lnTo>
                    <a:pt x="2752" y="285879"/>
                  </a:lnTo>
                  <a:lnTo>
                    <a:pt x="0" y="272247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9432" y="1036172"/>
            <a:ext cx="5970053" cy="14759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 marR="386715" indent="-5715">
              <a:lnSpc>
                <a:spcPct val="116199"/>
              </a:lnSpc>
              <a:spcBef>
                <a:spcPts val="100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know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able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since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resides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 subnet.</a:t>
            </a:r>
            <a:r>
              <a:rPr lang="en-US" sz="900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What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aim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endParaRPr lang="en-US" sz="900" noProof="1">
              <a:latin typeface="Arial"/>
              <a:cs typeface="Arial"/>
            </a:endParaRPr>
          </a:p>
          <a:p>
            <a:pPr marL="17780" marR="427355" indent="-4445">
              <a:lnSpc>
                <a:spcPct val="116199"/>
              </a:lnSpc>
              <a:spcBef>
                <a:spcPts val="62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first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step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to be to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copy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our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onto the public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into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from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there.</a:t>
            </a:r>
            <a:r>
              <a:rPr lang="en-US" sz="900" spc="8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Open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terminal in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local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lang="en-US" sz="9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 run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 command: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lang="en-US" sz="800" spc="-50" noProof="1">
                <a:solidFill>
                  <a:srgbClr val="05287C"/>
                </a:solidFill>
                <a:latin typeface="Courier New"/>
                <a:cs typeface="Courier New"/>
              </a:rPr>
              <a:t>$ scp</a:t>
            </a:r>
            <a:r>
              <a:rPr lang="en-US" sz="800" spc="75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lang="en-US" sz="800" noProof="1">
                <a:solidFill>
                  <a:srgbClr val="7C8E28"/>
                </a:solidFill>
                <a:latin typeface="Courier New"/>
                <a:cs typeface="Courier New"/>
              </a:rPr>
              <a:t>i</a:t>
            </a:r>
            <a:r>
              <a:rPr lang="en-US" sz="800" spc="80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~/.ssh/aws-keypair</a:t>
            </a:r>
            <a:r>
              <a:rPr lang="en-US" sz="800" spc="7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~/.ssh/aws-keypair</a:t>
            </a:r>
            <a:r>
              <a:rPr lang="en-US" sz="800" spc="8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  <a:hlinkClick r:id="rId3"/>
              </a:rPr>
              <a:t>ec2-user@</a:t>
            </a:r>
            <a:r>
              <a:rPr lang="en-US" sz="800" spc="-60" noProof="1">
                <a:solidFill>
                  <a:srgbClr val="666666"/>
                </a:solidFill>
                <a:latin typeface="Courier New"/>
                <a:cs typeface="Courier New"/>
                <a:hlinkClick r:id="rId3"/>
              </a:rPr>
              <a:t>&lt;</a:t>
            </a:r>
            <a:r>
              <a:rPr lang="en-US" sz="800" spc="-60" noProof="1">
                <a:latin typeface="Courier New"/>
                <a:cs typeface="Courier New"/>
                <a:hlinkClick r:id="rId3"/>
              </a:rPr>
              <a:t>your-public-ec2-instance-public-</a:t>
            </a:r>
            <a:r>
              <a:rPr lang="en-US" sz="800" spc="-45" noProof="1">
                <a:latin typeface="Courier New"/>
                <a:cs typeface="Courier New"/>
                <a:hlinkClick r:id="rId3"/>
              </a:rPr>
              <a:t>ip</a:t>
            </a:r>
            <a:r>
              <a:rPr lang="en-US" sz="800" spc="-45" noProof="1">
                <a:solidFill>
                  <a:srgbClr val="666666"/>
                </a:solidFill>
                <a:latin typeface="Courier New"/>
                <a:cs typeface="Courier New"/>
                <a:hlinkClick r:id="rId3"/>
              </a:rPr>
              <a:t>&gt;</a:t>
            </a:r>
            <a:r>
              <a:rPr lang="en-US" sz="800" spc="-45" noProof="1">
                <a:latin typeface="Courier New"/>
                <a:cs typeface="Courier New"/>
                <a:hlinkClick r:id="rId3"/>
              </a:rPr>
              <a:t>:.ssh/</a:t>
            </a:r>
            <a:endParaRPr lang="en-US" sz="800" spc="-45" noProof="1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</a:pPr>
            <a:endParaRPr lang="en-US" sz="800" noProof="1">
              <a:latin typeface="Courier New"/>
              <a:cs typeface="Courier New"/>
            </a:endParaRPr>
          </a:p>
          <a:p>
            <a:pPr marL="17780" marR="445770" indent="-4445">
              <a:lnSpc>
                <a:spcPct val="116199"/>
              </a:lnSpc>
              <a:spcBef>
                <a:spcPts val="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 is just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copying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to the public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r>
              <a:rPr lang="en-US" sz="900" spc="8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Now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into the public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 instance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there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try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3485515" cy="5080"/>
            </a:xfrm>
            <a:custGeom>
              <a:avLst/>
              <a:gdLst/>
              <a:ahLst/>
              <a:cxnLst/>
              <a:rect l="l" t="t" r="r" b="b"/>
              <a:pathLst>
                <a:path w="3485515" h="5080">
                  <a:moveTo>
                    <a:pt x="0" y="5060"/>
                  </a:moveTo>
                  <a:lnTo>
                    <a:pt x="0" y="0"/>
                  </a:lnTo>
                  <a:lnTo>
                    <a:pt x="3485083" y="0"/>
                  </a:lnTo>
                  <a:lnTo>
                    <a:pt x="348508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65" noProof="1"/>
              <a:t>Accessing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25" noProof="1"/>
              <a:t> </a:t>
            </a:r>
            <a:r>
              <a:rPr lang="en-US" spc="-10" noProof="1"/>
              <a:t>private</a:t>
            </a:r>
            <a:r>
              <a:rPr lang="en-US" spc="20" noProof="1"/>
              <a:t> </a:t>
            </a:r>
            <a:r>
              <a:rPr lang="en-US" noProof="1"/>
              <a:t>EC2</a:t>
            </a:r>
            <a:r>
              <a:rPr lang="en-US" spc="25" noProof="1"/>
              <a:t> </a:t>
            </a:r>
            <a:r>
              <a:rPr lang="en-US" spc="-30" noProof="1"/>
              <a:t>instance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9870" y="608088"/>
            <a:ext cx="5015230" cy="320040"/>
            <a:chOff x="372646" y="1012533"/>
            <a:chExt cx="5015230" cy="320040"/>
          </a:xfrm>
        </p:grpSpPr>
        <p:sp>
          <p:nvSpPr>
            <p:cNvPr id="4" name="object 4"/>
            <p:cNvSpPr/>
            <p:nvPr/>
          </p:nvSpPr>
          <p:spPr>
            <a:xfrm>
              <a:off x="377994" y="1017880"/>
              <a:ext cx="5004435" cy="309245"/>
            </a:xfrm>
            <a:custGeom>
              <a:avLst/>
              <a:gdLst/>
              <a:ahLst/>
              <a:cxnLst/>
              <a:rect l="l" t="t" r="r" b="b"/>
              <a:pathLst>
                <a:path w="5004435" h="309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3226"/>
                  </a:lnTo>
                  <a:lnTo>
                    <a:pt x="2829" y="287239"/>
                  </a:lnTo>
                  <a:lnTo>
                    <a:pt x="10544" y="298682"/>
                  </a:lnTo>
                  <a:lnTo>
                    <a:pt x="21987" y="306398"/>
                  </a:lnTo>
                  <a:lnTo>
                    <a:pt x="36000" y="309227"/>
                  </a:lnTo>
                  <a:lnTo>
                    <a:pt x="4968064" y="309227"/>
                  </a:lnTo>
                  <a:lnTo>
                    <a:pt x="4982077" y="306398"/>
                  </a:lnTo>
                  <a:lnTo>
                    <a:pt x="4993521" y="298682"/>
                  </a:lnTo>
                  <a:lnTo>
                    <a:pt x="5001236" y="287239"/>
                  </a:lnTo>
                  <a:lnTo>
                    <a:pt x="5004065" y="273226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018859"/>
              <a:ext cx="5002530" cy="307340"/>
            </a:xfrm>
            <a:custGeom>
              <a:avLst/>
              <a:gdLst/>
              <a:ahLst/>
              <a:cxnLst/>
              <a:rect l="l" t="t" r="r" b="b"/>
              <a:pathLst>
                <a:path w="5002530" h="307340">
                  <a:moveTo>
                    <a:pt x="0" y="272247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2247"/>
                  </a:lnTo>
                  <a:lnTo>
                    <a:pt x="4999354" y="285879"/>
                  </a:lnTo>
                  <a:lnTo>
                    <a:pt x="4991849" y="297011"/>
                  </a:lnTo>
                  <a:lnTo>
                    <a:pt x="4980717" y="304516"/>
                  </a:lnTo>
                  <a:lnTo>
                    <a:pt x="4967085" y="307268"/>
                  </a:lnTo>
                  <a:lnTo>
                    <a:pt x="35021" y="307268"/>
                  </a:lnTo>
                  <a:lnTo>
                    <a:pt x="21389" y="304516"/>
                  </a:lnTo>
                  <a:lnTo>
                    <a:pt x="10257" y="297011"/>
                  </a:lnTo>
                  <a:lnTo>
                    <a:pt x="2752" y="285879"/>
                  </a:lnTo>
                  <a:lnTo>
                    <a:pt x="0" y="272247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50577" y="1264147"/>
            <a:ext cx="5015230" cy="320040"/>
            <a:chOff x="372646" y="1648041"/>
            <a:chExt cx="5015230" cy="320040"/>
          </a:xfrm>
        </p:grpSpPr>
        <p:sp>
          <p:nvSpPr>
            <p:cNvPr id="7" name="object 7"/>
            <p:cNvSpPr/>
            <p:nvPr/>
          </p:nvSpPr>
          <p:spPr>
            <a:xfrm>
              <a:off x="377994" y="1653388"/>
              <a:ext cx="5004435" cy="309245"/>
            </a:xfrm>
            <a:custGeom>
              <a:avLst/>
              <a:gdLst/>
              <a:ahLst/>
              <a:cxnLst/>
              <a:rect l="l" t="t" r="r" b="b"/>
              <a:pathLst>
                <a:path w="5004435" h="309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3226"/>
                  </a:lnTo>
                  <a:lnTo>
                    <a:pt x="2829" y="287239"/>
                  </a:lnTo>
                  <a:lnTo>
                    <a:pt x="10544" y="298682"/>
                  </a:lnTo>
                  <a:lnTo>
                    <a:pt x="21987" y="306398"/>
                  </a:lnTo>
                  <a:lnTo>
                    <a:pt x="36000" y="309227"/>
                  </a:lnTo>
                  <a:lnTo>
                    <a:pt x="4968064" y="309227"/>
                  </a:lnTo>
                  <a:lnTo>
                    <a:pt x="4982077" y="306398"/>
                  </a:lnTo>
                  <a:lnTo>
                    <a:pt x="4993521" y="298682"/>
                  </a:lnTo>
                  <a:lnTo>
                    <a:pt x="5001236" y="287239"/>
                  </a:lnTo>
                  <a:lnTo>
                    <a:pt x="5004065" y="273226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378973" y="1654367"/>
              <a:ext cx="5002530" cy="307340"/>
            </a:xfrm>
            <a:custGeom>
              <a:avLst/>
              <a:gdLst/>
              <a:ahLst/>
              <a:cxnLst/>
              <a:rect l="l" t="t" r="r" b="b"/>
              <a:pathLst>
                <a:path w="5002530" h="307339">
                  <a:moveTo>
                    <a:pt x="0" y="272247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2247"/>
                  </a:lnTo>
                  <a:lnTo>
                    <a:pt x="4999354" y="285879"/>
                  </a:lnTo>
                  <a:lnTo>
                    <a:pt x="4991849" y="297011"/>
                  </a:lnTo>
                  <a:lnTo>
                    <a:pt x="4980717" y="304516"/>
                  </a:lnTo>
                  <a:lnTo>
                    <a:pt x="4967085" y="307268"/>
                  </a:lnTo>
                  <a:lnTo>
                    <a:pt x="35021" y="307268"/>
                  </a:lnTo>
                  <a:lnTo>
                    <a:pt x="21389" y="304516"/>
                  </a:lnTo>
                  <a:lnTo>
                    <a:pt x="10257" y="297011"/>
                  </a:lnTo>
                  <a:lnTo>
                    <a:pt x="2752" y="285879"/>
                  </a:lnTo>
                  <a:lnTo>
                    <a:pt x="0" y="272247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23497" y="1893858"/>
            <a:ext cx="5015230" cy="320040"/>
            <a:chOff x="372646" y="2283549"/>
            <a:chExt cx="5015230" cy="320040"/>
          </a:xfrm>
        </p:grpSpPr>
        <p:sp>
          <p:nvSpPr>
            <p:cNvPr id="10" name="object 10"/>
            <p:cNvSpPr/>
            <p:nvPr/>
          </p:nvSpPr>
          <p:spPr>
            <a:xfrm>
              <a:off x="377994" y="2288896"/>
              <a:ext cx="5004435" cy="309245"/>
            </a:xfrm>
            <a:custGeom>
              <a:avLst/>
              <a:gdLst/>
              <a:ahLst/>
              <a:cxnLst/>
              <a:rect l="l" t="t" r="r" b="b"/>
              <a:pathLst>
                <a:path w="5004435" h="309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3226"/>
                  </a:lnTo>
                  <a:lnTo>
                    <a:pt x="2829" y="287239"/>
                  </a:lnTo>
                  <a:lnTo>
                    <a:pt x="10544" y="298682"/>
                  </a:lnTo>
                  <a:lnTo>
                    <a:pt x="21987" y="306398"/>
                  </a:lnTo>
                  <a:lnTo>
                    <a:pt x="36000" y="309227"/>
                  </a:lnTo>
                  <a:lnTo>
                    <a:pt x="4968064" y="309227"/>
                  </a:lnTo>
                  <a:lnTo>
                    <a:pt x="4982077" y="306398"/>
                  </a:lnTo>
                  <a:lnTo>
                    <a:pt x="4993521" y="298682"/>
                  </a:lnTo>
                  <a:lnTo>
                    <a:pt x="5001236" y="287239"/>
                  </a:lnTo>
                  <a:lnTo>
                    <a:pt x="5004065" y="273226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1" name="object 11"/>
            <p:cNvSpPr/>
            <p:nvPr/>
          </p:nvSpPr>
          <p:spPr>
            <a:xfrm>
              <a:off x="378973" y="2289875"/>
              <a:ext cx="5002530" cy="307340"/>
            </a:xfrm>
            <a:custGeom>
              <a:avLst/>
              <a:gdLst/>
              <a:ahLst/>
              <a:cxnLst/>
              <a:rect l="l" t="t" r="r" b="b"/>
              <a:pathLst>
                <a:path w="5002530" h="307339">
                  <a:moveTo>
                    <a:pt x="0" y="272247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2247"/>
                  </a:lnTo>
                  <a:lnTo>
                    <a:pt x="4999354" y="285879"/>
                  </a:lnTo>
                  <a:lnTo>
                    <a:pt x="4991849" y="297011"/>
                  </a:lnTo>
                  <a:lnTo>
                    <a:pt x="4980717" y="304516"/>
                  </a:lnTo>
                  <a:lnTo>
                    <a:pt x="4967085" y="307268"/>
                  </a:lnTo>
                  <a:lnTo>
                    <a:pt x="35021" y="307268"/>
                  </a:lnTo>
                  <a:lnTo>
                    <a:pt x="21389" y="304516"/>
                  </a:lnTo>
                  <a:lnTo>
                    <a:pt x="10257" y="297011"/>
                  </a:lnTo>
                  <a:lnTo>
                    <a:pt x="2752" y="285879"/>
                  </a:lnTo>
                  <a:lnTo>
                    <a:pt x="0" y="272247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4" name="object 14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3234963"/>
              <a:ext cx="3533775" cy="5080"/>
            </a:xfrm>
            <a:custGeom>
              <a:avLst/>
              <a:gdLst/>
              <a:ahLst/>
              <a:cxnLst/>
              <a:rect l="l" t="t" r="r" b="b"/>
              <a:pathLst>
                <a:path w="3533775" h="5080">
                  <a:moveTo>
                    <a:pt x="0" y="5060"/>
                  </a:moveTo>
                  <a:lnTo>
                    <a:pt x="0" y="0"/>
                  </a:lnTo>
                  <a:lnTo>
                    <a:pt x="3533512" y="0"/>
                  </a:lnTo>
                  <a:lnTo>
                    <a:pt x="353351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17" name="object 9">
            <a:extLst>
              <a:ext uri="{FF2B5EF4-FFF2-40B4-BE49-F238E27FC236}">
                <a16:creationId xmlns:a16="http://schemas.microsoft.com/office/drawing/2014/main" id="{A0E390B2-E774-4888-4054-D83113B1CF03}"/>
              </a:ext>
            </a:extLst>
          </p:cNvPr>
          <p:cNvGrpSpPr/>
          <p:nvPr/>
        </p:nvGrpSpPr>
        <p:grpSpPr>
          <a:xfrm>
            <a:off x="229870" y="2495775"/>
            <a:ext cx="5015230" cy="320040"/>
            <a:chOff x="372646" y="2283549"/>
            <a:chExt cx="5015230" cy="320040"/>
          </a:xfrm>
        </p:grpSpPr>
        <p:sp>
          <p:nvSpPr>
            <p:cNvPr id="18" name="object 10">
              <a:extLst>
                <a:ext uri="{FF2B5EF4-FFF2-40B4-BE49-F238E27FC236}">
                  <a16:creationId xmlns:a16="http://schemas.microsoft.com/office/drawing/2014/main" id="{39EA8810-5B8C-995C-AA4D-61F67B2DCCE0}"/>
                </a:ext>
              </a:extLst>
            </p:cNvPr>
            <p:cNvSpPr/>
            <p:nvPr/>
          </p:nvSpPr>
          <p:spPr>
            <a:xfrm>
              <a:off x="377994" y="2288896"/>
              <a:ext cx="5004435" cy="309245"/>
            </a:xfrm>
            <a:custGeom>
              <a:avLst/>
              <a:gdLst/>
              <a:ahLst/>
              <a:cxnLst/>
              <a:rect l="l" t="t" r="r" b="b"/>
              <a:pathLst>
                <a:path w="5004435" h="309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3226"/>
                  </a:lnTo>
                  <a:lnTo>
                    <a:pt x="2829" y="287239"/>
                  </a:lnTo>
                  <a:lnTo>
                    <a:pt x="10544" y="298682"/>
                  </a:lnTo>
                  <a:lnTo>
                    <a:pt x="21987" y="306398"/>
                  </a:lnTo>
                  <a:lnTo>
                    <a:pt x="36000" y="309227"/>
                  </a:lnTo>
                  <a:lnTo>
                    <a:pt x="4968064" y="309227"/>
                  </a:lnTo>
                  <a:lnTo>
                    <a:pt x="4982077" y="306398"/>
                  </a:lnTo>
                  <a:lnTo>
                    <a:pt x="4993521" y="298682"/>
                  </a:lnTo>
                  <a:lnTo>
                    <a:pt x="5001236" y="287239"/>
                  </a:lnTo>
                  <a:lnTo>
                    <a:pt x="5004065" y="273226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9" name="object 11">
              <a:extLst>
                <a:ext uri="{FF2B5EF4-FFF2-40B4-BE49-F238E27FC236}">
                  <a16:creationId xmlns:a16="http://schemas.microsoft.com/office/drawing/2014/main" id="{998DFD59-DB7A-721B-1295-72041E5E3CDA}"/>
                </a:ext>
              </a:extLst>
            </p:cNvPr>
            <p:cNvSpPr/>
            <p:nvPr/>
          </p:nvSpPr>
          <p:spPr>
            <a:xfrm>
              <a:off x="378973" y="2289875"/>
              <a:ext cx="5002530" cy="307340"/>
            </a:xfrm>
            <a:custGeom>
              <a:avLst/>
              <a:gdLst/>
              <a:ahLst/>
              <a:cxnLst/>
              <a:rect l="l" t="t" r="r" b="b"/>
              <a:pathLst>
                <a:path w="5002530" h="307339">
                  <a:moveTo>
                    <a:pt x="0" y="272247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2247"/>
                  </a:lnTo>
                  <a:lnTo>
                    <a:pt x="4999354" y="285879"/>
                  </a:lnTo>
                  <a:lnTo>
                    <a:pt x="4991849" y="297011"/>
                  </a:lnTo>
                  <a:lnTo>
                    <a:pt x="4980717" y="304516"/>
                  </a:lnTo>
                  <a:lnTo>
                    <a:pt x="4967085" y="307268"/>
                  </a:lnTo>
                  <a:lnTo>
                    <a:pt x="35021" y="307268"/>
                  </a:lnTo>
                  <a:lnTo>
                    <a:pt x="21389" y="304516"/>
                  </a:lnTo>
                  <a:lnTo>
                    <a:pt x="10257" y="297011"/>
                  </a:lnTo>
                  <a:lnTo>
                    <a:pt x="2752" y="285879"/>
                  </a:lnTo>
                  <a:lnTo>
                    <a:pt x="0" y="272247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9700" y="367013"/>
            <a:ext cx="5105400" cy="2738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command: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3995">
              <a:lnSpc>
                <a:spcPct val="100000"/>
              </a:lnSpc>
            </a:pPr>
            <a:r>
              <a:rPr lang="en-US" sz="800" spc="-50" noProof="1">
                <a:solidFill>
                  <a:srgbClr val="05287C"/>
                </a:solidFill>
                <a:latin typeface="Courier New"/>
                <a:cs typeface="Courier New"/>
              </a:rPr>
              <a:t>$ ssh</a:t>
            </a:r>
            <a:r>
              <a:rPr lang="en-US" sz="800" spc="75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lang="en-US" sz="800" noProof="1">
                <a:solidFill>
                  <a:srgbClr val="7C8E28"/>
                </a:solidFill>
                <a:latin typeface="Courier New"/>
                <a:cs typeface="Courier New"/>
              </a:rPr>
              <a:t>i</a:t>
            </a:r>
            <a:r>
              <a:rPr lang="en-US" sz="800" spc="80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~/.ssh/aws-keypair</a:t>
            </a:r>
            <a:r>
              <a:rPr lang="en-US" sz="800" spc="7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ec2-user@</a:t>
            </a:r>
            <a:r>
              <a:rPr lang="en-US" sz="800" spc="-60" noProof="1">
                <a:solidFill>
                  <a:srgbClr val="666666"/>
                </a:solidFill>
                <a:latin typeface="Courier New"/>
                <a:cs typeface="Courier New"/>
              </a:rPr>
              <a:t>&lt;</a:t>
            </a:r>
            <a:r>
              <a:rPr lang="en-US" sz="800" spc="-60" noProof="1">
                <a:latin typeface="Courier New"/>
                <a:cs typeface="Courier New"/>
              </a:rPr>
              <a:t>your-public-ec2-instance-public-</a:t>
            </a:r>
            <a:r>
              <a:rPr lang="en-US" sz="800" spc="-25" noProof="1">
                <a:latin typeface="Courier New"/>
                <a:cs typeface="Courier New"/>
              </a:rPr>
              <a:t>ip</a:t>
            </a:r>
            <a:r>
              <a:rPr lang="en-US" sz="800" spc="-25" noProof="1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change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permissions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key: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3995">
              <a:lnSpc>
                <a:spcPct val="100000"/>
              </a:lnSpc>
              <a:spcBef>
                <a:spcPts val="5"/>
              </a:spcBef>
            </a:pPr>
            <a:r>
              <a:rPr lang="en-US" sz="800" spc="-60" noProof="1">
                <a:solidFill>
                  <a:srgbClr val="05287C"/>
                </a:solidFill>
                <a:latin typeface="Courier New"/>
                <a:cs typeface="Courier New"/>
              </a:rPr>
              <a:t>[ec2-public]$ chmod</a:t>
            </a:r>
            <a:r>
              <a:rPr lang="en-US" sz="800" spc="-5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600</a:t>
            </a:r>
            <a:r>
              <a:rPr lang="en-US" sz="80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~/.ssh/aws-</a:t>
            </a:r>
            <a:r>
              <a:rPr lang="en-US" sz="800" spc="-10" noProof="1">
                <a:latin typeface="Courier New"/>
                <a:cs typeface="Courier New"/>
              </a:rPr>
              <a:t>keypair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Test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command: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</a:pPr>
            <a:r>
              <a:rPr lang="en-US" sz="800" spc="-60" noProof="1">
                <a:solidFill>
                  <a:srgbClr val="05287C"/>
                </a:solidFill>
                <a:latin typeface="Courier New"/>
                <a:cs typeface="Courier New"/>
              </a:rPr>
              <a:t>[ec2-private]$</a:t>
            </a:r>
            <a:r>
              <a:rPr lang="en-US" sz="800" spc="-55" noProof="1">
                <a:solidFill>
                  <a:srgbClr val="05287C"/>
                </a:solidFill>
                <a:latin typeface="Courier New"/>
                <a:cs typeface="Courier New"/>
              </a:rPr>
              <a:t> ping</a:t>
            </a:r>
            <a:r>
              <a:rPr lang="en-US" sz="800" spc="-50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google.com</a:t>
            </a:r>
            <a:endParaRPr lang="en-US" sz="800" noProof="1">
              <a:latin typeface="Courier New"/>
              <a:cs typeface="Courier New"/>
            </a:endParaRPr>
          </a:p>
          <a:p>
            <a:pPr marL="16510">
              <a:lnSpc>
                <a:spcPct val="100000"/>
              </a:lnSpc>
            </a:pPr>
            <a:endParaRPr lang="en-US" sz="900" noProof="1">
              <a:solidFill>
                <a:srgbClr val="22373A"/>
              </a:solidFill>
              <a:latin typeface="Arial"/>
              <a:cs typeface="Arial"/>
            </a:endParaRPr>
          </a:p>
          <a:p>
            <a:pPr marL="16510">
              <a:lnSpc>
                <a:spcPct val="100000"/>
              </a:lnSpc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instance,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try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command: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3995">
              <a:lnSpc>
                <a:spcPct val="100000"/>
              </a:lnSpc>
            </a:pPr>
            <a:r>
              <a:rPr lang="en-US" sz="800" spc="-60" noProof="1">
                <a:solidFill>
                  <a:srgbClr val="05287C"/>
                </a:solidFill>
                <a:latin typeface="Courier New"/>
                <a:cs typeface="Courier New"/>
              </a:rPr>
              <a:t>[ec2-public]$</a:t>
            </a:r>
            <a:r>
              <a:rPr lang="en-US" sz="800" spc="-50" noProof="1">
                <a:solidFill>
                  <a:srgbClr val="05287C"/>
                </a:solidFill>
                <a:latin typeface="Courier New"/>
                <a:cs typeface="Courier New"/>
              </a:rPr>
              <a:t> ssh</a:t>
            </a:r>
            <a:r>
              <a:rPr lang="en-US" sz="800" spc="80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lang="en-US" sz="800" noProof="1">
                <a:solidFill>
                  <a:srgbClr val="7C8E28"/>
                </a:solidFill>
                <a:latin typeface="Courier New"/>
                <a:cs typeface="Courier New"/>
              </a:rPr>
              <a:t>i</a:t>
            </a:r>
            <a:r>
              <a:rPr lang="en-US" sz="800" spc="80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~/.ssh/aws-keypair</a:t>
            </a:r>
            <a:r>
              <a:rPr lang="en-US" sz="800" spc="8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ec2-user@</a:t>
            </a:r>
            <a:r>
              <a:rPr lang="en-US" sz="800" spc="-60" noProof="1">
                <a:solidFill>
                  <a:srgbClr val="666666"/>
                </a:solidFill>
                <a:latin typeface="Courier New"/>
                <a:cs typeface="Courier New"/>
              </a:rPr>
              <a:t>&lt;</a:t>
            </a:r>
            <a:r>
              <a:rPr lang="en-US" sz="800" spc="-60" noProof="1">
                <a:latin typeface="Courier New"/>
                <a:cs typeface="Courier New"/>
              </a:rPr>
              <a:t>your-private-ec2-instance-public-</a:t>
            </a:r>
            <a:r>
              <a:rPr lang="en-US" sz="800" spc="-25" noProof="1">
                <a:latin typeface="Courier New"/>
                <a:cs typeface="Courier New"/>
              </a:rPr>
              <a:t>ip</a:t>
            </a:r>
            <a:r>
              <a:rPr lang="en-US" sz="800" spc="-25" noProof="1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</a:p>
          <a:p>
            <a:pPr marL="213995">
              <a:lnSpc>
                <a:spcPct val="100000"/>
              </a:lnSpc>
            </a:pPr>
            <a:endParaRPr lang="en-US" sz="800" spc="-25" noProof="1">
              <a:solidFill>
                <a:srgbClr val="666666"/>
              </a:solidFill>
              <a:latin typeface="Courier New"/>
              <a:cs typeface="Courier New"/>
            </a:endParaRPr>
          </a:p>
          <a:p>
            <a:pPr marL="213995">
              <a:lnSpc>
                <a:spcPct val="100000"/>
              </a:lnSpc>
            </a:pPr>
            <a:endParaRPr lang="en-US" sz="800" spc="-25" noProof="1">
              <a:solidFill>
                <a:srgbClr val="666666"/>
              </a:solidFill>
              <a:latin typeface="Courier New"/>
              <a:cs typeface="Courier New"/>
            </a:endParaRPr>
          </a:p>
          <a:p>
            <a:pPr marL="213995">
              <a:lnSpc>
                <a:spcPct val="100000"/>
              </a:lnSpc>
            </a:pPr>
            <a:r>
              <a:rPr lang="en-US" sz="800" b="1" spc="-25" noProof="1">
                <a:solidFill>
                  <a:srgbClr val="666666"/>
                </a:solidFill>
                <a:latin typeface="Courier New"/>
                <a:cs typeface="Courier New"/>
              </a:rPr>
              <a:t>Usually, the private EC2 instance has no public IP address.</a:t>
            </a:r>
            <a:endParaRPr lang="en-US" sz="800" b="1" noProof="1">
              <a:latin typeface="Courier New"/>
              <a:cs typeface="Courier New"/>
            </a:endParaRPr>
          </a:p>
        </p:txBody>
      </p:sp>
    </p:spTree>
  </p:cSld>
  <p:clrMapOvr>
    <a:masterClrMapping/>
  </p:clrMapOvr>
  <p:transition>
    <p:cut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65" noProof="1"/>
              <a:t>Accessing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25" noProof="1"/>
              <a:t> </a:t>
            </a:r>
            <a:r>
              <a:rPr lang="en-US" spc="-10" noProof="1"/>
              <a:t>private</a:t>
            </a:r>
            <a:r>
              <a:rPr lang="en-US" spc="20" noProof="1"/>
              <a:t> </a:t>
            </a:r>
            <a:r>
              <a:rPr lang="en-US" noProof="1"/>
              <a:t>EC2</a:t>
            </a:r>
            <a:r>
              <a:rPr lang="en-US" spc="25" noProof="1"/>
              <a:t> </a:t>
            </a:r>
            <a:r>
              <a:rPr lang="en-US" spc="-30" noProof="1"/>
              <a:t>instance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740675"/>
            <a:ext cx="5015230" cy="320040"/>
            <a:chOff x="372646" y="1740675"/>
            <a:chExt cx="5015230" cy="320040"/>
          </a:xfrm>
        </p:grpSpPr>
        <p:sp>
          <p:nvSpPr>
            <p:cNvPr id="4" name="object 4"/>
            <p:cNvSpPr/>
            <p:nvPr/>
          </p:nvSpPr>
          <p:spPr>
            <a:xfrm>
              <a:off x="377994" y="1746022"/>
              <a:ext cx="5004435" cy="309245"/>
            </a:xfrm>
            <a:custGeom>
              <a:avLst/>
              <a:gdLst/>
              <a:ahLst/>
              <a:cxnLst/>
              <a:rect l="l" t="t" r="r" b="b"/>
              <a:pathLst>
                <a:path w="5004435" h="309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3226"/>
                  </a:lnTo>
                  <a:lnTo>
                    <a:pt x="2829" y="287239"/>
                  </a:lnTo>
                  <a:lnTo>
                    <a:pt x="10544" y="298682"/>
                  </a:lnTo>
                  <a:lnTo>
                    <a:pt x="21987" y="306398"/>
                  </a:lnTo>
                  <a:lnTo>
                    <a:pt x="36000" y="309227"/>
                  </a:lnTo>
                  <a:lnTo>
                    <a:pt x="4968064" y="309227"/>
                  </a:lnTo>
                  <a:lnTo>
                    <a:pt x="4982077" y="306398"/>
                  </a:lnTo>
                  <a:lnTo>
                    <a:pt x="4993521" y="298682"/>
                  </a:lnTo>
                  <a:lnTo>
                    <a:pt x="5001236" y="287239"/>
                  </a:lnTo>
                  <a:lnTo>
                    <a:pt x="5004065" y="273226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747001"/>
              <a:ext cx="5002530" cy="307340"/>
            </a:xfrm>
            <a:custGeom>
              <a:avLst/>
              <a:gdLst/>
              <a:ahLst/>
              <a:cxnLst/>
              <a:rect l="l" t="t" r="r" b="b"/>
              <a:pathLst>
                <a:path w="5002530" h="307339">
                  <a:moveTo>
                    <a:pt x="0" y="272247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2247"/>
                  </a:lnTo>
                  <a:lnTo>
                    <a:pt x="4999354" y="285879"/>
                  </a:lnTo>
                  <a:lnTo>
                    <a:pt x="4991849" y="297011"/>
                  </a:lnTo>
                  <a:lnTo>
                    <a:pt x="4980717" y="304516"/>
                  </a:lnTo>
                  <a:lnTo>
                    <a:pt x="4967085" y="307268"/>
                  </a:lnTo>
                  <a:lnTo>
                    <a:pt x="35021" y="307268"/>
                  </a:lnTo>
                  <a:lnTo>
                    <a:pt x="21389" y="304516"/>
                  </a:lnTo>
                  <a:lnTo>
                    <a:pt x="10257" y="297011"/>
                  </a:lnTo>
                  <a:lnTo>
                    <a:pt x="2752" y="285879"/>
                  </a:lnTo>
                  <a:lnTo>
                    <a:pt x="0" y="272247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72646" y="2376177"/>
            <a:ext cx="5015230" cy="311785"/>
            <a:chOff x="372646" y="2376177"/>
            <a:chExt cx="5015230" cy="311785"/>
          </a:xfrm>
        </p:grpSpPr>
        <p:sp>
          <p:nvSpPr>
            <p:cNvPr id="7" name="object 7"/>
            <p:cNvSpPr/>
            <p:nvPr/>
          </p:nvSpPr>
          <p:spPr>
            <a:xfrm>
              <a:off x="377994" y="2381524"/>
              <a:ext cx="5004435" cy="300990"/>
            </a:xfrm>
            <a:custGeom>
              <a:avLst/>
              <a:gdLst/>
              <a:ahLst/>
              <a:cxnLst/>
              <a:rect l="l" t="t" r="r" b="b"/>
              <a:pathLst>
                <a:path w="5004435" h="300989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64926"/>
                  </a:lnTo>
                  <a:lnTo>
                    <a:pt x="2829" y="278939"/>
                  </a:lnTo>
                  <a:lnTo>
                    <a:pt x="10544" y="290382"/>
                  </a:lnTo>
                  <a:lnTo>
                    <a:pt x="21987" y="298097"/>
                  </a:lnTo>
                  <a:lnTo>
                    <a:pt x="36000" y="300927"/>
                  </a:lnTo>
                  <a:lnTo>
                    <a:pt x="4968064" y="300927"/>
                  </a:lnTo>
                  <a:lnTo>
                    <a:pt x="4982077" y="298097"/>
                  </a:lnTo>
                  <a:lnTo>
                    <a:pt x="4993521" y="290382"/>
                  </a:lnTo>
                  <a:lnTo>
                    <a:pt x="5001236" y="278939"/>
                  </a:lnTo>
                  <a:lnTo>
                    <a:pt x="5004065" y="264926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378973" y="2382504"/>
              <a:ext cx="5002530" cy="299085"/>
            </a:xfrm>
            <a:custGeom>
              <a:avLst/>
              <a:gdLst/>
              <a:ahLst/>
              <a:cxnLst/>
              <a:rect l="l" t="t" r="r" b="b"/>
              <a:pathLst>
                <a:path w="5002530" h="299085">
                  <a:moveTo>
                    <a:pt x="0" y="263947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63947"/>
                  </a:lnTo>
                  <a:lnTo>
                    <a:pt x="4999354" y="277579"/>
                  </a:lnTo>
                  <a:lnTo>
                    <a:pt x="4991849" y="288711"/>
                  </a:lnTo>
                  <a:lnTo>
                    <a:pt x="4980717" y="296216"/>
                  </a:lnTo>
                  <a:lnTo>
                    <a:pt x="4967085" y="298968"/>
                  </a:lnTo>
                  <a:lnTo>
                    <a:pt x="35021" y="298968"/>
                  </a:lnTo>
                  <a:lnTo>
                    <a:pt x="21389" y="296216"/>
                  </a:lnTo>
                  <a:lnTo>
                    <a:pt x="10257" y="288711"/>
                  </a:lnTo>
                  <a:lnTo>
                    <a:pt x="2752" y="277579"/>
                  </a:lnTo>
                  <a:lnTo>
                    <a:pt x="0" y="263947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3319" y="438394"/>
            <a:ext cx="5069840" cy="25303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128905" indent="-4445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You’ll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notice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command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hangs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while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finally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fails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timeout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error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did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earlier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was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accessible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because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are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trying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address.</a:t>
            </a:r>
            <a:r>
              <a:rPr lang="en-US" sz="900" spc="114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IP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instead.</a:t>
            </a:r>
            <a:endParaRPr lang="en-US" sz="900" noProof="1">
              <a:latin typeface="Arial"/>
              <a:cs typeface="Arial"/>
            </a:endParaRPr>
          </a:p>
          <a:p>
            <a:pPr marL="16510" marR="5080">
              <a:lnSpc>
                <a:spcPct val="116199"/>
              </a:lnSpc>
              <a:spcBef>
                <a:spcPts val="625"/>
              </a:spcBef>
            </a:pP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3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i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40" noProof="1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lang="en-US" sz="900" i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40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i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5" noProof="1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lang="en-US" sz="900" i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45" noProof="1">
                <a:solidFill>
                  <a:srgbClr val="22373A"/>
                </a:solidFill>
                <a:latin typeface="Arial"/>
                <a:cs typeface="Arial"/>
              </a:rPr>
              <a:t>Console</a:t>
            </a:r>
            <a:r>
              <a:rPr lang="en-US" sz="900" i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copy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try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instance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address.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</a:pPr>
            <a:r>
              <a:rPr lang="en-US" sz="800" spc="-60" noProof="1">
                <a:solidFill>
                  <a:srgbClr val="05287C"/>
                </a:solidFill>
                <a:latin typeface="Courier New"/>
                <a:cs typeface="Courier New"/>
              </a:rPr>
              <a:t>[ec2-private]$</a:t>
            </a:r>
            <a:r>
              <a:rPr lang="en-US" sz="800" spc="-50" noProof="1">
                <a:solidFill>
                  <a:srgbClr val="05287C"/>
                </a:solidFill>
                <a:latin typeface="Courier New"/>
                <a:cs typeface="Courier New"/>
              </a:rPr>
              <a:t> ssh</a:t>
            </a:r>
            <a:r>
              <a:rPr lang="en-US" sz="800" spc="80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lang="en-US" sz="800" noProof="1">
                <a:solidFill>
                  <a:srgbClr val="7C8E28"/>
                </a:solidFill>
                <a:latin typeface="Courier New"/>
                <a:cs typeface="Courier New"/>
              </a:rPr>
              <a:t>i</a:t>
            </a:r>
            <a:r>
              <a:rPr lang="en-US" sz="800" spc="85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~/.ssh/aws-keypair</a:t>
            </a:r>
            <a:r>
              <a:rPr lang="en-US" sz="800" spc="8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ec2-user@</a:t>
            </a:r>
            <a:r>
              <a:rPr lang="en-US" sz="800" spc="-60" noProof="1">
                <a:solidFill>
                  <a:srgbClr val="666666"/>
                </a:solidFill>
                <a:latin typeface="Courier New"/>
                <a:cs typeface="Courier New"/>
              </a:rPr>
              <a:t>&lt;</a:t>
            </a:r>
            <a:r>
              <a:rPr lang="en-US" sz="800" spc="-60" noProof="1">
                <a:latin typeface="Courier New"/>
                <a:cs typeface="Courier New"/>
              </a:rPr>
              <a:t>your-private-ec2-instance-private-</a:t>
            </a:r>
            <a:r>
              <a:rPr lang="en-US" sz="800" spc="-25" noProof="1">
                <a:latin typeface="Courier New"/>
                <a:cs typeface="Courier New"/>
              </a:rPr>
              <a:t>ip</a:t>
            </a:r>
            <a:r>
              <a:rPr lang="en-US" sz="800" spc="-25" noProof="1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Test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running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command: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</a:pPr>
            <a:r>
              <a:rPr lang="en-US" sz="800" spc="-60" noProof="1">
                <a:solidFill>
                  <a:srgbClr val="05287C"/>
                </a:solidFill>
                <a:latin typeface="Courier New"/>
                <a:cs typeface="Courier New"/>
              </a:rPr>
              <a:t>[ec2-private]$</a:t>
            </a:r>
            <a:r>
              <a:rPr lang="en-US" sz="800" spc="-55" noProof="1">
                <a:solidFill>
                  <a:srgbClr val="05287C"/>
                </a:solidFill>
                <a:latin typeface="Courier New"/>
                <a:cs typeface="Courier New"/>
              </a:rPr>
              <a:t> ping</a:t>
            </a:r>
            <a:r>
              <a:rPr lang="en-US" sz="800" spc="-50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google.com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6510">
              <a:lnSpc>
                <a:spcPct val="100000"/>
              </a:lnSpc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error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out,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signaling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there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access.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3582035" cy="5080"/>
            </a:xfrm>
            <a:custGeom>
              <a:avLst/>
              <a:gdLst/>
              <a:ahLst/>
              <a:cxnLst/>
              <a:rect l="l" t="t" r="r" b="b"/>
              <a:pathLst>
                <a:path w="3582035" h="5080">
                  <a:moveTo>
                    <a:pt x="0" y="5060"/>
                  </a:moveTo>
                  <a:lnTo>
                    <a:pt x="0" y="0"/>
                  </a:lnTo>
                  <a:lnTo>
                    <a:pt x="3581852" y="0"/>
                  </a:lnTo>
                  <a:lnTo>
                    <a:pt x="358185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65" noProof="1"/>
              <a:t>Accessing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25" noProof="1"/>
              <a:t> </a:t>
            </a:r>
            <a:r>
              <a:rPr lang="en-US" spc="-10" noProof="1"/>
              <a:t>private</a:t>
            </a:r>
            <a:r>
              <a:rPr lang="en-US" spc="20" noProof="1"/>
              <a:t> </a:t>
            </a:r>
            <a:r>
              <a:rPr lang="en-US" noProof="1"/>
              <a:t>EC2</a:t>
            </a:r>
            <a:r>
              <a:rPr lang="en-US" spc="25" noProof="1"/>
              <a:t> </a:t>
            </a:r>
            <a:r>
              <a:rPr lang="en-US" spc="-30" noProof="1"/>
              <a:t>instance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322293"/>
            <a:ext cx="3721735" cy="725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Observations</a:t>
            </a:r>
            <a:endParaRPr lang="en-US" sz="900" noProof="1">
              <a:latin typeface="Arial"/>
              <a:cs typeface="Arial"/>
            </a:endParaRPr>
          </a:p>
          <a:p>
            <a:pPr marL="235585" indent="-143510">
              <a:lnSpc>
                <a:spcPct val="100000"/>
              </a:lnSpc>
              <a:spcBef>
                <a:spcPts val="844"/>
              </a:spcBef>
              <a:buChar char="•"/>
              <a:tabLst>
                <a:tab pos="23558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accessible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never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be.</a:t>
            </a:r>
            <a:endParaRPr lang="en-US" sz="900" noProof="1">
              <a:latin typeface="Arial"/>
              <a:cs typeface="Arial"/>
            </a:endParaRPr>
          </a:p>
          <a:p>
            <a:pPr marL="233679" indent="-141605">
              <a:lnSpc>
                <a:spcPct val="100000"/>
              </a:lnSpc>
              <a:spcBef>
                <a:spcPts val="175"/>
              </a:spcBef>
              <a:buChar char="•"/>
              <a:tabLst>
                <a:tab pos="233679" algn="l"/>
              </a:tabLst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from 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endParaRPr lang="en-US" sz="900" noProof="1">
              <a:latin typeface="Arial"/>
              <a:cs typeface="Arial"/>
            </a:endParaRPr>
          </a:p>
          <a:p>
            <a:pPr marL="235585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23558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doesn’t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630295" cy="5080"/>
            </a:xfrm>
            <a:custGeom>
              <a:avLst/>
              <a:gdLst/>
              <a:ahLst/>
              <a:cxnLst/>
              <a:rect l="l" t="t" r="r" b="b"/>
              <a:pathLst>
                <a:path w="3630295" h="5080">
                  <a:moveTo>
                    <a:pt x="0" y="5060"/>
                  </a:moveTo>
                  <a:lnTo>
                    <a:pt x="0" y="0"/>
                  </a:lnTo>
                  <a:lnTo>
                    <a:pt x="3630280" y="0"/>
                  </a:lnTo>
                  <a:lnTo>
                    <a:pt x="363028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3784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40" noProof="1">
                <a:solidFill>
                  <a:srgbClr val="F9F9F9"/>
                </a:solidFill>
                <a:latin typeface="Arial"/>
                <a:cs typeface="Arial"/>
              </a:rPr>
              <a:t>Recap</a:t>
            </a:r>
            <a:endParaRPr lang="en-US" sz="1000" noProof="1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1718" y="515144"/>
            <a:ext cx="146558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ended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up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setup.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9602" y="756117"/>
            <a:ext cx="4200816" cy="2099223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7" name="object 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3679190" cy="5080"/>
            </a:xfrm>
            <a:custGeom>
              <a:avLst/>
              <a:gdLst/>
              <a:ahLst/>
              <a:cxnLst/>
              <a:rect l="l" t="t" r="r" b="b"/>
              <a:pathLst>
                <a:path w="3679190" h="5080">
                  <a:moveTo>
                    <a:pt x="0" y="5060"/>
                  </a:moveTo>
                  <a:lnTo>
                    <a:pt x="0" y="0"/>
                  </a:lnTo>
                  <a:lnTo>
                    <a:pt x="3678709" y="0"/>
                  </a:lnTo>
                  <a:lnTo>
                    <a:pt x="367870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26" y="59834"/>
            <a:ext cx="3784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40" noProof="1">
                <a:solidFill>
                  <a:srgbClr val="F9F9F9"/>
                </a:solidFill>
                <a:latin typeface="Arial"/>
                <a:cs typeface="Arial"/>
              </a:rPr>
              <a:t>Recap</a:t>
            </a:r>
            <a:endParaRPr lang="en-US" sz="1000" noProof="1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1718" y="514433"/>
            <a:ext cx="34728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b="0" spc="-25" noProof="1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lang="en-US" sz="900" b="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can’t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directly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through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20" noProof="1">
                <a:solidFill>
                  <a:srgbClr val="22373A"/>
                </a:solidFill>
                <a:latin typeface="Arial"/>
                <a:cs typeface="Arial"/>
              </a:rPr>
              <a:t>SSH.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1212" y="756784"/>
            <a:ext cx="4437597" cy="209926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727450" cy="5080"/>
            </a:xfrm>
            <a:custGeom>
              <a:avLst/>
              <a:gdLst/>
              <a:ahLst/>
              <a:cxnLst/>
              <a:rect l="l" t="t" r="r" b="b"/>
              <a:pathLst>
                <a:path w="3727450" h="5080">
                  <a:moveTo>
                    <a:pt x="0" y="5060"/>
                  </a:moveTo>
                  <a:lnTo>
                    <a:pt x="0" y="0"/>
                  </a:lnTo>
                  <a:lnTo>
                    <a:pt x="3727137" y="0"/>
                  </a:lnTo>
                  <a:lnTo>
                    <a:pt x="37271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8526" y="59834"/>
            <a:ext cx="3784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40" noProof="1">
                <a:solidFill>
                  <a:srgbClr val="F9F9F9"/>
                </a:solidFill>
                <a:latin typeface="Arial"/>
                <a:cs typeface="Arial"/>
              </a:rPr>
              <a:t>Recap</a:t>
            </a:r>
            <a:endParaRPr lang="en-US" sz="1000" noProof="1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47294" y="515132"/>
            <a:ext cx="3662679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lang="en-US" sz="900" b="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b="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b="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0" spc="-10" noProof="1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endParaRPr lang="en-US" sz="9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8299" y="756110"/>
            <a:ext cx="4423405" cy="2099242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775710" cy="5080"/>
            </a:xfrm>
            <a:custGeom>
              <a:avLst/>
              <a:gdLst/>
              <a:ahLst/>
              <a:cxnLst/>
              <a:rect l="l" t="t" r="r" b="b"/>
              <a:pathLst>
                <a:path w="3775710" h="5080">
                  <a:moveTo>
                    <a:pt x="0" y="5060"/>
                  </a:moveTo>
                  <a:lnTo>
                    <a:pt x="0" y="0"/>
                  </a:lnTo>
                  <a:lnTo>
                    <a:pt x="3775478" y="0"/>
                  </a:lnTo>
                  <a:lnTo>
                    <a:pt x="377547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4341"/>
            <a:ext cx="3930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spc="-2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VPNs</a:t>
            </a:r>
            <a:endParaRPr lang="en-US" sz="1100" noProof="1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6231"/>
            <a:ext cx="2505710" cy="5080"/>
            <a:chOff x="1627403" y="1646231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6231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6231"/>
              <a:ext cx="1642110" cy="5080"/>
            </a:xfrm>
            <a:custGeom>
              <a:avLst/>
              <a:gdLst/>
              <a:ahLst/>
              <a:cxnLst/>
              <a:rect l="l" t="t" r="r" b="b"/>
              <a:pathLst>
                <a:path w="1642110" h="5080">
                  <a:moveTo>
                    <a:pt x="0" y="5060"/>
                  </a:moveTo>
                  <a:lnTo>
                    <a:pt x="0" y="0"/>
                  </a:lnTo>
                  <a:lnTo>
                    <a:pt x="1642074" y="0"/>
                  </a:lnTo>
                  <a:lnTo>
                    <a:pt x="164207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55" noProof="1"/>
              <a:t> </a:t>
            </a:r>
            <a:r>
              <a:rPr lang="en-US" spc="-25" noProof="1"/>
              <a:t>is</a:t>
            </a:r>
            <a:r>
              <a:rPr lang="en-US" spc="55" noProof="1"/>
              <a:t> </a:t>
            </a:r>
            <a:r>
              <a:rPr lang="en-US" noProof="1"/>
              <a:t>a</a:t>
            </a:r>
            <a:r>
              <a:rPr lang="en-US" spc="55" noProof="1"/>
              <a:t> </a:t>
            </a:r>
            <a:r>
              <a:rPr lang="en-US" spc="-20" noProof="1"/>
              <a:t>VPN?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7012" y="1012825"/>
            <a:ext cx="5072380" cy="981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Virtual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(VPN)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secure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connection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between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two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networks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over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r>
              <a:rPr lang="en-US" sz="900" spc="1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They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allow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devices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behave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5" noProof="1">
                <a:solidFill>
                  <a:srgbClr val="22373A"/>
                </a:solidFill>
                <a:latin typeface="Arial"/>
                <a:cs typeface="Arial"/>
              </a:rPr>
              <a:t>physically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connected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VPNs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encrypt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making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communication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secure.</a:t>
            </a:r>
            <a:endParaRPr lang="en-US" sz="900" noProof="1">
              <a:latin typeface="Arial"/>
              <a:cs typeface="Arial"/>
            </a:endParaRPr>
          </a:p>
          <a:p>
            <a:pPr marL="16510" marR="381000" indent="-4445">
              <a:lnSpc>
                <a:spcPct val="116199"/>
              </a:lnSpc>
              <a:spcBef>
                <a:spcPts val="62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enable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55" noProof="1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60" noProof="1">
                <a:solidFill>
                  <a:srgbClr val="22373A"/>
                </a:solidFill>
                <a:latin typeface="Arial"/>
                <a:cs typeface="Arial"/>
              </a:rPr>
              <a:t>accessed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remotely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directly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connected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 network.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823970" cy="5080"/>
            </a:xfrm>
            <a:custGeom>
              <a:avLst/>
              <a:gdLst/>
              <a:ahLst/>
              <a:cxnLst/>
              <a:rect l="l" t="t" r="r" b="b"/>
              <a:pathLst>
                <a:path w="3823970" h="5080">
                  <a:moveTo>
                    <a:pt x="0" y="5060"/>
                  </a:moveTo>
                  <a:lnTo>
                    <a:pt x="0" y="0"/>
                  </a:lnTo>
                  <a:lnTo>
                    <a:pt x="3823906" y="0"/>
                  </a:lnTo>
                  <a:lnTo>
                    <a:pt x="382390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8" name="object 3">
            <a:extLst>
              <a:ext uri="{FF2B5EF4-FFF2-40B4-BE49-F238E27FC236}">
                <a16:creationId xmlns:a16="http://schemas.microsoft.com/office/drawing/2014/main" id="{96046F9F-88FD-5B6F-C7E5-B5BF60AEE741}"/>
              </a:ext>
            </a:extLst>
          </p:cNvPr>
          <p:cNvSpPr txBox="1"/>
          <p:nvPr/>
        </p:nvSpPr>
        <p:spPr>
          <a:xfrm>
            <a:off x="337012" y="2232025"/>
            <a:ext cx="4746625" cy="5559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 use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VPNs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mainly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for:</a:t>
            </a:r>
            <a:endParaRPr lang="en-US" sz="900" noProof="1">
              <a:latin typeface="Arial"/>
              <a:cs typeface="Arial"/>
            </a:endParaRPr>
          </a:p>
          <a:p>
            <a:pPr marL="245110" indent="-147320">
              <a:lnSpc>
                <a:spcPct val="100000"/>
              </a:lnSpc>
              <a:spcBef>
                <a:spcPts val="800"/>
              </a:spcBef>
              <a:buFont typeface="Arial"/>
              <a:buChar char="•"/>
              <a:tabLst>
                <a:tab pos="245110" algn="l"/>
              </a:tabLst>
            </a:pP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Privacy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900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Mask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source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address.</a:t>
            </a:r>
            <a:endParaRPr lang="en-US" sz="900" noProof="1">
              <a:latin typeface="Arial"/>
              <a:cs typeface="Arial"/>
            </a:endParaRPr>
          </a:p>
          <a:p>
            <a:pPr marL="245110" indent="-147320">
              <a:lnSpc>
                <a:spcPct val="100000"/>
              </a:lnSpc>
              <a:spcBef>
                <a:spcPts val="175"/>
              </a:spcBef>
              <a:buFont typeface="Arial"/>
              <a:buChar char="•"/>
              <a:tabLst>
                <a:tab pos="245110" algn="l"/>
              </a:tabLst>
            </a:pP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Remote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50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900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securely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inside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anywhere.</a:t>
            </a:r>
            <a:endParaRPr lang="en-US" sz="900" noProof="1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What</a:t>
            </a:r>
            <a:r>
              <a:rPr lang="en-US" spc="55" noProof="1"/>
              <a:t> </a:t>
            </a:r>
            <a:r>
              <a:rPr lang="en-US" spc="-25" noProof="1"/>
              <a:t>is</a:t>
            </a:r>
            <a:r>
              <a:rPr lang="en-US" spc="55" noProof="1"/>
              <a:t> </a:t>
            </a:r>
            <a:r>
              <a:rPr lang="en-US" noProof="1"/>
              <a:t>a</a:t>
            </a:r>
            <a:r>
              <a:rPr lang="en-US" spc="55" noProof="1"/>
              <a:t> </a:t>
            </a:r>
            <a:r>
              <a:rPr lang="en-US" spc="-20" noProof="1"/>
              <a:t>VPN?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1109615"/>
            <a:ext cx="5069840" cy="1141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63500" indent="-4445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Think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VPN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tunnel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connecting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two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buildings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lang="en-US" sz="900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tunnel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would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allow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me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building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were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inside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lang="en-US" sz="900" noProof="1">
              <a:latin typeface="Arial"/>
              <a:cs typeface="Arial"/>
            </a:endParaRPr>
          </a:p>
          <a:p>
            <a:pPr marL="16510" marR="5080">
              <a:lnSpc>
                <a:spcPct val="116199"/>
              </a:lnSpc>
              <a:spcBef>
                <a:spcPts val="62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wanted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send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package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home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know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was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sent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my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home,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could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send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through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tunnel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building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destination.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0" noProof="1">
                <a:solidFill>
                  <a:srgbClr val="22373A"/>
                </a:solidFill>
                <a:latin typeface="Arial"/>
                <a:cs typeface="Arial"/>
              </a:rPr>
              <a:t>package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would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be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sent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from the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other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building,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 not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my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home.</a:t>
            </a:r>
            <a:endParaRPr lang="en-US" sz="900" noProof="1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800"/>
              </a:spcBef>
            </a:pP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Users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inside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tunnel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communicate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they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were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same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location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3921125" cy="5080"/>
            </a:xfrm>
            <a:custGeom>
              <a:avLst/>
              <a:gdLst/>
              <a:ahLst/>
              <a:cxnLst/>
              <a:rect l="l" t="t" r="r" b="b"/>
              <a:pathLst>
                <a:path w="3921125" h="5080">
                  <a:moveTo>
                    <a:pt x="0" y="5060"/>
                  </a:moveTo>
                  <a:lnTo>
                    <a:pt x="0" y="0"/>
                  </a:lnTo>
                  <a:lnTo>
                    <a:pt x="3920763" y="0"/>
                  </a:lnTo>
                  <a:lnTo>
                    <a:pt x="392076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984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What</a:t>
            </a:r>
            <a:r>
              <a:rPr lang="en-US" sz="1000" b="1" spc="5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is</a:t>
            </a:r>
            <a:r>
              <a:rPr lang="en-US" sz="1000" b="1" spc="5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a</a:t>
            </a:r>
            <a:r>
              <a:rPr lang="en-US" sz="1000" b="1" spc="5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0" noProof="1">
                <a:solidFill>
                  <a:srgbClr val="F9F9F9"/>
                </a:solidFill>
                <a:latin typeface="Arial"/>
                <a:cs typeface="Arial"/>
              </a:rPr>
              <a:t>VPN?</a:t>
            </a:r>
            <a:endParaRPr lang="en-US" sz="10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605" y="625561"/>
            <a:ext cx="4352792" cy="2099261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3969385" cy="5080"/>
            </a:xfrm>
            <a:custGeom>
              <a:avLst/>
              <a:gdLst/>
              <a:ahLst/>
              <a:cxnLst/>
              <a:rect l="l" t="t" r="r" b="b"/>
              <a:pathLst>
                <a:path w="3969385" h="5080">
                  <a:moveTo>
                    <a:pt x="0" y="5060"/>
                  </a:moveTo>
                  <a:lnTo>
                    <a:pt x="0" y="0"/>
                  </a:lnTo>
                  <a:lnTo>
                    <a:pt x="3969103" y="0"/>
                  </a:lnTo>
                  <a:lnTo>
                    <a:pt x="396910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9848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What</a:t>
            </a:r>
            <a:r>
              <a:rPr lang="en-US" sz="1000" b="1" spc="5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is</a:t>
            </a:r>
            <a:r>
              <a:rPr lang="en-US" sz="1000" b="1" spc="5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a</a:t>
            </a:r>
            <a:r>
              <a:rPr lang="en-US" sz="1000" b="1" spc="5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0" noProof="1">
                <a:solidFill>
                  <a:srgbClr val="F9F9F9"/>
                </a:solidFill>
                <a:latin typeface="Arial"/>
                <a:cs typeface="Arial"/>
              </a:rPr>
              <a:t>VPN?</a:t>
            </a:r>
            <a:endParaRPr lang="en-US" sz="10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5614" y="625582"/>
            <a:ext cx="4308784" cy="209922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4017645" cy="5080"/>
            </a:xfrm>
            <a:custGeom>
              <a:avLst/>
              <a:gdLst/>
              <a:ahLst/>
              <a:cxnLst/>
              <a:rect l="l" t="t" r="r" b="b"/>
              <a:pathLst>
                <a:path w="4017645" h="5080">
                  <a:moveTo>
                    <a:pt x="0" y="5060"/>
                  </a:moveTo>
                  <a:lnTo>
                    <a:pt x="0" y="0"/>
                  </a:lnTo>
                  <a:lnTo>
                    <a:pt x="4017531" y="0"/>
                  </a:lnTo>
                  <a:lnTo>
                    <a:pt x="401753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14703" y="1374341"/>
            <a:ext cx="18040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b="1" spc="-1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Lab:</a:t>
            </a:r>
            <a:r>
              <a:rPr lang="en-US" sz="1100" b="1" spc="7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spc="-3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Building</a:t>
            </a:r>
            <a:r>
              <a:rPr lang="en-US" sz="1100" b="1" spc="-2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spc="-1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our</a:t>
            </a:r>
            <a:r>
              <a:rPr lang="en-US" sz="1100" b="1" spc="-1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spc="-3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own</a:t>
            </a:r>
            <a:r>
              <a:rPr lang="en-US" sz="1100" b="1" spc="-20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lang="en-US" sz="1100" b="1" spc="-25" noProof="1">
                <a:solidFill>
                  <a:srgbClr val="22373A"/>
                </a:solidFill>
                <a:latin typeface="Arial"/>
                <a:cs typeface="Arial"/>
                <a:hlinkClick r:id="rId2" action="ppaction://hlinksldjump"/>
              </a:rPr>
              <a:t>VPN</a:t>
            </a:r>
            <a:endParaRPr lang="en-US" sz="1100" noProof="1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627403" y="1646231"/>
            <a:ext cx="2505710" cy="5080"/>
            <a:chOff x="1627403" y="1646231"/>
            <a:chExt cx="2505710" cy="5080"/>
          </a:xfrm>
        </p:grpSpPr>
        <p:sp>
          <p:nvSpPr>
            <p:cNvPr id="4" name="object 4"/>
            <p:cNvSpPr/>
            <p:nvPr/>
          </p:nvSpPr>
          <p:spPr>
            <a:xfrm>
              <a:off x="1627403" y="1646231"/>
              <a:ext cx="2505710" cy="5080"/>
            </a:xfrm>
            <a:custGeom>
              <a:avLst/>
              <a:gdLst/>
              <a:ahLst/>
              <a:cxnLst/>
              <a:rect l="l" t="t" r="r" b="b"/>
              <a:pathLst>
                <a:path w="2505710" h="5080">
                  <a:moveTo>
                    <a:pt x="0" y="5060"/>
                  </a:moveTo>
                  <a:lnTo>
                    <a:pt x="0" y="0"/>
                  </a:lnTo>
                  <a:lnTo>
                    <a:pt x="2505237" y="0"/>
                  </a:lnTo>
                  <a:lnTo>
                    <a:pt x="250523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627403" y="1646231"/>
              <a:ext cx="1768475" cy="5080"/>
            </a:xfrm>
            <a:custGeom>
              <a:avLst/>
              <a:gdLst/>
              <a:ahLst/>
              <a:cxnLst/>
              <a:rect l="l" t="t" r="r" b="b"/>
              <a:pathLst>
                <a:path w="1768475" h="5080">
                  <a:moveTo>
                    <a:pt x="0" y="5060"/>
                  </a:moveTo>
                  <a:lnTo>
                    <a:pt x="0" y="0"/>
                  </a:lnTo>
                  <a:lnTo>
                    <a:pt x="1768414" y="0"/>
                  </a:lnTo>
                  <a:lnTo>
                    <a:pt x="176841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0" noProof="1"/>
              <a:t>Goal</a:t>
            </a:r>
            <a:r>
              <a:rPr lang="en-US" spc="15" noProof="1"/>
              <a:t> </a:t>
            </a:r>
            <a:r>
              <a:rPr lang="en-US" noProof="1"/>
              <a:t>of</a:t>
            </a:r>
            <a:r>
              <a:rPr lang="en-US" spc="15" noProof="1"/>
              <a:t> </a:t>
            </a:r>
            <a:r>
              <a:rPr lang="en-US" noProof="1"/>
              <a:t>the</a:t>
            </a:r>
            <a:r>
              <a:rPr lang="en-US" spc="20" noProof="1"/>
              <a:t> </a:t>
            </a:r>
            <a:r>
              <a:rPr lang="en-US" spc="-25" noProof="1"/>
              <a:t>lab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251744"/>
            <a:ext cx="3150870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During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 lab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will: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39395" algn="l"/>
              </a:tabLst>
            </a:pP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VPN</a:t>
            </a:r>
            <a:r>
              <a:rPr lang="en-US" sz="9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b="1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Client</a:t>
            </a:r>
            <a:r>
              <a:rPr lang="en-US" sz="900" b="1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VPN</a:t>
            </a:r>
            <a:r>
              <a:rPr lang="en-US" sz="9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service.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VPN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computer.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Deploy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instance.</a:t>
            </a:r>
            <a:endParaRPr lang="en-US" sz="900" noProof="1">
              <a:latin typeface="Arial"/>
              <a:cs typeface="Arial"/>
            </a:endParaRPr>
          </a:p>
          <a:p>
            <a:pPr marL="235585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235585" algn="l"/>
              </a:tabLst>
            </a:pP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computer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through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VPN.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4114800" cy="5080"/>
            </a:xfrm>
            <a:custGeom>
              <a:avLst/>
              <a:gdLst/>
              <a:ahLst/>
              <a:cxnLst/>
              <a:rect l="l" t="t" r="r" b="b"/>
              <a:pathLst>
                <a:path w="4114800" h="5080">
                  <a:moveTo>
                    <a:pt x="0" y="5060"/>
                  </a:moveTo>
                  <a:lnTo>
                    <a:pt x="0" y="0"/>
                  </a:lnTo>
                  <a:lnTo>
                    <a:pt x="4114300" y="0"/>
                  </a:lnTo>
                  <a:lnTo>
                    <a:pt x="411430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8947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20" noProof="1">
                <a:solidFill>
                  <a:srgbClr val="F9F9F9"/>
                </a:solidFill>
                <a:latin typeface="Arial"/>
                <a:cs typeface="Arial"/>
              </a:rPr>
              <a:t>Goal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of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lang="en-US" sz="1000" b="1" spc="2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lab</a:t>
            </a:r>
            <a:endParaRPr lang="en-US" sz="10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612" y="625578"/>
            <a:ext cx="4856785" cy="2099218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4163060" cy="5080"/>
            </a:xfrm>
            <a:custGeom>
              <a:avLst/>
              <a:gdLst/>
              <a:ahLst/>
              <a:cxnLst/>
              <a:rect l="l" t="t" r="r" b="b"/>
              <a:pathLst>
                <a:path w="4163060" h="5080">
                  <a:moveTo>
                    <a:pt x="0" y="5060"/>
                  </a:moveTo>
                  <a:lnTo>
                    <a:pt x="0" y="0"/>
                  </a:lnTo>
                  <a:lnTo>
                    <a:pt x="4162729" y="0"/>
                  </a:lnTo>
                  <a:lnTo>
                    <a:pt x="416272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8947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20" noProof="1">
                <a:solidFill>
                  <a:srgbClr val="F9F9F9"/>
                </a:solidFill>
                <a:latin typeface="Arial"/>
                <a:cs typeface="Arial"/>
              </a:rPr>
              <a:t>Goal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of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lang="en-US" sz="1000" b="1" spc="2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lab</a:t>
            </a:r>
            <a:endParaRPr lang="en-US" sz="10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460" y="625598"/>
            <a:ext cx="4849090" cy="2099173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4211320" cy="5080"/>
            </a:xfrm>
            <a:custGeom>
              <a:avLst/>
              <a:gdLst/>
              <a:ahLst/>
              <a:cxnLst/>
              <a:rect l="l" t="t" r="r" b="b"/>
              <a:pathLst>
                <a:path w="4211320" h="5080">
                  <a:moveTo>
                    <a:pt x="0" y="5060"/>
                  </a:moveTo>
                  <a:lnTo>
                    <a:pt x="0" y="0"/>
                  </a:lnTo>
                  <a:lnTo>
                    <a:pt x="4211157" y="0"/>
                  </a:lnTo>
                  <a:lnTo>
                    <a:pt x="421115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0" noProof="1"/>
              <a:t>Generate</a:t>
            </a:r>
            <a:r>
              <a:rPr lang="en-US" spc="-5" noProof="1"/>
              <a:t> </a:t>
            </a:r>
            <a:r>
              <a:rPr lang="en-US" spc="-10" noProof="1"/>
              <a:t>client</a:t>
            </a:r>
            <a:r>
              <a:rPr lang="en-US" spc="-5" noProof="1"/>
              <a:t> </a:t>
            </a:r>
            <a:r>
              <a:rPr lang="en-US" spc="-10" noProof="1"/>
              <a:t>and</a:t>
            </a:r>
            <a:r>
              <a:rPr lang="en-US" noProof="1"/>
              <a:t> </a:t>
            </a:r>
            <a:r>
              <a:rPr lang="en-US" spc="-35" noProof="1"/>
              <a:t>server</a:t>
            </a:r>
            <a:r>
              <a:rPr lang="en-US" spc="-5" noProof="1"/>
              <a:t> </a:t>
            </a:r>
            <a:r>
              <a:rPr lang="en-US" spc="-20" noProof="1"/>
              <a:t>certificates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235367" y="2173192"/>
            <a:ext cx="4247733" cy="451484"/>
            <a:chOff x="372646" y="2259693"/>
            <a:chExt cx="5015230" cy="451484"/>
          </a:xfrm>
        </p:grpSpPr>
        <p:sp>
          <p:nvSpPr>
            <p:cNvPr id="13" name="object 13"/>
            <p:cNvSpPr/>
            <p:nvPr/>
          </p:nvSpPr>
          <p:spPr>
            <a:xfrm>
              <a:off x="377994" y="2265040"/>
              <a:ext cx="5004435" cy="440690"/>
            </a:xfrm>
            <a:custGeom>
              <a:avLst/>
              <a:gdLst/>
              <a:ahLst/>
              <a:cxnLst/>
              <a:rect l="l" t="t" r="r" b="b"/>
              <a:pathLst>
                <a:path w="5004435" h="440689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404181"/>
                  </a:lnTo>
                  <a:lnTo>
                    <a:pt x="2829" y="418194"/>
                  </a:lnTo>
                  <a:lnTo>
                    <a:pt x="10544" y="429637"/>
                  </a:lnTo>
                  <a:lnTo>
                    <a:pt x="21987" y="437353"/>
                  </a:lnTo>
                  <a:lnTo>
                    <a:pt x="36000" y="440182"/>
                  </a:lnTo>
                  <a:lnTo>
                    <a:pt x="4968064" y="440182"/>
                  </a:lnTo>
                  <a:lnTo>
                    <a:pt x="4982077" y="437353"/>
                  </a:lnTo>
                  <a:lnTo>
                    <a:pt x="4993521" y="429637"/>
                  </a:lnTo>
                  <a:lnTo>
                    <a:pt x="5001236" y="418194"/>
                  </a:lnTo>
                  <a:lnTo>
                    <a:pt x="5004065" y="404181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4" name="object 14"/>
            <p:cNvSpPr/>
            <p:nvPr/>
          </p:nvSpPr>
          <p:spPr>
            <a:xfrm>
              <a:off x="378973" y="2266019"/>
              <a:ext cx="5002530" cy="438784"/>
            </a:xfrm>
            <a:custGeom>
              <a:avLst/>
              <a:gdLst/>
              <a:ahLst/>
              <a:cxnLst/>
              <a:rect l="l" t="t" r="r" b="b"/>
              <a:pathLst>
                <a:path w="5002530" h="438785">
                  <a:moveTo>
                    <a:pt x="0" y="403202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403202"/>
                  </a:lnTo>
                  <a:lnTo>
                    <a:pt x="4999354" y="416834"/>
                  </a:lnTo>
                  <a:lnTo>
                    <a:pt x="4991849" y="427966"/>
                  </a:lnTo>
                  <a:lnTo>
                    <a:pt x="4980717" y="435471"/>
                  </a:lnTo>
                  <a:lnTo>
                    <a:pt x="4967085" y="438223"/>
                  </a:lnTo>
                  <a:lnTo>
                    <a:pt x="35021" y="438223"/>
                  </a:lnTo>
                  <a:lnTo>
                    <a:pt x="21389" y="435471"/>
                  </a:lnTo>
                  <a:lnTo>
                    <a:pt x="10257" y="427966"/>
                  </a:lnTo>
                  <a:lnTo>
                    <a:pt x="2752" y="416834"/>
                  </a:lnTo>
                  <a:lnTo>
                    <a:pt x="0" y="403202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98527" y="578400"/>
            <a:ext cx="5451373" cy="19688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all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generate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certificates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VPN.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0" noProof="1">
                <a:solidFill>
                  <a:srgbClr val="22373A"/>
                </a:solidFill>
                <a:latin typeface="Arial"/>
                <a:cs typeface="Arial"/>
              </a:rPr>
              <a:t>EasyRSA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generate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them.</a:t>
            </a:r>
            <a:endParaRPr lang="en-US" sz="900" noProof="1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For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Windows</a:t>
            </a:r>
            <a:r>
              <a:rPr lang="en-US" sz="9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users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endParaRPr lang="en-US" sz="900" noProof="1">
              <a:latin typeface="Arial"/>
              <a:cs typeface="Arial"/>
            </a:endParaRPr>
          </a:p>
          <a:p>
            <a:pPr marL="235585" indent="-143510">
              <a:lnSpc>
                <a:spcPct val="100000"/>
              </a:lnSpc>
              <a:spcBef>
                <a:spcPts val="805"/>
              </a:spcBef>
              <a:buAutoNum type="arabicPeriod"/>
              <a:tabLst>
                <a:tab pos="23558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Visit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  <a:hlinkClick r:id="rId2"/>
              </a:rPr>
              <a:t>https://github.com/OpenVPN/easy-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  <a:hlinkClick r:id="rId2"/>
              </a:rPr>
              <a:t>rsa/releases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look</a:t>
            </a:r>
            <a:r>
              <a:rPr lang="en-US" sz="9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Assets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ending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endParaRPr lang="en-US" sz="900" noProof="1">
              <a:latin typeface="Arial"/>
              <a:cs typeface="Arial"/>
            </a:endParaRPr>
          </a:p>
          <a:p>
            <a:pPr marL="252729">
              <a:lnSpc>
                <a:spcPct val="100000"/>
              </a:lnSpc>
              <a:spcBef>
                <a:spcPts val="175"/>
              </a:spcBef>
            </a:pPr>
            <a:r>
              <a:rPr lang="en-US" sz="900" spc="-10" noProof="1">
                <a:latin typeface="Courier New"/>
                <a:cs typeface="Courier New"/>
              </a:rPr>
              <a:t>win64.zip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 startAt="2"/>
              <a:tabLst>
                <a:tab pos="239395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Download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extract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0"/>
              </a:spcBef>
              <a:buAutoNum type="arabicPeriod" startAt="2"/>
              <a:tabLst>
                <a:tab pos="239395" algn="l"/>
              </a:tabLst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Open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terminal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navigate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where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extracted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files.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 startAt="2"/>
              <a:tabLst>
                <a:tab pos="239395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command:</a:t>
            </a:r>
            <a:r>
              <a:rPr lang="en-US" sz="900" spc="1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.\EasyRSA-</a:t>
            </a:r>
            <a:r>
              <a:rPr lang="en-US" sz="900" spc="-10" noProof="1">
                <a:latin typeface="Courier New"/>
                <a:cs typeface="Courier New"/>
              </a:rPr>
              <a:t>Start.bat</a:t>
            </a:r>
            <a:endParaRPr lang="en-US" sz="900" noProof="1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MacOS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Linux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users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0185" marR="2152015">
              <a:lnSpc>
                <a:spcPct val="107400"/>
              </a:lnSpc>
              <a:spcBef>
                <a:spcPts val="5"/>
              </a:spcBef>
            </a:pPr>
            <a:r>
              <a:rPr lang="en-US" sz="800" spc="-50" noProof="1">
                <a:solidFill>
                  <a:srgbClr val="05287C"/>
                </a:solidFill>
                <a:latin typeface="Courier New"/>
                <a:cs typeface="Courier New"/>
              </a:rPr>
              <a:t>$ git</a:t>
            </a:r>
            <a:r>
              <a:rPr lang="en-US" sz="800" spc="80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clone</a:t>
            </a:r>
            <a:r>
              <a:rPr lang="en-US" sz="800" spc="8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https://github.com/OpenVPN/easy-rsa.git </a:t>
            </a:r>
          </a:p>
          <a:p>
            <a:pPr marL="210185" marR="2152015">
              <a:lnSpc>
                <a:spcPct val="107400"/>
              </a:lnSpc>
              <a:spcBef>
                <a:spcPts val="5"/>
              </a:spcBef>
            </a:pPr>
            <a:r>
              <a:rPr lang="en-US" sz="800" spc="-60" noProof="1">
                <a:latin typeface="Courier New"/>
                <a:cs typeface="Courier New"/>
              </a:rPr>
              <a:t>$ </a:t>
            </a:r>
            <a:r>
              <a:rPr lang="en-US" sz="800" spc="-50" noProof="1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lang="en-US" sz="800" spc="-30" noProof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easy-</a:t>
            </a:r>
            <a:r>
              <a:rPr lang="en-US" sz="800" spc="-10" noProof="1">
                <a:latin typeface="Courier New"/>
                <a:cs typeface="Courier New"/>
              </a:rPr>
              <a:t>rsa/easyrsa3</a:t>
            </a:r>
            <a:endParaRPr lang="en-US" sz="800" noProof="1">
              <a:latin typeface="Courier New"/>
              <a:cs typeface="Courier New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7" name="object 1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9" name="object 19"/>
            <p:cNvSpPr/>
            <p:nvPr/>
          </p:nvSpPr>
          <p:spPr>
            <a:xfrm>
              <a:off x="0" y="3234963"/>
              <a:ext cx="4259580" cy="5080"/>
            </a:xfrm>
            <a:custGeom>
              <a:avLst/>
              <a:gdLst/>
              <a:ahLst/>
              <a:cxnLst/>
              <a:rect l="l" t="t" r="r" b="b"/>
              <a:pathLst>
                <a:path w="4259580" h="5080">
                  <a:moveTo>
                    <a:pt x="0" y="5060"/>
                  </a:moveTo>
                  <a:lnTo>
                    <a:pt x="0" y="0"/>
                  </a:lnTo>
                  <a:lnTo>
                    <a:pt x="4259585" y="0"/>
                  </a:lnTo>
                  <a:lnTo>
                    <a:pt x="425958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0" noProof="1"/>
              <a:t>Generate</a:t>
            </a:r>
            <a:r>
              <a:rPr lang="en-US" spc="-5" noProof="1"/>
              <a:t> </a:t>
            </a:r>
            <a:r>
              <a:rPr lang="en-US" spc="-10" noProof="1"/>
              <a:t>client</a:t>
            </a:r>
            <a:r>
              <a:rPr lang="en-US" spc="-5" noProof="1"/>
              <a:t> </a:t>
            </a:r>
            <a:r>
              <a:rPr lang="en-US" spc="-10" noProof="1"/>
              <a:t>and</a:t>
            </a:r>
            <a:r>
              <a:rPr lang="en-US" noProof="1"/>
              <a:t> </a:t>
            </a:r>
            <a:r>
              <a:rPr lang="en-US" spc="-35" noProof="1"/>
              <a:t>server</a:t>
            </a:r>
            <a:r>
              <a:rPr lang="en-US" spc="-5" noProof="1"/>
              <a:t> </a:t>
            </a:r>
            <a:r>
              <a:rPr lang="en-US" spc="-20" noProof="1"/>
              <a:t>certificates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264762"/>
            <a:ext cx="5015230" cy="451484"/>
            <a:chOff x="372646" y="1264762"/>
            <a:chExt cx="5015230" cy="451484"/>
          </a:xfrm>
        </p:grpSpPr>
        <p:sp>
          <p:nvSpPr>
            <p:cNvPr id="4" name="object 4"/>
            <p:cNvSpPr/>
            <p:nvPr/>
          </p:nvSpPr>
          <p:spPr>
            <a:xfrm>
              <a:off x="377994" y="1270110"/>
              <a:ext cx="5004435" cy="440690"/>
            </a:xfrm>
            <a:custGeom>
              <a:avLst/>
              <a:gdLst/>
              <a:ahLst/>
              <a:cxnLst/>
              <a:rect l="l" t="t" r="r" b="b"/>
              <a:pathLst>
                <a:path w="5004435" h="440689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404181"/>
                  </a:lnTo>
                  <a:lnTo>
                    <a:pt x="2829" y="418194"/>
                  </a:lnTo>
                  <a:lnTo>
                    <a:pt x="10544" y="429637"/>
                  </a:lnTo>
                  <a:lnTo>
                    <a:pt x="21987" y="437353"/>
                  </a:lnTo>
                  <a:lnTo>
                    <a:pt x="36000" y="440182"/>
                  </a:lnTo>
                  <a:lnTo>
                    <a:pt x="4968064" y="440182"/>
                  </a:lnTo>
                  <a:lnTo>
                    <a:pt x="4982077" y="437353"/>
                  </a:lnTo>
                  <a:lnTo>
                    <a:pt x="4993521" y="429637"/>
                  </a:lnTo>
                  <a:lnTo>
                    <a:pt x="5001236" y="418194"/>
                  </a:lnTo>
                  <a:lnTo>
                    <a:pt x="5004065" y="404181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271089"/>
              <a:ext cx="5002530" cy="438784"/>
            </a:xfrm>
            <a:custGeom>
              <a:avLst/>
              <a:gdLst/>
              <a:ahLst/>
              <a:cxnLst/>
              <a:rect l="l" t="t" r="r" b="b"/>
              <a:pathLst>
                <a:path w="5002530" h="438785">
                  <a:moveTo>
                    <a:pt x="0" y="403202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403202"/>
                  </a:lnTo>
                  <a:lnTo>
                    <a:pt x="4999354" y="416834"/>
                  </a:lnTo>
                  <a:lnTo>
                    <a:pt x="4991849" y="427966"/>
                  </a:lnTo>
                  <a:lnTo>
                    <a:pt x="4980717" y="435471"/>
                  </a:lnTo>
                  <a:lnTo>
                    <a:pt x="4967085" y="438223"/>
                  </a:lnTo>
                  <a:lnTo>
                    <a:pt x="35021" y="438223"/>
                  </a:lnTo>
                  <a:lnTo>
                    <a:pt x="21389" y="435471"/>
                  </a:lnTo>
                  <a:lnTo>
                    <a:pt x="10257" y="427966"/>
                  </a:lnTo>
                  <a:lnTo>
                    <a:pt x="2752" y="416834"/>
                  </a:lnTo>
                  <a:lnTo>
                    <a:pt x="0" y="403202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72646" y="2031213"/>
            <a:ext cx="5015230" cy="320040"/>
            <a:chOff x="372646" y="2031213"/>
            <a:chExt cx="5015230" cy="320040"/>
          </a:xfrm>
        </p:grpSpPr>
        <p:sp>
          <p:nvSpPr>
            <p:cNvPr id="7" name="object 7"/>
            <p:cNvSpPr/>
            <p:nvPr/>
          </p:nvSpPr>
          <p:spPr>
            <a:xfrm>
              <a:off x="377994" y="2036560"/>
              <a:ext cx="5004435" cy="309880"/>
            </a:xfrm>
            <a:custGeom>
              <a:avLst/>
              <a:gdLst/>
              <a:ahLst/>
              <a:cxnLst/>
              <a:rect l="l" t="t" r="r" b="b"/>
              <a:pathLst>
                <a:path w="5004435" h="309880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3328"/>
                  </a:lnTo>
                  <a:lnTo>
                    <a:pt x="2829" y="287341"/>
                  </a:lnTo>
                  <a:lnTo>
                    <a:pt x="10544" y="298784"/>
                  </a:lnTo>
                  <a:lnTo>
                    <a:pt x="21987" y="306499"/>
                  </a:lnTo>
                  <a:lnTo>
                    <a:pt x="36000" y="309328"/>
                  </a:lnTo>
                  <a:lnTo>
                    <a:pt x="4968064" y="309328"/>
                  </a:lnTo>
                  <a:lnTo>
                    <a:pt x="4982077" y="306499"/>
                  </a:lnTo>
                  <a:lnTo>
                    <a:pt x="4993521" y="298784"/>
                  </a:lnTo>
                  <a:lnTo>
                    <a:pt x="5001236" y="287341"/>
                  </a:lnTo>
                  <a:lnTo>
                    <a:pt x="5004065" y="273328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378973" y="2037539"/>
              <a:ext cx="5002530" cy="307975"/>
            </a:xfrm>
            <a:custGeom>
              <a:avLst/>
              <a:gdLst/>
              <a:ahLst/>
              <a:cxnLst/>
              <a:rect l="l" t="t" r="r" b="b"/>
              <a:pathLst>
                <a:path w="5002530" h="307975">
                  <a:moveTo>
                    <a:pt x="0" y="272348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2348"/>
                  </a:lnTo>
                  <a:lnTo>
                    <a:pt x="4999354" y="285980"/>
                  </a:lnTo>
                  <a:lnTo>
                    <a:pt x="4991849" y="297112"/>
                  </a:lnTo>
                  <a:lnTo>
                    <a:pt x="4980717" y="304617"/>
                  </a:lnTo>
                  <a:lnTo>
                    <a:pt x="4967085" y="307369"/>
                  </a:lnTo>
                  <a:lnTo>
                    <a:pt x="35021" y="307369"/>
                  </a:lnTo>
                  <a:lnTo>
                    <a:pt x="21389" y="304617"/>
                  </a:lnTo>
                  <a:lnTo>
                    <a:pt x="10257" y="297112"/>
                  </a:lnTo>
                  <a:lnTo>
                    <a:pt x="2752" y="285980"/>
                  </a:lnTo>
                  <a:lnTo>
                    <a:pt x="0" y="272348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1718" y="1020782"/>
            <a:ext cx="3667760" cy="126380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EasyRSA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running,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generate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certificates.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lang="en-US" sz="800" spc="-55" noProof="1">
                <a:latin typeface="Courier New"/>
                <a:cs typeface="Courier New"/>
              </a:rPr>
              <a:t>$ ./easyrsa</a:t>
            </a:r>
            <a:r>
              <a:rPr lang="en-US" sz="80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init-</a:t>
            </a:r>
            <a:r>
              <a:rPr lang="en-US" sz="800" spc="-25" noProof="1">
                <a:latin typeface="Courier New"/>
                <a:cs typeface="Courier New"/>
              </a:rPr>
              <a:t>pki</a:t>
            </a:r>
            <a:endParaRPr lang="en-US" sz="800" noProof="1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0"/>
              </a:spcBef>
            </a:pPr>
            <a:r>
              <a:rPr lang="en-US" sz="800" spc="-55" noProof="1">
                <a:latin typeface="Courier New"/>
                <a:cs typeface="Courier New"/>
              </a:rPr>
              <a:t>$ ./easyrsa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build-</a:t>
            </a:r>
            <a:r>
              <a:rPr lang="en-US" sz="800" spc="-50" noProof="1">
                <a:latin typeface="Courier New"/>
                <a:cs typeface="Courier New"/>
              </a:rPr>
              <a:t>ca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nopass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When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shown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terminal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press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enter: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lang="en-US" sz="800" spc="-60" noProof="1">
                <a:latin typeface="Courier New"/>
                <a:cs typeface="Courier New"/>
              </a:rPr>
              <a:t>Common</a:t>
            </a:r>
            <a:r>
              <a:rPr lang="en-US" sz="800" spc="-35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Name</a:t>
            </a:r>
            <a:r>
              <a:rPr lang="en-US" sz="800" spc="-35" noProof="1">
                <a:latin typeface="Courier New"/>
                <a:cs typeface="Courier New"/>
              </a:rPr>
              <a:t> </a:t>
            </a:r>
            <a:r>
              <a:rPr lang="en-US" sz="800" b="1" spc="-55" noProof="1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lang="en-US" sz="800" spc="-55" noProof="1">
                <a:latin typeface="Courier New"/>
                <a:cs typeface="Courier New"/>
              </a:rPr>
              <a:t>eg: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your</a:t>
            </a:r>
            <a:r>
              <a:rPr lang="en-US" sz="800" spc="-3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user,</a:t>
            </a:r>
            <a:r>
              <a:rPr lang="en-US" sz="800" spc="-3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host,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or</a:t>
            </a:r>
            <a:r>
              <a:rPr lang="en-US" sz="800" spc="-3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server</a:t>
            </a:r>
            <a:r>
              <a:rPr lang="en-US" sz="800" spc="-3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name</a:t>
            </a:r>
            <a:r>
              <a:rPr lang="en-US" sz="800" b="1" spc="-60" noProof="1">
                <a:solidFill>
                  <a:srgbClr val="007021"/>
                </a:solidFill>
                <a:latin typeface="Courier New"/>
                <a:cs typeface="Courier New"/>
              </a:rPr>
              <a:t>)</a:t>
            </a:r>
            <a:r>
              <a:rPr lang="en-US" sz="800" b="1" spc="-30" noProof="1">
                <a:solidFill>
                  <a:srgbClr val="007021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[Easy-</a:t>
            </a:r>
            <a:r>
              <a:rPr lang="en-US" sz="800" spc="-50" noProof="1">
                <a:latin typeface="Courier New"/>
                <a:cs typeface="Courier New"/>
              </a:rPr>
              <a:t>RSA</a:t>
            </a:r>
            <a:r>
              <a:rPr lang="en-US" sz="800" spc="-35" noProof="1">
                <a:latin typeface="Courier New"/>
                <a:cs typeface="Courier New"/>
              </a:rPr>
              <a:t> </a:t>
            </a:r>
            <a:r>
              <a:rPr lang="en-US" sz="800" spc="-20" noProof="1">
                <a:latin typeface="Courier New"/>
                <a:cs typeface="Courier New"/>
              </a:rPr>
              <a:t>CA]:</a:t>
            </a:r>
            <a:endParaRPr lang="en-US" sz="800" noProof="1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4308475" cy="5080"/>
            </a:xfrm>
            <a:custGeom>
              <a:avLst/>
              <a:gdLst/>
              <a:ahLst/>
              <a:cxnLst/>
              <a:rect l="l" t="t" r="r" b="b"/>
              <a:pathLst>
                <a:path w="4308475" h="5080">
                  <a:moveTo>
                    <a:pt x="0" y="5060"/>
                  </a:moveTo>
                  <a:lnTo>
                    <a:pt x="0" y="0"/>
                  </a:lnTo>
                  <a:lnTo>
                    <a:pt x="4307926" y="0"/>
                  </a:lnTo>
                  <a:lnTo>
                    <a:pt x="430792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0" noProof="1"/>
              <a:t>Generate</a:t>
            </a:r>
            <a:r>
              <a:rPr lang="en-US" spc="-5" noProof="1"/>
              <a:t> </a:t>
            </a:r>
            <a:r>
              <a:rPr lang="en-US" spc="-10" noProof="1"/>
              <a:t>client</a:t>
            </a:r>
            <a:r>
              <a:rPr lang="en-US" spc="-5" noProof="1"/>
              <a:t> </a:t>
            </a:r>
            <a:r>
              <a:rPr lang="en-US" spc="-10" noProof="1"/>
              <a:t>and</a:t>
            </a:r>
            <a:r>
              <a:rPr lang="en-US" noProof="1"/>
              <a:t> </a:t>
            </a:r>
            <a:r>
              <a:rPr lang="en-US" spc="-35" noProof="1"/>
              <a:t>server</a:t>
            </a:r>
            <a:r>
              <a:rPr lang="en-US" spc="-5" noProof="1"/>
              <a:t> </a:t>
            </a:r>
            <a:r>
              <a:rPr lang="en-US" spc="-20" noProof="1"/>
              <a:t>certificates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196995"/>
            <a:ext cx="5015230" cy="451484"/>
            <a:chOff x="372646" y="1196995"/>
            <a:chExt cx="5015230" cy="451484"/>
          </a:xfrm>
        </p:grpSpPr>
        <p:sp>
          <p:nvSpPr>
            <p:cNvPr id="4" name="object 4"/>
            <p:cNvSpPr/>
            <p:nvPr/>
          </p:nvSpPr>
          <p:spPr>
            <a:xfrm>
              <a:off x="377994" y="1202342"/>
              <a:ext cx="5004435" cy="440690"/>
            </a:xfrm>
            <a:custGeom>
              <a:avLst/>
              <a:gdLst/>
              <a:ahLst/>
              <a:cxnLst/>
              <a:rect l="l" t="t" r="r" b="b"/>
              <a:pathLst>
                <a:path w="5004435" h="440689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404181"/>
                  </a:lnTo>
                  <a:lnTo>
                    <a:pt x="2829" y="418194"/>
                  </a:lnTo>
                  <a:lnTo>
                    <a:pt x="10544" y="429637"/>
                  </a:lnTo>
                  <a:lnTo>
                    <a:pt x="21987" y="437353"/>
                  </a:lnTo>
                  <a:lnTo>
                    <a:pt x="36000" y="440182"/>
                  </a:lnTo>
                  <a:lnTo>
                    <a:pt x="4968064" y="440182"/>
                  </a:lnTo>
                  <a:lnTo>
                    <a:pt x="4982077" y="437353"/>
                  </a:lnTo>
                  <a:lnTo>
                    <a:pt x="4993521" y="429637"/>
                  </a:lnTo>
                  <a:lnTo>
                    <a:pt x="5001236" y="418194"/>
                  </a:lnTo>
                  <a:lnTo>
                    <a:pt x="5004065" y="404181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203322"/>
              <a:ext cx="5002530" cy="438784"/>
            </a:xfrm>
            <a:custGeom>
              <a:avLst/>
              <a:gdLst/>
              <a:ahLst/>
              <a:cxnLst/>
              <a:rect l="l" t="t" r="r" b="b"/>
              <a:pathLst>
                <a:path w="5002530" h="438785">
                  <a:moveTo>
                    <a:pt x="0" y="403202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403202"/>
                  </a:lnTo>
                  <a:lnTo>
                    <a:pt x="4999354" y="416834"/>
                  </a:lnTo>
                  <a:lnTo>
                    <a:pt x="4991849" y="427966"/>
                  </a:lnTo>
                  <a:lnTo>
                    <a:pt x="4980717" y="435471"/>
                  </a:lnTo>
                  <a:lnTo>
                    <a:pt x="4967085" y="438223"/>
                  </a:lnTo>
                  <a:lnTo>
                    <a:pt x="35021" y="438223"/>
                  </a:lnTo>
                  <a:lnTo>
                    <a:pt x="21389" y="435471"/>
                  </a:lnTo>
                  <a:lnTo>
                    <a:pt x="10257" y="427966"/>
                  </a:lnTo>
                  <a:lnTo>
                    <a:pt x="2752" y="416834"/>
                  </a:lnTo>
                  <a:lnTo>
                    <a:pt x="0" y="403202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3381" y="1770738"/>
            <a:ext cx="204657" cy="12645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372646" y="1975314"/>
            <a:ext cx="5015230" cy="443865"/>
            <a:chOff x="372646" y="1975314"/>
            <a:chExt cx="5015230" cy="443865"/>
          </a:xfrm>
        </p:grpSpPr>
        <p:sp>
          <p:nvSpPr>
            <p:cNvPr id="8" name="object 8"/>
            <p:cNvSpPr/>
            <p:nvPr/>
          </p:nvSpPr>
          <p:spPr>
            <a:xfrm>
              <a:off x="377994" y="1980661"/>
              <a:ext cx="5004435" cy="433070"/>
            </a:xfrm>
            <a:custGeom>
              <a:avLst/>
              <a:gdLst/>
              <a:ahLst/>
              <a:cxnLst/>
              <a:rect l="l" t="t" r="r" b="b"/>
              <a:pathLst>
                <a:path w="5004435" h="433069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396994"/>
                  </a:lnTo>
                  <a:lnTo>
                    <a:pt x="2829" y="411007"/>
                  </a:lnTo>
                  <a:lnTo>
                    <a:pt x="10544" y="422450"/>
                  </a:lnTo>
                  <a:lnTo>
                    <a:pt x="21987" y="430165"/>
                  </a:lnTo>
                  <a:lnTo>
                    <a:pt x="36000" y="432995"/>
                  </a:lnTo>
                  <a:lnTo>
                    <a:pt x="4968064" y="432995"/>
                  </a:lnTo>
                  <a:lnTo>
                    <a:pt x="4982077" y="430165"/>
                  </a:lnTo>
                  <a:lnTo>
                    <a:pt x="4993521" y="422450"/>
                  </a:lnTo>
                  <a:lnTo>
                    <a:pt x="5001236" y="411007"/>
                  </a:lnTo>
                  <a:lnTo>
                    <a:pt x="5004065" y="396994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378973" y="1981640"/>
              <a:ext cx="5002530" cy="431165"/>
            </a:xfrm>
            <a:custGeom>
              <a:avLst/>
              <a:gdLst/>
              <a:ahLst/>
              <a:cxnLst/>
              <a:rect l="l" t="t" r="r" b="b"/>
              <a:pathLst>
                <a:path w="5002530" h="431164">
                  <a:moveTo>
                    <a:pt x="0" y="396015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396015"/>
                  </a:lnTo>
                  <a:lnTo>
                    <a:pt x="4999354" y="409647"/>
                  </a:lnTo>
                  <a:lnTo>
                    <a:pt x="4991849" y="420779"/>
                  </a:lnTo>
                  <a:lnTo>
                    <a:pt x="4980717" y="428284"/>
                  </a:lnTo>
                  <a:lnTo>
                    <a:pt x="4967085" y="431036"/>
                  </a:lnTo>
                  <a:lnTo>
                    <a:pt x="35021" y="431036"/>
                  </a:lnTo>
                  <a:lnTo>
                    <a:pt x="21389" y="428284"/>
                  </a:lnTo>
                  <a:lnTo>
                    <a:pt x="10257" y="420779"/>
                  </a:lnTo>
                  <a:lnTo>
                    <a:pt x="2752" y="409647"/>
                  </a:lnTo>
                  <a:lnTo>
                    <a:pt x="0" y="396015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41717" y="953015"/>
            <a:ext cx="4015017" cy="13891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Now run 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commands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below: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lang="en-US" sz="800" spc="-55" noProof="1">
                <a:latin typeface="Courier New"/>
                <a:cs typeface="Courier New"/>
              </a:rPr>
              <a:t>$ ./easyrsa</a:t>
            </a:r>
            <a:r>
              <a:rPr lang="en-US" sz="800" spc="-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lang="en-US" sz="800" spc="-55" noProof="1">
                <a:solidFill>
                  <a:srgbClr val="7C8E28"/>
                </a:solidFill>
                <a:latin typeface="Courier New"/>
                <a:cs typeface="Courier New"/>
              </a:rPr>
              <a:t>san</a:t>
            </a:r>
            <a:r>
              <a:rPr lang="en-US" sz="800" spc="-55" noProof="1">
                <a:solidFill>
                  <a:srgbClr val="666666"/>
                </a:solidFill>
                <a:latin typeface="Courier New"/>
                <a:cs typeface="Courier New"/>
              </a:rPr>
              <a:t>=</a:t>
            </a:r>
            <a:r>
              <a:rPr lang="en-US" sz="800" spc="-55" noProof="1">
                <a:latin typeface="Courier New"/>
                <a:cs typeface="Courier New"/>
              </a:rPr>
              <a:t>DNS:server</a:t>
            </a:r>
            <a:r>
              <a:rPr lang="en-US" sz="80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build-server-</a:t>
            </a:r>
            <a:r>
              <a:rPr lang="en-US" sz="800" spc="-55" noProof="1">
                <a:latin typeface="Courier New"/>
                <a:cs typeface="Courier New"/>
              </a:rPr>
              <a:t>full</a:t>
            </a:r>
            <a:r>
              <a:rPr lang="en-US" sz="800" spc="-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server</a:t>
            </a:r>
            <a:r>
              <a:rPr lang="en-US" sz="800" noProof="1"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nopass</a:t>
            </a:r>
            <a:endParaRPr lang="en-US" sz="800" noProof="1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0"/>
              </a:spcBef>
            </a:pPr>
            <a:r>
              <a:rPr lang="en-US" sz="800" spc="-55" noProof="1">
                <a:latin typeface="Courier New"/>
                <a:cs typeface="Courier New"/>
              </a:rPr>
              <a:t>$ ./easyrsa</a:t>
            </a:r>
            <a:r>
              <a:rPr lang="en-US" sz="80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build-client-</a:t>
            </a:r>
            <a:r>
              <a:rPr lang="en-US" sz="800" spc="-55" noProof="1">
                <a:latin typeface="Courier New"/>
                <a:cs typeface="Courier New"/>
              </a:rPr>
              <a:t>full</a:t>
            </a:r>
            <a:r>
              <a:rPr lang="en-US" sz="800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client1.domain.tld</a:t>
            </a:r>
            <a:r>
              <a:rPr lang="en-US" sz="800" spc="5" noProof="1"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nopass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 both commands, when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95" noProof="1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text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below,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type</a:t>
            </a:r>
            <a:r>
              <a:rPr lang="en-US" sz="900" spc="1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yes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hit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enter: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lang="en-US" sz="900" noProof="1">
              <a:latin typeface="Arial"/>
              <a:cs typeface="Arial"/>
            </a:endParaRPr>
          </a:p>
          <a:p>
            <a:pPr marL="323215" marR="5080" indent="-107950">
              <a:lnSpc>
                <a:spcPct val="107400"/>
              </a:lnSpc>
            </a:pPr>
            <a:r>
              <a:rPr lang="en-US" sz="800" spc="-55" noProof="1">
                <a:latin typeface="Courier New"/>
                <a:cs typeface="Courier New"/>
              </a:rPr>
              <a:t>Type</a:t>
            </a:r>
            <a:r>
              <a:rPr lang="en-US" sz="800" spc="-50" noProof="1">
                <a:latin typeface="Courier New"/>
                <a:cs typeface="Courier New"/>
              </a:rPr>
              <a:t> the </a:t>
            </a:r>
            <a:r>
              <a:rPr lang="en-US" sz="800" spc="-55" noProof="1">
                <a:latin typeface="Courier New"/>
                <a:cs typeface="Courier New"/>
              </a:rPr>
              <a:t>word</a:t>
            </a:r>
            <a:r>
              <a:rPr lang="en-US" sz="800" spc="-4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3F70A0"/>
                </a:solidFill>
                <a:latin typeface="Courier New"/>
                <a:cs typeface="Courier New"/>
              </a:rPr>
              <a:t>'yes'</a:t>
            </a:r>
            <a:r>
              <a:rPr lang="en-US" sz="800" spc="-50" noProof="1">
                <a:solidFill>
                  <a:srgbClr val="3F70A0"/>
                </a:solidFill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to</a:t>
            </a:r>
            <a:r>
              <a:rPr lang="en-US" sz="800" spc="-45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continue,</a:t>
            </a:r>
            <a:r>
              <a:rPr lang="en-US" sz="800" spc="-50" noProof="1">
                <a:latin typeface="Courier New"/>
                <a:cs typeface="Courier New"/>
              </a:rPr>
              <a:t> or</a:t>
            </a:r>
            <a:r>
              <a:rPr lang="en-US" sz="800" spc="-45" noProof="1"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any </a:t>
            </a:r>
            <a:r>
              <a:rPr lang="en-US" sz="800" spc="-60" noProof="1">
                <a:latin typeface="Courier New"/>
                <a:cs typeface="Courier New"/>
              </a:rPr>
              <a:t>other</a:t>
            </a:r>
            <a:r>
              <a:rPr lang="en-US" sz="800" spc="-4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input</a:t>
            </a:r>
            <a:r>
              <a:rPr lang="en-US" sz="800" spc="-50" noProof="1">
                <a:latin typeface="Courier New"/>
                <a:cs typeface="Courier New"/>
              </a:rPr>
              <a:t> to</a:t>
            </a:r>
            <a:r>
              <a:rPr lang="en-US" sz="800" spc="-45" noProof="1">
                <a:latin typeface="Courier New"/>
                <a:cs typeface="Courier New"/>
              </a:rPr>
              <a:t> abort. </a:t>
            </a:r>
            <a:r>
              <a:rPr lang="en-US" sz="800" spc="-60" noProof="1">
                <a:latin typeface="Courier New"/>
                <a:cs typeface="Courier New"/>
              </a:rPr>
              <a:t>Confirm</a:t>
            </a:r>
            <a:r>
              <a:rPr lang="en-US" sz="800" spc="-15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requested</a:t>
            </a:r>
            <a:r>
              <a:rPr lang="en-US" sz="800" spc="-1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details:</a:t>
            </a:r>
            <a:r>
              <a:rPr lang="en-US" sz="800" spc="-10" noProof="1">
                <a:latin typeface="Courier New"/>
                <a:cs typeface="Courier New"/>
              </a:rPr>
              <a:t> </a:t>
            </a:r>
            <a:r>
              <a:rPr lang="en-US" sz="800" spc="-25" noProof="1">
                <a:latin typeface="Courier New"/>
                <a:cs typeface="Courier New"/>
              </a:rPr>
              <a:t>yes</a:t>
            </a:r>
            <a:endParaRPr lang="en-US" sz="800" noProof="1"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2" name="object 12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3234963"/>
              <a:ext cx="4356735" cy="5080"/>
            </a:xfrm>
            <a:custGeom>
              <a:avLst/>
              <a:gdLst/>
              <a:ahLst/>
              <a:cxnLst/>
              <a:rect l="l" t="t" r="r" b="b"/>
              <a:pathLst>
                <a:path w="4356735" h="5080">
                  <a:moveTo>
                    <a:pt x="0" y="5060"/>
                  </a:moveTo>
                  <a:lnTo>
                    <a:pt x="0" y="0"/>
                  </a:lnTo>
                  <a:lnTo>
                    <a:pt x="4356354" y="0"/>
                  </a:lnTo>
                  <a:lnTo>
                    <a:pt x="435635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0" noProof="1"/>
              <a:t>Generate</a:t>
            </a:r>
            <a:r>
              <a:rPr lang="en-US" spc="-5" noProof="1"/>
              <a:t> </a:t>
            </a:r>
            <a:r>
              <a:rPr lang="en-US" spc="-10" noProof="1"/>
              <a:t>client</a:t>
            </a:r>
            <a:r>
              <a:rPr lang="en-US" spc="-5" noProof="1"/>
              <a:t> </a:t>
            </a:r>
            <a:r>
              <a:rPr lang="en-US" spc="-10" noProof="1"/>
              <a:t>and</a:t>
            </a:r>
            <a:r>
              <a:rPr lang="en-US" noProof="1"/>
              <a:t> </a:t>
            </a:r>
            <a:r>
              <a:rPr lang="en-US" spc="-35" noProof="1"/>
              <a:t>server</a:t>
            </a:r>
            <a:r>
              <a:rPr lang="en-US" spc="-5" noProof="1"/>
              <a:t> </a:t>
            </a:r>
            <a:r>
              <a:rPr lang="en-US" spc="-20" noProof="1"/>
              <a:t>certificates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16291" y="1167592"/>
            <a:ext cx="264795" cy="120650"/>
            <a:chOff x="1416291" y="1167592"/>
            <a:chExt cx="264795" cy="120650"/>
          </a:xfrm>
        </p:grpSpPr>
        <p:sp>
          <p:nvSpPr>
            <p:cNvPr id="4" name="object 4"/>
            <p:cNvSpPr/>
            <p:nvPr/>
          </p:nvSpPr>
          <p:spPr>
            <a:xfrm>
              <a:off x="1416291" y="1167592"/>
              <a:ext cx="264795" cy="120650"/>
            </a:xfrm>
            <a:custGeom>
              <a:avLst/>
              <a:gdLst/>
              <a:ahLst/>
              <a:cxnLst/>
              <a:rect l="l" t="t" r="r" b="b"/>
              <a:pathLst>
                <a:path w="264794" h="12065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301"/>
                  </a:lnTo>
                  <a:lnTo>
                    <a:pt x="2829" y="98314"/>
                  </a:lnTo>
                  <a:lnTo>
                    <a:pt x="10544" y="109757"/>
                  </a:lnTo>
                  <a:lnTo>
                    <a:pt x="21987" y="117472"/>
                  </a:lnTo>
                  <a:lnTo>
                    <a:pt x="36000" y="120301"/>
                  </a:lnTo>
                  <a:lnTo>
                    <a:pt x="228441" y="120301"/>
                  </a:lnTo>
                  <a:lnTo>
                    <a:pt x="242454" y="117472"/>
                  </a:lnTo>
                  <a:lnTo>
                    <a:pt x="253897" y="109757"/>
                  </a:lnTo>
                  <a:lnTo>
                    <a:pt x="261612" y="98314"/>
                  </a:lnTo>
                  <a:lnTo>
                    <a:pt x="264441" y="84301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416291" y="1167592"/>
              <a:ext cx="264795" cy="120650"/>
            </a:xfrm>
            <a:custGeom>
              <a:avLst/>
              <a:gdLst/>
              <a:ahLst/>
              <a:cxnLst/>
              <a:rect l="l" t="t" r="r" b="b"/>
              <a:pathLst>
                <a:path w="264794" h="12065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301"/>
                  </a:lnTo>
                  <a:lnTo>
                    <a:pt x="2829" y="98314"/>
                  </a:lnTo>
                  <a:lnTo>
                    <a:pt x="10544" y="109757"/>
                  </a:lnTo>
                  <a:lnTo>
                    <a:pt x="21987" y="117472"/>
                  </a:lnTo>
                  <a:lnTo>
                    <a:pt x="36000" y="120301"/>
                  </a:lnTo>
                  <a:lnTo>
                    <a:pt x="228441" y="120301"/>
                  </a:lnTo>
                  <a:lnTo>
                    <a:pt x="242454" y="117472"/>
                  </a:lnTo>
                  <a:lnTo>
                    <a:pt x="253897" y="109757"/>
                  </a:lnTo>
                  <a:lnTo>
                    <a:pt x="261612" y="98314"/>
                  </a:lnTo>
                  <a:lnTo>
                    <a:pt x="264441" y="84301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72646" y="1538754"/>
            <a:ext cx="5015230" cy="1096645"/>
            <a:chOff x="372646" y="1538754"/>
            <a:chExt cx="5015230" cy="1096645"/>
          </a:xfrm>
        </p:grpSpPr>
        <p:sp>
          <p:nvSpPr>
            <p:cNvPr id="7" name="object 7"/>
            <p:cNvSpPr/>
            <p:nvPr/>
          </p:nvSpPr>
          <p:spPr>
            <a:xfrm>
              <a:off x="377994" y="1544102"/>
              <a:ext cx="5004435" cy="1085850"/>
            </a:xfrm>
            <a:custGeom>
              <a:avLst/>
              <a:gdLst/>
              <a:ahLst/>
              <a:cxnLst/>
              <a:rect l="l" t="t" r="r" b="b"/>
              <a:pathLst>
                <a:path w="5004435" h="1085850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49441"/>
                  </a:lnTo>
                  <a:lnTo>
                    <a:pt x="2829" y="1063454"/>
                  </a:lnTo>
                  <a:lnTo>
                    <a:pt x="10544" y="1074897"/>
                  </a:lnTo>
                  <a:lnTo>
                    <a:pt x="21987" y="1082612"/>
                  </a:lnTo>
                  <a:lnTo>
                    <a:pt x="36000" y="1085441"/>
                  </a:lnTo>
                  <a:lnTo>
                    <a:pt x="4968064" y="1085441"/>
                  </a:lnTo>
                  <a:lnTo>
                    <a:pt x="4982077" y="1082612"/>
                  </a:lnTo>
                  <a:lnTo>
                    <a:pt x="4993521" y="1074897"/>
                  </a:lnTo>
                  <a:lnTo>
                    <a:pt x="5001236" y="1063454"/>
                  </a:lnTo>
                  <a:lnTo>
                    <a:pt x="5004065" y="1049441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378973" y="1545081"/>
              <a:ext cx="5002530" cy="1083945"/>
            </a:xfrm>
            <a:custGeom>
              <a:avLst/>
              <a:gdLst/>
              <a:ahLst/>
              <a:cxnLst/>
              <a:rect l="l" t="t" r="r" b="b"/>
              <a:pathLst>
                <a:path w="5002530" h="1083945">
                  <a:moveTo>
                    <a:pt x="0" y="1048462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1048462"/>
                  </a:lnTo>
                  <a:lnTo>
                    <a:pt x="4999354" y="1062094"/>
                  </a:lnTo>
                  <a:lnTo>
                    <a:pt x="4991849" y="1073225"/>
                  </a:lnTo>
                  <a:lnTo>
                    <a:pt x="4980717" y="1080731"/>
                  </a:lnTo>
                  <a:lnTo>
                    <a:pt x="4967085" y="1083483"/>
                  </a:lnTo>
                  <a:lnTo>
                    <a:pt x="35021" y="1083483"/>
                  </a:lnTo>
                  <a:lnTo>
                    <a:pt x="21389" y="1080731"/>
                  </a:lnTo>
                  <a:lnTo>
                    <a:pt x="10257" y="1073225"/>
                  </a:lnTo>
                  <a:lnTo>
                    <a:pt x="2752" y="1062094"/>
                  </a:lnTo>
                  <a:lnTo>
                    <a:pt x="0" y="1048462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7294" y="714441"/>
            <a:ext cx="4966335" cy="182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46685">
              <a:lnSpc>
                <a:spcPct val="116199"/>
              </a:lnSpc>
              <a:spcBef>
                <a:spcPts val="100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Okay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we’ve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successfully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generated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certificates.</a:t>
            </a:r>
            <a:r>
              <a:rPr lang="en-US" sz="900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move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them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another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folder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make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easier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work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them.</a:t>
            </a:r>
            <a:endParaRPr lang="en-US" sz="900" noProof="1">
              <a:latin typeface="Arial"/>
              <a:cs typeface="Arial"/>
            </a:endParaRPr>
          </a:p>
          <a:p>
            <a:pPr marL="12700" marR="5080">
              <a:lnSpc>
                <a:spcPct val="116199"/>
              </a:lnSpc>
              <a:spcBef>
                <a:spcPts val="625"/>
              </a:spcBef>
            </a:pP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Windows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70" noProof="1">
                <a:solidFill>
                  <a:srgbClr val="22373A"/>
                </a:solidFill>
                <a:latin typeface="Arial"/>
                <a:cs typeface="Arial"/>
              </a:rPr>
              <a:t>users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type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exit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commands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(instructions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MacOS/Linux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are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next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slide):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0185">
              <a:lnSpc>
                <a:spcPct val="100000"/>
              </a:lnSpc>
            </a:pPr>
            <a:r>
              <a:rPr lang="en-US" sz="800" spc="-60" noProof="1">
                <a:solidFill>
                  <a:srgbClr val="05287C"/>
                </a:solidFill>
                <a:latin typeface="Courier New"/>
                <a:cs typeface="Courier New"/>
              </a:rPr>
              <a:t>mkdir</a:t>
            </a:r>
            <a:r>
              <a:rPr lang="en-US" sz="800" spc="-25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C:</a:t>
            </a:r>
            <a:r>
              <a:rPr lang="en-US" sz="800" spc="-10" noProof="1">
                <a:solidFill>
                  <a:srgbClr val="8E2100"/>
                </a:solidFill>
                <a:latin typeface="Courier New"/>
                <a:cs typeface="Courier New"/>
              </a:rPr>
              <a:t>\c</a:t>
            </a:r>
            <a:r>
              <a:rPr lang="en-US" sz="800" spc="-10" noProof="1">
                <a:latin typeface="Courier New"/>
                <a:cs typeface="Courier New"/>
              </a:rPr>
              <a:t>ustom_folder</a:t>
            </a:r>
            <a:endParaRPr lang="en-US" sz="800" noProof="1">
              <a:latin typeface="Courier New"/>
              <a:cs typeface="Courier New"/>
            </a:endParaRPr>
          </a:p>
          <a:p>
            <a:pPr marL="210185">
              <a:lnSpc>
                <a:spcPct val="100000"/>
              </a:lnSpc>
              <a:spcBef>
                <a:spcPts val="70"/>
              </a:spcBef>
            </a:pPr>
            <a:r>
              <a:rPr lang="en-US" sz="800" spc="-55" noProof="1">
                <a:latin typeface="Courier New"/>
                <a:cs typeface="Courier New"/>
              </a:rPr>
              <a:t>copy</a:t>
            </a:r>
            <a:r>
              <a:rPr lang="en-US" sz="800" spc="-45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pki</a:t>
            </a:r>
            <a:r>
              <a:rPr lang="en-US" sz="800" spc="-55" noProof="1">
                <a:solidFill>
                  <a:srgbClr val="8E2100"/>
                </a:solidFill>
                <a:latin typeface="Courier New"/>
                <a:cs typeface="Courier New"/>
              </a:rPr>
              <a:t>\c</a:t>
            </a:r>
            <a:r>
              <a:rPr lang="en-US" sz="800" spc="-55" noProof="1">
                <a:latin typeface="Courier New"/>
                <a:cs typeface="Courier New"/>
              </a:rPr>
              <a:t>a.crt</a:t>
            </a:r>
            <a:r>
              <a:rPr lang="en-US" sz="800" spc="-40" noProof="1"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C:</a:t>
            </a:r>
            <a:r>
              <a:rPr lang="en-US" sz="800" spc="-10" noProof="1">
                <a:solidFill>
                  <a:srgbClr val="8E2100"/>
                </a:solidFill>
                <a:latin typeface="Courier New"/>
                <a:cs typeface="Courier New"/>
              </a:rPr>
              <a:t>\c</a:t>
            </a:r>
            <a:r>
              <a:rPr lang="en-US" sz="800" spc="-10" noProof="1">
                <a:latin typeface="Courier New"/>
                <a:cs typeface="Courier New"/>
              </a:rPr>
              <a:t>ustom_folder</a:t>
            </a:r>
            <a:endParaRPr lang="en-US" sz="800" noProof="1">
              <a:latin typeface="Courier New"/>
              <a:cs typeface="Courier New"/>
            </a:endParaRPr>
          </a:p>
          <a:p>
            <a:pPr marL="210185" marR="2382520">
              <a:lnSpc>
                <a:spcPct val="107400"/>
              </a:lnSpc>
            </a:pPr>
            <a:r>
              <a:rPr lang="en-US" sz="800" spc="-55" noProof="1">
                <a:latin typeface="Courier New"/>
                <a:cs typeface="Courier New"/>
              </a:rPr>
              <a:t>copy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pki</a:t>
            </a:r>
            <a:r>
              <a:rPr lang="en-US" sz="800" spc="-55" noProof="1">
                <a:solidFill>
                  <a:srgbClr val="8E2100"/>
                </a:solidFill>
                <a:latin typeface="Courier New"/>
                <a:cs typeface="Courier New"/>
              </a:rPr>
              <a:t>\i</a:t>
            </a:r>
            <a:r>
              <a:rPr lang="en-US" sz="800" spc="-55" noProof="1">
                <a:latin typeface="Courier New"/>
                <a:cs typeface="Courier New"/>
              </a:rPr>
              <a:t>ssued</a:t>
            </a:r>
            <a:r>
              <a:rPr lang="en-US" sz="800" spc="-55" noProof="1">
                <a:solidFill>
                  <a:srgbClr val="8E2100"/>
                </a:solidFill>
                <a:latin typeface="Courier New"/>
                <a:cs typeface="Courier New"/>
              </a:rPr>
              <a:t>\s</a:t>
            </a:r>
            <a:r>
              <a:rPr lang="en-US" sz="800" spc="-55" noProof="1">
                <a:latin typeface="Courier New"/>
                <a:cs typeface="Courier New"/>
              </a:rPr>
              <a:t>erver.crt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spc="-35" noProof="1">
                <a:latin typeface="Courier New"/>
                <a:cs typeface="Courier New"/>
              </a:rPr>
              <a:t>C:</a:t>
            </a:r>
            <a:r>
              <a:rPr lang="en-US" sz="800" spc="-35" noProof="1">
                <a:solidFill>
                  <a:srgbClr val="8E2100"/>
                </a:solidFill>
                <a:latin typeface="Courier New"/>
                <a:cs typeface="Courier New"/>
              </a:rPr>
              <a:t>\c</a:t>
            </a:r>
            <a:r>
              <a:rPr lang="en-US" sz="800" spc="-35" noProof="1">
                <a:latin typeface="Courier New"/>
                <a:cs typeface="Courier New"/>
              </a:rPr>
              <a:t>ustom_folder </a:t>
            </a:r>
            <a:r>
              <a:rPr lang="en-US" sz="800" spc="-55" noProof="1">
                <a:latin typeface="Courier New"/>
                <a:cs typeface="Courier New"/>
              </a:rPr>
              <a:t>copy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pki</a:t>
            </a:r>
            <a:r>
              <a:rPr lang="en-US" sz="800" spc="-55" noProof="1">
                <a:solidFill>
                  <a:srgbClr val="8E2100"/>
                </a:solidFill>
                <a:latin typeface="Courier New"/>
                <a:cs typeface="Courier New"/>
              </a:rPr>
              <a:t>\p</a:t>
            </a:r>
            <a:r>
              <a:rPr lang="en-US" sz="800" spc="-55" noProof="1">
                <a:latin typeface="Courier New"/>
                <a:cs typeface="Courier New"/>
              </a:rPr>
              <a:t>rivate</a:t>
            </a:r>
            <a:r>
              <a:rPr lang="en-US" sz="800" spc="-55" noProof="1">
                <a:solidFill>
                  <a:srgbClr val="8E2100"/>
                </a:solidFill>
                <a:latin typeface="Courier New"/>
                <a:cs typeface="Courier New"/>
              </a:rPr>
              <a:t>\s</a:t>
            </a:r>
            <a:r>
              <a:rPr lang="en-US" sz="800" spc="-55" noProof="1">
                <a:latin typeface="Courier New"/>
                <a:cs typeface="Courier New"/>
              </a:rPr>
              <a:t>erver.key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C:</a:t>
            </a:r>
            <a:r>
              <a:rPr lang="en-US" sz="800" spc="-60" noProof="1">
                <a:solidFill>
                  <a:srgbClr val="8E2100"/>
                </a:solidFill>
                <a:latin typeface="Courier New"/>
                <a:cs typeface="Courier New"/>
              </a:rPr>
              <a:t>\c</a:t>
            </a:r>
            <a:r>
              <a:rPr lang="en-US" sz="800" spc="-60" noProof="1">
                <a:latin typeface="Courier New"/>
                <a:cs typeface="Courier New"/>
              </a:rPr>
              <a:t>ustom_folder</a:t>
            </a:r>
            <a:endParaRPr lang="en-US" sz="800" noProof="1">
              <a:latin typeface="Courier New"/>
              <a:cs typeface="Courier New"/>
            </a:endParaRPr>
          </a:p>
          <a:p>
            <a:pPr marL="210185" marR="1737360">
              <a:lnSpc>
                <a:spcPct val="107400"/>
              </a:lnSpc>
            </a:pPr>
            <a:r>
              <a:rPr lang="en-US" sz="800" spc="-55" noProof="1">
                <a:latin typeface="Courier New"/>
                <a:cs typeface="Courier New"/>
              </a:rPr>
              <a:t>copy</a:t>
            </a:r>
            <a:r>
              <a:rPr lang="en-US" sz="800" spc="7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pki</a:t>
            </a:r>
            <a:r>
              <a:rPr lang="en-US" sz="800" spc="-60" noProof="1">
                <a:solidFill>
                  <a:srgbClr val="8E2100"/>
                </a:solidFill>
                <a:latin typeface="Courier New"/>
                <a:cs typeface="Courier New"/>
              </a:rPr>
              <a:t>\i</a:t>
            </a:r>
            <a:r>
              <a:rPr lang="en-US" sz="800" spc="-60" noProof="1">
                <a:latin typeface="Courier New"/>
                <a:cs typeface="Courier New"/>
              </a:rPr>
              <a:t>ssued</a:t>
            </a:r>
            <a:r>
              <a:rPr lang="en-US" sz="800" spc="-60" noProof="1">
                <a:solidFill>
                  <a:srgbClr val="8E2100"/>
                </a:solidFill>
                <a:latin typeface="Courier New"/>
                <a:cs typeface="Courier New"/>
              </a:rPr>
              <a:t>\c</a:t>
            </a:r>
            <a:r>
              <a:rPr lang="en-US" sz="800" spc="-60" noProof="1">
                <a:latin typeface="Courier New"/>
                <a:cs typeface="Courier New"/>
              </a:rPr>
              <a:t>lient1.domain.tld.crt</a:t>
            </a:r>
            <a:r>
              <a:rPr lang="en-US" sz="800" spc="70" noProof="1">
                <a:latin typeface="Courier New"/>
                <a:cs typeface="Courier New"/>
              </a:rPr>
              <a:t> </a:t>
            </a:r>
            <a:r>
              <a:rPr lang="en-US" sz="800" spc="-30" noProof="1">
                <a:latin typeface="Courier New"/>
                <a:cs typeface="Courier New"/>
              </a:rPr>
              <a:t>C:</a:t>
            </a:r>
            <a:r>
              <a:rPr lang="en-US" sz="800" spc="-30" noProof="1">
                <a:solidFill>
                  <a:srgbClr val="8E2100"/>
                </a:solidFill>
                <a:latin typeface="Courier New"/>
                <a:cs typeface="Courier New"/>
              </a:rPr>
              <a:t>\c</a:t>
            </a:r>
            <a:r>
              <a:rPr lang="en-US" sz="800" spc="-30" noProof="1">
                <a:latin typeface="Courier New"/>
                <a:cs typeface="Courier New"/>
              </a:rPr>
              <a:t>ustom_folder </a:t>
            </a:r>
            <a:r>
              <a:rPr lang="en-US" sz="800" spc="-55" noProof="1">
                <a:latin typeface="Courier New"/>
                <a:cs typeface="Courier New"/>
              </a:rPr>
              <a:t>copy</a:t>
            </a:r>
            <a:r>
              <a:rPr lang="en-US" sz="800" spc="7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pki</a:t>
            </a:r>
            <a:r>
              <a:rPr lang="en-US" sz="800" spc="-60" noProof="1">
                <a:solidFill>
                  <a:srgbClr val="8E2100"/>
                </a:solidFill>
                <a:latin typeface="Courier New"/>
                <a:cs typeface="Courier New"/>
              </a:rPr>
              <a:t>\p</a:t>
            </a:r>
            <a:r>
              <a:rPr lang="en-US" sz="800" spc="-60" noProof="1">
                <a:latin typeface="Courier New"/>
                <a:cs typeface="Courier New"/>
              </a:rPr>
              <a:t>rivate</a:t>
            </a:r>
            <a:r>
              <a:rPr lang="en-US" sz="800" spc="-60" noProof="1">
                <a:solidFill>
                  <a:srgbClr val="8E2100"/>
                </a:solidFill>
                <a:latin typeface="Courier New"/>
                <a:cs typeface="Courier New"/>
              </a:rPr>
              <a:t>\c</a:t>
            </a:r>
            <a:r>
              <a:rPr lang="en-US" sz="800" spc="-60" noProof="1">
                <a:latin typeface="Courier New"/>
                <a:cs typeface="Courier New"/>
              </a:rPr>
              <a:t>lient1.domain.tld.key</a:t>
            </a:r>
            <a:r>
              <a:rPr lang="en-US" sz="800" spc="7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C:</a:t>
            </a:r>
            <a:r>
              <a:rPr lang="en-US" sz="800" spc="-60" noProof="1">
                <a:solidFill>
                  <a:srgbClr val="8E2100"/>
                </a:solidFill>
                <a:latin typeface="Courier New"/>
                <a:cs typeface="Courier New"/>
              </a:rPr>
              <a:t>\c</a:t>
            </a:r>
            <a:r>
              <a:rPr lang="en-US" sz="800" spc="-60" noProof="1">
                <a:latin typeface="Courier New"/>
                <a:cs typeface="Courier New"/>
              </a:rPr>
              <a:t>ustom_folder </a:t>
            </a:r>
            <a:r>
              <a:rPr lang="en-US" sz="800" spc="-50" noProof="1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lang="en-US" sz="800" spc="-65" noProof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C:</a:t>
            </a:r>
            <a:r>
              <a:rPr lang="en-US" sz="800" spc="-10" noProof="1">
                <a:solidFill>
                  <a:srgbClr val="8E2100"/>
                </a:solidFill>
                <a:latin typeface="Courier New"/>
                <a:cs typeface="Courier New"/>
              </a:rPr>
              <a:t>\c</a:t>
            </a:r>
            <a:r>
              <a:rPr lang="en-US" sz="800" spc="-10" noProof="1">
                <a:latin typeface="Courier New"/>
                <a:cs typeface="Courier New"/>
              </a:rPr>
              <a:t>ustom_folder</a:t>
            </a:r>
            <a:endParaRPr lang="en-US" sz="800" noProof="1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4404995" cy="5080"/>
            </a:xfrm>
            <a:custGeom>
              <a:avLst/>
              <a:gdLst/>
              <a:ahLst/>
              <a:cxnLst/>
              <a:rect l="l" t="t" r="r" b="b"/>
              <a:pathLst>
                <a:path w="4404995" h="5080">
                  <a:moveTo>
                    <a:pt x="0" y="5060"/>
                  </a:moveTo>
                  <a:lnTo>
                    <a:pt x="0" y="0"/>
                  </a:lnTo>
                  <a:lnTo>
                    <a:pt x="4404783" y="0"/>
                  </a:lnTo>
                  <a:lnTo>
                    <a:pt x="440478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0" noProof="1"/>
              <a:t>Generate</a:t>
            </a:r>
            <a:r>
              <a:rPr lang="en-US" spc="-5" noProof="1"/>
              <a:t> </a:t>
            </a:r>
            <a:r>
              <a:rPr lang="en-US" spc="-10" noProof="1"/>
              <a:t>client</a:t>
            </a:r>
            <a:r>
              <a:rPr lang="en-US" spc="-5" noProof="1"/>
              <a:t> </a:t>
            </a:r>
            <a:r>
              <a:rPr lang="en-US" spc="-10" noProof="1"/>
              <a:t>and</a:t>
            </a:r>
            <a:r>
              <a:rPr lang="en-US" noProof="1"/>
              <a:t> </a:t>
            </a:r>
            <a:r>
              <a:rPr lang="en-US" spc="-35" noProof="1"/>
              <a:t>server</a:t>
            </a:r>
            <a:r>
              <a:rPr lang="en-US" spc="-5" noProof="1"/>
              <a:t> </a:t>
            </a:r>
            <a:r>
              <a:rPr lang="en-US" spc="-20" noProof="1"/>
              <a:t>certificates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249180" y="1048098"/>
            <a:ext cx="264795" cy="120650"/>
            <a:chOff x="3249180" y="1048098"/>
            <a:chExt cx="264795" cy="120650"/>
          </a:xfrm>
        </p:grpSpPr>
        <p:sp>
          <p:nvSpPr>
            <p:cNvPr id="4" name="object 4"/>
            <p:cNvSpPr/>
            <p:nvPr/>
          </p:nvSpPr>
          <p:spPr>
            <a:xfrm>
              <a:off x="3249180" y="1048098"/>
              <a:ext cx="264795" cy="120650"/>
            </a:xfrm>
            <a:custGeom>
              <a:avLst/>
              <a:gdLst/>
              <a:ahLst/>
              <a:cxnLst/>
              <a:rect l="l" t="t" r="r" b="b"/>
              <a:pathLst>
                <a:path w="264795" h="12065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301"/>
                  </a:lnTo>
                  <a:lnTo>
                    <a:pt x="2829" y="98314"/>
                  </a:lnTo>
                  <a:lnTo>
                    <a:pt x="10544" y="109757"/>
                  </a:lnTo>
                  <a:lnTo>
                    <a:pt x="21987" y="117472"/>
                  </a:lnTo>
                  <a:lnTo>
                    <a:pt x="36000" y="120301"/>
                  </a:lnTo>
                  <a:lnTo>
                    <a:pt x="228441" y="120301"/>
                  </a:lnTo>
                  <a:lnTo>
                    <a:pt x="242454" y="117472"/>
                  </a:lnTo>
                  <a:lnTo>
                    <a:pt x="253897" y="109757"/>
                  </a:lnTo>
                  <a:lnTo>
                    <a:pt x="261612" y="98314"/>
                  </a:lnTo>
                  <a:lnTo>
                    <a:pt x="264441" y="84301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249180" y="1048098"/>
              <a:ext cx="264795" cy="120650"/>
            </a:xfrm>
            <a:custGeom>
              <a:avLst/>
              <a:gdLst/>
              <a:ahLst/>
              <a:cxnLst/>
              <a:rect l="l" t="t" r="r" b="b"/>
              <a:pathLst>
                <a:path w="264795" h="120650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301"/>
                  </a:lnTo>
                  <a:lnTo>
                    <a:pt x="2829" y="98314"/>
                  </a:lnTo>
                  <a:lnTo>
                    <a:pt x="10544" y="109757"/>
                  </a:lnTo>
                  <a:lnTo>
                    <a:pt x="21987" y="117472"/>
                  </a:lnTo>
                  <a:lnTo>
                    <a:pt x="36000" y="120301"/>
                  </a:lnTo>
                  <a:lnTo>
                    <a:pt x="228441" y="120301"/>
                  </a:lnTo>
                  <a:lnTo>
                    <a:pt x="242454" y="117472"/>
                  </a:lnTo>
                  <a:lnTo>
                    <a:pt x="253897" y="109757"/>
                  </a:lnTo>
                  <a:lnTo>
                    <a:pt x="261612" y="98314"/>
                  </a:lnTo>
                  <a:lnTo>
                    <a:pt x="264441" y="84301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03276" y="1241425"/>
            <a:ext cx="5070423" cy="1280160"/>
            <a:chOff x="372646" y="1259926"/>
            <a:chExt cx="5015230" cy="1096645"/>
          </a:xfrm>
        </p:grpSpPr>
        <p:sp>
          <p:nvSpPr>
            <p:cNvPr id="7" name="object 7"/>
            <p:cNvSpPr/>
            <p:nvPr/>
          </p:nvSpPr>
          <p:spPr>
            <a:xfrm>
              <a:off x="377994" y="1265273"/>
              <a:ext cx="5004435" cy="1085850"/>
            </a:xfrm>
            <a:custGeom>
              <a:avLst/>
              <a:gdLst/>
              <a:ahLst/>
              <a:cxnLst/>
              <a:rect l="l" t="t" r="r" b="b"/>
              <a:pathLst>
                <a:path w="5004435" h="1085850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49441"/>
                  </a:lnTo>
                  <a:lnTo>
                    <a:pt x="2829" y="1063454"/>
                  </a:lnTo>
                  <a:lnTo>
                    <a:pt x="10544" y="1074897"/>
                  </a:lnTo>
                  <a:lnTo>
                    <a:pt x="21987" y="1082612"/>
                  </a:lnTo>
                  <a:lnTo>
                    <a:pt x="36000" y="1085441"/>
                  </a:lnTo>
                  <a:lnTo>
                    <a:pt x="4968064" y="1085441"/>
                  </a:lnTo>
                  <a:lnTo>
                    <a:pt x="4982077" y="1082612"/>
                  </a:lnTo>
                  <a:lnTo>
                    <a:pt x="4993521" y="1074897"/>
                  </a:lnTo>
                  <a:lnTo>
                    <a:pt x="5001236" y="1063454"/>
                  </a:lnTo>
                  <a:lnTo>
                    <a:pt x="5004065" y="1049441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378973" y="1266252"/>
              <a:ext cx="5002530" cy="1083945"/>
            </a:xfrm>
            <a:custGeom>
              <a:avLst/>
              <a:gdLst/>
              <a:ahLst/>
              <a:cxnLst/>
              <a:rect l="l" t="t" r="r" b="b"/>
              <a:pathLst>
                <a:path w="5002530" h="1083945">
                  <a:moveTo>
                    <a:pt x="0" y="1048462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1048462"/>
                  </a:lnTo>
                  <a:lnTo>
                    <a:pt x="4999354" y="1062094"/>
                  </a:lnTo>
                  <a:lnTo>
                    <a:pt x="4991849" y="1073225"/>
                  </a:lnTo>
                  <a:lnTo>
                    <a:pt x="4980717" y="1080731"/>
                  </a:lnTo>
                  <a:lnTo>
                    <a:pt x="4967085" y="1083483"/>
                  </a:lnTo>
                  <a:lnTo>
                    <a:pt x="35021" y="1083483"/>
                  </a:lnTo>
                  <a:lnTo>
                    <a:pt x="21389" y="1080731"/>
                  </a:lnTo>
                  <a:lnTo>
                    <a:pt x="10257" y="1073225"/>
                  </a:lnTo>
                  <a:lnTo>
                    <a:pt x="2752" y="1062094"/>
                  </a:lnTo>
                  <a:lnTo>
                    <a:pt x="0" y="1048462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7293" y="1015956"/>
            <a:ext cx="3542817" cy="13790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those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MacOS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Linux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(you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don’t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type</a:t>
            </a:r>
            <a:r>
              <a:rPr lang="en-US" sz="900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latin typeface="Courier New"/>
                <a:cs typeface="Courier New"/>
              </a:rPr>
              <a:t>exit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):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0185"/>
            <a:r>
              <a:rPr lang="en-US" sz="800" spc="-60" noProof="1">
                <a:solidFill>
                  <a:srgbClr val="05287C"/>
                </a:solidFill>
                <a:latin typeface="Courier New"/>
                <a:cs typeface="Courier New"/>
              </a:rPr>
              <a:t>$ cd </a:t>
            </a:r>
            <a:r>
              <a:rPr lang="es-ES" sz="800" dirty="0"/>
              <a:t>easyrsa3</a:t>
            </a:r>
            <a:r>
              <a:rPr lang="en-US" sz="800" spc="-25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</a:p>
          <a:p>
            <a:pPr marL="210185">
              <a:lnSpc>
                <a:spcPct val="100000"/>
              </a:lnSpc>
            </a:pPr>
            <a:r>
              <a:rPr lang="en-US" sz="800" spc="-60" noProof="1">
                <a:solidFill>
                  <a:srgbClr val="05287C"/>
                </a:solidFill>
                <a:latin typeface="Courier New"/>
                <a:cs typeface="Courier New"/>
              </a:rPr>
              <a:t>$ mkdir</a:t>
            </a:r>
            <a:r>
              <a:rPr lang="en-US" sz="800" spc="-25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~/custom_folder/</a:t>
            </a:r>
            <a:endParaRPr lang="en-US" sz="800" noProof="1">
              <a:latin typeface="Courier New"/>
              <a:cs typeface="Courier New"/>
            </a:endParaRPr>
          </a:p>
          <a:p>
            <a:pPr marL="210185">
              <a:lnSpc>
                <a:spcPct val="100000"/>
              </a:lnSpc>
              <a:spcBef>
                <a:spcPts val="70"/>
              </a:spcBef>
            </a:pPr>
            <a:r>
              <a:rPr lang="en-US" sz="800" spc="-50" noProof="1">
                <a:solidFill>
                  <a:srgbClr val="05287C"/>
                </a:solidFill>
                <a:latin typeface="Courier New"/>
                <a:cs typeface="Courier New"/>
              </a:rPr>
              <a:t>$ cp </a:t>
            </a:r>
            <a:r>
              <a:rPr lang="en-US" sz="800" spc="-55" noProof="1">
                <a:latin typeface="Courier New"/>
                <a:cs typeface="Courier New"/>
              </a:rPr>
              <a:t>pki/ca.crt</a:t>
            </a:r>
            <a:r>
              <a:rPr lang="en-US" sz="800" spc="-50" noProof="1"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~/custom_folder/</a:t>
            </a:r>
            <a:endParaRPr lang="en-US" sz="800" noProof="1">
              <a:latin typeface="Courier New"/>
              <a:cs typeface="Courier New"/>
            </a:endParaRPr>
          </a:p>
          <a:p>
            <a:pPr marL="210185" marR="781050">
              <a:lnSpc>
                <a:spcPct val="107400"/>
              </a:lnSpc>
            </a:pPr>
            <a:r>
              <a:rPr lang="en-US" sz="800" spc="-50" noProof="1">
                <a:solidFill>
                  <a:srgbClr val="05287C"/>
                </a:solidFill>
                <a:latin typeface="Courier New"/>
                <a:cs typeface="Courier New"/>
              </a:rPr>
              <a:t>$ cp</a:t>
            </a:r>
            <a:r>
              <a:rPr lang="en-US" sz="800" spc="-35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pki/issued/server.crt</a:t>
            </a:r>
            <a:r>
              <a:rPr lang="en-US" sz="800" spc="-35" noProof="1">
                <a:latin typeface="Courier New"/>
                <a:cs typeface="Courier New"/>
              </a:rPr>
              <a:t> ~/custom_folder/ </a:t>
            </a:r>
          </a:p>
          <a:p>
            <a:pPr marL="210185" marR="781050">
              <a:lnSpc>
                <a:spcPct val="107400"/>
              </a:lnSpc>
            </a:pPr>
            <a:r>
              <a:rPr lang="en-US" sz="800" spc="-35" noProof="1">
                <a:solidFill>
                  <a:srgbClr val="05287C"/>
                </a:solidFill>
                <a:latin typeface="Courier New"/>
                <a:cs typeface="Courier New"/>
              </a:rPr>
              <a:t>$ </a:t>
            </a:r>
            <a:r>
              <a:rPr lang="en-US" sz="800" spc="-50" noProof="1">
                <a:solidFill>
                  <a:srgbClr val="05287C"/>
                </a:solidFill>
                <a:latin typeface="Courier New"/>
                <a:cs typeface="Courier New"/>
              </a:rPr>
              <a:t>cp</a:t>
            </a:r>
            <a:r>
              <a:rPr lang="en-US" sz="800" spc="-35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pki/private/server.key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~/custom_folder/</a:t>
            </a:r>
            <a:endParaRPr lang="en-US" sz="800" noProof="1">
              <a:latin typeface="Courier New"/>
              <a:cs typeface="Courier New"/>
            </a:endParaRPr>
          </a:p>
          <a:p>
            <a:pPr marL="210185" marR="135890">
              <a:lnSpc>
                <a:spcPct val="107400"/>
              </a:lnSpc>
            </a:pPr>
            <a:r>
              <a:rPr lang="en-US" sz="800" spc="-50" noProof="1">
                <a:solidFill>
                  <a:srgbClr val="05287C"/>
                </a:solidFill>
                <a:latin typeface="Courier New"/>
                <a:cs typeface="Courier New"/>
              </a:rPr>
              <a:t>$ cp</a:t>
            </a:r>
            <a:r>
              <a:rPr lang="en-US" sz="800" spc="65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pki/issued/client1.domain.tld.crt</a:t>
            </a:r>
            <a:r>
              <a:rPr lang="en-US" sz="800" spc="65" noProof="1"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~/custom_folder </a:t>
            </a:r>
          </a:p>
          <a:p>
            <a:pPr marL="210185" marR="135890">
              <a:lnSpc>
                <a:spcPct val="107400"/>
              </a:lnSpc>
            </a:pPr>
            <a:r>
              <a:rPr lang="en-US" sz="800" spc="-50" noProof="1">
                <a:solidFill>
                  <a:srgbClr val="05287C"/>
                </a:solidFill>
                <a:latin typeface="Courier New"/>
                <a:cs typeface="Courier New"/>
              </a:rPr>
              <a:t>$ cp</a:t>
            </a:r>
            <a:r>
              <a:rPr lang="en-US" sz="800" spc="65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pki/private/client1.domain.tld.key</a:t>
            </a:r>
            <a:r>
              <a:rPr lang="en-US" sz="800" spc="7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~/custom_folder/ </a:t>
            </a:r>
          </a:p>
          <a:p>
            <a:pPr marL="210185" marR="135890">
              <a:lnSpc>
                <a:spcPct val="107400"/>
              </a:lnSpc>
            </a:pPr>
            <a:r>
              <a:rPr lang="en-US" sz="800" spc="-60" noProof="1">
                <a:solidFill>
                  <a:srgbClr val="007F00"/>
                </a:solidFill>
                <a:latin typeface="Courier New"/>
                <a:cs typeface="Courier New"/>
              </a:rPr>
              <a:t>$ </a:t>
            </a:r>
            <a:r>
              <a:rPr lang="en-US" sz="800" spc="-50" noProof="1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lang="en-US" sz="800" spc="-65" noProof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~/custom_folder/</a:t>
            </a:r>
            <a:endParaRPr lang="en-US" sz="800" noProof="1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4453255" cy="5080"/>
            </a:xfrm>
            <a:custGeom>
              <a:avLst/>
              <a:gdLst/>
              <a:ahLst/>
              <a:cxnLst/>
              <a:rect l="l" t="t" r="r" b="b"/>
              <a:pathLst>
                <a:path w="4453255" h="5080">
                  <a:moveTo>
                    <a:pt x="0" y="5060"/>
                  </a:moveTo>
                  <a:lnTo>
                    <a:pt x="0" y="0"/>
                  </a:lnTo>
                  <a:lnTo>
                    <a:pt x="4453123" y="0"/>
                  </a:lnTo>
                  <a:lnTo>
                    <a:pt x="445312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Import</a:t>
            </a:r>
            <a:r>
              <a:rPr lang="en-US" spc="55" noProof="1"/>
              <a:t> </a:t>
            </a:r>
            <a:r>
              <a:rPr lang="en-US" noProof="1"/>
              <a:t>the</a:t>
            </a:r>
            <a:r>
              <a:rPr lang="en-US" spc="60" noProof="1"/>
              <a:t> </a:t>
            </a:r>
            <a:r>
              <a:rPr lang="en-US" spc="-25" noProof="1"/>
              <a:t>certificates</a:t>
            </a:r>
            <a:r>
              <a:rPr lang="en-US" spc="60" noProof="1"/>
              <a:t> </a:t>
            </a:r>
            <a:r>
              <a:rPr lang="en-US" noProof="1"/>
              <a:t>to</a:t>
            </a:r>
            <a:r>
              <a:rPr lang="en-US" spc="60" noProof="1"/>
              <a:t> </a:t>
            </a:r>
            <a:r>
              <a:rPr lang="en-US" spc="-25" noProof="1"/>
              <a:t>AWS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260338"/>
            <a:ext cx="5015230" cy="582295"/>
            <a:chOff x="372646" y="1260338"/>
            <a:chExt cx="5015230" cy="582295"/>
          </a:xfrm>
        </p:grpSpPr>
        <p:sp>
          <p:nvSpPr>
            <p:cNvPr id="4" name="object 4"/>
            <p:cNvSpPr/>
            <p:nvPr/>
          </p:nvSpPr>
          <p:spPr>
            <a:xfrm>
              <a:off x="377994" y="1265685"/>
              <a:ext cx="5004435" cy="571500"/>
            </a:xfrm>
            <a:custGeom>
              <a:avLst/>
              <a:gdLst/>
              <a:ahLst/>
              <a:cxnLst/>
              <a:rect l="l" t="t" r="r" b="b"/>
              <a:pathLst>
                <a:path w="5004435" h="571500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535237"/>
                  </a:lnTo>
                  <a:lnTo>
                    <a:pt x="2829" y="549250"/>
                  </a:lnTo>
                  <a:lnTo>
                    <a:pt x="10544" y="560694"/>
                  </a:lnTo>
                  <a:lnTo>
                    <a:pt x="21987" y="568409"/>
                  </a:lnTo>
                  <a:lnTo>
                    <a:pt x="36000" y="571238"/>
                  </a:lnTo>
                  <a:lnTo>
                    <a:pt x="4968064" y="571238"/>
                  </a:lnTo>
                  <a:lnTo>
                    <a:pt x="4982077" y="568409"/>
                  </a:lnTo>
                  <a:lnTo>
                    <a:pt x="4993521" y="560694"/>
                  </a:lnTo>
                  <a:lnTo>
                    <a:pt x="5001236" y="549250"/>
                  </a:lnTo>
                  <a:lnTo>
                    <a:pt x="5004065" y="535237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266664"/>
              <a:ext cx="5002530" cy="569595"/>
            </a:xfrm>
            <a:custGeom>
              <a:avLst/>
              <a:gdLst/>
              <a:ahLst/>
              <a:cxnLst/>
              <a:rect l="l" t="t" r="r" b="b"/>
              <a:pathLst>
                <a:path w="5002530" h="569594">
                  <a:moveTo>
                    <a:pt x="0" y="534258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534258"/>
                  </a:lnTo>
                  <a:lnTo>
                    <a:pt x="4999354" y="547890"/>
                  </a:lnTo>
                  <a:lnTo>
                    <a:pt x="4991849" y="559022"/>
                  </a:lnTo>
                  <a:lnTo>
                    <a:pt x="4980717" y="566527"/>
                  </a:lnTo>
                  <a:lnTo>
                    <a:pt x="4967085" y="569279"/>
                  </a:lnTo>
                  <a:lnTo>
                    <a:pt x="35021" y="569279"/>
                  </a:lnTo>
                  <a:lnTo>
                    <a:pt x="21389" y="566527"/>
                  </a:lnTo>
                  <a:lnTo>
                    <a:pt x="10257" y="559022"/>
                  </a:lnTo>
                  <a:lnTo>
                    <a:pt x="2752" y="547890"/>
                  </a:lnTo>
                  <a:lnTo>
                    <a:pt x="0" y="534258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72646" y="1933044"/>
            <a:ext cx="5015230" cy="582295"/>
            <a:chOff x="372646" y="1933044"/>
            <a:chExt cx="5015230" cy="582295"/>
          </a:xfrm>
        </p:grpSpPr>
        <p:sp>
          <p:nvSpPr>
            <p:cNvPr id="7" name="object 7"/>
            <p:cNvSpPr/>
            <p:nvPr/>
          </p:nvSpPr>
          <p:spPr>
            <a:xfrm>
              <a:off x="377994" y="1938392"/>
              <a:ext cx="5004435" cy="571500"/>
            </a:xfrm>
            <a:custGeom>
              <a:avLst/>
              <a:gdLst/>
              <a:ahLst/>
              <a:cxnLst/>
              <a:rect l="l" t="t" r="r" b="b"/>
              <a:pathLst>
                <a:path w="5004435" h="571500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535237"/>
                  </a:lnTo>
                  <a:lnTo>
                    <a:pt x="2829" y="549250"/>
                  </a:lnTo>
                  <a:lnTo>
                    <a:pt x="10544" y="560694"/>
                  </a:lnTo>
                  <a:lnTo>
                    <a:pt x="21987" y="568409"/>
                  </a:lnTo>
                  <a:lnTo>
                    <a:pt x="36000" y="571238"/>
                  </a:lnTo>
                  <a:lnTo>
                    <a:pt x="4968064" y="571238"/>
                  </a:lnTo>
                  <a:lnTo>
                    <a:pt x="4982077" y="568409"/>
                  </a:lnTo>
                  <a:lnTo>
                    <a:pt x="4993521" y="560694"/>
                  </a:lnTo>
                  <a:lnTo>
                    <a:pt x="5001236" y="549250"/>
                  </a:lnTo>
                  <a:lnTo>
                    <a:pt x="5004065" y="535237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378973" y="1939371"/>
              <a:ext cx="5002530" cy="569595"/>
            </a:xfrm>
            <a:custGeom>
              <a:avLst/>
              <a:gdLst/>
              <a:ahLst/>
              <a:cxnLst/>
              <a:rect l="l" t="t" r="r" b="b"/>
              <a:pathLst>
                <a:path w="5002530" h="569594">
                  <a:moveTo>
                    <a:pt x="0" y="534258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534258"/>
                  </a:lnTo>
                  <a:lnTo>
                    <a:pt x="4999354" y="547890"/>
                  </a:lnTo>
                  <a:lnTo>
                    <a:pt x="4991849" y="559022"/>
                  </a:lnTo>
                  <a:lnTo>
                    <a:pt x="4980717" y="566527"/>
                  </a:lnTo>
                  <a:lnTo>
                    <a:pt x="4967085" y="569279"/>
                  </a:lnTo>
                  <a:lnTo>
                    <a:pt x="35021" y="569279"/>
                  </a:lnTo>
                  <a:lnTo>
                    <a:pt x="21389" y="566527"/>
                  </a:lnTo>
                  <a:lnTo>
                    <a:pt x="10257" y="559022"/>
                  </a:lnTo>
                  <a:lnTo>
                    <a:pt x="2752" y="547890"/>
                  </a:lnTo>
                  <a:lnTo>
                    <a:pt x="0" y="534258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7294" y="834368"/>
            <a:ext cx="4961255" cy="16242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import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certificates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AWS.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We’ll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CLI,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remember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update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.aws/credentials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6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secret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0185">
              <a:lnSpc>
                <a:spcPct val="100000"/>
              </a:lnSpc>
            </a:pPr>
            <a:r>
              <a:rPr lang="en-US" sz="800" spc="-50" noProof="1">
                <a:latin typeface="Courier New"/>
                <a:cs typeface="Courier New"/>
              </a:rPr>
              <a:t>$ aws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acm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import-</a:t>
            </a:r>
            <a:r>
              <a:rPr lang="en-US" sz="800" spc="-55" noProof="1">
                <a:latin typeface="Courier New"/>
                <a:cs typeface="Courier New"/>
              </a:rPr>
              <a:t>certificate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lang="en-US" sz="800" spc="-55" noProof="1">
                <a:solidFill>
                  <a:srgbClr val="7C8E28"/>
                </a:solidFill>
                <a:latin typeface="Courier New"/>
                <a:cs typeface="Courier New"/>
              </a:rPr>
              <a:t>certificate</a:t>
            </a:r>
            <a:r>
              <a:rPr lang="en-US" sz="800" spc="-25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fileb://server.crt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spc="-50" noProof="1">
                <a:solidFill>
                  <a:srgbClr val="8E2100"/>
                </a:solidFill>
                <a:latin typeface="Courier New"/>
                <a:cs typeface="Courier New"/>
              </a:rPr>
              <a:t>\</a:t>
            </a:r>
            <a:endParaRPr lang="en-US" sz="800" noProof="1">
              <a:latin typeface="Courier New"/>
              <a:cs typeface="Courier New"/>
            </a:endParaRPr>
          </a:p>
          <a:p>
            <a:pPr marL="425450">
              <a:lnSpc>
                <a:spcPct val="100000"/>
              </a:lnSpc>
              <a:spcBef>
                <a:spcPts val="70"/>
              </a:spcBef>
            </a:pP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--private-</a:t>
            </a:r>
            <a:r>
              <a:rPr lang="en-US" sz="800" spc="-50" noProof="1">
                <a:solidFill>
                  <a:srgbClr val="7C8E28"/>
                </a:solidFill>
                <a:latin typeface="Courier New"/>
                <a:cs typeface="Courier New"/>
              </a:rPr>
              <a:t>key</a:t>
            </a:r>
            <a:r>
              <a:rPr lang="en-US" sz="800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fileb://server.key</a:t>
            </a:r>
            <a:r>
              <a:rPr lang="en-US" sz="800" noProof="1">
                <a:latin typeface="Courier New"/>
                <a:cs typeface="Courier New"/>
              </a:rPr>
              <a:t> </a:t>
            </a:r>
            <a:r>
              <a:rPr lang="en-US" sz="800" spc="-50" noProof="1">
                <a:solidFill>
                  <a:srgbClr val="8E2100"/>
                </a:solidFill>
                <a:latin typeface="Courier New"/>
                <a:cs typeface="Courier New"/>
              </a:rPr>
              <a:t>\</a:t>
            </a:r>
            <a:endParaRPr lang="en-US" sz="800" noProof="1">
              <a:latin typeface="Courier New"/>
              <a:cs typeface="Courier New"/>
            </a:endParaRPr>
          </a:p>
          <a:p>
            <a:pPr marL="425450">
              <a:lnSpc>
                <a:spcPct val="100000"/>
              </a:lnSpc>
              <a:spcBef>
                <a:spcPts val="70"/>
              </a:spcBef>
            </a:pP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--certificate-chain</a:t>
            </a:r>
            <a:r>
              <a:rPr lang="en-US" sz="800" spc="40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fileb://ca.crt</a:t>
            </a:r>
            <a:r>
              <a:rPr lang="en-US" sz="800" spc="4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--region</a:t>
            </a:r>
            <a:r>
              <a:rPr lang="en-US" sz="800" spc="40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us-east-</a:t>
            </a:r>
            <a:r>
              <a:rPr lang="en-US" sz="800" spc="-50" noProof="1">
                <a:latin typeface="Courier New"/>
                <a:cs typeface="Courier New"/>
              </a:rPr>
              <a:t>1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210185">
              <a:lnSpc>
                <a:spcPct val="100000"/>
              </a:lnSpc>
              <a:spcBef>
                <a:spcPts val="5"/>
              </a:spcBef>
            </a:pPr>
            <a:r>
              <a:rPr lang="en-US" sz="800" spc="-50" noProof="1">
                <a:latin typeface="Courier New"/>
                <a:cs typeface="Courier New"/>
              </a:rPr>
              <a:t>$ aws</a:t>
            </a:r>
            <a:r>
              <a:rPr lang="en-US" sz="800" spc="-55" noProof="1"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acm </a:t>
            </a:r>
            <a:r>
              <a:rPr lang="en-US" sz="800" spc="-60" noProof="1">
                <a:latin typeface="Courier New"/>
                <a:cs typeface="Courier New"/>
              </a:rPr>
              <a:t>import-</a:t>
            </a:r>
            <a:r>
              <a:rPr lang="en-US" sz="800" spc="-55" noProof="1">
                <a:latin typeface="Courier New"/>
                <a:cs typeface="Courier New"/>
              </a:rPr>
              <a:t>certificate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--</a:t>
            </a:r>
            <a:r>
              <a:rPr lang="en-US" sz="800" spc="-55" noProof="1">
                <a:solidFill>
                  <a:srgbClr val="7C8E28"/>
                </a:solidFill>
                <a:latin typeface="Courier New"/>
                <a:cs typeface="Courier New"/>
              </a:rPr>
              <a:t>certificate</a:t>
            </a:r>
            <a:r>
              <a:rPr lang="en-US" sz="800" spc="-50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fileb://client1.domain.tld.crt</a:t>
            </a:r>
            <a:r>
              <a:rPr lang="en-US" sz="800" spc="375" noProof="1">
                <a:latin typeface="Courier New"/>
                <a:cs typeface="Courier New"/>
              </a:rPr>
              <a:t> </a:t>
            </a:r>
            <a:r>
              <a:rPr lang="en-US" sz="800" spc="-50" noProof="1">
                <a:solidFill>
                  <a:srgbClr val="8E2100"/>
                </a:solidFill>
                <a:latin typeface="Courier New"/>
                <a:cs typeface="Courier New"/>
              </a:rPr>
              <a:t>\</a:t>
            </a:r>
            <a:endParaRPr lang="en-US" sz="800" noProof="1">
              <a:latin typeface="Courier New"/>
              <a:cs typeface="Courier New"/>
            </a:endParaRPr>
          </a:p>
          <a:p>
            <a:pPr marL="425450">
              <a:lnSpc>
                <a:spcPct val="100000"/>
              </a:lnSpc>
              <a:spcBef>
                <a:spcPts val="70"/>
              </a:spcBef>
            </a:pP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--private-</a:t>
            </a:r>
            <a:r>
              <a:rPr lang="en-US" sz="800" spc="-50" noProof="1">
                <a:solidFill>
                  <a:srgbClr val="7C8E28"/>
                </a:solidFill>
                <a:latin typeface="Courier New"/>
                <a:cs typeface="Courier New"/>
              </a:rPr>
              <a:t>key</a:t>
            </a:r>
            <a:r>
              <a:rPr lang="en-US" sz="800" spc="90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fileb://client1.domain.tld.key</a:t>
            </a:r>
            <a:r>
              <a:rPr lang="en-US" sz="800" spc="90" noProof="1">
                <a:latin typeface="Courier New"/>
                <a:cs typeface="Courier New"/>
              </a:rPr>
              <a:t> </a:t>
            </a:r>
            <a:r>
              <a:rPr lang="en-US" sz="800" spc="-50" noProof="1">
                <a:solidFill>
                  <a:srgbClr val="8E2100"/>
                </a:solidFill>
                <a:latin typeface="Courier New"/>
                <a:cs typeface="Courier New"/>
              </a:rPr>
              <a:t>\</a:t>
            </a:r>
            <a:endParaRPr lang="en-US" sz="800" noProof="1">
              <a:latin typeface="Courier New"/>
              <a:cs typeface="Courier New"/>
            </a:endParaRPr>
          </a:p>
          <a:p>
            <a:pPr marL="425450">
              <a:lnSpc>
                <a:spcPct val="100000"/>
              </a:lnSpc>
              <a:spcBef>
                <a:spcPts val="70"/>
              </a:spcBef>
            </a:pP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--certificate-chain</a:t>
            </a:r>
            <a:r>
              <a:rPr lang="en-US" sz="800" spc="40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fileb://ca.crt</a:t>
            </a:r>
            <a:r>
              <a:rPr lang="en-US" sz="800" spc="4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--region</a:t>
            </a:r>
            <a:r>
              <a:rPr lang="en-US" sz="800" spc="40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us-east-</a:t>
            </a:r>
            <a:r>
              <a:rPr lang="en-US" sz="800" spc="-50" noProof="1">
                <a:latin typeface="Courier New"/>
                <a:cs typeface="Courier New"/>
              </a:rPr>
              <a:t>1</a:t>
            </a:r>
            <a:endParaRPr lang="en-US" sz="800" noProof="1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4502150" cy="5080"/>
            </a:xfrm>
            <a:custGeom>
              <a:avLst/>
              <a:gdLst/>
              <a:ahLst/>
              <a:cxnLst/>
              <a:rect l="l" t="t" r="r" b="b"/>
              <a:pathLst>
                <a:path w="4502150" h="5080">
                  <a:moveTo>
                    <a:pt x="0" y="5060"/>
                  </a:moveTo>
                  <a:lnTo>
                    <a:pt x="0" y="0"/>
                  </a:lnTo>
                  <a:lnTo>
                    <a:pt x="4501551" y="0"/>
                  </a:lnTo>
                  <a:lnTo>
                    <a:pt x="450155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6490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Create</a:t>
            </a:r>
            <a:r>
              <a:rPr lang="en-US" sz="1000" b="1" spc="1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10" noProof="1">
                <a:solidFill>
                  <a:srgbClr val="F9F9F9"/>
                </a:solidFill>
                <a:latin typeface="Arial"/>
                <a:cs typeface="Arial"/>
              </a:rPr>
              <a:t>client</a:t>
            </a:r>
            <a:r>
              <a:rPr lang="en-US" sz="1000" b="1" spc="2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50" noProof="1">
                <a:solidFill>
                  <a:srgbClr val="F9F9F9"/>
                </a:solidFill>
                <a:latin typeface="Arial"/>
                <a:cs typeface="Arial"/>
              </a:rPr>
              <a:t>VPN</a:t>
            </a:r>
            <a:r>
              <a:rPr lang="en-US" sz="1000" b="1" spc="3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endpoint</a:t>
            </a:r>
            <a:endParaRPr lang="en-US" sz="10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434" y="625560"/>
            <a:ext cx="4857134" cy="209925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4550410" cy="5080"/>
            </a:xfrm>
            <a:custGeom>
              <a:avLst/>
              <a:gdLst/>
              <a:ahLst/>
              <a:cxnLst/>
              <a:rect l="l" t="t" r="r" b="b"/>
              <a:pathLst>
                <a:path w="4550410" h="5080">
                  <a:moveTo>
                    <a:pt x="0" y="5060"/>
                  </a:moveTo>
                  <a:lnTo>
                    <a:pt x="0" y="0"/>
                  </a:lnTo>
                  <a:lnTo>
                    <a:pt x="4549980" y="0"/>
                  </a:lnTo>
                  <a:lnTo>
                    <a:pt x="454998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Create</a:t>
            </a:r>
            <a:r>
              <a:rPr lang="en-US" spc="15" noProof="1"/>
              <a:t> </a:t>
            </a:r>
            <a:r>
              <a:rPr lang="en-US" spc="-10" noProof="1"/>
              <a:t>client</a:t>
            </a:r>
            <a:r>
              <a:rPr lang="en-US" spc="25" noProof="1"/>
              <a:t> </a:t>
            </a:r>
            <a:r>
              <a:rPr lang="en-US" spc="50" noProof="1"/>
              <a:t>VPN</a:t>
            </a:r>
            <a:r>
              <a:rPr lang="en-US" spc="30" noProof="1"/>
              <a:t> </a:t>
            </a:r>
            <a:r>
              <a:rPr lang="en-US" spc="-25" noProof="1"/>
              <a:t>endpoint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007017" y="1735952"/>
            <a:ext cx="347980" cy="95885"/>
            <a:chOff x="3007017" y="1735952"/>
            <a:chExt cx="347980" cy="95885"/>
          </a:xfrm>
        </p:grpSpPr>
        <p:sp>
          <p:nvSpPr>
            <p:cNvPr id="4" name="object 4"/>
            <p:cNvSpPr/>
            <p:nvPr/>
          </p:nvSpPr>
          <p:spPr>
            <a:xfrm>
              <a:off x="3007017" y="1735952"/>
              <a:ext cx="347980" cy="95885"/>
            </a:xfrm>
            <a:custGeom>
              <a:avLst/>
              <a:gdLst/>
              <a:ahLst/>
              <a:cxnLst/>
              <a:rect l="l" t="t" r="r" b="b"/>
              <a:pathLst>
                <a:path w="347979" h="95885">
                  <a:moveTo>
                    <a:pt x="31179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59552"/>
                  </a:lnTo>
                  <a:lnTo>
                    <a:pt x="2829" y="73565"/>
                  </a:lnTo>
                  <a:lnTo>
                    <a:pt x="10544" y="85008"/>
                  </a:lnTo>
                  <a:lnTo>
                    <a:pt x="21987" y="92723"/>
                  </a:lnTo>
                  <a:lnTo>
                    <a:pt x="36000" y="95552"/>
                  </a:lnTo>
                  <a:lnTo>
                    <a:pt x="311797" y="95552"/>
                  </a:lnTo>
                  <a:lnTo>
                    <a:pt x="325810" y="92723"/>
                  </a:lnTo>
                  <a:lnTo>
                    <a:pt x="337253" y="85008"/>
                  </a:lnTo>
                  <a:lnTo>
                    <a:pt x="344968" y="73565"/>
                  </a:lnTo>
                  <a:lnTo>
                    <a:pt x="347797" y="59552"/>
                  </a:lnTo>
                  <a:lnTo>
                    <a:pt x="347797" y="36000"/>
                  </a:lnTo>
                  <a:lnTo>
                    <a:pt x="344968" y="21987"/>
                  </a:lnTo>
                  <a:lnTo>
                    <a:pt x="337253" y="10544"/>
                  </a:lnTo>
                  <a:lnTo>
                    <a:pt x="325810" y="2829"/>
                  </a:lnTo>
                  <a:lnTo>
                    <a:pt x="31179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007017" y="1735952"/>
              <a:ext cx="347980" cy="95885"/>
            </a:xfrm>
            <a:custGeom>
              <a:avLst/>
              <a:gdLst/>
              <a:ahLst/>
              <a:cxnLst/>
              <a:rect l="l" t="t" r="r" b="b"/>
              <a:pathLst>
                <a:path w="347979" h="95885">
                  <a:moveTo>
                    <a:pt x="31179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59552"/>
                  </a:lnTo>
                  <a:lnTo>
                    <a:pt x="2829" y="73565"/>
                  </a:lnTo>
                  <a:lnTo>
                    <a:pt x="10544" y="85008"/>
                  </a:lnTo>
                  <a:lnTo>
                    <a:pt x="21987" y="92723"/>
                  </a:lnTo>
                  <a:lnTo>
                    <a:pt x="36000" y="95552"/>
                  </a:lnTo>
                  <a:lnTo>
                    <a:pt x="311797" y="95552"/>
                  </a:lnTo>
                  <a:lnTo>
                    <a:pt x="325810" y="92723"/>
                  </a:lnTo>
                  <a:lnTo>
                    <a:pt x="337253" y="85008"/>
                  </a:lnTo>
                  <a:lnTo>
                    <a:pt x="344968" y="73565"/>
                  </a:lnTo>
                  <a:lnTo>
                    <a:pt x="347797" y="59552"/>
                  </a:lnTo>
                  <a:lnTo>
                    <a:pt x="347797" y="36000"/>
                  </a:lnTo>
                  <a:lnTo>
                    <a:pt x="344968" y="21987"/>
                  </a:lnTo>
                  <a:lnTo>
                    <a:pt x="337253" y="10544"/>
                  </a:lnTo>
                  <a:lnTo>
                    <a:pt x="325810" y="2829"/>
                  </a:lnTo>
                  <a:lnTo>
                    <a:pt x="31179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815492" y="1979428"/>
            <a:ext cx="993140" cy="114300"/>
            <a:chOff x="815492" y="1979428"/>
            <a:chExt cx="993140" cy="114300"/>
          </a:xfrm>
        </p:grpSpPr>
        <p:sp>
          <p:nvSpPr>
            <p:cNvPr id="7" name="object 7"/>
            <p:cNvSpPr/>
            <p:nvPr/>
          </p:nvSpPr>
          <p:spPr>
            <a:xfrm>
              <a:off x="815492" y="1979428"/>
              <a:ext cx="993140" cy="114300"/>
            </a:xfrm>
            <a:custGeom>
              <a:avLst/>
              <a:gdLst/>
              <a:ahLst/>
              <a:cxnLst/>
              <a:rect l="l" t="t" r="r" b="b"/>
              <a:pathLst>
                <a:path w="993139" h="114300">
                  <a:moveTo>
                    <a:pt x="9567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77975"/>
                  </a:lnTo>
                  <a:lnTo>
                    <a:pt x="2829" y="91988"/>
                  </a:lnTo>
                  <a:lnTo>
                    <a:pt x="10544" y="103431"/>
                  </a:lnTo>
                  <a:lnTo>
                    <a:pt x="21987" y="111146"/>
                  </a:lnTo>
                  <a:lnTo>
                    <a:pt x="36000" y="113975"/>
                  </a:lnTo>
                  <a:lnTo>
                    <a:pt x="956782" y="113975"/>
                  </a:lnTo>
                  <a:lnTo>
                    <a:pt x="970795" y="111146"/>
                  </a:lnTo>
                  <a:lnTo>
                    <a:pt x="982238" y="103431"/>
                  </a:lnTo>
                  <a:lnTo>
                    <a:pt x="989953" y="91988"/>
                  </a:lnTo>
                  <a:lnTo>
                    <a:pt x="992782" y="77975"/>
                  </a:lnTo>
                  <a:lnTo>
                    <a:pt x="992782" y="36000"/>
                  </a:lnTo>
                  <a:lnTo>
                    <a:pt x="989953" y="21987"/>
                  </a:lnTo>
                  <a:lnTo>
                    <a:pt x="982238" y="10544"/>
                  </a:lnTo>
                  <a:lnTo>
                    <a:pt x="970795" y="2829"/>
                  </a:lnTo>
                  <a:lnTo>
                    <a:pt x="95678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815492" y="1979428"/>
              <a:ext cx="993140" cy="114300"/>
            </a:xfrm>
            <a:custGeom>
              <a:avLst/>
              <a:gdLst/>
              <a:ahLst/>
              <a:cxnLst/>
              <a:rect l="l" t="t" r="r" b="b"/>
              <a:pathLst>
                <a:path w="993139" h="114300">
                  <a:moveTo>
                    <a:pt x="95678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77975"/>
                  </a:lnTo>
                  <a:lnTo>
                    <a:pt x="2829" y="91988"/>
                  </a:lnTo>
                  <a:lnTo>
                    <a:pt x="10544" y="103431"/>
                  </a:lnTo>
                  <a:lnTo>
                    <a:pt x="21987" y="111146"/>
                  </a:lnTo>
                  <a:lnTo>
                    <a:pt x="36000" y="113975"/>
                  </a:lnTo>
                  <a:lnTo>
                    <a:pt x="956782" y="113975"/>
                  </a:lnTo>
                  <a:lnTo>
                    <a:pt x="970795" y="111146"/>
                  </a:lnTo>
                  <a:lnTo>
                    <a:pt x="982238" y="103431"/>
                  </a:lnTo>
                  <a:lnTo>
                    <a:pt x="989953" y="91988"/>
                  </a:lnTo>
                  <a:lnTo>
                    <a:pt x="992782" y="77975"/>
                  </a:lnTo>
                  <a:lnTo>
                    <a:pt x="992782" y="36000"/>
                  </a:lnTo>
                  <a:lnTo>
                    <a:pt x="989953" y="21987"/>
                  </a:lnTo>
                  <a:lnTo>
                    <a:pt x="982238" y="10544"/>
                  </a:lnTo>
                  <a:lnTo>
                    <a:pt x="970795" y="2829"/>
                  </a:lnTo>
                  <a:lnTo>
                    <a:pt x="95678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7294" y="728619"/>
            <a:ext cx="5013960" cy="21076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client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VPN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endpoint.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AutoNum type="arabicPeriod"/>
              <a:tabLst>
                <a:tab pos="239395" algn="l"/>
              </a:tabLst>
            </a:pP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Search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Client</a:t>
            </a:r>
            <a:r>
              <a:rPr lang="en-US" sz="9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VPN</a:t>
            </a:r>
            <a:r>
              <a:rPr lang="en-US" sz="9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endpoints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Console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result.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Client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VPN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endpoint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Fill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form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endParaRPr lang="en-US" sz="900" noProof="1">
              <a:latin typeface="Arial"/>
              <a:cs typeface="Arial"/>
            </a:endParaRPr>
          </a:p>
          <a:p>
            <a:pPr marL="467359" lvl="1" indent="-140335">
              <a:spcBef>
                <a:spcPts val="50"/>
              </a:spcBef>
              <a:buFont typeface="Arial"/>
              <a:buChar char="•"/>
              <a:tabLst>
                <a:tab pos="467359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800" b="1" spc="8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tag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8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test-client-vpn-endpoint</a:t>
            </a:r>
            <a:endParaRPr lang="en-US" sz="800" noProof="1">
              <a:latin typeface="Arial"/>
              <a:cs typeface="Arial"/>
            </a:endParaRPr>
          </a:p>
          <a:p>
            <a:pPr marL="467359" lvl="1" indent="-140335">
              <a:spcBef>
                <a:spcPts val="50"/>
              </a:spcBef>
              <a:buFont typeface="Arial"/>
              <a:buChar char="•"/>
              <a:tabLst>
                <a:tab pos="467359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r>
              <a:rPr lang="en-US" sz="800" b="1" spc="8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ID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800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ending</a:t>
            </a:r>
            <a:r>
              <a:rPr lang="en-US" sz="800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800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(test-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vpc)</a:t>
            </a:r>
            <a:endParaRPr lang="en-US" sz="800" noProof="1">
              <a:latin typeface="Arial"/>
              <a:cs typeface="Arial"/>
            </a:endParaRPr>
          </a:p>
          <a:p>
            <a:pPr marL="467359" lvl="1" indent="-140335">
              <a:lnSpc>
                <a:spcPct val="100000"/>
              </a:lnSpc>
              <a:spcBef>
                <a:spcPts val="75"/>
              </a:spcBef>
              <a:buFont typeface="Arial"/>
              <a:buChar char="•"/>
              <a:tabLst>
                <a:tab pos="467359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Mark only IPv4 addresses 2 times</a:t>
            </a:r>
          </a:p>
          <a:p>
            <a:pPr marL="467359" lvl="1" indent="-140335">
              <a:lnSpc>
                <a:spcPct val="100000"/>
              </a:lnSpc>
              <a:spcBef>
                <a:spcPts val="75"/>
              </a:spcBef>
              <a:buFont typeface="Arial"/>
              <a:buChar char="•"/>
              <a:tabLst>
                <a:tab pos="467359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Client</a:t>
            </a:r>
            <a:r>
              <a:rPr lang="en-US" sz="800" b="1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IPv4</a:t>
            </a:r>
            <a:r>
              <a:rPr lang="en-US" sz="800" b="1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CIDR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10.83.0.0/16</a:t>
            </a:r>
            <a:endParaRPr lang="en-US" sz="800" noProof="1">
              <a:latin typeface="Arial"/>
              <a:cs typeface="Arial"/>
            </a:endParaRPr>
          </a:p>
          <a:p>
            <a:pPr marL="467359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467359" algn="l"/>
              </a:tabLst>
            </a:pPr>
            <a:r>
              <a:rPr lang="en-US" sz="800" b="1" spc="-30" noProof="1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lang="en-US" sz="8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certificate</a:t>
            </a:r>
            <a:r>
              <a:rPr lang="en-US" sz="8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ARN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Look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8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8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called</a:t>
            </a:r>
            <a:r>
              <a:rPr lang="en-US" sz="800" spc="1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server</a:t>
            </a:r>
            <a:r>
              <a:rPr lang="en-US" sz="800" spc="-385" noProof="1">
                <a:latin typeface="Courier New"/>
                <a:cs typeface="Courier New"/>
              </a:rPr>
              <a:t> </a:t>
            </a:r>
            <a:r>
              <a:rPr lang="en-US" sz="800" spc="-5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800" noProof="1">
              <a:latin typeface="Arial"/>
              <a:cs typeface="Arial"/>
            </a:endParaRPr>
          </a:p>
          <a:p>
            <a:pPr marL="467359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467359" algn="l"/>
              </a:tabLst>
            </a:pPr>
            <a:r>
              <a:rPr lang="en-US" sz="800" b="1" spc="-20" noProof="1">
                <a:solidFill>
                  <a:srgbClr val="22373A"/>
                </a:solidFill>
                <a:latin typeface="Arial"/>
                <a:cs typeface="Arial"/>
              </a:rPr>
              <a:t>Authentication</a:t>
            </a:r>
            <a:r>
              <a:rPr lang="en-US" sz="800" b="1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20" noProof="1">
                <a:solidFill>
                  <a:srgbClr val="22373A"/>
                </a:solidFill>
                <a:latin typeface="Arial"/>
                <a:cs typeface="Arial"/>
              </a:rPr>
              <a:t>options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Enable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i="1" noProof="1">
                <a:solidFill>
                  <a:srgbClr val="22373A"/>
                </a:solidFill>
                <a:latin typeface="Arial"/>
                <a:cs typeface="Arial"/>
              </a:rPr>
              <a:t>Mutual</a:t>
            </a:r>
            <a:r>
              <a:rPr lang="en-US" sz="800" i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i="1" noProof="1">
                <a:solidFill>
                  <a:srgbClr val="22373A"/>
                </a:solidFill>
                <a:latin typeface="Arial"/>
                <a:cs typeface="Arial"/>
              </a:rPr>
              <a:t>authentication</a:t>
            </a:r>
            <a:r>
              <a:rPr lang="en-US" sz="800" i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lang="en-US" sz="8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client</a:t>
            </a:r>
            <a:r>
              <a:rPr lang="en-US" sz="8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certificate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called</a:t>
            </a:r>
            <a:endParaRPr lang="en-US" sz="800" noProof="1">
              <a:latin typeface="Arial"/>
              <a:cs typeface="Arial"/>
            </a:endParaRPr>
          </a:p>
          <a:p>
            <a:pPr marL="480695">
              <a:lnSpc>
                <a:spcPct val="100000"/>
              </a:lnSpc>
              <a:spcBef>
                <a:spcPts val="70"/>
              </a:spcBef>
            </a:pPr>
            <a:r>
              <a:rPr lang="en-US" sz="800" spc="-60" noProof="1">
                <a:latin typeface="Courier New"/>
                <a:cs typeface="Courier New"/>
              </a:rPr>
              <a:t>client1.domain.tld</a:t>
            </a:r>
            <a:r>
              <a:rPr lang="en-US" sz="800" spc="-250" noProof="1">
                <a:latin typeface="Courier New"/>
                <a:cs typeface="Courier New"/>
              </a:rPr>
              <a:t> </a:t>
            </a:r>
            <a:r>
              <a:rPr lang="en-US" sz="800" spc="-5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800" noProof="1">
              <a:latin typeface="Arial"/>
              <a:cs typeface="Arial"/>
            </a:endParaRPr>
          </a:p>
          <a:p>
            <a:pPr marL="467359" lvl="1" indent="-140335">
              <a:lnSpc>
                <a:spcPct val="100000"/>
              </a:lnSpc>
              <a:spcBef>
                <a:spcPts val="75"/>
              </a:spcBef>
              <a:buFont typeface="Arial"/>
              <a:buChar char="•"/>
              <a:tabLst>
                <a:tab pos="467359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DNS</a:t>
            </a:r>
            <a:r>
              <a:rPr lang="en-US" sz="800" b="1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40" noProof="1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lang="en-US" sz="800" b="1" spc="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1</a:t>
            </a:r>
            <a:r>
              <a:rPr lang="en-US" sz="800" b="1" spc="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800" b="1" spc="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40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800" spc="-4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1.1.1.1</a:t>
            </a:r>
            <a:endParaRPr lang="en-US" sz="800" noProof="1">
              <a:latin typeface="Arial"/>
              <a:cs typeface="Arial"/>
            </a:endParaRPr>
          </a:p>
          <a:p>
            <a:pPr marL="467359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467359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DNS</a:t>
            </a:r>
            <a:r>
              <a:rPr lang="en-US" sz="800" b="1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40" noProof="1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lang="en-US" sz="800" b="1" spc="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2</a:t>
            </a:r>
            <a:r>
              <a:rPr lang="en-US" sz="800" b="1" spc="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800" b="1" spc="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40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800" spc="-4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8.8.8.8</a:t>
            </a:r>
            <a:endParaRPr lang="en-US" sz="8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239395" algn="l"/>
              </a:tabLst>
            </a:pP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Leave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rest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default and click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Client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VPN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endpoint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4598670" cy="5080"/>
            </a:xfrm>
            <a:custGeom>
              <a:avLst/>
              <a:gdLst/>
              <a:ahLst/>
              <a:cxnLst/>
              <a:rect l="l" t="t" r="r" b="b"/>
              <a:pathLst>
                <a:path w="4598670" h="5080">
                  <a:moveTo>
                    <a:pt x="0" y="5060"/>
                  </a:moveTo>
                  <a:lnTo>
                    <a:pt x="0" y="0"/>
                  </a:lnTo>
                  <a:lnTo>
                    <a:pt x="4598408" y="0"/>
                  </a:lnTo>
                  <a:lnTo>
                    <a:pt x="459840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37090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40" noProof="1"/>
              <a:t>Associate</a:t>
            </a:r>
            <a:r>
              <a:rPr lang="en-US" spc="45" noProof="1"/>
              <a:t> </a:t>
            </a:r>
            <a:r>
              <a:rPr lang="en-US" noProof="1"/>
              <a:t>the</a:t>
            </a:r>
            <a:r>
              <a:rPr lang="en-US" spc="50" noProof="1"/>
              <a:t> </a:t>
            </a:r>
            <a:r>
              <a:rPr lang="en-US" spc="-10" noProof="1"/>
              <a:t>client</a:t>
            </a:r>
            <a:r>
              <a:rPr lang="en-US" spc="50" noProof="1"/>
              <a:t> VPN </a:t>
            </a:r>
            <a:r>
              <a:rPr lang="en-US" spc="-25" noProof="1"/>
              <a:t>endpoint</a:t>
            </a:r>
            <a:r>
              <a:rPr lang="en-US" spc="45" noProof="1"/>
              <a:t> </a:t>
            </a:r>
            <a:r>
              <a:rPr lang="en-US" noProof="1"/>
              <a:t>with</a:t>
            </a:r>
            <a:r>
              <a:rPr lang="en-US" spc="50" noProof="1"/>
              <a:t> </a:t>
            </a:r>
            <a:r>
              <a:rPr lang="en-US" noProof="1"/>
              <a:t>the</a:t>
            </a:r>
            <a:r>
              <a:rPr lang="en-US" spc="50" noProof="1"/>
              <a:t> </a:t>
            </a:r>
            <a:r>
              <a:rPr lang="en-US" noProof="1"/>
              <a:t>VPC</a:t>
            </a:r>
            <a:r>
              <a:rPr lang="en-US" spc="50" noProof="1"/>
              <a:t> </a:t>
            </a:r>
            <a:r>
              <a:rPr lang="en-US" spc="-30" noProof="1"/>
              <a:t>public</a:t>
            </a:r>
            <a:r>
              <a:rPr lang="en-US" spc="50" noProof="1"/>
              <a:t> </a:t>
            </a:r>
            <a:r>
              <a:rPr lang="en-US" spc="-10" noProof="1"/>
              <a:t>subnet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79360" y="2006891"/>
            <a:ext cx="504190" cy="139065"/>
            <a:chOff x="979360" y="2006891"/>
            <a:chExt cx="504190" cy="139065"/>
          </a:xfrm>
        </p:grpSpPr>
        <p:sp>
          <p:nvSpPr>
            <p:cNvPr id="4" name="object 4"/>
            <p:cNvSpPr/>
            <p:nvPr/>
          </p:nvSpPr>
          <p:spPr>
            <a:xfrm>
              <a:off x="979360" y="2006891"/>
              <a:ext cx="504190" cy="139065"/>
            </a:xfrm>
            <a:custGeom>
              <a:avLst/>
              <a:gdLst/>
              <a:ahLst/>
              <a:cxnLst/>
              <a:rect l="l" t="t" r="r" b="b"/>
              <a:pathLst>
                <a:path w="504190" h="139064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2976"/>
                  </a:lnTo>
                  <a:lnTo>
                    <a:pt x="2829" y="116989"/>
                  </a:lnTo>
                  <a:lnTo>
                    <a:pt x="10544" y="128433"/>
                  </a:lnTo>
                  <a:lnTo>
                    <a:pt x="21987" y="136148"/>
                  </a:lnTo>
                  <a:lnTo>
                    <a:pt x="36000" y="138977"/>
                  </a:lnTo>
                  <a:lnTo>
                    <a:pt x="467577" y="138977"/>
                  </a:lnTo>
                  <a:lnTo>
                    <a:pt x="481590" y="136148"/>
                  </a:lnTo>
                  <a:lnTo>
                    <a:pt x="493033" y="128433"/>
                  </a:lnTo>
                  <a:lnTo>
                    <a:pt x="500748" y="116989"/>
                  </a:lnTo>
                  <a:lnTo>
                    <a:pt x="503577" y="102976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979360" y="2006891"/>
              <a:ext cx="504190" cy="139065"/>
            </a:xfrm>
            <a:custGeom>
              <a:avLst/>
              <a:gdLst/>
              <a:ahLst/>
              <a:cxnLst/>
              <a:rect l="l" t="t" r="r" b="b"/>
              <a:pathLst>
                <a:path w="504190" h="139064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2976"/>
                  </a:lnTo>
                  <a:lnTo>
                    <a:pt x="2829" y="116989"/>
                  </a:lnTo>
                  <a:lnTo>
                    <a:pt x="10544" y="128433"/>
                  </a:lnTo>
                  <a:lnTo>
                    <a:pt x="21987" y="136148"/>
                  </a:lnTo>
                  <a:lnTo>
                    <a:pt x="36000" y="138977"/>
                  </a:lnTo>
                  <a:lnTo>
                    <a:pt x="467577" y="138977"/>
                  </a:lnTo>
                  <a:lnTo>
                    <a:pt x="481590" y="136148"/>
                  </a:lnTo>
                  <a:lnTo>
                    <a:pt x="493033" y="128433"/>
                  </a:lnTo>
                  <a:lnTo>
                    <a:pt x="500748" y="116989"/>
                  </a:lnTo>
                  <a:lnTo>
                    <a:pt x="503577" y="102976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2368969" y="2000400"/>
            <a:ext cx="1101725" cy="146050"/>
            <a:chOff x="2368969" y="2000400"/>
            <a:chExt cx="1101725" cy="146050"/>
          </a:xfrm>
        </p:grpSpPr>
        <p:sp>
          <p:nvSpPr>
            <p:cNvPr id="7" name="object 7"/>
            <p:cNvSpPr/>
            <p:nvPr/>
          </p:nvSpPr>
          <p:spPr>
            <a:xfrm>
              <a:off x="2368969" y="2000400"/>
              <a:ext cx="1101725" cy="146050"/>
            </a:xfrm>
            <a:custGeom>
              <a:avLst/>
              <a:gdLst/>
              <a:ahLst/>
              <a:cxnLst/>
              <a:rect l="l" t="t" r="r" b="b"/>
              <a:pathLst>
                <a:path w="1101725" h="146050">
                  <a:moveTo>
                    <a:pt x="106541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9467"/>
                  </a:lnTo>
                  <a:lnTo>
                    <a:pt x="2829" y="123480"/>
                  </a:lnTo>
                  <a:lnTo>
                    <a:pt x="10544" y="134923"/>
                  </a:lnTo>
                  <a:lnTo>
                    <a:pt x="21987" y="142638"/>
                  </a:lnTo>
                  <a:lnTo>
                    <a:pt x="36000" y="145467"/>
                  </a:lnTo>
                  <a:lnTo>
                    <a:pt x="1065418" y="145467"/>
                  </a:lnTo>
                  <a:lnTo>
                    <a:pt x="1079431" y="142638"/>
                  </a:lnTo>
                  <a:lnTo>
                    <a:pt x="1090874" y="134923"/>
                  </a:lnTo>
                  <a:lnTo>
                    <a:pt x="1098589" y="123480"/>
                  </a:lnTo>
                  <a:lnTo>
                    <a:pt x="1101418" y="109467"/>
                  </a:lnTo>
                  <a:lnTo>
                    <a:pt x="1101418" y="36000"/>
                  </a:lnTo>
                  <a:lnTo>
                    <a:pt x="1098589" y="21987"/>
                  </a:lnTo>
                  <a:lnTo>
                    <a:pt x="1090874" y="10544"/>
                  </a:lnTo>
                  <a:lnTo>
                    <a:pt x="1079431" y="2829"/>
                  </a:lnTo>
                  <a:lnTo>
                    <a:pt x="1065418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2368969" y="2000400"/>
              <a:ext cx="1101725" cy="146050"/>
            </a:xfrm>
            <a:custGeom>
              <a:avLst/>
              <a:gdLst/>
              <a:ahLst/>
              <a:cxnLst/>
              <a:rect l="l" t="t" r="r" b="b"/>
              <a:pathLst>
                <a:path w="1101725" h="146050">
                  <a:moveTo>
                    <a:pt x="106541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9467"/>
                  </a:lnTo>
                  <a:lnTo>
                    <a:pt x="2829" y="123480"/>
                  </a:lnTo>
                  <a:lnTo>
                    <a:pt x="10544" y="134923"/>
                  </a:lnTo>
                  <a:lnTo>
                    <a:pt x="21987" y="142638"/>
                  </a:lnTo>
                  <a:lnTo>
                    <a:pt x="36000" y="145467"/>
                  </a:lnTo>
                  <a:lnTo>
                    <a:pt x="1065418" y="145467"/>
                  </a:lnTo>
                  <a:lnTo>
                    <a:pt x="1079431" y="142638"/>
                  </a:lnTo>
                  <a:lnTo>
                    <a:pt x="1090874" y="134923"/>
                  </a:lnTo>
                  <a:lnTo>
                    <a:pt x="1098589" y="123480"/>
                  </a:lnTo>
                  <a:lnTo>
                    <a:pt x="1101418" y="109467"/>
                  </a:lnTo>
                  <a:lnTo>
                    <a:pt x="1101418" y="36000"/>
                  </a:lnTo>
                  <a:lnTo>
                    <a:pt x="1098589" y="21987"/>
                  </a:lnTo>
                  <a:lnTo>
                    <a:pt x="1090874" y="10544"/>
                  </a:lnTo>
                  <a:lnTo>
                    <a:pt x="1079431" y="2829"/>
                  </a:lnTo>
                  <a:lnTo>
                    <a:pt x="106541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7294" y="1092423"/>
            <a:ext cx="5022215" cy="11982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associate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client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VPN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endpoint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subnet.</a:t>
            </a:r>
            <a:endParaRPr lang="en-US" sz="900" noProof="1">
              <a:latin typeface="Arial"/>
              <a:cs typeface="Arial"/>
            </a:endParaRPr>
          </a:p>
          <a:p>
            <a:pPr marL="238760" marR="5080" indent="-147320">
              <a:lnSpc>
                <a:spcPct val="116199"/>
              </a:lnSpc>
              <a:spcBef>
                <a:spcPts val="625"/>
              </a:spcBef>
              <a:buAutoNum type="arabicPeriod"/>
              <a:tabLst>
                <a:tab pos="240029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client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VPN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endpoint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created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search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Client</a:t>
            </a:r>
            <a:r>
              <a:rPr lang="en-US" sz="900" i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VPN</a:t>
            </a:r>
            <a:r>
              <a:rPr lang="en-US" sz="900" i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0" noProof="1">
                <a:solidFill>
                  <a:srgbClr val="22373A"/>
                </a:solidFill>
                <a:latin typeface="Arial"/>
                <a:cs typeface="Arial"/>
              </a:rPr>
              <a:t>endpoints</a:t>
            </a:r>
            <a:r>
              <a:rPr lang="en-US" sz="900" i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 	Management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Console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there.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Target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50" noProof="1">
                <a:solidFill>
                  <a:srgbClr val="22373A"/>
                </a:solidFill>
                <a:latin typeface="Arial"/>
                <a:cs typeface="Arial"/>
              </a:rPr>
              <a:t>associations</a:t>
            </a:r>
            <a:r>
              <a:rPr lang="en-US" sz="9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tab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down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below.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0" noProof="1">
                <a:solidFill>
                  <a:srgbClr val="22373A"/>
                </a:solidFill>
                <a:latin typeface="Arial"/>
                <a:cs typeface="Arial"/>
              </a:rPr>
              <a:t>Associate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target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Choose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test-public-subnet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subnet.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0" noProof="1">
                <a:solidFill>
                  <a:srgbClr val="22373A"/>
                </a:solidFill>
                <a:latin typeface="Arial"/>
                <a:cs typeface="Arial"/>
              </a:rPr>
              <a:t>Associate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target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4646930" cy="5080"/>
            </a:xfrm>
            <a:custGeom>
              <a:avLst/>
              <a:gdLst/>
              <a:ahLst/>
              <a:cxnLst/>
              <a:rect l="l" t="t" r="r" b="b"/>
              <a:pathLst>
                <a:path w="4646930" h="5080">
                  <a:moveTo>
                    <a:pt x="0" y="5060"/>
                  </a:moveTo>
                  <a:lnTo>
                    <a:pt x="0" y="0"/>
                  </a:lnTo>
                  <a:lnTo>
                    <a:pt x="4646749" y="0"/>
                  </a:lnTo>
                  <a:lnTo>
                    <a:pt x="464674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2555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10" noProof="1">
                <a:solidFill>
                  <a:srgbClr val="F9F9F9"/>
                </a:solidFill>
                <a:latin typeface="Arial"/>
                <a:cs typeface="Arial"/>
              </a:rPr>
              <a:t>Add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an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authorization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10" noProof="1">
                <a:solidFill>
                  <a:srgbClr val="F9F9F9"/>
                </a:solidFill>
                <a:latin typeface="Arial"/>
                <a:cs typeface="Arial"/>
              </a:rPr>
              <a:t>rule</a:t>
            </a:r>
            <a:r>
              <a:rPr lang="en-US" sz="1000" b="1" spc="1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for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VPC</a:t>
            </a:r>
            <a:endParaRPr lang="en-US" sz="10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980" y="625582"/>
            <a:ext cx="4856044" cy="209921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4695190" cy="5080"/>
            </a:xfrm>
            <a:custGeom>
              <a:avLst/>
              <a:gdLst/>
              <a:ahLst/>
              <a:cxnLst/>
              <a:rect l="l" t="t" r="r" b="b"/>
              <a:pathLst>
                <a:path w="4695190" h="5080">
                  <a:moveTo>
                    <a:pt x="0" y="5060"/>
                  </a:moveTo>
                  <a:lnTo>
                    <a:pt x="0" y="0"/>
                  </a:lnTo>
                  <a:lnTo>
                    <a:pt x="4695177" y="0"/>
                  </a:lnTo>
                  <a:lnTo>
                    <a:pt x="469517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0" noProof="1"/>
              <a:t>Add</a:t>
            </a:r>
            <a:r>
              <a:rPr lang="en-US" spc="5" noProof="1"/>
              <a:t> </a:t>
            </a:r>
            <a:r>
              <a:rPr lang="en-US" noProof="1"/>
              <a:t>an</a:t>
            </a:r>
            <a:r>
              <a:rPr lang="en-US" spc="5" noProof="1"/>
              <a:t> </a:t>
            </a:r>
            <a:r>
              <a:rPr lang="en-US" spc="-25" noProof="1"/>
              <a:t>authorization</a:t>
            </a:r>
            <a:r>
              <a:rPr lang="en-US" spc="5" noProof="1"/>
              <a:t> </a:t>
            </a:r>
            <a:r>
              <a:rPr lang="en-US" spc="-10" noProof="1"/>
              <a:t>rule</a:t>
            </a:r>
            <a:r>
              <a:rPr lang="en-US" spc="10" noProof="1"/>
              <a:t> </a:t>
            </a:r>
            <a:r>
              <a:rPr lang="en-US" noProof="1"/>
              <a:t>for</a:t>
            </a:r>
            <a:r>
              <a:rPr lang="en-US" spc="5" noProof="1"/>
              <a:t> </a:t>
            </a:r>
            <a:r>
              <a:rPr lang="en-US" noProof="1"/>
              <a:t>the</a:t>
            </a:r>
            <a:r>
              <a:rPr lang="en-US" spc="5" noProof="1"/>
              <a:t> </a:t>
            </a:r>
            <a:r>
              <a:rPr lang="en-US" spc="-25" noProof="1"/>
              <a:t>VPC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91781" y="1905634"/>
            <a:ext cx="683260" cy="139700"/>
            <a:chOff x="891781" y="1905634"/>
            <a:chExt cx="683260" cy="139700"/>
          </a:xfrm>
        </p:grpSpPr>
        <p:sp>
          <p:nvSpPr>
            <p:cNvPr id="4" name="object 4"/>
            <p:cNvSpPr/>
            <p:nvPr/>
          </p:nvSpPr>
          <p:spPr>
            <a:xfrm>
              <a:off x="891781" y="1905634"/>
              <a:ext cx="683260" cy="139700"/>
            </a:xfrm>
            <a:custGeom>
              <a:avLst/>
              <a:gdLst/>
              <a:ahLst/>
              <a:cxnLst/>
              <a:rect l="l" t="t" r="r" b="b"/>
              <a:pathLst>
                <a:path w="683260" h="139700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646930" y="139090"/>
                  </a:lnTo>
                  <a:lnTo>
                    <a:pt x="660943" y="136261"/>
                  </a:lnTo>
                  <a:lnTo>
                    <a:pt x="672386" y="128546"/>
                  </a:lnTo>
                  <a:lnTo>
                    <a:pt x="680101" y="117103"/>
                  </a:lnTo>
                  <a:lnTo>
                    <a:pt x="682930" y="103090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891781" y="1905634"/>
              <a:ext cx="683260" cy="139700"/>
            </a:xfrm>
            <a:custGeom>
              <a:avLst/>
              <a:gdLst/>
              <a:ahLst/>
              <a:cxnLst/>
              <a:rect l="l" t="t" r="r" b="b"/>
              <a:pathLst>
                <a:path w="683260" h="139700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646930" y="139090"/>
                  </a:lnTo>
                  <a:lnTo>
                    <a:pt x="660943" y="136261"/>
                  </a:lnTo>
                  <a:lnTo>
                    <a:pt x="672386" y="128546"/>
                  </a:lnTo>
                  <a:lnTo>
                    <a:pt x="680101" y="117103"/>
                  </a:lnTo>
                  <a:lnTo>
                    <a:pt x="682930" y="103090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7294" y="1325760"/>
            <a:ext cx="4803140" cy="720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add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authorization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rule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allow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flow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VPN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VPC.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Authorization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0" noProof="1">
                <a:solidFill>
                  <a:srgbClr val="22373A"/>
                </a:solidFill>
                <a:latin typeface="Arial"/>
                <a:cs typeface="Arial"/>
              </a:rPr>
              <a:t>rules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tab.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Add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authorization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rule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Enter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10.0.0.0/16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destination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Add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authorization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rule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4744085" cy="5080"/>
            </a:xfrm>
            <a:custGeom>
              <a:avLst/>
              <a:gdLst/>
              <a:ahLst/>
              <a:cxnLst/>
              <a:rect l="l" t="t" r="r" b="b"/>
              <a:pathLst>
                <a:path w="4744085" h="5080">
                  <a:moveTo>
                    <a:pt x="0" y="5060"/>
                  </a:moveTo>
                  <a:lnTo>
                    <a:pt x="0" y="0"/>
                  </a:lnTo>
                  <a:lnTo>
                    <a:pt x="4743605" y="0"/>
                  </a:lnTo>
                  <a:lnTo>
                    <a:pt x="474360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0" noProof="1"/>
              <a:t>Provide</a:t>
            </a:r>
            <a:r>
              <a:rPr lang="en-US" spc="25" noProof="1"/>
              <a:t> </a:t>
            </a:r>
            <a:r>
              <a:rPr lang="en-US" spc="-65" noProof="1"/>
              <a:t>access</a:t>
            </a:r>
            <a:r>
              <a:rPr lang="en-US" spc="30" noProof="1"/>
              <a:t> </a:t>
            </a:r>
            <a:r>
              <a:rPr lang="en-US" noProof="1"/>
              <a:t>to</a:t>
            </a:r>
            <a:r>
              <a:rPr lang="en-US" spc="25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noProof="1"/>
              <a:t>internet</a:t>
            </a:r>
            <a:r>
              <a:rPr lang="en-US" spc="25" noProof="1"/>
              <a:t> </a:t>
            </a:r>
            <a:r>
              <a:rPr lang="en-US" noProof="1"/>
              <a:t>for</a:t>
            </a:r>
            <a:r>
              <a:rPr lang="en-US" spc="30" noProof="1"/>
              <a:t> </a:t>
            </a:r>
            <a:r>
              <a:rPr lang="en-US" spc="-45" noProof="1"/>
              <a:t>devices</a:t>
            </a:r>
            <a:r>
              <a:rPr lang="en-US" spc="30" noProof="1"/>
              <a:t> </a:t>
            </a:r>
            <a:r>
              <a:rPr lang="en-US" spc="-40" noProof="1"/>
              <a:t>connected</a:t>
            </a:r>
            <a:r>
              <a:rPr lang="en-US" spc="25" noProof="1"/>
              <a:t> </a:t>
            </a:r>
            <a:r>
              <a:rPr lang="en-US" noProof="1"/>
              <a:t>to</a:t>
            </a:r>
            <a:r>
              <a:rPr lang="en-US" spc="30" noProof="1"/>
              <a:t> </a:t>
            </a:r>
            <a:r>
              <a:rPr lang="en-US" noProof="1"/>
              <a:t>the</a:t>
            </a:r>
            <a:r>
              <a:rPr lang="en-US" spc="25" noProof="1"/>
              <a:t> VPN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79360" y="2451658"/>
            <a:ext cx="563880" cy="139700"/>
            <a:chOff x="979360" y="2451658"/>
            <a:chExt cx="563880" cy="139700"/>
          </a:xfrm>
        </p:grpSpPr>
        <p:sp>
          <p:nvSpPr>
            <p:cNvPr id="4" name="object 4"/>
            <p:cNvSpPr/>
            <p:nvPr/>
          </p:nvSpPr>
          <p:spPr>
            <a:xfrm>
              <a:off x="979360" y="2451658"/>
              <a:ext cx="563880" cy="139700"/>
            </a:xfrm>
            <a:custGeom>
              <a:avLst/>
              <a:gdLst/>
              <a:ahLst/>
              <a:cxnLst/>
              <a:rect l="l" t="t" r="r" b="b"/>
              <a:pathLst>
                <a:path w="563880" h="139700">
                  <a:moveTo>
                    <a:pt x="52736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527362" y="139090"/>
                  </a:lnTo>
                  <a:lnTo>
                    <a:pt x="541374" y="136261"/>
                  </a:lnTo>
                  <a:lnTo>
                    <a:pt x="552817" y="128546"/>
                  </a:lnTo>
                  <a:lnTo>
                    <a:pt x="560533" y="117103"/>
                  </a:lnTo>
                  <a:lnTo>
                    <a:pt x="563362" y="103090"/>
                  </a:lnTo>
                  <a:lnTo>
                    <a:pt x="563362" y="36000"/>
                  </a:lnTo>
                  <a:lnTo>
                    <a:pt x="560533" y="21987"/>
                  </a:lnTo>
                  <a:lnTo>
                    <a:pt x="552817" y="10544"/>
                  </a:lnTo>
                  <a:lnTo>
                    <a:pt x="541374" y="2829"/>
                  </a:lnTo>
                  <a:lnTo>
                    <a:pt x="52736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979360" y="2451658"/>
              <a:ext cx="563880" cy="139700"/>
            </a:xfrm>
            <a:custGeom>
              <a:avLst/>
              <a:gdLst/>
              <a:ahLst/>
              <a:cxnLst/>
              <a:rect l="l" t="t" r="r" b="b"/>
              <a:pathLst>
                <a:path w="563880" h="139700">
                  <a:moveTo>
                    <a:pt x="52736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527362" y="139090"/>
                  </a:lnTo>
                  <a:lnTo>
                    <a:pt x="541374" y="136261"/>
                  </a:lnTo>
                  <a:lnTo>
                    <a:pt x="552817" y="128546"/>
                  </a:lnTo>
                  <a:lnTo>
                    <a:pt x="560533" y="117103"/>
                  </a:lnTo>
                  <a:lnTo>
                    <a:pt x="563362" y="103090"/>
                  </a:lnTo>
                  <a:lnTo>
                    <a:pt x="563362" y="36000"/>
                  </a:lnTo>
                  <a:lnTo>
                    <a:pt x="560533" y="21987"/>
                  </a:lnTo>
                  <a:lnTo>
                    <a:pt x="552817" y="10544"/>
                  </a:lnTo>
                  <a:lnTo>
                    <a:pt x="541374" y="2829"/>
                  </a:lnTo>
                  <a:lnTo>
                    <a:pt x="52736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1718" y="631244"/>
            <a:ext cx="5021580" cy="2119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 marR="5080" indent="-5715">
              <a:lnSpc>
                <a:spcPct val="116199"/>
              </a:lnSpc>
              <a:spcBef>
                <a:spcPts val="100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would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able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VPN,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once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connected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VPN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would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have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acces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because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add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route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route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table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authorization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rule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allow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endParaRPr lang="en-US" sz="900" noProof="1">
              <a:latin typeface="Arial"/>
              <a:cs typeface="Arial"/>
            </a:endParaRPr>
          </a:p>
          <a:p>
            <a:pPr marL="245110" indent="-147320">
              <a:lnSpc>
                <a:spcPct val="100000"/>
              </a:lnSpc>
              <a:spcBef>
                <a:spcPts val="800"/>
              </a:spcBef>
              <a:buAutoNum type="arabicPeriod"/>
              <a:tabLst>
                <a:tab pos="24511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Route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table</a:t>
            </a:r>
            <a:r>
              <a:rPr lang="en-US" sz="900" b="1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tab.</a:t>
            </a:r>
            <a:endParaRPr lang="en-US" sz="900" noProof="1">
              <a:latin typeface="Arial"/>
              <a:cs typeface="Arial"/>
            </a:endParaRPr>
          </a:p>
          <a:p>
            <a:pPr marL="24511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511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b="1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route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4511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511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Fill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form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endParaRPr lang="en-US" sz="900" noProof="1">
              <a:latin typeface="Arial"/>
              <a:cs typeface="Arial"/>
            </a:endParaRPr>
          </a:p>
          <a:p>
            <a:pPr marL="473075" lvl="1" indent="-140335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47307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Route</a:t>
            </a:r>
            <a:r>
              <a:rPr lang="en-US" sz="8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20" noProof="1">
                <a:solidFill>
                  <a:srgbClr val="22373A"/>
                </a:solidFill>
                <a:latin typeface="Arial"/>
                <a:cs typeface="Arial"/>
              </a:rPr>
              <a:t>destination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0.0.0.0/0</a:t>
            </a:r>
            <a:endParaRPr lang="en-US" sz="800" noProof="1">
              <a:latin typeface="Arial"/>
              <a:cs typeface="Arial"/>
            </a:endParaRPr>
          </a:p>
          <a:p>
            <a:pPr marL="473075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473075" algn="l"/>
              </a:tabLst>
            </a:pP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800" b="1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ID</a:t>
            </a:r>
            <a:r>
              <a:rPr lang="en-US" sz="800" b="1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8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target</a:t>
            </a:r>
            <a:r>
              <a:rPr lang="en-US" sz="8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25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8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35" noProof="1">
                <a:solidFill>
                  <a:srgbClr val="22373A"/>
                </a:solidFill>
                <a:latin typeface="Arial"/>
                <a:cs typeface="Arial"/>
              </a:rPr>
              <a:t>association</a:t>
            </a:r>
            <a:r>
              <a:rPr lang="en-US" sz="800" spc="-35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30" noProof="1">
                <a:solidFill>
                  <a:srgbClr val="22373A"/>
                </a:solidFill>
                <a:latin typeface="Arial"/>
                <a:cs typeface="Arial"/>
              </a:rPr>
              <a:t>Choose</a:t>
            </a:r>
            <a:r>
              <a:rPr lang="en-US" sz="8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onte</a:t>
            </a:r>
            <a:r>
              <a:rPr lang="en-US" sz="8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starting</a:t>
            </a:r>
            <a:r>
              <a:rPr lang="en-US" sz="8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8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i="1" spc="-1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endParaRPr lang="en-US" sz="800" noProof="1">
              <a:latin typeface="Arial"/>
              <a:cs typeface="Arial"/>
            </a:endParaRPr>
          </a:p>
          <a:p>
            <a:pPr marL="245110" indent="-147320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24511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b="1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route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4511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511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Authorization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0" noProof="1">
                <a:solidFill>
                  <a:srgbClr val="22373A"/>
                </a:solidFill>
                <a:latin typeface="Arial"/>
                <a:cs typeface="Arial"/>
              </a:rPr>
              <a:t>rules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tab.</a:t>
            </a:r>
            <a:endParaRPr lang="en-US" sz="900" noProof="1">
              <a:latin typeface="Arial"/>
              <a:cs typeface="Arial"/>
            </a:endParaRPr>
          </a:p>
          <a:p>
            <a:pPr marL="24511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511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Add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authorization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rule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44475" marR="65405" indent="-147320">
              <a:lnSpc>
                <a:spcPct val="116199"/>
              </a:lnSpc>
              <a:buAutoNum type="arabicPeriod"/>
              <a:tabLst>
                <a:tab pos="245745" algn="l"/>
              </a:tabLst>
            </a:pP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Choose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0.0.0.0/0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Destination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enable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Add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authorization 	rule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4792345" cy="5080"/>
            </a:xfrm>
            <a:custGeom>
              <a:avLst/>
              <a:gdLst/>
              <a:ahLst/>
              <a:cxnLst/>
              <a:rect l="l" t="t" r="r" b="b"/>
              <a:pathLst>
                <a:path w="4792345" h="5080">
                  <a:moveTo>
                    <a:pt x="0" y="5060"/>
                  </a:moveTo>
                  <a:lnTo>
                    <a:pt x="0" y="0"/>
                  </a:lnTo>
                  <a:lnTo>
                    <a:pt x="4791946" y="0"/>
                  </a:lnTo>
                  <a:lnTo>
                    <a:pt x="479194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0" noProof="1"/>
              <a:t>Setup</a:t>
            </a:r>
            <a:r>
              <a:rPr lang="en-US" spc="25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noProof="1"/>
              <a:t>Client</a:t>
            </a:r>
            <a:r>
              <a:rPr lang="en-US" spc="30" noProof="1"/>
              <a:t> </a:t>
            </a:r>
            <a:r>
              <a:rPr lang="en-US" spc="50" noProof="1"/>
              <a:t>VPN</a:t>
            </a:r>
            <a:r>
              <a:rPr lang="en-US" spc="30" noProof="1"/>
              <a:t> </a:t>
            </a:r>
            <a:r>
              <a:rPr lang="en-US" spc="-25" noProof="1"/>
              <a:t>endpoint</a:t>
            </a:r>
            <a:r>
              <a:rPr lang="en-US" spc="30" noProof="1"/>
              <a:t> </a:t>
            </a:r>
            <a:r>
              <a:rPr lang="en-US" spc="-30" noProof="1"/>
              <a:t>configuration</a:t>
            </a:r>
            <a:r>
              <a:rPr lang="en-US" spc="30" noProof="1"/>
              <a:t> </a:t>
            </a:r>
            <a:r>
              <a:rPr lang="en-US" spc="-20" noProof="1"/>
              <a:t>file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129701" y="1999833"/>
            <a:ext cx="1759585" cy="147320"/>
            <a:chOff x="2129701" y="1999833"/>
            <a:chExt cx="1759585" cy="147320"/>
          </a:xfrm>
        </p:grpSpPr>
        <p:sp>
          <p:nvSpPr>
            <p:cNvPr id="4" name="object 4"/>
            <p:cNvSpPr/>
            <p:nvPr/>
          </p:nvSpPr>
          <p:spPr>
            <a:xfrm>
              <a:off x="2129701" y="1999833"/>
              <a:ext cx="1759585" cy="147320"/>
            </a:xfrm>
            <a:custGeom>
              <a:avLst/>
              <a:gdLst/>
              <a:ahLst/>
              <a:cxnLst/>
              <a:rect l="l" t="t" r="r" b="b"/>
              <a:pathLst>
                <a:path w="1759585" h="147319">
                  <a:moveTo>
                    <a:pt x="172304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720"/>
                  </a:lnTo>
                  <a:lnTo>
                    <a:pt x="2829" y="124733"/>
                  </a:lnTo>
                  <a:lnTo>
                    <a:pt x="10544" y="136176"/>
                  </a:lnTo>
                  <a:lnTo>
                    <a:pt x="21987" y="143891"/>
                  </a:lnTo>
                  <a:lnTo>
                    <a:pt x="36000" y="146720"/>
                  </a:lnTo>
                  <a:lnTo>
                    <a:pt x="1723043" y="146720"/>
                  </a:lnTo>
                  <a:lnTo>
                    <a:pt x="1737056" y="143891"/>
                  </a:lnTo>
                  <a:lnTo>
                    <a:pt x="1748499" y="136176"/>
                  </a:lnTo>
                  <a:lnTo>
                    <a:pt x="1756214" y="124733"/>
                  </a:lnTo>
                  <a:lnTo>
                    <a:pt x="1759043" y="110720"/>
                  </a:lnTo>
                  <a:lnTo>
                    <a:pt x="1759043" y="36000"/>
                  </a:lnTo>
                  <a:lnTo>
                    <a:pt x="1756214" y="21987"/>
                  </a:lnTo>
                  <a:lnTo>
                    <a:pt x="1748499" y="10544"/>
                  </a:lnTo>
                  <a:lnTo>
                    <a:pt x="1737056" y="2829"/>
                  </a:lnTo>
                  <a:lnTo>
                    <a:pt x="172304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2129701" y="1999833"/>
              <a:ext cx="1759585" cy="147320"/>
            </a:xfrm>
            <a:custGeom>
              <a:avLst/>
              <a:gdLst/>
              <a:ahLst/>
              <a:cxnLst/>
              <a:rect l="l" t="t" r="r" b="b"/>
              <a:pathLst>
                <a:path w="1759585" h="147319">
                  <a:moveTo>
                    <a:pt x="172304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720"/>
                  </a:lnTo>
                  <a:lnTo>
                    <a:pt x="2829" y="124733"/>
                  </a:lnTo>
                  <a:lnTo>
                    <a:pt x="10544" y="136176"/>
                  </a:lnTo>
                  <a:lnTo>
                    <a:pt x="21987" y="143891"/>
                  </a:lnTo>
                  <a:lnTo>
                    <a:pt x="36000" y="146720"/>
                  </a:lnTo>
                  <a:lnTo>
                    <a:pt x="1723043" y="146720"/>
                  </a:lnTo>
                  <a:lnTo>
                    <a:pt x="1737056" y="143891"/>
                  </a:lnTo>
                  <a:lnTo>
                    <a:pt x="1748499" y="136176"/>
                  </a:lnTo>
                  <a:lnTo>
                    <a:pt x="1756214" y="124733"/>
                  </a:lnTo>
                  <a:lnTo>
                    <a:pt x="1759043" y="110720"/>
                  </a:lnTo>
                  <a:lnTo>
                    <a:pt x="1759043" y="36000"/>
                  </a:lnTo>
                  <a:lnTo>
                    <a:pt x="1756214" y="21987"/>
                  </a:lnTo>
                  <a:lnTo>
                    <a:pt x="1748499" y="10544"/>
                  </a:lnTo>
                  <a:lnTo>
                    <a:pt x="1737056" y="2829"/>
                  </a:lnTo>
                  <a:lnTo>
                    <a:pt x="172304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7294" y="1069749"/>
            <a:ext cx="5068570" cy="1220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1120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setup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configuration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VPN.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use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computer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VPN.</a:t>
            </a:r>
            <a:endParaRPr lang="en-US" sz="900" noProof="1">
              <a:latin typeface="Arial"/>
              <a:cs typeface="Arial"/>
            </a:endParaRPr>
          </a:p>
          <a:p>
            <a:pPr marL="238760" marR="5080" indent="-147320">
              <a:lnSpc>
                <a:spcPct val="116199"/>
              </a:lnSpc>
              <a:spcBef>
                <a:spcPts val="625"/>
              </a:spcBef>
              <a:buAutoNum type="arabicPeriod"/>
              <a:tabLst>
                <a:tab pos="240029" algn="l"/>
              </a:tabLst>
            </a:pP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Search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Client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VPN</a:t>
            </a:r>
            <a:r>
              <a:rPr lang="en-US" sz="9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endpoints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Console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there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click 	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client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VPN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endpoint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created.</a:t>
            </a:r>
            <a:endParaRPr lang="en-US" sz="900" noProof="1">
              <a:latin typeface="Arial"/>
              <a:cs typeface="Arial"/>
            </a:endParaRPr>
          </a:p>
          <a:p>
            <a:pPr marL="235585" indent="-14351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558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You’ll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be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able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to click on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Download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client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configuration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5585" indent="-14351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558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will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download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called</a:t>
            </a:r>
            <a:r>
              <a:rPr lang="en-US" sz="900" spc="1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downloaded-client-</a:t>
            </a:r>
            <a:r>
              <a:rPr lang="en-US" sz="900" spc="-10" noProof="1">
                <a:latin typeface="Courier New"/>
                <a:cs typeface="Courier New"/>
              </a:rPr>
              <a:t>config.ovpn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Open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text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editor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since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we’re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modify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it.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4840605" cy="5080"/>
            </a:xfrm>
            <a:custGeom>
              <a:avLst/>
              <a:gdLst/>
              <a:ahLst/>
              <a:cxnLst/>
              <a:rect l="l" t="t" r="r" b="b"/>
              <a:pathLst>
                <a:path w="4840605" h="5080">
                  <a:moveTo>
                    <a:pt x="0" y="5060"/>
                  </a:moveTo>
                  <a:lnTo>
                    <a:pt x="0" y="0"/>
                  </a:lnTo>
                  <a:lnTo>
                    <a:pt x="4840374" y="0"/>
                  </a:lnTo>
                  <a:lnTo>
                    <a:pt x="484037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0" noProof="1"/>
              <a:t>Setup</a:t>
            </a:r>
            <a:r>
              <a:rPr lang="en-US" spc="25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noProof="1"/>
              <a:t>Client</a:t>
            </a:r>
            <a:r>
              <a:rPr lang="en-US" spc="30" noProof="1"/>
              <a:t> </a:t>
            </a:r>
            <a:r>
              <a:rPr lang="en-US" spc="50" noProof="1"/>
              <a:t>VPN</a:t>
            </a:r>
            <a:r>
              <a:rPr lang="en-US" spc="30" noProof="1"/>
              <a:t> </a:t>
            </a:r>
            <a:r>
              <a:rPr lang="en-US" spc="-25" noProof="1"/>
              <a:t>endpoint</a:t>
            </a:r>
            <a:r>
              <a:rPr lang="en-US" spc="30" noProof="1"/>
              <a:t> </a:t>
            </a:r>
            <a:r>
              <a:rPr lang="en-US" spc="-30" noProof="1"/>
              <a:t>configuration</a:t>
            </a:r>
            <a:r>
              <a:rPr lang="en-US" spc="30" noProof="1"/>
              <a:t> </a:t>
            </a:r>
            <a:r>
              <a:rPr lang="en-US" spc="-20" noProof="1"/>
              <a:t>file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538964"/>
            <a:ext cx="5015230" cy="310515"/>
            <a:chOff x="372646" y="1538964"/>
            <a:chExt cx="5015230" cy="310515"/>
          </a:xfrm>
        </p:grpSpPr>
        <p:sp>
          <p:nvSpPr>
            <p:cNvPr id="4" name="object 4"/>
            <p:cNvSpPr/>
            <p:nvPr/>
          </p:nvSpPr>
          <p:spPr>
            <a:xfrm>
              <a:off x="377994" y="1544310"/>
              <a:ext cx="5004435" cy="299720"/>
            </a:xfrm>
            <a:custGeom>
              <a:avLst/>
              <a:gdLst/>
              <a:ahLst/>
              <a:cxnLst/>
              <a:rect l="l" t="t" r="r" b="b"/>
              <a:pathLst>
                <a:path w="5004435" h="299719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63712"/>
                  </a:lnTo>
                  <a:lnTo>
                    <a:pt x="2829" y="277725"/>
                  </a:lnTo>
                  <a:lnTo>
                    <a:pt x="10544" y="289168"/>
                  </a:lnTo>
                  <a:lnTo>
                    <a:pt x="21987" y="296883"/>
                  </a:lnTo>
                  <a:lnTo>
                    <a:pt x="36000" y="299712"/>
                  </a:lnTo>
                  <a:lnTo>
                    <a:pt x="4968064" y="299712"/>
                  </a:lnTo>
                  <a:lnTo>
                    <a:pt x="4982077" y="296883"/>
                  </a:lnTo>
                  <a:lnTo>
                    <a:pt x="4993521" y="289168"/>
                  </a:lnTo>
                  <a:lnTo>
                    <a:pt x="5001236" y="277725"/>
                  </a:lnTo>
                  <a:lnTo>
                    <a:pt x="5004065" y="263712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545290"/>
              <a:ext cx="5002530" cy="297815"/>
            </a:xfrm>
            <a:custGeom>
              <a:avLst/>
              <a:gdLst/>
              <a:ahLst/>
              <a:cxnLst/>
              <a:rect l="l" t="t" r="r" b="b"/>
              <a:pathLst>
                <a:path w="5002530" h="297814">
                  <a:moveTo>
                    <a:pt x="0" y="262732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62732"/>
                  </a:lnTo>
                  <a:lnTo>
                    <a:pt x="4999354" y="276364"/>
                  </a:lnTo>
                  <a:lnTo>
                    <a:pt x="4991849" y="287496"/>
                  </a:lnTo>
                  <a:lnTo>
                    <a:pt x="4980717" y="295001"/>
                  </a:lnTo>
                  <a:lnTo>
                    <a:pt x="4967085" y="297753"/>
                  </a:lnTo>
                  <a:lnTo>
                    <a:pt x="35021" y="297753"/>
                  </a:lnTo>
                  <a:lnTo>
                    <a:pt x="21389" y="295001"/>
                  </a:lnTo>
                  <a:lnTo>
                    <a:pt x="10257" y="287496"/>
                  </a:lnTo>
                  <a:lnTo>
                    <a:pt x="2752" y="276364"/>
                  </a:lnTo>
                  <a:lnTo>
                    <a:pt x="0" y="262732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72646" y="2164946"/>
            <a:ext cx="5015230" cy="310515"/>
            <a:chOff x="372646" y="2164946"/>
            <a:chExt cx="5015230" cy="310515"/>
          </a:xfrm>
        </p:grpSpPr>
        <p:sp>
          <p:nvSpPr>
            <p:cNvPr id="7" name="object 7"/>
            <p:cNvSpPr/>
            <p:nvPr/>
          </p:nvSpPr>
          <p:spPr>
            <a:xfrm>
              <a:off x="377994" y="2170293"/>
              <a:ext cx="5004435" cy="299720"/>
            </a:xfrm>
            <a:custGeom>
              <a:avLst/>
              <a:gdLst/>
              <a:ahLst/>
              <a:cxnLst/>
              <a:rect l="l" t="t" r="r" b="b"/>
              <a:pathLst>
                <a:path w="5004435" h="299719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63712"/>
                  </a:lnTo>
                  <a:lnTo>
                    <a:pt x="2829" y="277725"/>
                  </a:lnTo>
                  <a:lnTo>
                    <a:pt x="10544" y="289168"/>
                  </a:lnTo>
                  <a:lnTo>
                    <a:pt x="21987" y="296883"/>
                  </a:lnTo>
                  <a:lnTo>
                    <a:pt x="36000" y="299712"/>
                  </a:lnTo>
                  <a:lnTo>
                    <a:pt x="4968064" y="299712"/>
                  </a:lnTo>
                  <a:lnTo>
                    <a:pt x="4982077" y="296883"/>
                  </a:lnTo>
                  <a:lnTo>
                    <a:pt x="4993521" y="289168"/>
                  </a:lnTo>
                  <a:lnTo>
                    <a:pt x="5001236" y="277725"/>
                  </a:lnTo>
                  <a:lnTo>
                    <a:pt x="5004065" y="263712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378973" y="2171273"/>
              <a:ext cx="5002530" cy="297815"/>
            </a:xfrm>
            <a:custGeom>
              <a:avLst/>
              <a:gdLst/>
              <a:ahLst/>
              <a:cxnLst/>
              <a:rect l="l" t="t" r="r" b="b"/>
              <a:pathLst>
                <a:path w="5002530" h="297814">
                  <a:moveTo>
                    <a:pt x="0" y="262732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62732"/>
                  </a:lnTo>
                  <a:lnTo>
                    <a:pt x="4999354" y="276364"/>
                  </a:lnTo>
                  <a:lnTo>
                    <a:pt x="4991849" y="287496"/>
                  </a:lnTo>
                  <a:lnTo>
                    <a:pt x="4980717" y="295001"/>
                  </a:lnTo>
                  <a:lnTo>
                    <a:pt x="4967085" y="297753"/>
                  </a:lnTo>
                  <a:lnTo>
                    <a:pt x="35021" y="297753"/>
                  </a:lnTo>
                  <a:lnTo>
                    <a:pt x="21389" y="295001"/>
                  </a:lnTo>
                  <a:lnTo>
                    <a:pt x="10257" y="287496"/>
                  </a:lnTo>
                  <a:lnTo>
                    <a:pt x="2752" y="276364"/>
                  </a:lnTo>
                  <a:lnTo>
                    <a:pt x="0" y="262732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1718" y="873992"/>
            <a:ext cx="5073015" cy="15396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 marR="5080" indent="-1905">
              <a:lnSpc>
                <a:spcPct val="116199"/>
              </a:lnSpc>
              <a:spcBef>
                <a:spcPts val="100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We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going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those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certificate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files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created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earlier,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so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would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terminal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folder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moved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certificates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to. Follow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steps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below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if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closed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terminal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before.</a:t>
            </a:r>
            <a:endParaRPr lang="en-US" sz="900" noProof="1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800"/>
              </a:spcBef>
            </a:pP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Windows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users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lang="en-US" sz="800" spc="-50" noProof="1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lang="en-US" sz="800" spc="-65" noProof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C:</a:t>
            </a:r>
            <a:r>
              <a:rPr lang="en-US" sz="800" spc="-10" noProof="1">
                <a:solidFill>
                  <a:srgbClr val="8E2100"/>
                </a:solidFill>
                <a:latin typeface="Courier New"/>
                <a:cs typeface="Courier New"/>
              </a:rPr>
              <a:t>\c</a:t>
            </a:r>
            <a:r>
              <a:rPr lang="en-US" sz="800" spc="-10" noProof="1">
                <a:latin typeface="Courier New"/>
                <a:cs typeface="Courier New"/>
              </a:rPr>
              <a:t>ustom_folder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7780">
              <a:lnSpc>
                <a:spcPct val="100000"/>
              </a:lnSpc>
              <a:spcBef>
                <a:spcPts val="5"/>
              </a:spcBef>
            </a:pP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MacOS/Linux</a:t>
            </a:r>
            <a:r>
              <a:rPr lang="en-US" sz="900" b="1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users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lang="en-US" sz="800" spc="-50" noProof="1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r>
              <a:rPr lang="en-US" sz="800" spc="-65" noProof="1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lang="en-US" sz="800" spc="-10" noProof="1">
                <a:latin typeface="Courier New"/>
                <a:cs typeface="Courier New"/>
              </a:rPr>
              <a:t>~/custom_folder/</a:t>
            </a:r>
            <a:endParaRPr lang="en-US" sz="800" noProof="1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4888865" cy="5080"/>
            </a:xfrm>
            <a:custGeom>
              <a:avLst/>
              <a:gdLst/>
              <a:ahLst/>
              <a:cxnLst/>
              <a:rect l="l" t="t" r="r" b="b"/>
              <a:pathLst>
                <a:path w="4888865" h="5080">
                  <a:moveTo>
                    <a:pt x="0" y="5060"/>
                  </a:moveTo>
                  <a:lnTo>
                    <a:pt x="0" y="0"/>
                  </a:lnTo>
                  <a:lnTo>
                    <a:pt x="4888802" y="0"/>
                  </a:lnTo>
                  <a:lnTo>
                    <a:pt x="488880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0" noProof="1"/>
              <a:t>Setup</a:t>
            </a:r>
            <a:r>
              <a:rPr lang="en-US" spc="25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noProof="1"/>
              <a:t>Client</a:t>
            </a:r>
            <a:r>
              <a:rPr lang="en-US" spc="30" noProof="1"/>
              <a:t> </a:t>
            </a:r>
            <a:r>
              <a:rPr lang="en-US" spc="50" noProof="1"/>
              <a:t>VPN</a:t>
            </a:r>
            <a:r>
              <a:rPr lang="en-US" spc="30" noProof="1"/>
              <a:t> </a:t>
            </a:r>
            <a:r>
              <a:rPr lang="en-US" spc="-25" noProof="1"/>
              <a:t>endpoint</a:t>
            </a:r>
            <a:r>
              <a:rPr lang="en-US" spc="30" noProof="1"/>
              <a:t> </a:t>
            </a:r>
            <a:r>
              <a:rPr lang="en-US" spc="-30" noProof="1"/>
              <a:t>configuration</a:t>
            </a:r>
            <a:r>
              <a:rPr lang="en-US" spc="30" noProof="1"/>
              <a:t> </a:t>
            </a:r>
            <a:r>
              <a:rPr lang="en-US" spc="-20" noProof="1"/>
              <a:t>file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28586" y="969431"/>
            <a:ext cx="1759585" cy="147320"/>
            <a:chOff x="828586" y="969431"/>
            <a:chExt cx="1759585" cy="147320"/>
          </a:xfrm>
        </p:grpSpPr>
        <p:sp>
          <p:nvSpPr>
            <p:cNvPr id="4" name="object 4"/>
            <p:cNvSpPr/>
            <p:nvPr/>
          </p:nvSpPr>
          <p:spPr>
            <a:xfrm>
              <a:off x="828586" y="969431"/>
              <a:ext cx="1759585" cy="147320"/>
            </a:xfrm>
            <a:custGeom>
              <a:avLst/>
              <a:gdLst/>
              <a:ahLst/>
              <a:cxnLst/>
              <a:rect l="l" t="t" r="r" b="b"/>
              <a:pathLst>
                <a:path w="1759585" h="147319">
                  <a:moveTo>
                    <a:pt x="172304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720"/>
                  </a:lnTo>
                  <a:lnTo>
                    <a:pt x="2829" y="124733"/>
                  </a:lnTo>
                  <a:lnTo>
                    <a:pt x="10544" y="136176"/>
                  </a:lnTo>
                  <a:lnTo>
                    <a:pt x="21987" y="143891"/>
                  </a:lnTo>
                  <a:lnTo>
                    <a:pt x="36000" y="146720"/>
                  </a:lnTo>
                  <a:lnTo>
                    <a:pt x="1723043" y="146720"/>
                  </a:lnTo>
                  <a:lnTo>
                    <a:pt x="1737056" y="143891"/>
                  </a:lnTo>
                  <a:lnTo>
                    <a:pt x="1748499" y="136176"/>
                  </a:lnTo>
                  <a:lnTo>
                    <a:pt x="1756214" y="124733"/>
                  </a:lnTo>
                  <a:lnTo>
                    <a:pt x="1759043" y="110720"/>
                  </a:lnTo>
                  <a:lnTo>
                    <a:pt x="1759043" y="36000"/>
                  </a:lnTo>
                  <a:lnTo>
                    <a:pt x="1756214" y="21987"/>
                  </a:lnTo>
                  <a:lnTo>
                    <a:pt x="1748499" y="10544"/>
                  </a:lnTo>
                  <a:lnTo>
                    <a:pt x="1737056" y="2829"/>
                  </a:lnTo>
                  <a:lnTo>
                    <a:pt x="172304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828586" y="969431"/>
              <a:ext cx="1759585" cy="147320"/>
            </a:xfrm>
            <a:custGeom>
              <a:avLst/>
              <a:gdLst/>
              <a:ahLst/>
              <a:cxnLst/>
              <a:rect l="l" t="t" r="r" b="b"/>
              <a:pathLst>
                <a:path w="1759585" h="147319">
                  <a:moveTo>
                    <a:pt x="172304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720"/>
                  </a:lnTo>
                  <a:lnTo>
                    <a:pt x="2829" y="124733"/>
                  </a:lnTo>
                  <a:lnTo>
                    <a:pt x="10544" y="136176"/>
                  </a:lnTo>
                  <a:lnTo>
                    <a:pt x="21987" y="143891"/>
                  </a:lnTo>
                  <a:lnTo>
                    <a:pt x="36000" y="146720"/>
                  </a:lnTo>
                  <a:lnTo>
                    <a:pt x="1723043" y="146720"/>
                  </a:lnTo>
                  <a:lnTo>
                    <a:pt x="1737056" y="143891"/>
                  </a:lnTo>
                  <a:lnTo>
                    <a:pt x="1748499" y="136176"/>
                  </a:lnTo>
                  <a:lnTo>
                    <a:pt x="1756214" y="124733"/>
                  </a:lnTo>
                  <a:lnTo>
                    <a:pt x="1759043" y="110720"/>
                  </a:lnTo>
                  <a:lnTo>
                    <a:pt x="1759043" y="36000"/>
                  </a:lnTo>
                  <a:lnTo>
                    <a:pt x="1756214" y="21987"/>
                  </a:lnTo>
                  <a:lnTo>
                    <a:pt x="1748499" y="10544"/>
                  </a:lnTo>
                  <a:lnTo>
                    <a:pt x="1737056" y="2829"/>
                  </a:lnTo>
                  <a:lnTo>
                    <a:pt x="172304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72646" y="1341623"/>
            <a:ext cx="5015230" cy="1092200"/>
            <a:chOff x="372646" y="1341623"/>
            <a:chExt cx="5015230" cy="1092200"/>
          </a:xfrm>
        </p:grpSpPr>
        <p:sp>
          <p:nvSpPr>
            <p:cNvPr id="7" name="object 7"/>
            <p:cNvSpPr/>
            <p:nvPr/>
          </p:nvSpPr>
          <p:spPr>
            <a:xfrm>
              <a:off x="377994" y="1346970"/>
              <a:ext cx="5004435" cy="1081405"/>
            </a:xfrm>
            <a:custGeom>
              <a:avLst/>
              <a:gdLst/>
              <a:ahLst/>
              <a:cxnLst/>
              <a:rect l="l" t="t" r="r" b="b"/>
              <a:pathLst>
                <a:path w="5004435" h="1081405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45392"/>
                  </a:lnTo>
                  <a:lnTo>
                    <a:pt x="2829" y="1059405"/>
                  </a:lnTo>
                  <a:lnTo>
                    <a:pt x="10544" y="1070848"/>
                  </a:lnTo>
                  <a:lnTo>
                    <a:pt x="21987" y="1078563"/>
                  </a:lnTo>
                  <a:lnTo>
                    <a:pt x="36000" y="1081392"/>
                  </a:lnTo>
                  <a:lnTo>
                    <a:pt x="4968064" y="1081392"/>
                  </a:lnTo>
                  <a:lnTo>
                    <a:pt x="4982077" y="1078563"/>
                  </a:lnTo>
                  <a:lnTo>
                    <a:pt x="4993521" y="1070848"/>
                  </a:lnTo>
                  <a:lnTo>
                    <a:pt x="5001236" y="1059405"/>
                  </a:lnTo>
                  <a:lnTo>
                    <a:pt x="5004065" y="1045392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378973" y="1347949"/>
              <a:ext cx="5002530" cy="1079500"/>
            </a:xfrm>
            <a:custGeom>
              <a:avLst/>
              <a:gdLst/>
              <a:ahLst/>
              <a:cxnLst/>
              <a:rect l="l" t="t" r="r" b="b"/>
              <a:pathLst>
                <a:path w="5002530" h="1079500">
                  <a:moveTo>
                    <a:pt x="0" y="1044413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1044413"/>
                  </a:lnTo>
                  <a:lnTo>
                    <a:pt x="4999354" y="1058045"/>
                  </a:lnTo>
                  <a:lnTo>
                    <a:pt x="4991849" y="1069176"/>
                  </a:lnTo>
                  <a:lnTo>
                    <a:pt x="4980717" y="1076682"/>
                  </a:lnTo>
                  <a:lnTo>
                    <a:pt x="4967085" y="1079434"/>
                  </a:lnTo>
                  <a:lnTo>
                    <a:pt x="35021" y="1079434"/>
                  </a:lnTo>
                  <a:lnTo>
                    <a:pt x="21389" y="1076682"/>
                  </a:lnTo>
                  <a:lnTo>
                    <a:pt x="10257" y="1069176"/>
                  </a:lnTo>
                  <a:lnTo>
                    <a:pt x="2752" y="1058045"/>
                  </a:lnTo>
                  <a:lnTo>
                    <a:pt x="0" y="1044413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1718" y="915648"/>
            <a:ext cx="4980940" cy="1414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 marR="5080" indent="-5715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downloaded-client-config.ovpn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open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text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editor,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add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lines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at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beginning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file: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5900">
              <a:lnSpc>
                <a:spcPct val="100000"/>
              </a:lnSpc>
            </a:pPr>
            <a:r>
              <a:rPr lang="en-US" sz="800" spc="-10" noProof="1">
                <a:solidFill>
                  <a:srgbClr val="666666"/>
                </a:solidFill>
                <a:latin typeface="Courier New"/>
                <a:cs typeface="Courier New"/>
              </a:rPr>
              <a:t>&lt;</a:t>
            </a:r>
            <a:r>
              <a:rPr lang="en-US" sz="800" spc="-10" noProof="1">
                <a:latin typeface="Courier New"/>
                <a:cs typeface="Courier New"/>
              </a:rPr>
              <a:t>cert</a:t>
            </a:r>
            <a:r>
              <a:rPr lang="en-US" sz="800" spc="-10" noProof="1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endParaRPr lang="en-US" sz="800" noProof="1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5"/>
              </a:spcBef>
            </a:pPr>
            <a:r>
              <a:rPr lang="en-US" sz="800" spc="-60" noProof="1">
                <a:latin typeface="Courier New"/>
                <a:cs typeface="Courier New"/>
              </a:rPr>
              <a:t>Contents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of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client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certificate</a:t>
            </a:r>
            <a:r>
              <a:rPr lang="en-US" sz="800" spc="-25" noProof="1">
                <a:latin typeface="Courier New"/>
                <a:cs typeface="Courier New"/>
              </a:rPr>
              <a:t> </a:t>
            </a:r>
            <a:r>
              <a:rPr lang="en-US" sz="800" b="1" spc="-60" noProof="1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lang="en-US" sz="800" spc="-60" noProof="1">
                <a:latin typeface="Courier New"/>
                <a:cs typeface="Courier New"/>
              </a:rPr>
              <a:t>.crt</a:t>
            </a:r>
            <a:r>
              <a:rPr lang="en-US" sz="800" b="1" spc="-60" noProof="1">
                <a:solidFill>
                  <a:srgbClr val="007021"/>
                </a:solidFill>
                <a:latin typeface="Courier New"/>
                <a:cs typeface="Courier New"/>
              </a:rPr>
              <a:t>)</a:t>
            </a:r>
            <a:r>
              <a:rPr lang="en-US" sz="800" b="1" spc="-25" noProof="1">
                <a:solidFill>
                  <a:srgbClr val="007021"/>
                </a:solidFill>
                <a:latin typeface="Courier New"/>
                <a:cs typeface="Courier New"/>
              </a:rPr>
              <a:t> </a:t>
            </a:r>
            <a:r>
              <a:rPr lang="en-US" sz="800" spc="-20" noProof="1">
                <a:solidFill>
                  <a:srgbClr val="05287C"/>
                </a:solidFill>
                <a:latin typeface="Courier New"/>
                <a:cs typeface="Courier New"/>
              </a:rPr>
              <a:t>file</a:t>
            </a:r>
            <a:endParaRPr lang="en-US" sz="800" noProof="1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0"/>
              </a:spcBef>
            </a:pPr>
            <a:r>
              <a:rPr lang="en-US" sz="800" spc="-10" noProof="1">
                <a:solidFill>
                  <a:srgbClr val="666666"/>
                </a:solidFill>
                <a:latin typeface="Courier New"/>
                <a:cs typeface="Courier New"/>
              </a:rPr>
              <a:t>&lt;</a:t>
            </a:r>
            <a:r>
              <a:rPr lang="en-US" sz="800" spc="-10" noProof="1">
                <a:latin typeface="Courier New"/>
                <a:cs typeface="Courier New"/>
              </a:rPr>
              <a:t>/cert</a:t>
            </a:r>
            <a:r>
              <a:rPr lang="en-US" sz="800" spc="-10" noProof="1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</a:pPr>
            <a:r>
              <a:rPr lang="en-US" sz="800" spc="-10" noProof="1">
                <a:solidFill>
                  <a:srgbClr val="666666"/>
                </a:solidFill>
                <a:latin typeface="Courier New"/>
                <a:cs typeface="Courier New"/>
              </a:rPr>
              <a:t>&lt;</a:t>
            </a:r>
            <a:r>
              <a:rPr lang="en-US" sz="800" spc="-10" noProof="1">
                <a:latin typeface="Courier New"/>
                <a:cs typeface="Courier New"/>
              </a:rPr>
              <a:t>key</a:t>
            </a:r>
            <a:r>
              <a:rPr lang="en-US" sz="800" spc="-10" noProof="1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endParaRPr lang="en-US" sz="800" noProof="1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0"/>
              </a:spcBef>
            </a:pPr>
            <a:r>
              <a:rPr lang="en-US" sz="800" spc="-60" noProof="1">
                <a:latin typeface="Courier New"/>
                <a:cs typeface="Courier New"/>
              </a:rPr>
              <a:t>Contents</a:t>
            </a:r>
            <a:r>
              <a:rPr lang="en-US" sz="800" spc="-35" noProof="1"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of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private</a:t>
            </a:r>
            <a:r>
              <a:rPr lang="en-US" sz="800" spc="-30" noProof="1"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key</a:t>
            </a:r>
            <a:r>
              <a:rPr lang="en-US" sz="800" spc="-35" noProof="1">
                <a:latin typeface="Courier New"/>
                <a:cs typeface="Courier New"/>
              </a:rPr>
              <a:t> </a:t>
            </a:r>
            <a:r>
              <a:rPr lang="en-US" sz="800" b="1" spc="-60" noProof="1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lang="en-US" sz="800" spc="-60" noProof="1">
                <a:latin typeface="Courier New"/>
                <a:cs typeface="Courier New"/>
              </a:rPr>
              <a:t>.key</a:t>
            </a:r>
            <a:r>
              <a:rPr lang="en-US" sz="800" b="1" spc="-60" noProof="1">
                <a:solidFill>
                  <a:srgbClr val="007021"/>
                </a:solidFill>
                <a:latin typeface="Courier New"/>
                <a:cs typeface="Courier New"/>
              </a:rPr>
              <a:t>)</a:t>
            </a:r>
            <a:r>
              <a:rPr lang="en-US" sz="800" b="1" spc="-30" noProof="1">
                <a:solidFill>
                  <a:srgbClr val="007021"/>
                </a:solidFill>
                <a:latin typeface="Courier New"/>
                <a:cs typeface="Courier New"/>
              </a:rPr>
              <a:t> </a:t>
            </a:r>
            <a:r>
              <a:rPr lang="en-US" sz="800" spc="-20" noProof="1">
                <a:solidFill>
                  <a:srgbClr val="05287C"/>
                </a:solidFill>
                <a:latin typeface="Courier New"/>
                <a:cs typeface="Courier New"/>
              </a:rPr>
              <a:t>file</a:t>
            </a:r>
            <a:endParaRPr lang="en-US" sz="800" noProof="1">
              <a:latin typeface="Courier New"/>
              <a:cs typeface="Courier New"/>
            </a:endParaRPr>
          </a:p>
          <a:p>
            <a:pPr marL="215900">
              <a:lnSpc>
                <a:spcPct val="100000"/>
              </a:lnSpc>
              <a:spcBef>
                <a:spcPts val="75"/>
              </a:spcBef>
            </a:pPr>
            <a:r>
              <a:rPr lang="en-US" sz="800" spc="-10" noProof="1">
                <a:solidFill>
                  <a:srgbClr val="666666"/>
                </a:solidFill>
                <a:latin typeface="Courier New"/>
                <a:cs typeface="Courier New"/>
              </a:rPr>
              <a:t>&lt;</a:t>
            </a:r>
            <a:r>
              <a:rPr lang="en-US" sz="800" spc="-10" noProof="1">
                <a:latin typeface="Courier New"/>
                <a:cs typeface="Courier New"/>
              </a:rPr>
              <a:t>/key</a:t>
            </a:r>
            <a:r>
              <a:rPr lang="en-US" sz="800" spc="-10" noProof="1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endParaRPr lang="en-US" sz="800" noProof="1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4937760" cy="5080"/>
            </a:xfrm>
            <a:custGeom>
              <a:avLst/>
              <a:gdLst/>
              <a:ahLst/>
              <a:cxnLst/>
              <a:rect l="l" t="t" r="r" b="b"/>
              <a:pathLst>
                <a:path w="4937760" h="5080">
                  <a:moveTo>
                    <a:pt x="0" y="5060"/>
                  </a:moveTo>
                  <a:lnTo>
                    <a:pt x="0" y="0"/>
                  </a:lnTo>
                  <a:lnTo>
                    <a:pt x="4937231" y="0"/>
                  </a:lnTo>
                  <a:lnTo>
                    <a:pt x="493723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0" noProof="1"/>
              <a:t>Setup</a:t>
            </a:r>
            <a:r>
              <a:rPr lang="en-US" spc="25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noProof="1"/>
              <a:t>Client</a:t>
            </a:r>
            <a:r>
              <a:rPr lang="en-US" spc="30" noProof="1"/>
              <a:t> </a:t>
            </a:r>
            <a:r>
              <a:rPr lang="en-US" spc="50" noProof="1"/>
              <a:t>VPN</a:t>
            </a:r>
            <a:r>
              <a:rPr lang="en-US" spc="30" noProof="1"/>
              <a:t> </a:t>
            </a:r>
            <a:r>
              <a:rPr lang="en-US" spc="-25" noProof="1"/>
              <a:t>endpoint</a:t>
            </a:r>
            <a:r>
              <a:rPr lang="en-US" spc="30" noProof="1"/>
              <a:t> </a:t>
            </a:r>
            <a:r>
              <a:rPr lang="en-US" spc="-30" noProof="1"/>
              <a:t>configuration</a:t>
            </a:r>
            <a:r>
              <a:rPr lang="en-US" spc="30" noProof="1"/>
              <a:t> </a:t>
            </a:r>
            <a:r>
              <a:rPr lang="en-US" spc="-20" noProof="1"/>
              <a:t>file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59994" y="880541"/>
            <a:ext cx="4089400" cy="474345"/>
            <a:chOff x="359994" y="880541"/>
            <a:chExt cx="4089400" cy="474345"/>
          </a:xfrm>
        </p:grpSpPr>
        <p:sp>
          <p:nvSpPr>
            <p:cNvPr id="4" name="object 4"/>
            <p:cNvSpPr/>
            <p:nvPr/>
          </p:nvSpPr>
          <p:spPr>
            <a:xfrm>
              <a:off x="1190586" y="880541"/>
              <a:ext cx="2536825" cy="139700"/>
            </a:xfrm>
            <a:custGeom>
              <a:avLst/>
              <a:gdLst/>
              <a:ahLst/>
              <a:cxnLst/>
              <a:rect l="l" t="t" r="r" b="b"/>
              <a:pathLst>
                <a:path w="2536825" h="139700">
                  <a:moveTo>
                    <a:pt x="250023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2500237" y="139090"/>
                  </a:lnTo>
                  <a:lnTo>
                    <a:pt x="2514250" y="136261"/>
                  </a:lnTo>
                  <a:lnTo>
                    <a:pt x="2525693" y="128546"/>
                  </a:lnTo>
                  <a:lnTo>
                    <a:pt x="2533408" y="117103"/>
                  </a:lnTo>
                  <a:lnTo>
                    <a:pt x="2536237" y="103090"/>
                  </a:lnTo>
                  <a:lnTo>
                    <a:pt x="2536237" y="36000"/>
                  </a:lnTo>
                  <a:lnTo>
                    <a:pt x="2533408" y="21987"/>
                  </a:lnTo>
                  <a:lnTo>
                    <a:pt x="2525693" y="10544"/>
                  </a:lnTo>
                  <a:lnTo>
                    <a:pt x="2514250" y="2829"/>
                  </a:lnTo>
                  <a:lnTo>
                    <a:pt x="250023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190586" y="880541"/>
              <a:ext cx="2536825" cy="139700"/>
            </a:xfrm>
            <a:custGeom>
              <a:avLst/>
              <a:gdLst/>
              <a:ahLst/>
              <a:cxnLst/>
              <a:rect l="l" t="t" r="r" b="b"/>
              <a:pathLst>
                <a:path w="2536825" h="139700">
                  <a:moveTo>
                    <a:pt x="250023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2500237" y="139090"/>
                  </a:lnTo>
                  <a:lnTo>
                    <a:pt x="2514250" y="136261"/>
                  </a:lnTo>
                  <a:lnTo>
                    <a:pt x="2525693" y="128546"/>
                  </a:lnTo>
                  <a:lnTo>
                    <a:pt x="2533408" y="117103"/>
                  </a:lnTo>
                  <a:lnTo>
                    <a:pt x="2536237" y="103090"/>
                  </a:lnTo>
                  <a:lnTo>
                    <a:pt x="2536237" y="36000"/>
                  </a:lnTo>
                  <a:lnTo>
                    <a:pt x="2533408" y="21987"/>
                  </a:lnTo>
                  <a:lnTo>
                    <a:pt x="2525693" y="10544"/>
                  </a:lnTo>
                  <a:lnTo>
                    <a:pt x="2514250" y="2829"/>
                  </a:lnTo>
                  <a:lnTo>
                    <a:pt x="250023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359994" y="1048066"/>
              <a:ext cx="1341120" cy="122555"/>
            </a:xfrm>
            <a:custGeom>
              <a:avLst/>
              <a:gdLst/>
              <a:ahLst/>
              <a:cxnLst/>
              <a:rect l="l" t="t" r="r" b="b"/>
              <a:pathLst>
                <a:path w="1341120" h="122555">
                  <a:moveTo>
                    <a:pt x="130455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009"/>
                  </a:lnTo>
                  <a:lnTo>
                    <a:pt x="2829" y="100022"/>
                  </a:lnTo>
                  <a:lnTo>
                    <a:pt x="10544" y="111465"/>
                  </a:lnTo>
                  <a:lnTo>
                    <a:pt x="21987" y="119181"/>
                  </a:lnTo>
                  <a:lnTo>
                    <a:pt x="36000" y="122010"/>
                  </a:lnTo>
                  <a:lnTo>
                    <a:pt x="1304554" y="122010"/>
                  </a:lnTo>
                  <a:lnTo>
                    <a:pt x="1318567" y="119181"/>
                  </a:lnTo>
                  <a:lnTo>
                    <a:pt x="1330011" y="111465"/>
                  </a:lnTo>
                  <a:lnTo>
                    <a:pt x="1337726" y="100022"/>
                  </a:lnTo>
                  <a:lnTo>
                    <a:pt x="1340555" y="86009"/>
                  </a:lnTo>
                  <a:lnTo>
                    <a:pt x="1340555" y="36000"/>
                  </a:lnTo>
                  <a:lnTo>
                    <a:pt x="1337726" y="21987"/>
                  </a:lnTo>
                  <a:lnTo>
                    <a:pt x="1330011" y="10544"/>
                  </a:lnTo>
                  <a:lnTo>
                    <a:pt x="1318567" y="2829"/>
                  </a:lnTo>
                  <a:lnTo>
                    <a:pt x="1304554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359994" y="1048066"/>
              <a:ext cx="1341120" cy="122555"/>
            </a:xfrm>
            <a:custGeom>
              <a:avLst/>
              <a:gdLst/>
              <a:ahLst/>
              <a:cxnLst/>
              <a:rect l="l" t="t" r="r" b="b"/>
              <a:pathLst>
                <a:path w="1341120" h="122555">
                  <a:moveTo>
                    <a:pt x="130455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009"/>
                  </a:lnTo>
                  <a:lnTo>
                    <a:pt x="2829" y="100022"/>
                  </a:lnTo>
                  <a:lnTo>
                    <a:pt x="10544" y="111465"/>
                  </a:lnTo>
                  <a:lnTo>
                    <a:pt x="21987" y="119181"/>
                  </a:lnTo>
                  <a:lnTo>
                    <a:pt x="36000" y="122010"/>
                  </a:lnTo>
                  <a:lnTo>
                    <a:pt x="1304554" y="122010"/>
                  </a:lnTo>
                  <a:lnTo>
                    <a:pt x="1318567" y="119181"/>
                  </a:lnTo>
                  <a:lnTo>
                    <a:pt x="1330011" y="111465"/>
                  </a:lnTo>
                  <a:lnTo>
                    <a:pt x="1337726" y="100022"/>
                  </a:lnTo>
                  <a:lnTo>
                    <a:pt x="1340555" y="86009"/>
                  </a:lnTo>
                  <a:lnTo>
                    <a:pt x="1340555" y="36000"/>
                  </a:lnTo>
                  <a:lnTo>
                    <a:pt x="1337726" y="21987"/>
                  </a:lnTo>
                  <a:lnTo>
                    <a:pt x="1330011" y="10544"/>
                  </a:lnTo>
                  <a:lnTo>
                    <a:pt x="1318567" y="2829"/>
                  </a:lnTo>
                  <a:lnTo>
                    <a:pt x="130455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2331389" y="1039872"/>
              <a:ext cx="2118360" cy="155575"/>
            </a:xfrm>
            <a:custGeom>
              <a:avLst/>
              <a:gdLst/>
              <a:ahLst/>
              <a:cxnLst/>
              <a:rect l="l" t="t" r="r" b="b"/>
              <a:pathLst>
                <a:path w="2118360" h="155575">
                  <a:moveTo>
                    <a:pt x="208174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2081748" y="155489"/>
                  </a:lnTo>
                  <a:lnTo>
                    <a:pt x="2095761" y="152659"/>
                  </a:lnTo>
                  <a:lnTo>
                    <a:pt x="2107204" y="144944"/>
                  </a:lnTo>
                  <a:lnTo>
                    <a:pt x="2114919" y="133501"/>
                  </a:lnTo>
                  <a:lnTo>
                    <a:pt x="2117748" y="119488"/>
                  </a:lnTo>
                  <a:lnTo>
                    <a:pt x="2117748" y="36000"/>
                  </a:lnTo>
                  <a:lnTo>
                    <a:pt x="2114919" y="21987"/>
                  </a:lnTo>
                  <a:lnTo>
                    <a:pt x="2107204" y="10544"/>
                  </a:lnTo>
                  <a:lnTo>
                    <a:pt x="2095761" y="2829"/>
                  </a:lnTo>
                  <a:lnTo>
                    <a:pt x="2081748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2331389" y="1039872"/>
              <a:ext cx="2118360" cy="155575"/>
            </a:xfrm>
            <a:custGeom>
              <a:avLst/>
              <a:gdLst/>
              <a:ahLst/>
              <a:cxnLst/>
              <a:rect l="l" t="t" r="r" b="b"/>
              <a:pathLst>
                <a:path w="2118360" h="155575">
                  <a:moveTo>
                    <a:pt x="2081748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9488"/>
                  </a:lnTo>
                  <a:lnTo>
                    <a:pt x="2829" y="133501"/>
                  </a:lnTo>
                  <a:lnTo>
                    <a:pt x="10544" y="144944"/>
                  </a:lnTo>
                  <a:lnTo>
                    <a:pt x="21987" y="152659"/>
                  </a:lnTo>
                  <a:lnTo>
                    <a:pt x="36000" y="155489"/>
                  </a:lnTo>
                  <a:lnTo>
                    <a:pt x="2081748" y="155489"/>
                  </a:lnTo>
                  <a:lnTo>
                    <a:pt x="2095761" y="152659"/>
                  </a:lnTo>
                  <a:lnTo>
                    <a:pt x="2107204" y="144944"/>
                  </a:lnTo>
                  <a:lnTo>
                    <a:pt x="2114919" y="133501"/>
                  </a:lnTo>
                  <a:lnTo>
                    <a:pt x="2117748" y="119488"/>
                  </a:lnTo>
                  <a:lnTo>
                    <a:pt x="2117748" y="36000"/>
                  </a:lnTo>
                  <a:lnTo>
                    <a:pt x="2114919" y="21987"/>
                  </a:lnTo>
                  <a:lnTo>
                    <a:pt x="2107204" y="10544"/>
                  </a:lnTo>
                  <a:lnTo>
                    <a:pt x="2095761" y="2829"/>
                  </a:lnTo>
                  <a:lnTo>
                    <a:pt x="208174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687158" y="1207393"/>
              <a:ext cx="1341120" cy="147320"/>
            </a:xfrm>
            <a:custGeom>
              <a:avLst/>
              <a:gdLst/>
              <a:ahLst/>
              <a:cxnLst/>
              <a:rect l="l" t="t" r="r" b="b"/>
              <a:pathLst>
                <a:path w="1341120" h="147319">
                  <a:moveTo>
                    <a:pt x="130455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1304554" y="147290"/>
                  </a:lnTo>
                  <a:lnTo>
                    <a:pt x="1318567" y="144460"/>
                  </a:lnTo>
                  <a:lnTo>
                    <a:pt x="1330011" y="136745"/>
                  </a:lnTo>
                  <a:lnTo>
                    <a:pt x="1337726" y="125302"/>
                  </a:lnTo>
                  <a:lnTo>
                    <a:pt x="1340555" y="111289"/>
                  </a:lnTo>
                  <a:lnTo>
                    <a:pt x="1340555" y="36000"/>
                  </a:lnTo>
                  <a:lnTo>
                    <a:pt x="1337726" y="21987"/>
                  </a:lnTo>
                  <a:lnTo>
                    <a:pt x="1330011" y="10544"/>
                  </a:lnTo>
                  <a:lnTo>
                    <a:pt x="1318567" y="2829"/>
                  </a:lnTo>
                  <a:lnTo>
                    <a:pt x="1304554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1" name="object 11"/>
            <p:cNvSpPr/>
            <p:nvPr/>
          </p:nvSpPr>
          <p:spPr>
            <a:xfrm>
              <a:off x="687158" y="1207393"/>
              <a:ext cx="1341120" cy="147320"/>
            </a:xfrm>
            <a:custGeom>
              <a:avLst/>
              <a:gdLst/>
              <a:ahLst/>
              <a:cxnLst/>
              <a:rect l="l" t="t" r="r" b="b"/>
              <a:pathLst>
                <a:path w="1341120" h="147319">
                  <a:moveTo>
                    <a:pt x="130455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289"/>
                  </a:lnTo>
                  <a:lnTo>
                    <a:pt x="2829" y="125302"/>
                  </a:lnTo>
                  <a:lnTo>
                    <a:pt x="10544" y="136745"/>
                  </a:lnTo>
                  <a:lnTo>
                    <a:pt x="21987" y="144460"/>
                  </a:lnTo>
                  <a:lnTo>
                    <a:pt x="36000" y="147290"/>
                  </a:lnTo>
                  <a:lnTo>
                    <a:pt x="1304554" y="147290"/>
                  </a:lnTo>
                  <a:lnTo>
                    <a:pt x="1318567" y="144460"/>
                  </a:lnTo>
                  <a:lnTo>
                    <a:pt x="1330011" y="136745"/>
                  </a:lnTo>
                  <a:lnTo>
                    <a:pt x="1337726" y="125302"/>
                  </a:lnTo>
                  <a:lnTo>
                    <a:pt x="1340555" y="111289"/>
                  </a:lnTo>
                  <a:lnTo>
                    <a:pt x="1340555" y="36000"/>
                  </a:lnTo>
                  <a:lnTo>
                    <a:pt x="1337726" y="21987"/>
                  </a:lnTo>
                  <a:lnTo>
                    <a:pt x="1330011" y="10544"/>
                  </a:lnTo>
                  <a:lnTo>
                    <a:pt x="1318567" y="2829"/>
                  </a:lnTo>
                  <a:lnTo>
                    <a:pt x="130455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372646" y="1819255"/>
            <a:ext cx="5015230" cy="443865"/>
            <a:chOff x="372646" y="1819255"/>
            <a:chExt cx="5015230" cy="443865"/>
          </a:xfrm>
        </p:grpSpPr>
        <p:sp>
          <p:nvSpPr>
            <p:cNvPr id="13" name="object 13"/>
            <p:cNvSpPr/>
            <p:nvPr/>
          </p:nvSpPr>
          <p:spPr>
            <a:xfrm>
              <a:off x="377994" y="1824602"/>
              <a:ext cx="5004435" cy="433070"/>
            </a:xfrm>
            <a:custGeom>
              <a:avLst/>
              <a:gdLst/>
              <a:ahLst/>
              <a:cxnLst/>
              <a:rect l="l" t="t" r="r" b="b"/>
              <a:pathLst>
                <a:path w="5004435" h="433069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396792"/>
                  </a:lnTo>
                  <a:lnTo>
                    <a:pt x="2829" y="410805"/>
                  </a:lnTo>
                  <a:lnTo>
                    <a:pt x="10544" y="422248"/>
                  </a:lnTo>
                  <a:lnTo>
                    <a:pt x="21987" y="429963"/>
                  </a:lnTo>
                  <a:lnTo>
                    <a:pt x="36000" y="432792"/>
                  </a:lnTo>
                  <a:lnTo>
                    <a:pt x="4968064" y="432792"/>
                  </a:lnTo>
                  <a:lnTo>
                    <a:pt x="4982077" y="429963"/>
                  </a:lnTo>
                  <a:lnTo>
                    <a:pt x="4993521" y="422248"/>
                  </a:lnTo>
                  <a:lnTo>
                    <a:pt x="5001236" y="410805"/>
                  </a:lnTo>
                  <a:lnTo>
                    <a:pt x="5004065" y="396792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4" name="object 14"/>
            <p:cNvSpPr/>
            <p:nvPr/>
          </p:nvSpPr>
          <p:spPr>
            <a:xfrm>
              <a:off x="378973" y="1825581"/>
              <a:ext cx="5002530" cy="431165"/>
            </a:xfrm>
            <a:custGeom>
              <a:avLst/>
              <a:gdLst/>
              <a:ahLst/>
              <a:cxnLst/>
              <a:rect l="l" t="t" r="r" b="b"/>
              <a:pathLst>
                <a:path w="5002530" h="431164">
                  <a:moveTo>
                    <a:pt x="0" y="395813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395813"/>
                  </a:lnTo>
                  <a:lnTo>
                    <a:pt x="4999354" y="409445"/>
                  </a:lnTo>
                  <a:lnTo>
                    <a:pt x="4991849" y="420576"/>
                  </a:lnTo>
                  <a:lnTo>
                    <a:pt x="4980717" y="428082"/>
                  </a:lnTo>
                  <a:lnTo>
                    <a:pt x="4967085" y="430834"/>
                  </a:lnTo>
                  <a:lnTo>
                    <a:pt x="35021" y="430834"/>
                  </a:lnTo>
                  <a:lnTo>
                    <a:pt x="21389" y="428082"/>
                  </a:lnTo>
                  <a:lnTo>
                    <a:pt x="10257" y="420576"/>
                  </a:lnTo>
                  <a:lnTo>
                    <a:pt x="2752" y="409445"/>
                  </a:lnTo>
                  <a:lnTo>
                    <a:pt x="0" y="395813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785912" y="2365466"/>
            <a:ext cx="1759585" cy="147320"/>
            <a:chOff x="1785912" y="2365466"/>
            <a:chExt cx="1759585" cy="147320"/>
          </a:xfrm>
        </p:grpSpPr>
        <p:sp>
          <p:nvSpPr>
            <p:cNvPr id="16" name="object 16"/>
            <p:cNvSpPr/>
            <p:nvPr/>
          </p:nvSpPr>
          <p:spPr>
            <a:xfrm>
              <a:off x="1785912" y="2365466"/>
              <a:ext cx="1759585" cy="147320"/>
            </a:xfrm>
            <a:custGeom>
              <a:avLst/>
              <a:gdLst/>
              <a:ahLst/>
              <a:cxnLst/>
              <a:rect l="l" t="t" r="r" b="b"/>
              <a:pathLst>
                <a:path w="1759585" h="147319">
                  <a:moveTo>
                    <a:pt x="172304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720"/>
                  </a:lnTo>
                  <a:lnTo>
                    <a:pt x="2829" y="124733"/>
                  </a:lnTo>
                  <a:lnTo>
                    <a:pt x="10544" y="136176"/>
                  </a:lnTo>
                  <a:lnTo>
                    <a:pt x="21987" y="143891"/>
                  </a:lnTo>
                  <a:lnTo>
                    <a:pt x="36000" y="146720"/>
                  </a:lnTo>
                  <a:lnTo>
                    <a:pt x="1723043" y="146720"/>
                  </a:lnTo>
                  <a:lnTo>
                    <a:pt x="1737056" y="143891"/>
                  </a:lnTo>
                  <a:lnTo>
                    <a:pt x="1748499" y="136176"/>
                  </a:lnTo>
                  <a:lnTo>
                    <a:pt x="1756214" y="124733"/>
                  </a:lnTo>
                  <a:lnTo>
                    <a:pt x="1759043" y="110720"/>
                  </a:lnTo>
                  <a:lnTo>
                    <a:pt x="1759043" y="36000"/>
                  </a:lnTo>
                  <a:lnTo>
                    <a:pt x="1756214" y="21987"/>
                  </a:lnTo>
                  <a:lnTo>
                    <a:pt x="1748499" y="10544"/>
                  </a:lnTo>
                  <a:lnTo>
                    <a:pt x="1737056" y="2829"/>
                  </a:lnTo>
                  <a:lnTo>
                    <a:pt x="172304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7" name="object 17"/>
            <p:cNvSpPr/>
            <p:nvPr/>
          </p:nvSpPr>
          <p:spPr>
            <a:xfrm>
              <a:off x="1785912" y="2365466"/>
              <a:ext cx="1759585" cy="147320"/>
            </a:xfrm>
            <a:custGeom>
              <a:avLst/>
              <a:gdLst/>
              <a:ahLst/>
              <a:cxnLst/>
              <a:rect l="l" t="t" r="r" b="b"/>
              <a:pathLst>
                <a:path w="1759585" h="147319">
                  <a:moveTo>
                    <a:pt x="172304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720"/>
                  </a:lnTo>
                  <a:lnTo>
                    <a:pt x="2829" y="124733"/>
                  </a:lnTo>
                  <a:lnTo>
                    <a:pt x="10544" y="136176"/>
                  </a:lnTo>
                  <a:lnTo>
                    <a:pt x="21987" y="143891"/>
                  </a:lnTo>
                  <a:lnTo>
                    <a:pt x="36000" y="146720"/>
                  </a:lnTo>
                  <a:lnTo>
                    <a:pt x="1723043" y="146720"/>
                  </a:lnTo>
                  <a:lnTo>
                    <a:pt x="1737056" y="143891"/>
                  </a:lnTo>
                  <a:lnTo>
                    <a:pt x="1748499" y="136176"/>
                  </a:lnTo>
                  <a:lnTo>
                    <a:pt x="1756214" y="124733"/>
                  </a:lnTo>
                  <a:lnTo>
                    <a:pt x="1759043" y="110720"/>
                  </a:lnTo>
                  <a:lnTo>
                    <a:pt x="1759043" y="36000"/>
                  </a:lnTo>
                  <a:lnTo>
                    <a:pt x="1756214" y="21987"/>
                  </a:lnTo>
                  <a:lnTo>
                    <a:pt x="1748499" y="10544"/>
                  </a:lnTo>
                  <a:lnTo>
                    <a:pt x="1737056" y="2829"/>
                  </a:lnTo>
                  <a:lnTo>
                    <a:pt x="172304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43318" y="835612"/>
            <a:ext cx="5282781" cy="16721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replace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0" noProof="1">
                <a:latin typeface="Courier New"/>
                <a:cs typeface="Courier New"/>
              </a:rPr>
              <a:t>Contents </a:t>
            </a:r>
            <a:r>
              <a:rPr lang="en-US" sz="900" spc="-75" noProof="1">
                <a:latin typeface="Courier New"/>
                <a:cs typeface="Courier New"/>
              </a:rPr>
              <a:t>of</a:t>
            </a:r>
            <a:r>
              <a:rPr lang="en-US" sz="900" spc="-70" noProof="1">
                <a:latin typeface="Courier New"/>
                <a:cs typeface="Courier New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client</a:t>
            </a:r>
            <a:r>
              <a:rPr lang="en-US" sz="900" spc="-70" noProof="1">
                <a:latin typeface="Courier New"/>
                <a:cs typeface="Courier New"/>
              </a:rPr>
              <a:t> certificate </a:t>
            </a:r>
            <a:r>
              <a:rPr lang="en-US" sz="900" spc="-75" noProof="1">
                <a:latin typeface="Courier New"/>
                <a:cs typeface="Courier New"/>
              </a:rPr>
              <a:t>(.crt)</a:t>
            </a:r>
            <a:r>
              <a:rPr lang="en-US" sz="900" spc="-70" noProof="1">
                <a:latin typeface="Courier New"/>
                <a:cs typeface="Courier New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file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content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75" noProof="1">
                <a:latin typeface="Courier New"/>
                <a:cs typeface="Courier New"/>
              </a:rPr>
              <a:t>client1.domain.tld.crt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0" noProof="1">
                <a:latin typeface="Courier New"/>
                <a:cs typeface="Courier New"/>
              </a:rPr>
              <a:t>Contents </a:t>
            </a:r>
            <a:r>
              <a:rPr lang="en-US" sz="900" spc="-75" noProof="1">
                <a:latin typeface="Courier New"/>
                <a:cs typeface="Courier New"/>
              </a:rPr>
              <a:t>of</a:t>
            </a:r>
            <a:r>
              <a:rPr lang="en-US" sz="900" spc="-70" noProof="1">
                <a:latin typeface="Courier New"/>
                <a:cs typeface="Courier New"/>
              </a:rPr>
              <a:t> private</a:t>
            </a:r>
            <a:r>
              <a:rPr lang="en-US" sz="900" spc="-65" noProof="1">
                <a:latin typeface="Courier New"/>
                <a:cs typeface="Courier New"/>
              </a:rPr>
              <a:t> </a:t>
            </a:r>
            <a:r>
              <a:rPr lang="en-US" sz="900" spc="-70" noProof="1">
                <a:latin typeface="Courier New"/>
                <a:cs typeface="Courier New"/>
              </a:rPr>
              <a:t>key </a:t>
            </a:r>
            <a:r>
              <a:rPr lang="en-US" sz="900" spc="-75" noProof="1">
                <a:latin typeface="Courier New"/>
                <a:cs typeface="Courier New"/>
              </a:rPr>
              <a:t>(.key)</a:t>
            </a:r>
            <a:r>
              <a:rPr lang="en-US" sz="900" spc="-70" noProof="1">
                <a:latin typeface="Courier New"/>
                <a:cs typeface="Courier New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file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content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client1.domain.tld.key</a:t>
            </a:r>
            <a:r>
              <a:rPr lang="en-US" sz="900" spc="-110" noProof="1">
                <a:latin typeface="Courier New"/>
                <a:cs typeface="Courier New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file.</a:t>
            </a:r>
            <a:endParaRPr lang="en-US" sz="900" noProof="1">
              <a:latin typeface="Arial"/>
              <a:cs typeface="Arial"/>
            </a:endParaRPr>
          </a:p>
          <a:p>
            <a:pPr marL="16510" marR="112395" indent="-4445">
              <a:lnSpc>
                <a:spcPct val="116199"/>
              </a:lnSpc>
              <a:spcBef>
                <a:spcPts val="62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obtain 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contents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of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those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files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run 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commands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on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terminal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have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opened: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4629" marR="3348990">
              <a:lnSpc>
                <a:spcPct val="107400"/>
              </a:lnSpc>
            </a:pPr>
            <a:r>
              <a:rPr lang="en-US" sz="800" spc="-50" noProof="1">
                <a:solidFill>
                  <a:srgbClr val="05287C"/>
                </a:solidFill>
                <a:latin typeface="Courier New"/>
                <a:cs typeface="Courier New"/>
              </a:rPr>
              <a:t>$ cat</a:t>
            </a:r>
            <a:r>
              <a:rPr lang="en-US" sz="800" spc="-70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client1.domain.tld.crt </a:t>
            </a:r>
          </a:p>
          <a:p>
            <a:pPr marL="214629" marR="3348990">
              <a:lnSpc>
                <a:spcPct val="107400"/>
              </a:lnSpc>
            </a:pPr>
            <a:r>
              <a:rPr lang="en-US" sz="800" spc="-60" noProof="1">
                <a:solidFill>
                  <a:srgbClr val="05287C"/>
                </a:solidFill>
                <a:latin typeface="Courier New"/>
                <a:cs typeface="Courier New"/>
              </a:rPr>
              <a:t>$ </a:t>
            </a:r>
            <a:r>
              <a:rPr lang="en-US" sz="800" spc="-50" noProof="1">
                <a:solidFill>
                  <a:srgbClr val="05287C"/>
                </a:solidFill>
                <a:latin typeface="Courier New"/>
                <a:cs typeface="Courier New"/>
              </a:rPr>
              <a:t>cat</a:t>
            </a:r>
            <a:r>
              <a:rPr lang="en-US" sz="800" spc="-70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client1.domain.tld.key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6510">
              <a:lnSpc>
                <a:spcPct val="100000"/>
              </a:lnSpc>
            </a:pP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Once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done,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save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downloaded-client-config.ovpn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file.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20" name="object 20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2" name="object 22"/>
            <p:cNvSpPr/>
            <p:nvPr/>
          </p:nvSpPr>
          <p:spPr>
            <a:xfrm>
              <a:off x="0" y="3234963"/>
              <a:ext cx="4986020" cy="5080"/>
            </a:xfrm>
            <a:custGeom>
              <a:avLst/>
              <a:gdLst/>
              <a:ahLst/>
              <a:cxnLst/>
              <a:rect l="l" t="t" r="r" b="b"/>
              <a:pathLst>
                <a:path w="4986020" h="5080">
                  <a:moveTo>
                    <a:pt x="0" y="5060"/>
                  </a:moveTo>
                  <a:lnTo>
                    <a:pt x="0" y="0"/>
                  </a:lnTo>
                  <a:lnTo>
                    <a:pt x="4985571" y="0"/>
                  </a:lnTo>
                  <a:lnTo>
                    <a:pt x="498557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5" noProof="1"/>
              <a:t>Connect</a:t>
            </a:r>
            <a:r>
              <a:rPr lang="en-US" spc="45" noProof="1"/>
              <a:t> </a:t>
            </a:r>
            <a:r>
              <a:rPr lang="en-US" noProof="1"/>
              <a:t>to</a:t>
            </a:r>
            <a:r>
              <a:rPr lang="en-US" spc="45" noProof="1"/>
              <a:t> </a:t>
            </a:r>
            <a:r>
              <a:rPr lang="en-US" noProof="1"/>
              <a:t>the</a:t>
            </a:r>
            <a:r>
              <a:rPr lang="en-US" spc="45" noProof="1"/>
              <a:t> </a:t>
            </a:r>
            <a:r>
              <a:rPr lang="en-US" noProof="1"/>
              <a:t>Client</a:t>
            </a:r>
            <a:r>
              <a:rPr lang="en-US" spc="50" noProof="1"/>
              <a:t> VPN</a:t>
            </a:r>
            <a:r>
              <a:rPr lang="en-US" spc="45" noProof="1"/>
              <a:t> </a:t>
            </a:r>
            <a:r>
              <a:rPr lang="en-US" spc="-25" noProof="1"/>
              <a:t>endpoint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913837" y="1667847"/>
            <a:ext cx="264795" cy="121285"/>
            <a:chOff x="2913837" y="1667847"/>
            <a:chExt cx="264795" cy="121285"/>
          </a:xfrm>
        </p:grpSpPr>
        <p:sp>
          <p:nvSpPr>
            <p:cNvPr id="4" name="object 4"/>
            <p:cNvSpPr/>
            <p:nvPr/>
          </p:nvSpPr>
          <p:spPr>
            <a:xfrm>
              <a:off x="2913837" y="1667847"/>
              <a:ext cx="264795" cy="121285"/>
            </a:xfrm>
            <a:custGeom>
              <a:avLst/>
              <a:gdLst/>
              <a:ahLst/>
              <a:cxnLst/>
              <a:rect l="l" t="t" r="r" b="b"/>
              <a:pathLst>
                <a:path w="264794" h="121285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228441" y="120757"/>
                  </a:lnTo>
                  <a:lnTo>
                    <a:pt x="242454" y="117928"/>
                  </a:lnTo>
                  <a:lnTo>
                    <a:pt x="253897" y="110213"/>
                  </a:lnTo>
                  <a:lnTo>
                    <a:pt x="261612" y="98770"/>
                  </a:lnTo>
                  <a:lnTo>
                    <a:pt x="264441" y="84757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2913837" y="1667847"/>
              <a:ext cx="264795" cy="121285"/>
            </a:xfrm>
            <a:custGeom>
              <a:avLst/>
              <a:gdLst/>
              <a:ahLst/>
              <a:cxnLst/>
              <a:rect l="l" t="t" r="r" b="b"/>
              <a:pathLst>
                <a:path w="264794" h="121285">
                  <a:moveTo>
                    <a:pt x="2284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228441" y="120757"/>
                  </a:lnTo>
                  <a:lnTo>
                    <a:pt x="242454" y="117928"/>
                  </a:lnTo>
                  <a:lnTo>
                    <a:pt x="253897" y="110213"/>
                  </a:lnTo>
                  <a:lnTo>
                    <a:pt x="261612" y="98770"/>
                  </a:lnTo>
                  <a:lnTo>
                    <a:pt x="264441" y="84757"/>
                  </a:lnTo>
                  <a:lnTo>
                    <a:pt x="264441" y="36000"/>
                  </a:lnTo>
                  <a:lnTo>
                    <a:pt x="261612" y="21987"/>
                  </a:lnTo>
                  <a:lnTo>
                    <a:pt x="253897" y="10544"/>
                  </a:lnTo>
                  <a:lnTo>
                    <a:pt x="242454" y="2829"/>
                  </a:lnTo>
                  <a:lnTo>
                    <a:pt x="2284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346627" y="1667271"/>
            <a:ext cx="922655" cy="147320"/>
            <a:chOff x="3346627" y="1667271"/>
            <a:chExt cx="922655" cy="147320"/>
          </a:xfrm>
        </p:grpSpPr>
        <p:sp>
          <p:nvSpPr>
            <p:cNvPr id="7" name="object 7"/>
            <p:cNvSpPr/>
            <p:nvPr/>
          </p:nvSpPr>
          <p:spPr>
            <a:xfrm>
              <a:off x="3346627" y="1667271"/>
              <a:ext cx="922655" cy="147320"/>
            </a:xfrm>
            <a:custGeom>
              <a:avLst/>
              <a:gdLst/>
              <a:ahLst/>
              <a:cxnLst/>
              <a:rect l="l" t="t" r="r" b="b"/>
              <a:pathLst>
                <a:path w="922654" h="147319">
                  <a:moveTo>
                    <a:pt x="886066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720"/>
                  </a:lnTo>
                  <a:lnTo>
                    <a:pt x="2829" y="124733"/>
                  </a:lnTo>
                  <a:lnTo>
                    <a:pt x="10544" y="136176"/>
                  </a:lnTo>
                  <a:lnTo>
                    <a:pt x="21987" y="143891"/>
                  </a:lnTo>
                  <a:lnTo>
                    <a:pt x="36000" y="146720"/>
                  </a:lnTo>
                  <a:lnTo>
                    <a:pt x="886066" y="146720"/>
                  </a:lnTo>
                  <a:lnTo>
                    <a:pt x="900079" y="143891"/>
                  </a:lnTo>
                  <a:lnTo>
                    <a:pt x="911522" y="136176"/>
                  </a:lnTo>
                  <a:lnTo>
                    <a:pt x="919237" y="124733"/>
                  </a:lnTo>
                  <a:lnTo>
                    <a:pt x="922066" y="110720"/>
                  </a:lnTo>
                  <a:lnTo>
                    <a:pt x="922066" y="36000"/>
                  </a:lnTo>
                  <a:lnTo>
                    <a:pt x="919237" y="21987"/>
                  </a:lnTo>
                  <a:lnTo>
                    <a:pt x="911522" y="10544"/>
                  </a:lnTo>
                  <a:lnTo>
                    <a:pt x="900079" y="2829"/>
                  </a:lnTo>
                  <a:lnTo>
                    <a:pt x="886066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3346627" y="1667271"/>
              <a:ext cx="922655" cy="147320"/>
            </a:xfrm>
            <a:custGeom>
              <a:avLst/>
              <a:gdLst/>
              <a:ahLst/>
              <a:cxnLst/>
              <a:rect l="l" t="t" r="r" b="b"/>
              <a:pathLst>
                <a:path w="922654" h="147319">
                  <a:moveTo>
                    <a:pt x="886066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720"/>
                  </a:lnTo>
                  <a:lnTo>
                    <a:pt x="2829" y="124733"/>
                  </a:lnTo>
                  <a:lnTo>
                    <a:pt x="10544" y="136176"/>
                  </a:lnTo>
                  <a:lnTo>
                    <a:pt x="21987" y="143891"/>
                  </a:lnTo>
                  <a:lnTo>
                    <a:pt x="36000" y="146720"/>
                  </a:lnTo>
                  <a:lnTo>
                    <a:pt x="886066" y="146720"/>
                  </a:lnTo>
                  <a:lnTo>
                    <a:pt x="900079" y="143891"/>
                  </a:lnTo>
                  <a:lnTo>
                    <a:pt x="911522" y="136176"/>
                  </a:lnTo>
                  <a:lnTo>
                    <a:pt x="919237" y="124733"/>
                  </a:lnTo>
                  <a:lnTo>
                    <a:pt x="922066" y="110720"/>
                  </a:lnTo>
                  <a:lnTo>
                    <a:pt x="922066" y="36000"/>
                  </a:lnTo>
                  <a:lnTo>
                    <a:pt x="919237" y="21987"/>
                  </a:lnTo>
                  <a:lnTo>
                    <a:pt x="911522" y="10544"/>
                  </a:lnTo>
                  <a:lnTo>
                    <a:pt x="900079" y="2829"/>
                  </a:lnTo>
                  <a:lnTo>
                    <a:pt x="886066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437024" y="1666252"/>
            <a:ext cx="683260" cy="122555"/>
            <a:chOff x="4437024" y="1666252"/>
            <a:chExt cx="683260" cy="122555"/>
          </a:xfrm>
        </p:grpSpPr>
        <p:sp>
          <p:nvSpPr>
            <p:cNvPr id="10" name="object 10"/>
            <p:cNvSpPr/>
            <p:nvPr/>
          </p:nvSpPr>
          <p:spPr>
            <a:xfrm>
              <a:off x="4437024" y="1666252"/>
              <a:ext cx="683260" cy="122555"/>
            </a:xfrm>
            <a:custGeom>
              <a:avLst/>
              <a:gdLst/>
              <a:ahLst/>
              <a:cxnLst/>
              <a:rect l="l" t="t" r="r" b="b"/>
              <a:pathLst>
                <a:path w="683260" h="122555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351"/>
                  </a:lnTo>
                  <a:lnTo>
                    <a:pt x="2829" y="100364"/>
                  </a:lnTo>
                  <a:lnTo>
                    <a:pt x="10544" y="111807"/>
                  </a:lnTo>
                  <a:lnTo>
                    <a:pt x="21987" y="119522"/>
                  </a:lnTo>
                  <a:lnTo>
                    <a:pt x="36000" y="122351"/>
                  </a:lnTo>
                  <a:lnTo>
                    <a:pt x="646930" y="122351"/>
                  </a:lnTo>
                  <a:lnTo>
                    <a:pt x="660943" y="119522"/>
                  </a:lnTo>
                  <a:lnTo>
                    <a:pt x="672386" y="111807"/>
                  </a:lnTo>
                  <a:lnTo>
                    <a:pt x="680101" y="100364"/>
                  </a:lnTo>
                  <a:lnTo>
                    <a:pt x="682930" y="86351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1" name="object 11"/>
            <p:cNvSpPr/>
            <p:nvPr/>
          </p:nvSpPr>
          <p:spPr>
            <a:xfrm>
              <a:off x="4437024" y="1666252"/>
              <a:ext cx="683260" cy="122555"/>
            </a:xfrm>
            <a:custGeom>
              <a:avLst/>
              <a:gdLst/>
              <a:ahLst/>
              <a:cxnLst/>
              <a:rect l="l" t="t" r="r" b="b"/>
              <a:pathLst>
                <a:path w="683260" h="122555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351"/>
                  </a:lnTo>
                  <a:lnTo>
                    <a:pt x="2829" y="100364"/>
                  </a:lnTo>
                  <a:lnTo>
                    <a:pt x="10544" y="111807"/>
                  </a:lnTo>
                  <a:lnTo>
                    <a:pt x="21987" y="119522"/>
                  </a:lnTo>
                  <a:lnTo>
                    <a:pt x="36000" y="122351"/>
                  </a:lnTo>
                  <a:lnTo>
                    <a:pt x="646930" y="122351"/>
                  </a:lnTo>
                  <a:lnTo>
                    <a:pt x="660943" y="119522"/>
                  </a:lnTo>
                  <a:lnTo>
                    <a:pt x="672386" y="111807"/>
                  </a:lnTo>
                  <a:lnTo>
                    <a:pt x="680101" y="100364"/>
                  </a:lnTo>
                  <a:lnTo>
                    <a:pt x="682930" y="86351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1080249" y="1985926"/>
            <a:ext cx="1759585" cy="147320"/>
            <a:chOff x="1080249" y="1985926"/>
            <a:chExt cx="1759585" cy="147320"/>
          </a:xfrm>
        </p:grpSpPr>
        <p:sp>
          <p:nvSpPr>
            <p:cNvPr id="13" name="object 13"/>
            <p:cNvSpPr/>
            <p:nvPr/>
          </p:nvSpPr>
          <p:spPr>
            <a:xfrm>
              <a:off x="1080249" y="1985926"/>
              <a:ext cx="1759585" cy="147320"/>
            </a:xfrm>
            <a:custGeom>
              <a:avLst/>
              <a:gdLst/>
              <a:ahLst/>
              <a:cxnLst/>
              <a:rect l="l" t="t" r="r" b="b"/>
              <a:pathLst>
                <a:path w="1759585" h="147319">
                  <a:moveTo>
                    <a:pt x="172304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720"/>
                  </a:lnTo>
                  <a:lnTo>
                    <a:pt x="2829" y="124733"/>
                  </a:lnTo>
                  <a:lnTo>
                    <a:pt x="10544" y="136176"/>
                  </a:lnTo>
                  <a:lnTo>
                    <a:pt x="21987" y="143891"/>
                  </a:lnTo>
                  <a:lnTo>
                    <a:pt x="36000" y="146720"/>
                  </a:lnTo>
                  <a:lnTo>
                    <a:pt x="1723043" y="146720"/>
                  </a:lnTo>
                  <a:lnTo>
                    <a:pt x="1737056" y="143891"/>
                  </a:lnTo>
                  <a:lnTo>
                    <a:pt x="1748499" y="136176"/>
                  </a:lnTo>
                  <a:lnTo>
                    <a:pt x="1756214" y="124733"/>
                  </a:lnTo>
                  <a:lnTo>
                    <a:pt x="1759043" y="110720"/>
                  </a:lnTo>
                  <a:lnTo>
                    <a:pt x="1759043" y="36000"/>
                  </a:lnTo>
                  <a:lnTo>
                    <a:pt x="1756214" y="21987"/>
                  </a:lnTo>
                  <a:lnTo>
                    <a:pt x="1748499" y="10544"/>
                  </a:lnTo>
                  <a:lnTo>
                    <a:pt x="1737056" y="2829"/>
                  </a:lnTo>
                  <a:lnTo>
                    <a:pt x="1723043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4" name="object 14"/>
            <p:cNvSpPr/>
            <p:nvPr/>
          </p:nvSpPr>
          <p:spPr>
            <a:xfrm>
              <a:off x="1080249" y="1985926"/>
              <a:ext cx="1759585" cy="147320"/>
            </a:xfrm>
            <a:custGeom>
              <a:avLst/>
              <a:gdLst/>
              <a:ahLst/>
              <a:cxnLst/>
              <a:rect l="l" t="t" r="r" b="b"/>
              <a:pathLst>
                <a:path w="1759585" h="147319">
                  <a:moveTo>
                    <a:pt x="1723043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0720"/>
                  </a:lnTo>
                  <a:lnTo>
                    <a:pt x="2829" y="124733"/>
                  </a:lnTo>
                  <a:lnTo>
                    <a:pt x="10544" y="136176"/>
                  </a:lnTo>
                  <a:lnTo>
                    <a:pt x="21987" y="143891"/>
                  </a:lnTo>
                  <a:lnTo>
                    <a:pt x="36000" y="146720"/>
                  </a:lnTo>
                  <a:lnTo>
                    <a:pt x="1723043" y="146720"/>
                  </a:lnTo>
                  <a:lnTo>
                    <a:pt x="1737056" y="143891"/>
                  </a:lnTo>
                  <a:lnTo>
                    <a:pt x="1748499" y="136176"/>
                  </a:lnTo>
                  <a:lnTo>
                    <a:pt x="1756214" y="124733"/>
                  </a:lnTo>
                  <a:lnTo>
                    <a:pt x="1759043" y="110720"/>
                  </a:lnTo>
                  <a:lnTo>
                    <a:pt x="1759043" y="36000"/>
                  </a:lnTo>
                  <a:lnTo>
                    <a:pt x="1756214" y="21987"/>
                  </a:lnTo>
                  <a:lnTo>
                    <a:pt x="1748499" y="10544"/>
                  </a:lnTo>
                  <a:lnTo>
                    <a:pt x="1737056" y="2829"/>
                  </a:lnTo>
                  <a:lnTo>
                    <a:pt x="1723043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xfrm>
            <a:off x="341718" y="633263"/>
            <a:ext cx="5071110" cy="1704492"/>
          </a:xfrm>
          <a:prstGeom prst="rect">
            <a:avLst/>
          </a:prstGeom>
        </p:spPr>
        <p:txBody>
          <a:bodyPr vert="horz" wrap="square" lIns="0" tIns="594601" rIns="0" bIns="0" rtlCol="0">
            <a:spAutoFit/>
          </a:bodyPr>
          <a:lstStyle/>
          <a:p>
            <a:pPr marL="13970" marR="227965" indent="-1905">
              <a:lnSpc>
                <a:spcPct val="116199"/>
              </a:lnSpc>
              <a:spcBef>
                <a:spcPts val="100"/>
              </a:spcBef>
            </a:pPr>
            <a:r>
              <a:rPr lang="en-US" spc="-10" noProof="1"/>
              <a:t>We</a:t>
            </a:r>
            <a:r>
              <a:rPr lang="en-US" spc="25" noProof="1"/>
              <a:t> </a:t>
            </a:r>
            <a:r>
              <a:rPr lang="en-US" spc="-35" noProof="1"/>
              <a:t>have</a:t>
            </a:r>
            <a:r>
              <a:rPr lang="en-US" spc="25" noProof="1"/>
              <a:t> </a:t>
            </a:r>
            <a:r>
              <a:rPr lang="en-US" spc="-20" noProof="1"/>
              <a:t>everything</a:t>
            </a:r>
            <a:r>
              <a:rPr lang="en-US" spc="25" noProof="1"/>
              <a:t> </a:t>
            </a:r>
            <a:r>
              <a:rPr lang="en-US" spc="-25" noProof="1"/>
              <a:t>ready</a:t>
            </a:r>
            <a:r>
              <a:rPr lang="en-US" spc="25" noProof="1"/>
              <a:t> </a:t>
            </a:r>
            <a:r>
              <a:rPr lang="en-US" noProof="1"/>
              <a:t>to</a:t>
            </a:r>
            <a:r>
              <a:rPr lang="en-US" spc="30" noProof="1"/>
              <a:t> </a:t>
            </a:r>
            <a:r>
              <a:rPr lang="en-US" spc="-20" noProof="1"/>
              <a:t>connect</a:t>
            </a:r>
            <a:r>
              <a:rPr lang="en-US" spc="25" noProof="1"/>
              <a:t> </a:t>
            </a:r>
            <a:r>
              <a:rPr lang="en-US" noProof="1"/>
              <a:t>to</a:t>
            </a:r>
            <a:r>
              <a:rPr lang="en-US" spc="25" noProof="1"/>
              <a:t> </a:t>
            </a:r>
            <a:r>
              <a:rPr lang="en-US" noProof="1"/>
              <a:t>the</a:t>
            </a:r>
            <a:r>
              <a:rPr lang="en-US" spc="25" noProof="1"/>
              <a:t> </a:t>
            </a:r>
            <a:r>
              <a:rPr lang="en-US" noProof="1"/>
              <a:t>VPN,</a:t>
            </a:r>
            <a:r>
              <a:rPr lang="en-US" spc="25" noProof="1"/>
              <a:t> </a:t>
            </a:r>
            <a:r>
              <a:rPr lang="en-US" spc="-40" noProof="1"/>
              <a:t>we</a:t>
            </a:r>
            <a:r>
              <a:rPr lang="en-US" spc="30" noProof="1"/>
              <a:t> </a:t>
            </a:r>
            <a:r>
              <a:rPr lang="en-US" noProof="1"/>
              <a:t>just</a:t>
            </a:r>
            <a:r>
              <a:rPr lang="en-US" spc="25" noProof="1"/>
              <a:t> </a:t>
            </a:r>
            <a:r>
              <a:rPr lang="en-US" spc="-50" noProof="1"/>
              <a:t>need</a:t>
            </a:r>
            <a:r>
              <a:rPr lang="en-US" spc="25" noProof="1"/>
              <a:t> </a:t>
            </a:r>
            <a:r>
              <a:rPr lang="en-US" noProof="1"/>
              <a:t>to</a:t>
            </a:r>
            <a:r>
              <a:rPr lang="en-US" spc="25" noProof="1"/>
              <a:t> </a:t>
            </a:r>
            <a:r>
              <a:rPr lang="en-US" spc="-30" noProof="1"/>
              <a:t>download</a:t>
            </a:r>
            <a:r>
              <a:rPr lang="en-US" spc="25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spc="-25" noProof="1"/>
              <a:t>AWS</a:t>
            </a:r>
            <a:r>
              <a:rPr lang="en-US" spc="25" noProof="1"/>
              <a:t> </a:t>
            </a:r>
            <a:r>
              <a:rPr lang="en-US" noProof="1"/>
              <a:t>VPN</a:t>
            </a:r>
            <a:r>
              <a:rPr lang="en-US" spc="25" noProof="1"/>
              <a:t> </a:t>
            </a:r>
            <a:r>
              <a:rPr lang="en-US" spc="-10" noProof="1"/>
              <a:t>Client </a:t>
            </a:r>
            <a:r>
              <a:rPr lang="en-US" noProof="1"/>
              <a:t>which </a:t>
            </a:r>
            <a:r>
              <a:rPr lang="en-US" spc="-10" noProof="1"/>
              <a:t>can</a:t>
            </a:r>
            <a:r>
              <a:rPr lang="en-US" spc="5" noProof="1"/>
              <a:t> </a:t>
            </a:r>
            <a:r>
              <a:rPr lang="en-US" noProof="1"/>
              <a:t>be</a:t>
            </a:r>
            <a:r>
              <a:rPr lang="en-US" spc="5" noProof="1"/>
              <a:t> </a:t>
            </a:r>
            <a:r>
              <a:rPr lang="en-US" spc="-10" noProof="1"/>
              <a:t>obtained</a:t>
            </a:r>
            <a:r>
              <a:rPr lang="en-US" spc="5" noProof="1"/>
              <a:t> </a:t>
            </a:r>
            <a:r>
              <a:rPr lang="en-US" spc="-30" noProof="1"/>
              <a:t>here</a:t>
            </a:r>
            <a:r>
              <a:rPr lang="en-US" spc="5" noProof="1"/>
              <a:t> </a:t>
            </a:r>
            <a:r>
              <a:rPr lang="en-US" noProof="1">
                <a:hlinkClick r:id="rId2"/>
              </a:rPr>
              <a:t>https://aws.amazon.com/vpn/client-</a:t>
            </a:r>
            <a:r>
              <a:rPr lang="en-US" spc="-10" noProof="1">
                <a:hlinkClick r:id="rId2"/>
              </a:rPr>
              <a:t>vpn-download/</a:t>
            </a:r>
            <a:r>
              <a:rPr lang="en-US" spc="-10" noProof="1"/>
              <a:t>.</a:t>
            </a:r>
          </a:p>
          <a:p>
            <a:pPr marL="13970" marR="5080" indent="3810">
              <a:lnSpc>
                <a:spcPct val="116199"/>
              </a:lnSpc>
              <a:spcBef>
                <a:spcPts val="625"/>
              </a:spcBef>
            </a:pPr>
            <a:r>
              <a:rPr lang="en-US" spc="-30" noProof="1"/>
              <a:t>Once</a:t>
            </a:r>
            <a:r>
              <a:rPr lang="en-US" spc="-35" noProof="1"/>
              <a:t> </a:t>
            </a:r>
            <a:r>
              <a:rPr lang="en-US" spc="-10" noProof="1"/>
              <a:t>you</a:t>
            </a:r>
            <a:r>
              <a:rPr lang="en-US" spc="-40" noProof="1"/>
              <a:t> </a:t>
            </a:r>
            <a:r>
              <a:rPr lang="en-US" spc="-35" noProof="1"/>
              <a:t>have</a:t>
            </a:r>
            <a:r>
              <a:rPr lang="en-US" spc="25" noProof="1"/>
              <a:t> </a:t>
            </a:r>
            <a:r>
              <a:rPr lang="en-US" spc="-10" noProof="1"/>
              <a:t>installed</a:t>
            </a:r>
            <a:r>
              <a:rPr lang="en-US" spc="25" noProof="1"/>
              <a:t> </a:t>
            </a:r>
            <a:r>
              <a:rPr lang="en-US" noProof="1"/>
              <a:t>the</a:t>
            </a:r>
            <a:r>
              <a:rPr lang="en-US" spc="30" noProof="1"/>
              <a:t> </a:t>
            </a:r>
            <a:r>
              <a:rPr lang="en-US" noProof="1"/>
              <a:t>client,</a:t>
            </a:r>
            <a:r>
              <a:rPr lang="en-US" spc="25" noProof="1"/>
              <a:t> </a:t>
            </a:r>
            <a:r>
              <a:rPr lang="en-US" spc="-25" noProof="1"/>
              <a:t>open</a:t>
            </a:r>
            <a:r>
              <a:rPr lang="en-US" spc="30" noProof="1"/>
              <a:t> </a:t>
            </a:r>
            <a:r>
              <a:rPr lang="en-US" noProof="1"/>
              <a:t>it,</a:t>
            </a:r>
            <a:r>
              <a:rPr lang="en-US" spc="25" noProof="1"/>
              <a:t> </a:t>
            </a:r>
            <a:r>
              <a:rPr lang="en-US" noProof="1"/>
              <a:t>click</a:t>
            </a:r>
            <a:r>
              <a:rPr lang="en-US" spc="30" noProof="1"/>
              <a:t> </a:t>
            </a:r>
            <a:r>
              <a:rPr lang="en-US" noProof="1"/>
              <a:t>on</a:t>
            </a:r>
            <a:r>
              <a:rPr lang="en-US" spc="120" noProof="1"/>
              <a:t> </a:t>
            </a:r>
            <a:r>
              <a:rPr lang="en-US" spc="-75" noProof="1">
                <a:solidFill>
                  <a:srgbClr val="000000"/>
                </a:solidFill>
                <a:latin typeface="Courier New"/>
                <a:cs typeface="Courier New"/>
              </a:rPr>
              <a:t>File</a:t>
            </a:r>
            <a:r>
              <a:rPr lang="en-US" spc="-140" noProof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pc="185" noProof="1"/>
              <a:t>&gt;</a:t>
            </a:r>
            <a:r>
              <a:rPr lang="en-US" spc="120" noProof="1"/>
              <a:t> </a:t>
            </a:r>
            <a:r>
              <a:rPr lang="en-US" spc="-70" noProof="1">
                <a:solidFill>
                  <a:srgbClr val="000000"/>
                </a:solidFill>
                <a:latin typeface="Courier New"/>
                <a:cs typeface="Courier New"/>
              </a:rPr>
              <a:t>Manage</a:t>
            </a:r>
            <a:r>
              <a:rPr lang="en-US" spc="-75" noProof="1">
                <a:solidFill>
                  <a:srgbClr val="000000"/>
                </a:solidFill>
                <a:latin typeface="Courier New"/>
                <a:cs typeface="Courier New"/>
              </a:rPr>
              <a:t> Profiles</a:t>
            </a:r>
            <a:r>
              <a:rPr lang="en-US" spc="-135" noProof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pc="185" noProof="1"/>
              <a:t>&gt;</a:t>
            </a:r>
            <a:r>
              <a:rPr lang="en-US" spc="120" noProof="1"/>
              <a:t> </a:t>
            </a:r>
            <a:r>
              <a:rPr lang="en-US" spc="-70" noProof="1">
                <a:solidFill>
                  <a:srgbClr val="000000"/>
                </a:solidFill>
                <a:latin typeface="Courier New"/>
                <a:cs typeface="Courier New"/>
              </a:rPr>
              <a:t>Add </a:t>
            </a:r>
            <a:r>
              <a:rPr lang="en-US" spc="-45" noProof="1">
                <a:solidFill>
                  <a:srgbClr val="000000"/>
                </a:solidFill>
                <a:latin typeface="Courier New"/>
                <a:cs typeface="Courier New"/>
              </a:rPr>
              <a:t>Profile</a:t>
            </a:r>
            <a:r>
              <a:rPr lang="en-US" spc="-45" noProof="1"/>
              <a:t>,</a:t>
            </a:r>
            <a:r>
              <a:rPr lang="en-US" spc="25" noProof="1"/>
              <a:t> </a:t>
            </a:r>
            <a:r>
              <a:rPr lang="en-US" spc="-20" noProof="1"/>
              <a:t>type </a:t>
            </a:r>
            <a:r>
              <a:rPr lang="en-US" spc="-25" noProof="1"/>
              <a:t>whichever</a:t>
            </a:r>
            <a:r>
              <a:rPr lang="en-US" noProof="1"/>
              <a:t> </a:t>
            </a:r>
            <a:r>
              <a:rPr lang="en-US" spc="-30" noProof="1"/>
              <a:t>name</a:t>
            </a:r>
            <a:r>
              <a:rPr lang="en-US" spc="5" noProof="1"/>
              <a:t> </a:t>
            </a:r>
            <a:r>
              <a:rPr lang="en-US" spc="-10" noProof="1"/>
              <a:t>you</a:t>
            </a:r>
            <a:r>
              <a:rPr lang="en-US" spc="5" noProof="1"/>
              <a:t> </a:t>
            </a:r>
            <a:r>
              <a:rPr lang="en-US" noProof="1"/>
              <a:t>want</a:t>
            </a:r>
            <a:r>
              <a:rPr lang="en-US" spc="5" noProof="1"/>
              <a:t> </a:t>
            </a:r>
            <a:r>
              <a:rPr lang="en-US" noProof="1"/>
              <a:t>for</a:t>
            </a:r>
            <a:r>
              <a:rPr lang="en-US" spc="5" noProof="1"/>
              <a:t> </a:t>
            </a:r>
            <a:r>
              <a:rPr lang="en-US" b="1" spc="-30" noProof="1">
                <a:latin typeface="Arial"/>
                <a:cs typeface="Arial"/>
              </a:rPr>
              <a:t>Display</a:t>
            </a:r>
            <a:r>
              <a:rPr lang="en-US" b="1" spc="20" noProof="1">
                <a:latin typeface="Arial"/>
                <a:cs typeface="Arial"/>
              </a:rPr>
              <a:t> </a:t>
            </a:r>
            <a:r>
              <a:rPr lang="en-US" b="1" spc="-10" noProof="1">
                <a:latin typeface="Arial"/>
                <a:cs typeface="Arial"/>
              </a:rPr>
              <a:t>name</a:t>
            </a:r>
            <a:r>
              <a:rPr lang="en-US" b="1" spc="5" noProof="1">
                <a:latin typeface="Arial"/>
                <a:cs typeface="Arial"/>
              </a:rPr>
              <a:t> </a:t>
            </a:r>
            <a:r>
              <a:rPr lang="en-US" noProof="1"/>
              <a:t>and</a:t>
            </a:r>
            <a:r>
              <a:rPr lang="en-US" spc="5" noProof="1"/>
              <a:t> </a:t>
            </a:r>
            <a:r>
              <a:rPr lang="en-US" noProof="1"/>
              <a:t>for</a:t>
            </a:r>
            <a:r>
              <a:rPr lang="en-US" spc="5" noProof="1"/>
              <a:t> </a:t>
            </a:r>
            <a:r>
              <a:rPr lang="en-US" b="1" noProof="1">
                <a:latin typeface="Arial"/>
                <a:cs typeface="Arial"/>
              </a:rPr>
              <a:t>VPN</a:t>
            </a:r>
            <a:r>
              <a:rPr lang="en-US" b="1" spc="25" noProof="1">
                <a:latin typeface="Arial"/>
                <a:cs typeface="Arial"/>
              </a:rPr>
              <a:t> </a:t>
            </a:r>
            <a:r>
              <a:rPr lang="en-US" b="1" spc="-30" noProof="1">
                <a:latin typeface="Arial"/>
                <a:cs typeface="Arial"/>
              </a:rPr>
              <a:t>Configuration</a:t>
            </a:r>
            <a:r>
              <a:rPr lang="en-US" b="1" spc="20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file</a:t>
            </a:r>
            <a:r>
              <a:rPr lang="en-US" b="1" spc="5" noProof="1">
                <a:latin typeface="Arial"/>
                <a:cs typeface="Arial"/>
              </a:rPr>
              <a:t> </a:t>
            </a:r>
            <a:r>
              <a:rPr lang="en-US" noProof="1"/>
              <a:t>click</a:t>
            </a:r>
            <a:r>
              <a:rPr lang="en-US" spc="5" noProof="1"/>
              <a:t> </a:t>
            </a:r>
            <a:r>
              <a:rPr lang="en-US" noProof="1"/>
              <a:t>on</a:t>
            </a:r>
            <a:r>
              <a:rPr lang="en-US" spc="5" noProof="1"/>
              <a:t> </a:t>
            </a:r>
            <a:r>
              <a:rPr lang="en-US" noProof="1"/>
              <a:t>the</a:t>
            </a:r>
            <a:r>
              <a:rPr lang="en-US" spc="5" noProof="1"/>
              <a:t> </a:t>
            </a:r>
            <a:r>
              <a:rPr lang="en-US" spc="-45" noProof="1"/>
              <a:t>browse</a:t>
            </a:r>
            <a:r>
              <a:rPr lang="en-US" spc="5" noProof="1"/>
              <a:t> </a:t>
            </a:r>
            <a:r>
              <a:rPr lang="en-US" spc="-20" noProof="1"/>
              <a:t>icon </a:t>
            </a:r>
            <a:r>
              <a:rPr lang="en-US" noProof="1"/>
              <a:t>and</a:t>
            </a:r>
            <a:r>
              <a:rPr lang="en-US" spc="5" noProof="1"/>
              <a:t> </a:t>
            </a:r>
            <a:r>
              <a:rPr lang="en-US" spc="-30" noProof="1"/>
              <a:t>select</a:t>
            </a:r>
            <a:r>
              <a:rPr lang="en-US" spc="35" noProof="1"/>
              <a:t> </a:t>
            </a:r>
            <a:r>
              <a:rPr lang="en-US" noProof="1"/>
              <a:t>the</a:t>
            </a:r>
            <a:r>
              <a:rPr lang="en-US" spc="130" noProof="1"/>
              <a:t> </a:t>
            </a:r>
            <a:r>
              <a:rPr lang="en-US" spc="-75" noProof="1">
                <a:solidFill>
                  <a:srgbClr val="000000"/>
                </a:solidFill>
                <a:latin typeface="Courier New"/>
                <a:cs typeface="Courier New"/>
              </a:rPr>
              <a:t>downloaded-client-config.ovpn</a:t>
            </a:r>
            <a:r>
              <a:rPr lang="en-US" spc="-135" noProof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noProof="1"/>
              <a:t>file</a:t>
            </a:r>
            <a:r>
              <a:rPr lang="en-US" spc="35" noProof="1"/>
              <a:t> </a:t>
            </a:r>
            <a:r>
              <a:rPr lang="en-US" spc="-40" noProof="1"/>
              <a:t>we</a:t>
            </a:r>
            <a:r>
              <a:rPr lang="en-US" spc="35" noProof="1"/>
              <a:t> </a:t>
            </a:r>
            <a:r>
              <a:rPr lang="en-US" noProof="1"/>
              <a:t>just</a:t>
            </a:r>
            <a:r>
              <a:rPr lang="en-US" spc="35" noProof="1"/>
              <a:t> </a:t>
            </a:r>
            <a:r>
              <a:rPr lang="en-US" spc="-10" noProof="1"/>
              <a:t>modified.</a:t>
            </a:r>
          </a:p>
          <a:p>
            <a:pPr marL="13970" marR="5080" indent="3810">
              <a:lnSpc>
                <a:spcPct val="116199"/>
              </a:lnSpc>
              <a:spcBef>
                <a:spcPts val="625"/>
              </a:spcBef>
            </a:pPr>
            <a:r>
              <a:rPr lang="en-US" spc="-10" noProof="1"/>
              <a:t>Then type </a:t>
            </a:r>
            <a:r>
              <a:rPr lang="en-US" b="1" spc="-10" noProof="1"/>
              <a:t>connect</a:t>
            </a:r>
            <a:r>
              <a:rPr lang="en-US" spc="-10" noProof="1"/>
              <a:t> to the VPN.</a:t>
            </a:r>
          </a:p>
        </p:txBody>
      </p:sp>
      <p:grpSp>
        <p:nvGrpSpPr>
          <p:cNvPr id="16" name="object 16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7" name="object 17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8" name="object 18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9" name="object 19"/>
            <p:cNvSpPr/>
            <p:nvPr/>
          </p:nvSpPr>
          <p:spPr>
            <a:xfrm>
              <a:off x="0" y="3234963"/>
              <a:ext cx="5034280" cy="5080"/>
            </a:xfrm>
            <a:custGeom>
              <a:avLst/>
              <a:gdLst/>
              <a:ahLst/>
              <a:cxnLst/>
              <a:rect l="l" t="t" r="r" b="b"/>
              <a:pathLst>
                <a:path w="5034280" h="5080">
                  <a:moveTo>
                    <a:pt x="0" y="5060"/>
                  </a:moveTo>
                  <a:lnTo>
                    <a:pt x="0" y="0"/>
                  </a:lnTo>
                  <a:lnTo>
                    <a:pt x="5034000" y="0"/>
                  </a:lnTo>
                  <a:lnTo>
                    <a:pt x="5034000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Test</a:t>
            </a:r>
            <a:r>
              <a:rPr lang="en-US" spc="20" noProof="1"/>
              <a:t> </a:t>
            </a:r>
            <a:r>
              <a:rPr lang="en-US" noProof="1"/>
              <a:t>the</a:t>
            </a:r>
            <a:r>
              <a:rPr lang="en-US" spc="25" noProof="1"/>
              <a:t> VPN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454290"/>
            <a:ext cx="5015230" cy="320040"/>
            <a:chOff x="372646" y="1454290"/>
            <a:chExt cx="5015230" cy="320040"/>
          </a:xfrm>
        </p:grpSpPr>
        <p:sp>
          <p:nvSpPr>
            <p:cNvPr id="4" name="object 4"/>
            <p:cNvSpPr/>
            <p:nvPr/>
          </p:nvSpPr>
          <p:spPr>
            <a:xfrm>
              <a:off x="377994" y="1459637"/>
              <a:ext cx="5004435" cy="309245"/>
            </a:xfrm>
            <a:custGeom>
              <a:avLst/>
              <a:gdLst/>
              <a:ahLst/>
              <a:cxnLst/>
              <a:rect l="l" t="t" r="r" b="b"/>
              <a:pathLst>
                <a:path w="5004435" h="309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3226"/>
                  </a:lnTo>
                  <a:lnTo>
                    <a:pt x="2829" y="287239"/>
                  </a:lnTo>
                  <a:lnTo>
                    <a:pt x="10544" y="298682"/>
                  </a:lnTo>
                  <a:lnTo>
                    <a:pt x="21987" y="306398"/>
                  </a:lnTo>
                  <a:lnTo>
                    <a:pt x="36000" y="309227"/>
                  </a:lnTo>
                  <a:lnTo>
                    <a:pt x="4968064" y="309227"/>
                  </a:lnTo>
                  <a:lnTo>
                    <a:pt x="4982077" y="306398"/>
                  </a:lnTo>
                  <a:lnTo>
                    <a:pt x="4993521" y="298682"/>
                  </a:lnTo>
                  <a:lnTo>
                    <a:pt x="5001236" y="287239"/>
                  </a:lnTo>
                  <a:lnTo>
                    <a:pt x="5004065" y="273226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460616"/>
              <a:ext cx="5002530" cy="307340"/>
            </a:xfrm>
            <a:custGeom>
              <a:avLst/>
              <a:gdLst/>
              <a:ahLst/>
              <a:cxnLst/>
              <a:rect l="l" t="t" r="r" b="b"/>
              <a:pathLst>
                <a:path w="5002530" h="307339">
                  <a:moveTo>
                    <a:pt x="0" y="272247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2247"/>
                  </a:lnTo>
                  <a:lnTo>
                    <a:pt x="4999354" y="285879"/>
                  </a:lnTo>
                  <a:lnTo>
                    <a:pt x="4991849" y="297011"/>
                  </a:lnTo>
                  <a:lnTo>
                    <a:pt x="4980717" y="304516"/>
                  </a:lnTo>
                  <a:lnTo>
                    <a:pt x="4967085" y="307268"/>
                  </a:lnTo>
                  <a:lnTo>
                    <a:pt x="35021" y="307268"/>
                  </a:lnTo>
                  <a:lnTo>
                    <a:pt x="21389" y="304516"/>
                  </a:lnTo>
                  <a:lnTo>
                    <a:pt x="10257" y="297011"/>
                  </a:lnTo>
                  <a:lnTo>
                    <a:pt x="2752" y="285879"/>
                  </a:lnTo>
                  <a:lnTo>
                    <a:pt x="0" y="272247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3319" y="811994"/>
            <a:ext cx="5071745" cy="2236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connected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VPN,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test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couple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tests.</a:t>
            </a:r>
            <a:endParaRPr lang="en-US" sz="900" noProof="1">
              <a:latin typeface="Arial"/>
              <a:cs typeface="Arial"/>
            </a:endParaRPr>
          </a:p>
          <a:p>
            <a:pPr marL="12700" marR="22225" indent="3810">
              <a:lnSpc>
                <a:spcPct val="116199"/>
              </a:lnSpc>
              <a:spcBef>
                <a:spcPts val="62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First of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all,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should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able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directly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computer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 do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this,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open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 terminal and run 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command: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</a:pPr>
            <a:r>
              <a:rPr lang="en-US" sz="800" spc="-50" noProof="1">
                <a:solidFill>
                  <a:srgbClr val="05287C"/>
                </a:solidFill>
                <a:latin typeface="Courier New"/>
                <a:cs typeface="Courier New"/>
              </a:rPr>
              <a:t>$ ssh</a:t>
            </a:r>
            <a:r>
              <a:rPr lang="en-US" sz="800" spc="80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lang="en-US" sz="800" noProof="1">
                <a:solidFill>
                  <a:srgbClr val="7C8E28"/>
                </a:solidFill>
                <a:latin typeface="Courier New"/>
                <a:cs typeface="Courier New"/>
              </a:rPr>
              <a:t>i</a:t>
            </a:r>
            <a:r>
              <a:rPr lang="en-US" sz="800" spc="85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~/.ssh/aws-keypair</a:t>
            </a:r>
            <a:r>
              <a:rPr lang="en-US" sz="800" spc="8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ec2-user@</a:t>
            </a:r>
            <a:r>
              <a:rPr lang="en-US" sz="800" spc="-60" noProof="1">
                <a:solidFill>
                  <a:srgbClr val="666666"/>
                </a:solidFill>
                <a:latin typeface="Courier New"/>
                <a:cs typeface="Courier New"/>
              </a:rPr>
              <a:t>&lt;</a:t>
            </a:r>
            <a:r>
              <a:rPr lang="en-US" sz="800" spc="-60" noProof="1">
                <a:latin typeface="Courier New"/>
                <a:cs typeface="Courier New"/>
              </a:rPr>
              <a:t>your-private-ec2-instance-private-</a:t>
            </a:r>
            <a:r>
              <a:rPr lang="en-US" sz="800" spc="-25" noProof="1">
                <a:latin typeface="Courier New"/>
                <a:cs typeface="Courier New"/>
              </a:rPr>
              <a:t>ip</a:t>
            </a:r>
            <a:r>
              <a:rPr lang="en-US" sz="800" spc="-25" noProof="1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6510" marR="5080" indent="-4445">
              <a:lnSpc>
                <a:spcPct val="116199"/>
              </a:lnSpc>
            </a:pPr>
            <a:endParaRPr lang="en-US" sz="900" b="1" noProof="1">
              <a:solidFill>
                <a:srgbClr val="22373A"/>
              </a:solidFill>
              <a:latin typeface="Arial"/>
              <a:cs typeface="Arial"/>
            </a:endParaRPr>
          </a:p>
          <a:p>
            <a:pPr marL="16510" marR="5080" indent="-4445">
              <a:lnSpc>
                <a:spcPct val="116199"/>
              </a:lnSpc>
            </a:pP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We are now in the private EC2!!</a:t>
            </a:r>
          </a:p>
          <a:p>
            <a:pPr marL="16510" marR="5080" indent="-4445">
              <a:lnSpc>
                <a:spcPct val="116199"/>
              </a:lnSpc>
            </a:pPr>
            <a:endParaRPr lang="en-US" sz="900" noProof="1">
              <a:solidFill>
                <a:srgbClr val="22373A"/>
              </a:solidFill>
              <a:latin typeface="Arial"/>
              <a:cs typeface="Arial"/>
            </a:endParaRPr>
          </a:p>
          <a:p>
            <a:pPr marL="16510" marR="5080" indent="-4445">
              <a:lnSpc>
                <a:spcPct val="116199"/>
              </a:lnSpc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Another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cool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thing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do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geolocation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website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like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  <a:hlinkClick r:id="rId2"/>
              </a:rPr>
              <a:t>https://iplocation.io/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0" noProof="1">
                <a:solidFill>
                  <a:srgbClr val="22373A"/>
                </a:solidFill>
                <a:latin typeface="Arial"/>
                <a:cs typeface="Arial"/>
              </a:rPr>
              <a:t>see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your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address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VPN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your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location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has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changed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6510" marR="553085" indent="-4445">
              <a:lnSpc>
                <a:spcPct val="116199"/>
              </a:lnSpc>
              <a:spcBef>
                <a:spcPts val="625"/>
              </a:spcBef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could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also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try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visiting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websites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only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available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people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US.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example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  <a:hlinkClick r:id="rId3"/>
              </a:rPr>
              <a:t>https://www.radio.com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5082540" cy="5080"/>
            </a:xfrm>
            <a:custGeom>
              <a:avLst/>
              <a:gdLst/>
              <a:ahLst/>
              <a:cxnLst/>
              <a:rect l="l" t="t" r="r" b="b"/>
              <a:pathLst>
                <a:path w="5082540" h="5080">
                  <a:moveTo>
                    <a:pt x="0" y="5060"/>
                  </a:moveTo>
                  <a:lnTo>
                    <a:pt x="0" y="0"/>
                  </a:lnTo>
                  <a:lnTo>
                    <a:pt x="5082428" y="0"/>
                  </a:lnTo>
                  <a:lnTo>
                    <a:pt x="508242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5" noProof="1"/>
              <a:t>Deploying</a:t>
            </a:r>
            <a:r>
              <a:rPr lang="en-US" spc="5" noProof="1"/>
              <a:t> </a:t>
            </a:r>
            <a:r>
              <a:rPr lang="en-US" noProof="1"/>
              <a:t>a</a:t>
            </a:r>
            <a:r>
              <a:rPr lang="en-US" spc="5" noProof="1"/>
              <a:t> </a:t>
            </a:r>
            <a:r>
              <a:rPr lang="en-US" noProof="1"/>
              <a:t>file</a:t>
            </a:r>
            <a:r>
              <a:rPr lang="en-US" spc="10" noProof="1"/>
              <a:t> </a:t>
            </a:r>
            <a:r>
              <a:rPr lang="en-US" spc="-35" noProof="1"/>
              <a:t>server</a:t>
            </a:r>
            <a:r>
              <a:rPr lang="en-US" spc="5" noProof="1"/>
              <a:t> </a:t>
            </a:r>
            <a:r>
              <a:rPr lang="en-US" noProof="1"/>
              <a:t>on</a:t>
            </a:r>
            <a:r>
              <a:rPr lang="en-US" spc="5" noProof="1"/>
              <a:t> </a:t>
            </a:r>
            <a:r>
              <a:rPr lang="en-US" noProof="1"/>
              <a:t>the</a:t>
            </a:r>
            <a:r>
              <a:rPr lang="en-US" spc="10" noProof="1"/>
              <a:t> </a:t>
            </a:r>
            <a:r>
              <a:rPr lang="en-US" spc="-10" noProof="1"/>
              <a:t>private</a:t>
            </a:r>
            <a:r>
              <a:rPr lang="en-US" spc="5" noProof="1"/>
              <a:t> </a:t>
            </a:r>
            <a:r>
              <a:rPr lang="en-US" spc="-25" noProof="1"/>
              <a:t>subnet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89013" rIns="0" bIns="0" rtlCol="0">
            <a:spAutoFit/>
          </a:bodyPr>
          <a:lstStyle/>
          <a:p>
            <a:pPr marL="17780" marR="78105" indent="-5715">
              <a:lnSpc>
                <a:spcPct val="116199"/>
              </a:lnSpc>
              <a:spcBef>
                <a:spcPts val="100"/>
              </a:spcBef>
            </a:pPr>
            <a:r>
              <a:rPr lang="en-US" spc="-10" noProof="1"/>
              <a:t>We’re</a:t>
            </a:r>
            <a:r>
              <a:rPr lang="en-US" spc="-5" noProof="1"/>
              <a:t> </a:t>
            </a:r>
            <a:r>
              <a:rPr lang="en-US" spc="-10" noProof="1"/>
              <a:t>now</a:t>
            </a:r>
            <a:r>
              <a:rPr lang="en-US" spc="-5" noProof="1"/>
              <a:t> </a:t>
            </a:r>
            <a:r>
              <a:rPr lang="en-US" spc="-10" noProof="1"/>
              <a:t>going</a:t>
            </a:r>
            <a:r>
              <a:rPr lang="en-US" spc="-5" noProof="1"/>
              <a:t> </a:t>
            </a:r>
            <a:r>
              <a:rPr lang="en-US" noProof="1"/>
              <a:t>to</a:t>
            </a:r>
            <a:r>
              <a:rPr lang="en-US" spc="-5" noProof="1"/>
              <a:t> </a:t>
            </a:r>
            <a:r>
              <a:rPr lang="en-US" noProof="1"/>
              <a:t>add</a:t>
            </a:r>
            <a:r>
              <a:rPr lang="en-US" spc="-5" noProof="1"/>
              <a:t> </a:t>
            </a:r>
            <a:r>
              <a:rPr lang="en-US" spc="-10" noProof="1"/>
              <a:t>another</a:t>
            </a:r>
            <a:r>
              <a:rPr lang="en-US" spc="-5" noProof="1"/>
              <a:t> </a:t>
            </a:r>
            <a:r>
              <a:rPr lang="en-US" spc="-25" noProof="1"/>
              <a:t>machine</a:t>
            </a:r>
            <a:r>
              <a:rPr lang="en-US" spc="-5" noProof="1"/>
              <a:t> </a:t>
            </a:r>
            <a:r>
              <a:rPr lang="en-US" b="1" noProof="1">
                <a:latin typeface="Arial"/>
                <a:cs typeface="Arial"/>
              </a:rPr>
              <a:t>on</a:t>
            </a:r>
            <a:r>
              <a:rPr lang="en-US" b="1" spc="10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the</a:t>
            </a:r>
            <a:r>
              <a:rPr lang="en-US" b="1" spc="10" noProof="1">
                <a:latin typeface="Arial"/>
                <a:cs typeface="Arial"/>
              </a:rPr>
              <a:t> </a:t>
            </a:r>
            <a:r>
              <a:rPr lang="en-US" b="1" spc="-20" noProof="1">
                <a:latin typeface="Arial"/>
                <a:cs typeface="Arial"/>
              </a:rPr>
              <a:t>private</a:t>
            </a:r>
            <a:r>
              <a:rPr lang="en-US" b="1" spc="-5" noProof="1">
                <a:latin typeface="Arial"/>
                <a:cs typeface="Arial"/>
              </a:rPr>
              <a:t> </a:t>
            </a:r>
            <a:r>
              <a:rPr lang="en-US" spc="-20" noProof="1"/>
              <a:t>subnet</a:t>
            </a:r>
            <a:r>
              <a:rPr lang="en-US" spc="-5" noProof="1"/>
              <a:t> </a:t>
            </a:r>
            <a:r>
              <a:rPr lang="en-US" spc="-30" noProof="1"/>
              <a:t>where</a:t>
            </a:r>
            <a:r>
              <a:rPr lang="en-US" spc="-5" noProof="1"/>
              <a:t> </a:t>
            </a:r>
            <a:r>
              <a:rPr lang="en-US" spc="-40" noProof="1"/>
              <a:t>we</a:t>
            </a:r>
            <a:r>
              <a:rPr lang="en-US" spc="-5" noProof="1"/>
              <a:t> </a:t>
            </a:r>
            <a:r>
              <a:rPr lang="en-US" spc="-30" noProof="1"/>
              <a:t>are</a:t>
            </a:r>
            <a:r>
              <a:rPr lang="en-US" spc="-5" noProof="1"/>
              <a:t> </a:t>
            </a:r>
            <a:r>
              <a:rPr lang="en-US" spc="-10" noProof="1"/>
              <a:t>going</a:t>
            </a:r>
            <a:r>
              <a:rPr lang="en-US" spc="-5" noProof="1"/>
              <a:t> </a:t>
            </a:r>
            <a:r>
              <a:rPr lang="en-US" noProof="1"/>
              <a:t>to </a:t>
            </a:r>
            <a:r>
              <a:rPr lang="en-US" spc="-30" noProof="1"/>
              <a:t>deploy</a:t>
            </a:r>
            <a:r>
              <a:rPr lang="en-US" spc="-5" noProof="1"/>
              <a:t> </a:t>
            </a:r>
            <a:r>
              <a:rPr lang="en-US" b="1" noProof="1">
                <a:latin typeface="Arial"/>
                <a:cs typeface="Arial"/>
              </a:rPr>
              <a:t>a</a:t>
            </a:r>
            <a:r>
              <a:rPr lang="en-US" b="1" spc="10" noProof="1">
                <a:latin typeface="Arial"/>
                <a:cs typeface="Arial"/>
              </a:rPr>
              <a:t> </a:t>
            </a:r>
            <a:r>
              <a:rPr lang="en-US" b="1" spc="-20" noProof="1">
                <a:latin typeface="Arial"/>
                <a:cs typeface="Arial"/>
              </a:rPr>
              <a:t>file </a:t>
            </a:r>
            <a:r>
              <a:rPr lang="en-US" b="1" spc="-40" noProof="1">
                <a:latin typeface="Arial"/>
                <a:cs typeface="Arial"/>
              </a:rPr>
              <a:t>server</a:t>
            </a:r>
            <a:r>
              <a:rPr lang="en-US" b="1" spc="-5" noProof="1">
                <a:latin typeface="Arial"/>
                <a:cs typeface="Arial"/>
              </a:rPr>
              <a:t> </a:t>
            </a:r>
            <a:r>
              <a:rPr lang="en-US" noProof="1"/>
              <a:t>(like</a:t>
            </a:r>
            <a:r>
              <a:rPr lang="en-US" spc="5" noProof="1"/>
              <a:t> </a:t>
            </a:r>
            <a:r>
              <a:rPr lang="en-US" noProof="1"/>
              <a:t>a</a:t>
            </a:r>
            <a:r>
              <a:rPr lang="en-US" spc="5" noProof="1"/>
              <a:t> </a:t>
            </a:r>
            <a:r>
              <a:rPr lang="en-US" spc="-35" noProof="1"/>
              <a:t>Google</a:t>
            </a:r>
            <a:r>
              <a:rPr lang="en-US" spc="5" noProof="1"/>
              <a:t> </a:t>
            </a:r>
            <a:r>
              <a:rPr lang="en-US" spc="-10" noProof="1"/>
              <a:t>Drive).</a:t>
            </a:r>
          </a:p>
          <a:p>
            <a:pPr marL="17780" marR="202565" indent="-4445">
              <a:lnSpc>
                <a:spcPct val="116199"/>
              </a:lnSpc>
              <a:spcBef>
                <a:spcPts val="625"/>
              </a:spcBef>
            </a:pPr>
            <a:r>
              <a:rPr lang="en-US" noProof="1"/>
              <a:t>This</a:t>
            </a:r>
            <a:r>
              <a:rPr lang="en-US" spc="55" noProof="1"/>
              <a:t> </a:t>
            </a:r>
            <a:r>
              <a:rPr lang="en-US" spc="-35" noProof="1"/>
              <a:t>service</a:t>
            </a:r>
            <a:r>
              <a:rPr lang="en-US" spc="60" noProof="1"/>
              <a:t> </a:t>
            </a:r>
            <a:r>
              <a:rPr lang="en-US" noProof="1"/>
              <a:t>is</a:t>
            </a:r>
            <a:r>
              <a:rPr lang="en-US" spc="60" noProof="1"/>
              <a:t> </a:t>
            </a:r>
            <a:r>
              <a:rPr lang="en-US" spc="-20" noProof="1"/>
              <a:t>called</a:t>
            </a:r>
            <a:r>
              <a:rPr lang="en-US" spc="55" noProof="1"/>
              <a:t> </a:t>
            </a:r>
            <a:r>
              <a:rPr lang="en-US" b="1" spc="-20" noProof="1">
                <a:latin typeface="Arial"/>
                <a:cs typeface="Arial"/>
              </a:rPr>
              <a:t>FileGator</a:t>
            </a:r>
            <a:r>
              <a:rPr lang="en-US" spc="-20" noProof="1"/>
              <a:t>,</a:t>
            </a:r>
            <a:r>
              <a:rPr lang="en-US" spc="60" noProof="1"/>
              <a:t> </a:t>
            </a:r>
            <a:r>
              <a:rPr lang="en-US" spc="-20" noProof="1"/>
              <a:t>read</a:t>
            </a:r>
            <a:r>
              <a:rPr lang="en-US" spc="60" noProof="1"/>
              <a:t> </a:t>
            </a:r>
            <a:r>
              <a:rPr lang="en-US" spc="-25" noProof="1"/>
              <a:t>more</a:t>
            </a:r>
            <a:r>
              <a:rPr lang="en-US" spc="55" noProof="1"/>
              <a:t> </a:t>
            </a:r>
            <a:r>
              <a:rPr lang="en-US" noProof="1"/>
              <a:t>about</a:t>
            </a:r>
            <a:r>
              <a:rPr lang="en-US" spc="60" noProof="1"/>
              <a:t> </a:t>
            </a:r>
            <a:r>
              <a:rPr lang="en-US" noProof="1"/>
              <a:t>it</a:t>
            </a:r>
            <a:r>
              <a:rPr lang="en-US" spc="60" noProof="1"/>
              <a:t> </a:t>
            </a:r>
            <a:r>
              <a:rPr lang="en-US" spc="-30" noProof="1"/>
              <a:t>here</a:t>
            </a:r>
            <a:r>
              <a:rPr lang="en-US" spc="60" noProof="1"/>
              <a:t> </a:t>
            </a:r>
            <a:r>
              <a:rPr lang="en-US" noProof="1">
                <a:hlinkClick r:id="rId2"/>
              </a:rPr>
              <a:t>https://filegator.io/</a:t>
            </a:r>
            <a:r>
              <a:rPr lang="en-US" noProof="1"/>
              <a:t>.</a:t>
            </a:r>
            <a:r>
              <a:rPr lang="en-US" spc="155" noProof="1"/>
              <a:t> </a:t>
            </a:r>
            <a:r>
              <a:rPr lang="en-US" noProof="1"/>
              <a:t>It’s</a:t>
            </a:r>
            <a:r>
              <a:rPr lang="en-US" spc="60" noProof="1"/>
              <a:t> </a:t>
            </a:r>
            <a:r>
              <a:rPr lang="en-US" spc="-25" noProof="1"/>
              <a:t>basically</a:t>
            </a:r>
            <a:r>
              <a:rPr lang="en-US" spc="60" noProof="1"/>
              <a:t> </a:t>
            </a:r>
            <a:r>
              <a:rPr lang="en-US" spc="-25" noProof="1"/>
              <a:t>one</a:t>
            </a:r>
            <a:r>
              <a:rPr lang="en-US" spc="60" noProof="1"/>
              <a:t> </a:t>
            </a:r>
            <a:r>
              <a:rPr lang="en-US" spc="-25" noProof="1"/>
              <a:t>of </a:t>
            </a:r>
            <a:r>
              <a:rPr lang="en-US" spc="-10" noProof="1"/>
              <a:t>many</a:t>
            </a:r>
            <a:r>
              <a:rPr lang="en-US" spc="-5" noProof="1"/>
              <a:t> </a:t>
            </a:r>
            <a:r>
              <a:rPr lang="en-US" spc="-35" noProof="1"/>
              <a:t>open-source</a:t>
            </a:r>
            <a:r>
              <a:rPr lang="en-US" spc="-5" noProof="1"/>
              <a:t> </a:t>
            </a:r>
            <a:r>
              <a:rPr lang="en-US" noProof="1"/>
              <a:t>locally </a:t>
            </a:r>
            <a:r>
              <a:rPr lang="en-US" spc="-40" noProof="1"/>
              <a:t>deployable</a:t>
            </a:r>
            <a:r>
              <a:rPr lang="en-US" spc="-5" noProof="1"/>
              <a:t> </a:t>
            </a:r>
            <a:r>
              <a:rPr lang="en-US" noProof="1"/>
              <a:t>file </a:t>
            </a:r>
            <a:r>
              <a:rPr lang="en-US" spc="-10" noProof="1"/>
              <a:t>servers.</a:t>
            </a:r>
          </a:p>
          <a:p>
            <a:pPr marL="13970" marR="5080">
              <a:lnSpc>
                <a:spcPct val="116199"/>
              </a:lnSpc>
              <a:spcBef>
                <a:spcPts val="625"/>
              </a:spcBef>
            </a:pPr>
            <a:r>
              <a:rPr lang="en-US" noProof="1"/>
              <a:t>This time</a:t>
            </a:r>
            <a:r>
              <a:rPr lang="en-US" spc="5" noProof="1"/>
              <a:t> </a:t>
            </a:r>
            <a:r>
              <a:rPr lang="en-US" b="1" spc="-10" noProof="1">
                <a:latin typeface="Arial"/>
                <a:cs typeface="Arial"/>
              </a:rPr>
              <a:t>we’re</a:t>
            </a:r>
            <a:r>
              <a:rPr lang="en-US" b="1" spc="20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not</a:t>
            </a:r>
            <a:r>
              <a:rPr lang="en-US" b="1" spc="5" noProof="1">
                <a:latin typeface="Arial"/>
                <a:cs typeface="Arial"/>
              </a:rPr>
              <a:t> </a:t>
            </a:r>
            <a:r>
              <a:rPr lang="en-US" spc="-10" noProof="1"/>
              <a:t>going</a:t>
            </a:r>
            <a:r>
              <a:rPr lang="en-US" spc="5" noProof="1"/>
              <a:t> </a:t>
            </a:r>
            <a:r>
              <a:rPr lang="en-US" noProof="1"/>
              <a:t>to</a:t>
            </a:r>
            <a:r>
              <a:rPr lang="en-US" spc="5" noProof="1"/>
              <a:t> </a:t>
            </a:r>
            <a:r>
              <a:rPr lang="en-US" spc="-55" noProof="1"/>
              <a:t>use</a:t>
            </a:r>
            <a:r>
              <a:rPr lang="en-US" noProof="1"/>
              <a:t> the</a:t>
            </a:r>
            <a:r>
              <a:rPr lang="en-US" spc="5" noProof="1"/>
              <a:t> </a:t>
            </a:r>
            <a:r>
              <a:rPr lang="en-US" spc="-25" noProof="1"/>
              <a:t>Amazon</a:t>
            </a:r>
            <a:r>
              <a:rPr lang="en-US" spc="5" noProof="1"/>
              <a:t> </a:t>
            </a:r>
            <a:r>
              <a:rPr lang="en-US" noProof="1"/>
              <a:t>Linux</a:t>
            </a:r>
            <a:r>
              <a:rPr lang="en-US" spc="5" noProof="1"/>
              <a:t> </a:t>
            </a:r>
            <a:r>
              <a:rPr lang="en-US" spc="-60" noProof="1"/>
              <a:t>base</a:t>
            </a:r>
            <a:r>
              <a:rPr lang="en-US" spc="5" noProof="1"/>
              <a:t> </a:t>
            </a:r>
            <a:r>
              <a:rPr lang="en-US" spc="-25" noProof="1"/>
              <a:t>image</a:t>
            </a:r>
            <a:r>
              <a:rPr lang="en-US" noProof="1"/>
              <a:t> and</a:t>
            </a:r>
            <a:r>
              <a:rPr lang="en-US" spc="5" noProof="1"/>
              <a:t> </a:t>
            </a:r>
            <a:r>
              <a:rPr lang="en-US" spc="-20" noProof="1"/>
              <a:t>instead</a:t>
            </a:r>
            <a:r>
              <a:rPr lang="en-US" spc="5" noProof="1"/>
              <a:t> </a:t>
            </a:r>
            <a:r>
              <a:rPr lang="en-US" noProof="1"/>
              <a:t>we’ll</a:t>
            </a:r>
            <a:r>
              <a:rPr lang="en-US" spc="5" noProof="1"/>
              <a:t> </a:t>
            </a:r>
            <a:r>
              <a:rPr lang="en-US" spc="-55" noProof="1"/>
              <a:t>use</a:t>
            </a:r>
            <a:r>
              <a:rPr lang="en-US" spc="5" noProof="1"/>
              <a:t> </a:t>
            </a:r>
            <a:r>
              <a:rPr lang="en-US" noProof="1"/>
              <a:t>Ubuntu </a:t>
            </a:r>
            <a:r>
              <a:rPr lang="en-US" spc="-35" noProof="1"/>
              <a:t>since</a:t>
            </a:r>
            <a:r>
              <a:rPr lang="en-US" spc="5" noProof="1"/>
              <a:t> </a:t>
            </a:r>
            <a:r>
              <a:rPr lang="en-US" spc="-25" noProof="1"/>
              <a:t>it </a:t>
            </a:r>
            <a:r>
              <a:rPr lang="en-US" noProof="1"/>
              <a:t>will</a:t>
            </a:r>
            <a:r>
              <a:rPr lang="en-US" spc="10" noProof="1"/>
              <a:t> </a:t>
            </a:r>
            <a:r>
              <a:rPr lang="en-US" spc="-35" noProof="1"/>
              <a:t>make</a:t>
            </a:r>
            <a:r>
              <a:rPr lang="en-US" spc="10" noProof="1"/>
              <a:t> </a:t>
            </a:r>
            <a:r>
              <a:rPr lang="en-US" noProof="1"/>
              <a:t>things</a:t>
            </a:r>
            <a:r>
              <a:rPr lang="en-US" spc="15" noProof="1"/>
              <a:t> </a:t>
            </a:r>
            <a:r>
              <a:rPr lang="en-US" spc="-10" noProof="1"/>
              <a:t>easier.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131435" cy="5080"/>
            </a:xfrm>
            <a:custGeom>
              <a:avLst/>
              <a:gdLst/>
              <a:ahLst/>
              <a:cxnLst/>
              <a:rect l="l" t="t" r="r" b="b"/>
              <a:pathLst>
                <a:path w="5131435" h="5080">
                  <a:moveTo>
                    <a:pt x="0" y="5060"/>
                  </a:moveTo>
                  <a:lnTo>
                    <a:pt x="0" y="0"/>
                  </a:lnTo>
                  <a:lnTo>
                    <a:pt x="5130856" y="0"/>
                  </a:lnTo>
                  <a:lnTo>
                    <a:pt x="513085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26003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35" noProof="1">
                <a:solidFill>
                  <a:srgbClr val="F9F9F9"/>
                </a:solidFill>
                <a:latin typeface="Arial"/>
                <a:cs typeface="Arial"/>
              </a:rPr>
              <a:t>Deploying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a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file</a:t>
            </a:r>
            <a:r>
              <a:rPr lang="en-US" sz="1000" b="1" spc="1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35" noProof="1">
                <a:solidFill>
                  <a:srgbClr val="F9F9F9"/>
                </a:solidFill>
                <a:latin typeface="Arial"/>
                <a:cs typeface="Arial"/>
              </a:rPr>
              <a:t>server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on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the</a:t>
            </a:r>
            <a:r>
              <a:rPr lang="en-US" sz="1000" b="1" spc="1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10" noProof="1">
                <a:solidFill>
                  <a:srgbClr val="F9F9F9"/>
                </a:solidFill>
                <a:latin typeface="Arial"/>
                <a:cs typeface="Arial"/>
              </a:rPr>
              <a:t>private</a:t>
            </a:r>
            <a:r>
              <a:rPr lang="en-US" sz="1000" b="1" spc="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25" noProof="1">
                <a:solidFill>
                  <a:srgbClr val="F9F9F9"/>
                </a:solidFill>
                <a:latin typeface="Arial"/>
                <a:cs typeface="Arial"/>
              </a:rPr>
              <a:t>subnet</a:t>
            </a:r>
            <a:endParaRPr lang="en-US" sz="10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908" y="625548"/>
            <a:ext cx="4884200" cy="209928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179695" cy="5080"/>
            </a:xfrm>
            <a:custGeom>
              <a:avLst/>
              <a:gdLst/>
              <a:ahLst/>
              <a:cxnLst/>
              <a:rect l="l" t="t" r="r" b="b"/>
              <a:pathLst>
                <a:path w="5179695" h="5080">
                  <a:moveTo>
                    <a:pt x="0" y="5060"/>
                  </a:moveTo>
                  <a:lnTo>
                    <a:pt x="0" y="0"/>
                  </a:lnTo>
                  <a:lnTo>
                    <a:pt x="5179197" y="0"/>
                  </a:lnTo>
                  <a:lnTo>
                    <a:pt x="5179197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268414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Create an EC2 </a:t>
            </a:r>
            <a:r>
              <a:rPr lang="en-US" spc="-30" noProof="1"/>
              <a:t>instance</a:t>
            </a:r>
            <a:r>
              <a:rPr lang="en-US" noProof="1"/>
              <a:t> on the</a:t>
            </a:r>
            <a:r>
              <a:rPr lang="en-US" spc="5" noProof="1"/>
              <a:t> </a:t>
            </a:r>
            <a:r>
              <a:rPr lang="en-US" spc="-10" noProof="1"/>
              <a:t>private</a:t>
            </a:r>
            <a:r>
              <a:rPr lang="en-US" noProof="1"/>
              <a:t> </a:t>
            </a:r>
            <a:r>
              <a:rPr lang="en-US" spc="-30" noProof="1"/>
              <a:t>subnet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986813" y="1304364"/>
            <a:ext cx="616585" cy="135890"/>
            <a:chOff x="1986813" y="1304364"/>
            <a:chExt cx="616585" cy="135890"/>
          </a:xfrm>
        </p:grpSpPr>
        <p:sp>
          <p:nvSpPr>
            <p:cNvPr id="4" name="object 4"/>
            <p:cNvSpPr/>
            <p:nvPr/>
          </p:nvSpPr>
          <p:spPr>
            <a:xfrm>
              <a:off x="1986813" y="1304364"/>
              <a:ext cx="616585" cy="135890"/>
            </a:xfrm>
            <a:custGeom>
              <a:avLst/>
              <a:gdLst/>
              <a:ahLst/>
              <a:cxnLst/>
              <a:rect l="l" t="t" r="r" b="b"/>
              <a:pathLst>
                <a:path w="616585" h="135890">
                  <a:moveTo>
                    <a:pt x="5805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99434"/>
                  </a:lnTo>
                  <a:lnTo>
                    <a:pt x="2829" y="113447"/>
                  </a:lnTo>
                  <a:lnTo>
                    <a:pt x="10544" y="124890"/>
                  </a:lnTo>
                  <a:lnTo>
                    <a:pt x="21987" y="132605"/>
                  </a:lnTo>
                  <a:lnTo>
                    <a:pt x="36000" y="135434"/>
                  </a:lnTo>
                  <a:lnTo>
                    <a:pt x="580541" y="135434"/>
                  </a:lnTo>
                  <a:lnTo>
                    <a:pt x="594554" y="132605"/>
                  </a:lnTo>
                  <a:lnTo>
                    <a:pt x="605997" y="124890"/>
                  </a:lnTo>
                  <a:lnTo>
                    <a:pt x="613712" y="113447"/>
                  </a:lnTo>
                  <a:lnTo>
                    <a:pt x="616541" y="99434"/>
                  </a:lnTo>
                  <a:lnTo>
                    <a:pt x="616541" y="36000"/>
                  </a:lnTo>
                  <a:lnTo>
                    <a:pt x="613712" y="21987"/>
                  </a:lnTo>
                  <a:lnTo>
                    <a:pt x="605997" y="10544"/>
                  </a:lnTo>
                  <a:lnTo>
                    <a:pt x="594554" y="2829"/>
                  </a:lnTo>
                  <a:lnTo>
                    <a:pt x="580541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986813" y="1304364"/>
              <a:ext cx="616585" cy="135890"/>
            </a:xfrm>
            <a:custGeom>
              <a:avLst/>
              <a:gdLst/>
              <a:ahLst/>
              <a:cxnLst/>
              <a:rect l="l" t="t" r="r" b="b"/>
              <a:pathLst>
                <a:path w="616585" h="135890">
                  <a:moveTo>
                    <a:pt x="580541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99434"/>
                  </a:lnTo>
                  <a:lnTo>
                    <a:pt x="2829" y="113447"/>
                  </a:lnTo>
                  <a:lnTo>
                    <a:pt x="10544" y="124890"/>
                  </a:lnTo>
                  <a:lnTo>
                    <a:pt x="21987" y="132605"/>
                  </a:lnTo>
                  <a:lnTo>
                    <a:pt x="36000" y="135434"/>
                  </a:lnTo>
                  <a:lnTo>
                    <a:pt x="580541" y="135434"/>
                  </a:lnTo>
                  <a:lnTo>
                    <a:pt x="594554" y="132605"/>
                  </a:lnTo>
                  <a:lnTo>
                    <a:pt x="605997" y="124890"/>
                  </a:lnTo>
                  <a:lnTo>
                    <a:pt x="613712" y="113447"/>
                  </a:lnTo>
                  <a:lnTo>
                    <a:pt x="616541" y="99434"/>
                  </a:lnTo>
                  <a:lnTo>
                    <a:pt x="616541" y="36000"/>
                  </a:lnTo>
                  <a:lnTo>
                    <a:pt x="613712" y="21987"/>
                  </a:lnTo>
                  <a:lnTo>
                    <a:pt x="605997" y="10544"/>
                  </a:lnTo>
                  <a:lnTo>
                    <a:pt x="594554" y="2829"/>
                  </a:lnTo>
                  <a:lnTo>
                    <a:pt x="580541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27012" y="530761"/>
            <a:ext cx="4702810" cy="231965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60020" indent="-147320">
              <a:lnSpc>
                <a:spcPct val="100000"/>
              </a:lnSpc>
              <a:spcBef>
                <a:spcPts val="275"/>
              </a:spcBef>
              <a:buAutoNum type="arabicPeriod"/>
              <a:tabLst>
                <a:tab pos="160020" algn="l"/>
              </a:tabLst>
            </a:pP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Go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i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0" noProof="1">
                <a:solidFill>
                  <a:srgbClr val="22373A"/>
                </a:solidFill>
                <a:latin typeface="Arial"/>
                <a:cs typeface="Arial"/>
              </a:rPr>
              <a:t>Launch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 instance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Fill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form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lang="en-US" sz="9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2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file-</a:t>
            </a:r>
            <a:r>
              <a:rPr lang="en-US" sz="800" spc="-30" noProof="1">
                <a:solidFill>
                  <a:srgbClr val="22373A"/>
                </a:solidFill>
                <a:latin typeface="Arial"/>
                <a:cs typeface="Arial"/>
              </a:rPr>
              <a:t>server-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spc="-20" noProof="1">
                <a:solidFill>
                  <a:srgbClr val="22373A"/>
                </a:solidFill>
                <a:latin typeface="Arial"/>
                <a:cs typeface="Arial"/>
              </a:rPr>
              <a:t>Application</a:t>
            </a:r>
            <a:r>
              <a:rPr lang="en-US" sz="8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8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OS</a:t>
            </a:r>
            <a:r>
              <a:rPr lang="en-US" sz="8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20" noProof="1">
                <a:solidFill>
                  <a:srgbClr val="22373A"/>
                </a:solidFill>
                <a:latin typeface="Arial"/>
                <a:cs typeface="Arial"/>
              </a:rPr>
              <a:t>Images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8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8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i="1" spc="-10" noProof="1">
                <a:solidFill>
                  <a:srgbClr val="22373A"/>
                </a:solidFill>
                <a:latin typeface="Arial"/>
                <a:cs typeface="Arial"/>
              </a:rPr>
              <a:t>Ubuntu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Key</a:t>
            </a:r>
            <a:r>
              <a:rPr lang="en-US" sz="800" b="1" spc="-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pair</a:t>
            </a:r>
            <a:r>
              <a:rPr lang="en-US" sz="8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(login)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Choose</a:t>
            </a:r>
            <a:r>
              <a:rPr lang="en-US" sz="8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aws-</a:t>
            </a:r>
            <a:r>
              <a:rPr lang="en-US" sz="800" spc="-55" noProof="1">
                <a:latin typeface="Courier New"/>
                <a:cs typeface="Courier New"/>
              </a:rPr>
              <a:t>keypair</a:t>
            </a:r>
            <a:r>
              <a:rPr lang="en-US" sz="800" spc="-100" noProof="1">
                <a:latin typeface="Courier New"/>
                <a:cs typeface="Courier New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(the</a:t>
            </a:r>
            <a:r>
              <a:rPr lang="en-US" sz="8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8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8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8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already</a:t>
            </a:r>
            <a:r>
              <a:rPr lang="en-US" sz="8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been</a:t>
            </a:r>
            <a:r>
              <a:rPr lang="en-US" sz="8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using)</a:t>
            </a:r>
            <a:endParaRPr lang="en-US" sz="8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16002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settings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tab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clik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noProof="1">
                <a:solidFill>
                  <a:srgbClr val="22373A"/>
                </a:solidFill>
                <a:latin typeface="Arial"/>
                <a:cs typeface="Arial"/>
              </a:rPr>
              <a:t>Edit</a:t>
            </a:r>
            <a:r>
              <a:rPr lang="en-US" sz="900" i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lang="en-US" sz="9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r>
              <a:rPr lang="en-US" sz="800" b="1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-</a:t>
            </a:r>
            <a:r>
              <a:rPr lang="en-US" sz="800" b="1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25" noProof="1">
                <a:solidFill>
                  <a:srgbClr val="22373A"/>
                </a:solidFill>
                <a:latin typeface="Arial"/>
                <a:cs typeface="Arial"/>
              </a:rPr>
              <a:t>required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8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ending</a:t>
            </a:r>
            <a:r>
              <a:rPr lang="en-US" sz="8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8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(test-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vpc)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5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8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test-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private-subnet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spc="-40" noProof="1">
                <a:solidFill>
                  <a:srgbClr val="22373A"/>
                </a:solidFill>
                <a:latin typeface="Arial"/>
                <a:cs typeface="Arial"/>
              </a:rPr>
              <a:t>Auto-</a:t>
            </a:r>
            <a:r>
              <a:rPr lang="en-US" sz="800" b="1" spc="-35" noProof="1">
                <a:solidFill>
                  <a:srgbClr val="22373A"/>
                </a:solidFill>
                <a:latin typeface="Arial"/>
                <a:cs typeface="Arial"/>
              </a:rPr>
              <a:t>assign</a:t>
            </a:r>
            <a:r>
              <a:rPr lang="en-US" sz="800" b="1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20" noProof="1">
                <a:solidFill>
                  <a:srgbClr val="22373A"/>
                </a:solidFill>
                <a:latin typeface="Arial"/>
                <a:cs typeface="Arial"/>
              </a:rPr>
              <a:t>Public</a:t>
            </a:r>
            <a:r>
              <a:rPr lang="en-US" sz="800" b="1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Enable</a:t>
            </a:r>
            <a:endParaRPr lang="en-US" sz="800" noProof="1">
              <a:latin typeface="Arial"/>
              <a:cs typeface="Arial"/>
            </a:endParaRPr>
          </a:p>
          <a:p>
            <a:pPr marL="159385" marR="5080" indent="-147320">
              <a:lnSpc>
                <a:spcPct val="116199"/>
              </a:lnSpc>
              <a:spcBef>
                <a:spcPts val="20"/>
              </a:spcBef>
              <a:buAutoNum type="arabicPeriod"/>
              <a:tabLst>
                <a:tab pos="16065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Still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inside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the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settings,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on the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Inbound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Group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5" noProof="1">
                <a:solidFill>
                  <a:srgbClr val="22373A"/>
                </a:solidFill>
                <a:latin typeface="Arial"/>
                <a:cs typeface="Arial"/>
              </a:rPr>
              <a:t>Rules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section,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 on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 	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button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Add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security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group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rule</a:t>
            </a:r>
            <a:r>
              <a:rPr lang="en-US" sz="9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add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rule:</a:t>
            </a:r>
            <a:endParaRPr lang="en-US" sz="9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Type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Custom</a:t>
            </a:r>
            <a:r>
              <a:rPr lang="en-US" sz="8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TCP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spc="-35" noProof="1">
                <a:solidFill>
                  <a:srgbClr val="22373A"/>
                </a:solidFill>
                <a:latin typeface="Arial"/>
                <a:cs typeface="Arial"/>
              </a:rPr>
              <a:t>Source</a:t>
            </a:r>
            <a:r>
              <a:rPr lang="en-US" sz="8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type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8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Anywhere</a:t>
            </a:r>
            <a:endParaRPr lang="en-US" sz="800" noProof="1">
              <a:latin typeface="Arial"/>
              <a:cs typeface="Arial"/>
            </a:endParaRPr>
          </a:p>
          <a:p>
            <a:pPr marL="387985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387985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Port</a:t>
            </a: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 range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20" noProof="1">
                <a:solidFill>
                  <a:srgbClr val="22373A"/>
                </a:solidFill>
                <a:latin typeface="Arial"/>
                <a:cs typeface="Arial"/>
              </a:rPr>
              <a:t>8080</a:t>
            </a:r>
            <a:endParaRPr lang="en-US" sz="800" noProof="1">
              <a:latin typeface="Arial"/>
              <a:cs typeface="Arial"/>
            </a:endParaRPr>
          </a:p>
          <a:p>
            <a:pPr marL="160020" indent="-147320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160020" algn="l"/>
              </a:tabLst>
            </a:pP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Leave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rest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default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20" noProof="1">
                <a:solidFill>
                  <a:srgbClr val="22373A"/>
                </a:solidFill>
                <a:latin typeface="Arial"/>
                <a:cs typeface="Arial"/>
              </a:rPr>
              <a:t>Launch</a:t>
            </a:r>
            <a:r>
              <a:rPr lang="en-US" sz="900" i="1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i="1" spc="-10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5227955" cy="5080"/>
            </a:xfrm>
            <a:custGeom>
              <a:avLst/>
              <a:gdLst/>
              <a:ahLst/>
              <a:cxnLst/>
              <a:rect l="l" t="t" r="r" b="b"/>
              <a:pathLst>
                <a:path w="5227955" h="5080">
                  <a:moveTo>
                    <a:pt x="0" y="5060"/>
                  </a:moveTo>
                  <a:lnTo>
                    <a:pt x="0" y="0"/>
                  </a:lnTo>
                  <a:lnTo>
                    <a:pt x="5227625" y="0"/>
                  </a:lnTo>
                  <a:lnTo>
                    <a:pt x="522762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0" noProof="1"/>
              <a:t>Give</a:t>
            </a:r>
            <a:r>
              <a:rPr lang="en-US" spc="50" noProof="1"/>
              <a:t> </a:t>
            </a:r>
            <a:r>
              <a:rPr lang="en-US" noProof="1"/>
              <a:t>it</a:t>
            </a:r>
            <a:r>
              <a:rPr lang="en-US" spc="55" noProof="1"/>
              <a:t> </a:t>
            </a:r>
            <a:r>
              <a:rPr lang="en-US" spc="-65" noProof="1"/>
              <a:t>access</a:t>
            </a:r>
            <a:r>
              <a:rPr lang="en-US" spc="55" noProof="1"/>
              <a:t> </a:t>
            </a:r>
            <a:r>
              <a:rPr lang="en-US" noProof="1"/>
              <a:t>to</a:t>
            </a:r>
            <a:r>
              <a:rPr lang="en-US" spc="55" noProof="1"/>
              <a:t> </a:t>
            </a:r>
            <a:r>
              <a:rPr lang="en-US" spc="-10" noProof="1"/>
              <a:t>internet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70373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95"/>
              </a:spcBef>
            </a:pPr>
            <a:r>
              <a:rPr lang="en-US" noProof="1"/>
              <a:t>If</a:t>
            </a:r>
            <a:r>
              <a:rPr lang="en-US" spc="10" noProof="1"/>
              <a:t> </a:t>
            </a:r>
            <a:r>
              <a:rPr lang="en-US" spc="-10" noProof="1"/>
              <a:t>you</a:t>
            </a:r>
            <a:r>
              <a:rPr lang="en-US" spc="10" noProof="1"/>
              <a:t> </a:t>
            </a:r>
            <a:r>
              <a:rPr lang="en-US" spc="-25" noProof="1"/>
              <a:t>remember,</a:t>
            </a:r>
            <a:r>
              <a:rPr lang="en-US" spc="15" noProof="1"/>
              <a:t> </a:t>
            </a:r>
            <a:r>
              <a:rPr lang="en-US" spc="-40" noProof="1"/>
              <a:t>machines</a:t>
            </a:r>
            <a:r>
              <a:rPr lang="en-US" spc="10" noProof="1"/>
              <a:t> </a:t>
            </a:r>
            <a:r>
              <a:rPr lang="en-US" spc="-40" noProof="1"/>
              <a:t>deployed</a:t>
            </a:r>
            <a:r>
              <a:rPr lang="en-US" spc="15" noProof="1"/>
              <a:t> </a:t>
            </a:r>
            <a:r>
              <a:rPr lang="en-US" noProof="1"/>
              <a:t>on</a:t>
            </a:r>
            <a:r>
              <a:rPr lang="en-US" spc="10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spc="-10" noProof="1"/>
              <a:t>private</a:t>
            </a:r>
            <a:r>
              <a:rPr lang="en-US" spc="10" noProof="1"/>
              <a:t> </a:t>
            </a:r>
            <a:r>
              <a:rPr lang="en-US" spc="-20" noProof="1"/>
              <a:t>subnet</a:t>
            </a:r>
            <a:r>
              <a:rPr lang="en-US" spc="15" noProof="1"/>
              <a:t> </a:t>
            </a:r>
            <a:r>
              <a:rPr lang="en-US" b="1" noProof="1">
                <a:latin typeface="Arial"/>
                <a:cs typeface="Arial"/>
              </a:rPr>
              <a:t>dit</a:t>
            </a:r>
            <a:r>
              <a:rPr lang="en-US" b="1" spc="25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not</a:t>
            </a:r>
            <a:r>
              <a:rPr lang="en-US" b="1" spc="30" noProof="1">
                <a:latin typeface="Arial"/>
                <a:cs typeface="Arial"/>
              </a:rPr>
              <a:t> </a:t>
            </a:r>
            <a:r>
              <a:rPr lang="en-US" b="1" spc="-25" noProof="1">
                <a:latin typeface="Arial"/>
                <a:cs typeface="Arial"/>
              </a:rPr>
              <a:t>have</a:t>
            </a:r>
            <a:r>
              <a:rPr lang="en-US" b="1" spc="30" noProof="1">
                <a:latin typeface="Arial"/>
                <a:cs typeface="Arial"/>
              </a:rPr>
              <a:t> </a:t>
            </a:r>
            <a:r>
              <a:rPr lang="en-US" b="1" spc="-65" noProof="1">
                <a:latin typeface="Arial"/>
                <a:cs typeface="Arial"/>
              </a:rPr>
              <a:t>access</a:t>
            </a:r>
            <a:r>
              <a:rPr lang="en-US" b="1" spc="30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to</a:t>
            </a:r>
            <a:r>
              <a:rPr lang="en-US" b="1" spc="30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the</a:t>
            </a:r>
            <a:r>
              <a:rPr lang="en-US" b="1" spc="30" noProof="1">
                <a:latin typeface="Arial"/>
                <a:cs typeface="Arial"/>
              </a:rPr>
              <a:t> </a:t>
            </a:r>
            <a:r>
              <a:rPr lang="en-US" b="1" spc="-10" noProof="1">
                <a:latin typeface="Arial"/>
                <a:cs typeface="Arial"/>
              </a:rPr>
              <a:t>internet</a:t>
            </a:r>
            <a:r>
              <a:rPr lang="en-US" spc="-10" noProof="1"/>
              <a:t>.</a:t>
            </a:r>
          </a:p>
          <a:p>
            <a:pPr marL="17780" marR="5080" indent="-5715">
              <a:lnSpc>
                <a:spcPct val="116199"/>
              </a:lnSpc>
              <a:spcBef>
                <a:spcPts val="625"/>
              </a:spcBef>
            </a:pPr>
            <a:r>
              <a:rPr lang="en-US" spc="-10" noProof="1"/>
              <a:t>We’re</a:t>
            </a:r>
            <a:r>
              <a:rPr lang="en-US" noProof="1"/>
              <a:t> </a:t>
            </a:r>
            <a:r>
              <a:rPr lang="en-US" spc="-10" noProof="1"/>
              <a:t>going</a:t>
            </a:r>
            <a:r>
              <a:rPr lang="en-US" spc="5" noProof="1"/>
              <a:t> </a:t>
            </a:r>
            <a:r>
              <a:rPr lang="en-US" noProof="1"/>
              <a:t>to</a:t>
            </a:r>
            <a:r>
              <a:rPr lang="en-US" spc="5" noProof="1"/>
              <a:t> </a:t>
            </a:r>
            <a:r>
              <a:rPr lang="en-US" spc="-10" noProof="1"/>
              <a:t>temporarily</a:t>
            </a:r>
            <a:r>
              <a:rPr lang="en-US" spc="10" noProof="1"/>
              <a:t> </a:t>
            </a:r>
            <a:r>
              <a:rPr lang="en-US" spc="-35" noProof="1"/>
              <a:t>enable</a:t>
            </a:r>
            <a:r>
              <a:rPr lang="en-US" spc="5" noProof="1"/>
              <a:t> </a:t>
            </a:r>
            <a:r>
              <a:rPr lang="en-US" noProof="1"/>
              <a:t>internet</a:t>
            </a:r>
            <a:r>
              <a:rPr lang="en-US" spc="10" noProof="1"/>
              <a:t> </a:t>
            </a:r>
            <a:r>
              <a:rPr lang="en-US" spc="-75" noProof="1"/>
              <a:t>access</a:t>
            </a:r>
            <a:r>
              <a:rPr lang="en-US" spc="10" noProof="1"/>
              <a:t> </a:t>
            </a:r>
            <a:r>
              <a:rPr lang="en-US" noProof="1"/>
              <a:t>(which</a:t>
            </a:r>
            <a:r>
              <a:rPr lang="en-US" spc="5" noProof="1"/>
              <a:t> </a:t>
            </a:r>
            <a:r>
              <a:rPr lang="en-US" b="1" spc="-20" noProof="1">
                <a:latin typeface="Arial"/>
                <a:cs typeface="Arial"/>
              </a:rPr>
              <a:t>is</a:t>
            </a:r>
            <a:r>
              <a:rPr lang="en-US" b="1" spc="25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not</a:t>
            </a:r>
            <a:r>
              <a:rPr lang="en-US" b="1" spc="25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the</a:t>
            </a:r>
            <a:r>
              <a:rPr lang="en-US" b="1" spc="25" noProof="1">
                <a:latin typeface="Arial"/>
                <a:cs typeface="Arial"/>
              </a:rPr>
              <a:t> </a:t>
            </a:r>
            <a:r>
              <a:rPr lang="en-US" b="1" spc="-35" noProof="1">
                <a:latin typeface="Arial"/>
                <a:cs typeface="Arial"/>
              </a:rPr>
              <a:t>same</a:t>
            </a:r>
            <a:r>
              <a:rPr lang="en-US" b="1" spc="20" noProof="1">
                <a:latin typeface="Arial"/>
                <a:cs typeface="Arial"/>
              </a:rPr>
              <a:t> </a:t>
            </a:r>
            <a:r>
              <a:rPr lang="en-US" b="1" spc="-30" noProof="1">
                <a:latin typeface="Arial"/>
                <a:cs typeface="Arial"/>
              </a:rPr>
              <a:t>as</a:t>
            </a:r>
            <a:r>
              <a:rPr lang="en-US" b="1" spc="25" noProof="1">
                <a:latin typeface="Arial"/>
                <a:cs typeface="Arial"/>
              </a:rPr>
              <a:t> </a:t>
            </a:r>
            <a:r>
              <a:rPr lang="en-US" b="1" spc="-25" noProof="1">
                <a:latin typeface="Arial"/>
                <a:cs typeface="Arial"/>
              </a:rPr>
              <a:t>making</a:t>
            </a:r>
            <a:r>
              <a:rPr lang="en-US" b="1" spc="25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it</a:t>
            </a:r>
            <a:r>
              <a:rPr lang="en-US" b="1" spc="20" noProof="1">
                <a:latin typeface="Arial"/>
                <a:cs typeface="Arial"/>
              </a:rPr>
              <a:t> </a:t>
            </a:r>
            <a:r>
              <a:rPr lang="en-US" b="1" spc="-25" noProof="1">
                <a:latin typeface="Arial"/>
                <a:cs typeface="Arial"/>
              </a:rPr>
              <a:t>public</a:t>
            </a:r>
            <a:r>
              <a:rPr lang="en-US" spc="-25" noProof="1"/>
              <a:t>)</a:t>
            </a:r>
            <a:r>
              <a:rPr lang="en-US" spc="10" noProof="1"/>
              <a:t> </a:t>
            </a:r>
            <a:r>
              <a:rPr lang="en-US" spc="-25" noProof="1"/>
              <a:t>so</a:t>
            </a:r>
            <a:r>
              <a:rPr lang="en-US" spc="5" noProof="1"/>
              <a:t> </a:t>
            </a:r>
            <a:r>
              <a:rPr lang="en-US" spc="-25" noProof="1"/>
              <a:t>we </a:t>
            </a:r>
            <a:r>
              <a:rPr lang="en-US" spc="-10" noProof="1"/>
              <a:t>can</a:t>
            </a:r>
            <a:r>
              <a:rPr lang="en-US" noProof="1"/>
              <a:t> install the </a:t>
            </a:r>
            <a:r>
              <a:rPr lang="en-US" spc="-55" noProof="1"/>
              <a:t>necessary</a:t>
            </a:r>
            <a:r>
              <a:rPr lang="en-US" spc="5" noProof="1"/>
              <a:t> </a:t>
            </a:r>
            <a:r>
              <a:rPr lang="en-US" spc="-25" noProof="1"/>
              <a:t>software.</a:t>
            </a:r>
            <a:r>
              <a:rPr lang="en-US" spc="85" noProof="1"/>
              <a:t> </a:t>
            </a:r>
            <a:r>
              <a:rPr lang="en-US" spc="-30" noProof="1"/>
              <a:t>Once</a:t>
            </a:r>
            <a:r>
              <a:rPr lang="en-US" noProof="1"/>
              <a:t> </a:t>
            </a:r>
            <a:r>
              <a:rPr lang="en-US" spc="-20" noProof="1"/>
              <a:t>we’re</a:t>
            </a:r>
            <a:r>
              <a:rPr lang="en-US" noProof="1"/>
              <a:t> </a:t>
            </a:r>
            <a:r>
              <a:rPr lang="en-US" spc="-20" noProof="1"/>
              <a:t>finished</a:t>
            </a:r>
            <a:r>
              <a:rPr lang="en-US" noProof="1"/>
              <a:t> </a:t>
            </a:r>
            <a:r>
              <a:rPr lang="en-US" spc="-40" noProof="1"/>
              <a:t>we</a:t>
            </a:r>
            <a:r>
              <a:rPr lang="en-US" spc="5" noProof="1"/>
              <a:t> </a:t>
            </a:r>
            <a:r>
              <a:rPr lang="en-US" spc="-30" noProof="1"/>
              <a:t>are</a:t>
            </a:r>
            <a:r>
              <a:rPr lang="en-US" noProof="1"/>
              <a:t> </a:t>
            </a:r>
            <a:r>
              <a:rPr lang="en-US" spc="-10" noProof="1"/>
              <a:t>going</a:t>
            </a:r>
            <a:r>
              <a:rPr lang="en-US" noProof="1"/>
              <a:t> to</a:t>
            </a:r>
            <a:r>
              <a:rPr lang="en-US" spc="5" noProof="1"/>
              <a:t> </a:t>
            </a:r>
            <a:r>
              <a:rPr lang="en-US" spc="-35" noProof="1"/>
              <a:t>remove</a:t>
            </a:r>
            <a:r>
              <a:rPr lang="en-US" noProof="1"/>
              <a:t> the internet</a:t>
            </a:r>
            <a:r>
              <a:rPr lang="en-US" spc="5" noProof="1"/>
              <a:t> </a:t>
            </a:r>
            <a:r>
              <a:rPr lang="en-US" spc="-10" noProof="1"/>
              <a:t>access.</a:t>
            </a:r>
          </a:p>
          <a:p>
            <a:pPr marL="13970">
              <a:lnSpc>
                <a:spcPct val="100000"/>
              </a:lnSpc>
              <a:spcBef>
                <a:spcPts val="805"/>
              </a:spcBef>
            </a:pPr>
            <a:r>
              <a:rPr lang="en-US" noProof="1"/>
              <a:t>To</a:t>
            </a:r>
            <a:r>
              <a:rPr lang="en-US" spc="-5" noProof="1"/>
              <a:t> </a:t>
            </a:r>
            <a:r>
              <a:rPr lang="en-US" noProof="1"/>
              <a:t>do </a:t>
            </a:r>
            <a:r>
              <a:rPr lang="en-US" spc="-10" noProof="1"/>
              <a:t>so,</a:t>
            </a:r>
            <a:r>
              <a:rPr lang="en-US" noProof="1"/>
              <a:t> </a:t>
            </a:r>
            <a:r>
              <a:rPr lang="en-US" spc="-20" noProof="1"/>
              <a:t>we’re</a:t>
            </a:r>
            <a:r>
              <a:rPr lang="en-US" spc="-5" noProof="1"/>
              <a:t> </a:t>
            </a:r>
            <a:r>
              <a:rPr lang="en-US" spc="-10" noProof="1"/>
              <a:t>going</a:t>
            </a:r>
            <a:r>
              <a:rPr lang="en-US" noProof="1"/>
              <a:t> </a:t>
            </a:r>
            <a:r>
              <a:rPr lang="en-US" spc="-50" noProof="1"/>
              <a:t>need</a:t>
            </a:r>
            <a:r>
              <a:rPr lang="en-US" noProof="1"/>
              <a:t> a</a:t>
            </a:r>
            <a:r>
              <a:rPr lang="en-US" spc="-5" noProof="1"/>
              <a:t> </a:t>
            </a:r>
            <a:r>
              <a:rPr lang="en-US" b="1" noProof="1">
                <a:latin typeface="Arial"/>
                <a:cs typeface="Arial"/>
              </a:rPr>
              <a:t>NAT</a:t>
            </a:r>
            <a:r>
              <a:rPr lang="en-US" b="1" spc="15" noProof="1">
                <a:latin typeface="Arial"/>
                <a:cs typeface="Arial"/>
              </a:rPr>
              <a:t> </a:t>
            </a:r>
            <a:r>
              <a:rPr lang="en-US" b="1" spc="-30" noProof="1">
                <a:latin typeface="Arial"/>
                <a:cs typeface="Arial"/>
              </a:rPr>
              <a:t>Gateway</a:t>
            </a:r>
            <a:r>
              <a:rPr lang="en-US" b="1" noProof="1">
                <a:latin typeface="Arial"/>
                <a:cs typeface="Arial"/>
              </a:rPr>
              <a:t> </a:t>
            </a:r>
            <a:r>
              <a:rPr lang="en-US" noProof="1"/>
              <a:t>and a</a:t>
            </a:r>
            <a:r>
              <a:rPr lang="en-US" spc="-5" noProof="1"/>
              <a:t> </a:t>
            </a:r>
            <a:r>
              <a:rPr lang="en-US" spc="-20" noProof="1"/>
              <a:t>new</a:t>
            </a:r>
            <a:r>
              <a:rPr lang="en-US" noProof="1"/>
              <a:t> </a:t>
            </a:r>
            <a:r>
              <a:rPr lang="en-US" b="1" spc="-10" noProof="1">
                <a:latin typeface="Arial"/>
                <a:cs typeface="Arial"/>
              </a:rPr>
              <a:t>Route</a:t>
            </a:r>
            <a:r>
              <a:rPr lang="en-US" b="1" spc="15" noProof="1">
                <a:latin typeface="Arial"/>
                <a:cs typeface="Arial"/>
              </a:rPr>
              <a:t> </a:t>
            </a:r>
            <a:r>
              <a:rPr lang="en-US" b="1" noProof="1">
                <a:latin typeface="Arial"/>
                <a:cs typeface="Arial"/>
              </a:rPr>
              <a:t>table </a:t>
            </a:r>
            <a:r>
              <a:rPr lang="en-US" noProof="1"/>
              <a:t>for the</a:t>
            </a:r>
            <a:r>
              <a:rPr lang="en-US" spc="-5" noProof="1"/>
              <a:t> </a:t>
            </a:r>
            <a:r>
              <a:rPr lang="en-US" spc="-10" noProof="1"/>
              <a:t>private</a:t>
            </a:r>
            <a:r>
              <a:rPr lang="en-US" noProof="1"/>
              <a:t> </a:t>
            </a:r>
            <a:r>
              <a:rPr lang="en-US" spc="-10" noProof="1"/>
              <a:t>subnet.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276215" cy="5080"/>
            </a:xfrm>
            <a:custGeom>
              <a:avLst/>
              <a:gdLst/>
              <a:ahLst/>
              <a:cxnLst/>
              <a:rect l="l" t="t" r="r" b="b"/>
              <a:pathLst>
                <a:path w="5276215" h="5080">
                  <a:moveTo>
                    <a:pt x="0" y="5060"/>
                  </a:moveTo>
                  <a:lnTo>
                    <a:pt x="0" y="0"/>
                  </a:lnTo>
                  <a:lnTo>
                    <a:pt x="5276053" y="0"/>
                  </a:lnTo>
                  <a:lnTo>
                    <a:pt x="527605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4833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20" noProof="1">
                <a:solidFill>
                  <a:srgbClr val="F9F9F9"/>
                </a:solidFill>
                <a:latin typeface="Arial"/>
                <a:cs typeface="Arial"/>
              </a:rPr>
              <a:t>Give</a:t>
            </a:r>
            <a:r>
              <a:rPr lang="en-US" sz="1000" b="1" spc="5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it</a:t>
            </a:r>
            <a:r>
              <a:rPr lang="en-US" sz="1000" b="1" spc="5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65" noProof="1">
                <a:solidFill>
                  <a:srgbClr val="F9F9F9"/>
                </a:solidFill>
                <a:latin typeface="Arial"/>
                <a:cs typeface="Arial"/>
              </a:rPr>
              <a:t>access</a:t>
            </a:r>
            <a:r>
              <a:rPr lang="en-US" sz="1000" b="1" spc="5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to</a:t>
            </a:r>
            <a:r>
              <a:rPr lang="en-US" sz="1000" b="1" spc="5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10" noProof="1">
                <a:solidFill>
                  <a:srgbClr val="F9F9F9"/>
                </a:solidFill>
                <a:latin typeface="Arial"/>
                <a:cs typeface="Arial"/>
              </a:rPr>
              <a:t>internet</a:t>
            </a:r>
            <a:endParaRPr lang="en-US" sz="10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991" y="625555"/>
            <a:ext cx="4580019" cy="209926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324475" cy="5080"/>
            </a:xfrm>
            <a:custGeom>
              <a:avLst/>
              <a:gdLst/>
              <a:ahLst/>
              <a:cxnLst/>
              <a:rect l="l" t="t" r="r" b="b"/>
              <a:pathLst>
                <a:path w="5324475" h="5080">
                  <a:moveTo>
                    <a:pt x="0" y="5060"/>
                  </a:moveTo>
                  <a:lnTo>
                    <a:pt x="0" y="0"/>
                  </a:lnTo>
                  <a:lnTo>
                    <a:pt x="5324394" y="0"/>
                  </a:lnTo>
                  <a:lnTo>
                    <a:pt x="5324394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"/>
            <a:ext cx="5760085" cy="310515"/>
          </a:xfrm>
          <a:custGeom>
            <a:avLst/>
            <a:gdLst/>
            <a:ahLst/>
            <a:cxnLst/>
            <a:rect l="l" t="t" r="r" b="b"/>
            <a:pathLst>
              <a:path w="5760085" h="310515">
                <a:moveTo>
                  <a:pt x="5759996" y="0"/>
                </a:moveTo>
                <a:lnTo>
                  <a:pt x="0" y="0"/>
                </a:lnTo>
                <a:lnTo>
                  <a:pt x="0" y="310273"/>
                </a:lnTo>
                <a:lnTo>
                  <a:pt x="5759996" y="310273"/>
                </a:lnTo>
                <a:lnTo>
                  <a:pt x="5759996" y="0"/>
                </a:lnTo>
                <a:close/>
              </a:path>
            </a:pathLst>
          </a:custGeom>
          <a:solidFill>
            <a:srgbClr val="22373A"/>
          </a:solidFill>
        </p:spPr>
        <p:txBody>
          <a:bodyPr wrap="square" lIns="0" tIns="0" rIns="0" bIns="0" rtlCol="0"/>
          <a:lstStyle/>
          <a:p>
            <a:endParaRPr lang="en-US" noProof="1"/>
          </a:p>
        </p:txBody>
      </p:sp>
      <p:sp>
        <p:nvSpPr>
          <p:cNvPr id="3" name="object 3"/>
          <p:cNvSpPr txBox="1"/>
          <p:nvPr/>
        </p:nvSpPr>
        <p:spPr>
          <a:xfrm>
            <a:off x="98526" y="59834"/>
            <a:ext cx="14833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000" b="1" spc="-20" noProof="1">
                <a:solidFill>
                  <a:srgbClr val="F9F9F9"/>
                </a:solidFill>
                <a:latin typeface="Arial"/>
                <a:cs typeface="Arial"/>
              </a:rPr>
              <a:t>Give</a:t>
            </a:r>
            <a:r>
              <a:rPr lang="en-US" sz="1000" b="1" spc="50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it</a:t>
            </a:r>
            <a:r>
              <a:rPr lang="en-US" sz="1000" b="1" spc="5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65" noProof="1">
                <a:solidFill>
                  <a:srgbClr val="F9F9F9"/>
                </a:solidFill>
                <a:latin typeface="Arial"/>
                <a:cs typeface="Arial"/>
              </a:rPr>
              <a:t>access</a:t>
            </a:r>
            <a:r>
              <a:rPr lang="en-US" sz="1000" b="1" spc="5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noProof="1">
                <a:solidFill>
                  <a:srgbClr val="F9F9F9"/>
                </a:solidFill>
                <a:latin typeface="Arial"/>
                <a:cs typeface="Arial"/>
              </a:rPr>
              <a:t>to</a:t>
            </a:r>
            <a:r>
              <a:rPr lang="en-US" sz="1000" b="1" spc="55" noProof="1">
                <a:solidFill>
                  <a:srgbClr val="F9F9F9"/>
                </a:solidFill>
                <a:latin typeface="Arial"/>
                <a:cs typeface="Arial"/>
              </a:rPr>
              <a:t> </a:t>
            </a:r>
            <a:r>
              <a:rPr lang="en-US" sz="1000" b="1" spc="-10" noProof="1">
                <a:solidFill>
                  <a:srgbClr val="F9F9F9"/>
                </a:solidFill>
                <a:latin typeface="Arial"/>
                <a:cs typeface="Arial"/>
              </a:rPr>
              <a:t>internet</a:t>
            </a:r>
            <a:endParaRPr lang="en-US" sz="1000" noProof="1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7159" y="625582"/>
            <a:ext cx="4785683" cy="209922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6" name="object 6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0" y="3234963"/>
              <a:ext cx="5373370" cy="5080"/>
            </a:xfrm>
            <a:custGeom>
              <a:avLst/>
              <a:gdLst/>
              <a:ahLst/>
              <a:cxnLst/>
              <a:rect l="l" t="t" r="r" b="b"/>
              <a:pathLst>
                <a:path w="5373370" h="5080">
                  <a:moveTo>
                    <a:pt x="0" y="5060"/>
                  </a:moveTo>
                  <a:lnTo>
                    <a:pt x="0" y="0"/>
                  </a:lnTo>
                  <a:lnTo>
                    <a:pt x="5372822" y="0"/>
                  </a:lnTo>
                  <a:lnTo>
                    <a:pt x="5372822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0" noProof="1"/>
              <a:t>Give</a:t>
            </a:r>
            <a:r>
              <a:rPr lang="en-US" spc="50" noProof="1"/>
              <a:t> </a:t>
            </a:r>
            <a:r>
              <a:rPr lang="en-US" noProof="1"/>
              <a:t>it</a:t>
            </a:r>
            <a:r>
              <a:rPr lang="en-US" spc="55" noProof="1"/>
              <a:t> </a:t>
            </a:r>
            <a:r>
              <a:rPr lang="en-US" spc="-65" noProof="1"/>
              <a:t>access</a:t>
            </a:r>
            <a:r>
              <a:rPr lang="en-US" spc="55" noProof="1"/>
              <a:t> </a:t>
            </a:r>
            <a:r>
              <a:rPr lang="en-US" noProof="1"/>
              <a:t>to</a:t>
            </a:r>
            <a:r>
              <a:rPr lang="en-US" spc="55" noProof="1"/>
              <a:t> </a:t>
            </a:r>
            <a:r>
              <a:rPr lang="en-US" spc="-10" noProof="1"/>
              <a:t>internet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19301" y="1324450"/>
            <a:ext cx="742950" cy="147955"/>
            <a:chOff x="1119301" y="1324450"/>
            <a:chExt cx="742950" cy="147955"/>
          </a:xfrm>
        </p:grpSpPr>
        <p:sp>
          <p:nvSpPr>
            <p:cNvPr id="4" name="object 4"/>
            <p:cNvSpPr/>
            <p:nvPr/>
          </p:nvSpPr>
          <p:spPr>
            <a:xfrm>
              <a:off x="1119301" y="1324450"/>
              <a:ext cx="742950" cy="147955"/>
            </a:xfrm>
            <a:custGeom>
              <a:avLst/>
              <a:gdLst/>
              <a:ahLst/>
              <a:cxnLst/>
              <a:rect l="l" t="t" r="r" b="b"/>
              <a:pathLst>
                <a:path w="742950" h="147955">
                  <a:moveTo>
                    <a:pt x="70671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631"/>
                  </a:lnTo>
                  <a:lnTo>
                    <a:pt x="2829" y="125644"/>
                  </a:lnTo>
                  <a:lnTo>
                    <a:pt x="10544" y="137087"/>
                  </a:lnTo>
                  <a:lnTo>
                    <a:pt x="21987" y="144802"/>
                  </a:lnTo>
                  <a:lnTo>
                    <a:pt x="36000" y="147631"/>
                  </a:lnTo>
                  <a:lnTo>
                    <a:pt x="706714" y="147631"/>
                  </a:lnTo>
                  <a:lnTo>
                    <a:pt x="720727" y="144802"/>
                  </a:lnTo>
                  <a:lnTo>
                    <a:pt x="732170" y="137087"/>
                  </a:lnTo>
                  <a:lnTo>
                    <a:pt x="739885" y="125644"/>
                  </a:lnTo>
                  <a:lnTo>
                    <a:pt x="742714" y="111631"/>
                  </a:lnTo>
                  <a:lnTo>
                    <a:pt x="742714" y="36000"/>
                  </a:lnTo>
                  <a:lnTo>
                    <a:pt x="739885" y="21987"/>
                  </a:lnTo>
                  <a:lnTo>
                    <a:pt x="732170" y="10544"/>
                  </a:lnTo>
                  <a:lnTo>
                    <a:pt x="720727" y="2829"/>
                  </a:lnTo>
                  <a:lnTo>
                    <a:pt x="706714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119301" y="1324450"/>
              <a:ext cx="742950" cy="147955"/>
            </a:xfrm>
            <a:custGeom>
              <a:avLst/>
              <a:gdLst/>
              <a:ahLst/>
              <a:cxnLst/>
              <a:rect l="l" t="t" r="r" b="b"/>
              <a:pathLst>
                <a:path w="742950" h="147955">
                  <a:moveTo>
                    <a:pt x="70671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631"/>
                  </a:lnTo>
                  <a:lnTo>
                    <a:pt x="2829" y="125644"/>
                  </a:lnTo>
                  <a:lnTo>
                    <a:pt x="10544" y="137087"/>
                  </a:lnTo>
                  <a:lnTo>
                    <a:pt x="21987" y="144802"/>
                  </a:lnTo>
                  <a:lnTo>
                    <a:pt x="36000" y="147631"/>
                  </a:lnTo>
                  <a:lnTo>
                    <a:pt x="706714" y="147631"/>
                  </a:lnTo>
                  <a:lnTo>
                    <a:pt x="720727" y="144802"/>
                  </a:lnTo>
                  <a:lnTo>
                    <a:pt x="732170" y="137087"/>
                  </a:lnTo>
                  <a:lnTo>
                    <a:pt x="739885" y="125644"/>
                  </a:lnTo>
                  <a:lnTo>
                    <a:pt x="742714" y="111631"/>
                  </a:lnTo>
                  <a:lnTo>
                    <a:pt x="742714" y="36000"/>
                  </a:lnTo>
                  <a:lnTo>
                    <a:pt x="739885" y="21987"/>
                  </a:lnTo>
                  <a:lnTo>
                    <a:pt x="732170" y="10544"/>
                  </a:lnTo>
                  <a:lnTo>
                    <a:pt x="720727" y="2829"/>
                  </a:lnTo>
                  <a:lnTo>
                    <a:pt x="70671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7294" y="1055364"/>
            <a:ext cx="4610100" cy="12719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steps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below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NAT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Gateway: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AutoNum type="arabicPeriod"/>
              <a:tabLst>
                <a:tab pos="239395" algn="l"/>
              </a:tabLst>
            </a:pP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Search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0" noProof="1">
                <a:latin typeface="Courier New"/>
                <a:cs typeface="Courier New"/>
              </a:rPr>
              <a:t>NAT </a:t>
            </a:r>
            <a:r>
              <a:rPr lang="en-US" sz="900" spc="-75" noProof="1">
                <a:latin typeface="Courier New"/>
                <a:cs typeface="Courier New"/>
              </a:rPr>
              <a:t>Gateways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Console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result.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NAT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Gateway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Fill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form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following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settings:</a:t>
            </a:r>
            <a:endParaRPr lang="en-US" sz="900" noProof="1">
              <a:latin typeface="Arial"/>
              <a:cs typeface="Arial"/>
            </a:endParaRPr>
          </a:p>
          <a:p>
            <a:pPr marL="467359" lvl="1" indent="-140335">
              <a:lnSpc>
                <a:spcPct val="100000"/>
              </a:lnSpc>
              <a:spcBef>
                <a:spcPts val="50"/>
              </a:spcBef>
              <a:buFont typeface="Arial"/>
              <a:buChar char="•"/>
              <a:tabLst>
                <a:tab pos="467359" algn="l"/>
              </a:tabLst>
            </a:pP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test-nat-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gateway</a:t>
            </a:r>
            <a:endParaRPr lang="en-US" sz="800" noProof="1">
              <a:latin typeface="Arial"/>
              <a:cs typeface="Arial"/>
            </a:endParaRPr>
          </a:p>
          <a:p>
            <a:pPr marL="467359" lvl="1" indent="-140335">
              <a:lnSpc>
                <a:spcPct val="100000"/>
              </a:lnSpc>
              <a:spcBef>
                <a:spcPts val="75"/>
              </a:spcBef>
              <a:buFont typeface="Arial"/>
              <a:buChar char="•"/>
              <a:tabLst>
                <a:tab pos="467359" algn="l"/>
              </a:tabLst>
            </a:pP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114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30" noProof="1">
                <a:solidFill>
                  <a:srgbClr val="22373A"/>
                </a:solidFill>
                <a:latin typeface="Arial"/>
                <a:cs typeface="Arial"/>
              </a:rPr>
              <a:t>Choose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ending</a:t>
            </a:r>
            <a:r>
              <a:rPr lang="en-US" sz="800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8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(test-public-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subnet)</a:t>
            </a:r>
            <a:endParaRPr lang="en-US" sz="800" noProof="1">
              <a:latin typeface="Arial"/>
              <a:cs typeface="Arial"/>
            </a:endParaRPr>
          </a:p>
          <a:p>
            <a:pPr marL="467359" lvl="1" indent="-14033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467359" algn="l"/>
              </a:tabLst>
            </a:pPr>
            <a:r>
              <a:rPr lang="en-US" sz="800" b="1" spc="-25" noProof="1">
                <a:solidFill>
                  <a:srgbClr val="22373A"/>
                </a:solidFill>
                <a:latin typeface="Arial"/>
                <a:cs typeface="Arial"/>
              </a:rPr>
              <a:t>Elastic</a:t>
            </a:r>
            <a:r>
              <a:rPr lang="en-US" sz="800" b="1" spc="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800" b="1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25" noProof="1">
                <a:solidFill>
                  <a:srgbClr val="22373A"/>
                </a:solidFill>
                <a:latin typeface="Arial"/>
                <a:cs typeface="Arial"/>
              </a:rPr>
              <a:t>allocation</a:t>
            </a:r>
            <a:r>
              <a:rPr lang="en-US" sz="800" b="1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noProof="1">
                <a:solidFill>
                  <a:srgbClr val="22373A"/>
                </a:solidFill>
                <a:latin typeface="Arial"/>
                <a:cs typeface="Arial"/>
              </a:rPr>
              <a:t>ID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r>
              <a:rPr lang="en-US" sz="8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8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8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button</a:t>
            </a:r>
            <a:r>
              <a:rPr lang="en-US" sz="8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8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8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noProof="1">
                <a:solidFill>
                  <a:srgbClr val="22373A"/>
                </a:solidFill>
                <a:latin typeface="Arial"/>
                <a:cs typeface="Arial"/>
              </a:rPr>
              <a:t>right</a:t>
            </a:r>
            <a:r>
              <a:rPr lang="en-US" sz="800" spc="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spc="-10" noProof="1">
                <a:solidFill>
                  <a:srgbClr val="22373A"/>
                </a:solidFill>
                <a:latin typeface="Arial"/>
                <a:cs typeface="Arial"/>
              </a:rPr>
              <a:t>called</a:t>
            </a:r>
            <a:r>
              <a:rPr lang="en-US" sz="800" spc="6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10" noProof="1">
                <a:solidFill>
                  <a:srgbClr val="22373A"/>
                </a:solidFill>
                <a:latin typeface="Arial"/>
                <a:cs typeface="Arial"/>
              </a:rPr>
              <a:t>Allocate</a:t>
            </a:r>
            <a:r>
              <a:rPr lang="en-US" sz="800" b="1" spc="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25" noProof="1">
                <a:solidFill>
                  <a:srgbClr val="22373A"/>
                </a:solidFill>
                <a:latin typeface="Arial"/>
                <a:cs typeface="Arial"/>
              </a:rPr>
              <a:t>Elastic</a:t>
            </a:r>
            <a:r>
              <a:rPr lang="en-US" sz="800" b="1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800" b="1" spc="-25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800" spc="-25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8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9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Create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NAT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Gateway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5421630" cy="5080"/>
            </a:xfrm>
            <a:custGeom>
              <a:avLst/>
              <a:gdLst/>
              <a:ahLst/>
              <a:cxnLst/>
              <a:rect l="l" t="t" r="r" b="b"/>
              <a:pathLst>
                <a:path w="5421630" h="5080">
                  <a:moveTo>
                    <a:pt x="0" y="5060"/>
                  </a:moveTo>
                  <a:lnTo>
                    <a:pt x="0" y="0"/>
                  </a:lnTo>
                  <a:lnTo>
                    <a:pt x="5421251" y="0"/>
                  </a:lnTo>
                  <a:lnTo>
                    <a:pt x="5421251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0" noProof="1"/>
              <a:t>Give</a:t>
            </a:r>
            <a:r>
              <a:rPr lang="en-US" spc="50" noProof="1"/>
              <a:t> </a:t>
            </a:r>
            <a:r>
              <a:rPr lang="en-US" noProof="1"/>
              <a:t>it</a:t>
            </a:r>
            <a:r>
              <a:rPr lang="en-US" spc="55" noProof="1"/>
              <a:t> </a:t>
            </a:r>
            <a:r>
              <a:rPr lang="en-US" spc="-65" noProof="1"/>
              <a:t>access</a:t>
            </a:r>
            <a:r>
              <a:rPr lang="en-US" spc="55" noProof="1"/>
              <a:t> </a:t>
            </a:r>
            <a:r>
              <a:rPr lang="en-US" noProof="1"/>
              <a:t>to</a:t>
            </a:r>
            <a:r>
              <a:rPr lang="en-US" spc="55" noProof="1"/>
              <a:t> </a:t>
            </a:r>
            <a:r>
              <a:rPr lang="en-US" spc="-10" noProof="1"/>
              <a:t>internet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9301" y="1268274"/>
            <a:ext cx="204657" cy="12269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302482" y="1594674"/>
            <a:ext cx="504190" cy="139065"/>
            <a:chOff x="3302482" y="1594674"/>
            <a:chExt cx="504190" cy="139065"/>
          </a:xfrm>
        </p:grpSpPr>
        <p:sp>
          <p:nvSpPr>
            <p:cNvPr id="5" name="object 5"/>
            <p:cNvSpPr/>
            <p:nvPr/>
          </p:nvSpPr>
          <p:spPr>
            <a:xfrm>
              <a:off x="3302482" y="1594674"/>
              <a:ext cx="504190" cy="139065"/>
            </a:xfrm>
            <a:custGeom>
              <a:avLst/>
              <a:gdLst/>
              <a:ahLst/>
              <a:cxnLst/>
              <a:rect l="l" t="t" r="r" b="b"/>
              <a:pathLst>
                <a:path w="504189" h="139064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2976"/>
                  </a:lnTo>
                  <a:lnTo>
                    <a:pt x="2829" y="116989"/>
                  </a:lnTo>
                  <a:lnTo>
                    <a:pt x="10544" y="128433"/>
                  </a:lnTo>
                  <a:lnTo>
                    <a:pt x="21987" y="136148"/>
                  </a:lnTo>
                  <a:lnTo>
                    <a:pt x="36000" y="138977"/>
                  </a:lnTo>
                  <a:lnTo>
                    <a:pt x="467577" y="138977"/>
                  </a:lnTo>
                  <a:lnTo>
                    <a:pt x="481590" y="136148"/>
                  </a:lnTo>
                  <a:lnTo>
                    <a:pt x="493033" y="128433"/>
                  </a:lnTo>
                  <a:lnTo>
                    <a:pt x="500748" y="116989"/>
                  </a:lnTo>
                  <a:lnTo>
                    <a:pt x="503577" y="102976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3302482" y="1594674"/>
              <a:ext cx="504190" cy="139065"/>
            </a:xfrm>
            <a:custGeom>
              <a:avLst/>
              <a:gdLst/>
              <a:ahLst/>
              <a:cxnLst/>
              <a:rect l="l" t="t" r="r" b="b"/>
              <a:pathLst>
                <a:path w="504189" h="139064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2976"/>
                  </a:lnTo>
                  <a:lnTo>
                    <a:pt x="2829" y="116989"/>
                  </a:lnTo>
                  <a:lnTo>
                    <a:pt x="10544" y="128433"/>
                  </a:lnTo>
                  <a:lnTo>
                    <a:pt x="21987" y="136148"/>
                  </a:lnTo>
                  <a:lnTo>
                    <a:pt x="36000" y="138977"/>
                  </a:lnTo>
                  <a:lnTo>
                    <a:pt x="467577" y="138977"/>
                  </a:lnTo>
                  <a:lnTo>
                    <a:pt x="481590" y="136148"/>
                  </a:lnTo>
                  <a:lnTo>
                    <a:pt x="493033" y="128433"/>
                  </a:lnTo>
                  <a:lnTo>
                    <a:pt x="500748" y="116989"/>
                  </a:lnTo>
                  <a:lnTo>
                    <a:pt x="503577" y="102976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550771" y="1738053"/>
            <a:ext cx="623570" cy="154940"/>
            <a:chOff x="1550771" y="1738053"/>
            <a:chExt cx="623570" cy="154940"/>
          </a:xfrm>
        </p:grpSpPr>
        <p:sp>
          <p:nvSpPr>
            <p:cNvPr id="8" name="object 8"/>
            <p:cNvSpPr/>
            <p:nvPr/>
          </p:nvSpPr>
          <p:spPr>
            <a:xfrm>
              <a:off x="1550771" y="1738053"/>
              <a:ext cx="623570" cy="154940"/>
            </a:xfrm>
            <a:custGeom>
              <a:avLst/>
              <a:gdLst/>
              <a:ahLst/>
              <a:cxnLst/>
              <a:rect l="l" t="t" r="r" b="b"/>
              <a:pathLst>
                <a:path w="623569" h="154939">
                  <a:moveTo>
                    <a:pt x="587146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8919"/>
                  </a:lnTo>
                  <a:lnTo>
                    <a:pt x="2829" y="132932"/>
                  </a:lnTo>
                  <a:lnTo>
                    <a:pt x="10544" y="144375"/>
                  </a:lnTo>
                  <a:lnTo>
                    <a:pt x="21987" y="152090"/>
                  </a:lnTo>
                  <a:lnTo>
                    <a:pt x="36000" y="154919"/>
                  </a:lnTo>
                  <a:lnTo>
                    <a:pt x="587146" y="154919"/>
                  </a:lnTo>
                  <a:lnTo>
                    <a:pt x="601159" y="152090"/>
                  </a:lnTo>
                  <a:lnTo>
                    <a:pt x="612602" y="144375"/>
                  </a:lnTo>
                  <a:lnTo>
                    <a:pt x="620317" y="132932"/>
                  </a:lnTo>
                  <a:lnTo>
                    <a:pt x="623146" y="118919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9" y="2829"/>
                  </a:lnTo>
                  <a:lnTo>
                    <a:pt x="587146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1550771" y="1738053"/>
              <a:ext cx="623570" cy="154940"/>
            </a:xfrm>
            <a:custGeom>
              <a:avLst/>
              <a:gdLst/>
              <a:ahLst/>
              <a:cxnLst/>
              <a:rect l="l" t="t" r="r" b="b"/>
              <a:pathLst>
                <a:path w="623569" h="154939">
                  <a:moveTo>
                    <a:pt x="587146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8919"/>
                  </a:lnTo>
                  <a:lnTo>
                    <a:pt x="2829" y="132932"/>
                  </a:lnTo>
                  <a:lnTo>
                    <a:pt x="10544" y="144375"/>
                  </a:lnTo>
                  <a:lnTo>
                    <a:pt x="21987" y="152090"/>
                  </a:lnTo>
                  <a:lnTo>
                    <a:pt x="36000" y="154919"/>
                  </a:lnTo>
                  <a:lnTo>
                    <a:pt x="587146" y="154919"/>
                  </a:lnTo>
                  <a:lnTo>
                    <a:pt x="601159" y="152090"/>
                  </a:lnTo>
                  <a:lnTo>
                    <a:pt x="612602" y="144375"/>
                  </a:lnTo>
                  <a:lnTo>
                    <a:pt x="620317" y="132932"/>
                  </a:lnTo>
                  <a:lnTo>
                    <a:pt x="623146" y="118919"/>
                  </a:lnTo>
                  <a:lnTo>
                    <a:pt x="623146" y="36000"/>
                  </a:lnTo>
                  <a:lnTo>
                    <a:pt x="620317" y="21987"/>
                  </a:lnTo>
                  <a:lnTo>
                    <a:pt x="612602" y="10544"/>
                  </a:lnTo>
                  <a:lnTo>
                    <a:pt x="601159" y="2829"/>
                  </a:lnTo>
                  <a:lnTo>
                    <a:pt x="587146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574914" y="2375356"/>
            <a:ext cx="1833880" cy="314960"/>
            <a:chOff x="1574914" y="2375356"/>
            <a:chExt cx="1833880" cy="314960"/>
          </a:xfrm>
        </p:grpSpPr>
        <p:sp>
          <p:nvSpPr>
            <p:cNvPr id="11" name="object 11"/>
            <p:cNvSpPr/>
            <p:nvPr/>
          </p:nvSpPr>
          <p:spPr>
            <a:xfrm>
              <a:off x="2050326" y="2375356"/>
              <a:ext cx="563880" cy="139700"/>
            </a:xfrm>
            <a:custGeom>
              <a:avLst/>
              <a:gdLst/>
              <a:ahLst/>
              <a:cxnLst/>
              <a:rect l="l" t="t" r="r" b="b"/>
              <a:pathLst>
                <a:path w="563880" h="139700">
                  <a:moveTo>
                    <a:pt x="52736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527362" y="139090"/>
                  </a:lnTo>
                  <a:lnTo>
                    <a:pt x="541374" y="136261"/>
                  </a:lnTo>
                  <a:lnTo>
                    <a:pt x="552817" y="128546"/>
                  </a:lnTo>
                  <a:lnTo>
                    <a:pt x="560533" y="117103"/>
                  </a:lnTo>
                  <a:lnTo>
                    <a:pt x="563362" y="103090"/>
                  </a:lnTo>
                  <a:lnTo>
                    <a:pt x="563362" y="36000"/>
                  </a:lnTo>
                  <a:lnTo>
                    <a:pt x="560533" y="21987"/>
                  </a:lnTo>
                  <a:lnTo>
                    <a:pt x="552817" y="10544"/>
                  </a:lnTo>
                  <a:lnTo>
                    <a:pt x="541374" y="2829"/>
                  </a:lnTo>
                  <a:lnTo>
                    <a:pt x="527362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2050326" y="2375356"/>
              <a:ext cx="563880" cy="139700"/>
            </a:xfrm>
            <a:custGeom>
              <a:avLst/>
              <a:gdLst/>
              <a:ahLst/>
              <a:cxnLst/>
              <a:rect l="l" t="t" r="r" b="b"/>
              <a:pathLst>
                <a:path w="563880" h="139700">
                  <a:moveTo>
                    <a:pt x="527362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090"/>
                  </a:lnTo>
                  <a:lnTo>
                    <a:pt x="2829" y="117103"/>
                  </a:lnTo>
                  <a:lnTo>
                    <a:pt x="10544" y="128546"/>
                  </a:lnTo>
                  <a:lnTo>
                    <a:pt x="21987" y="136261"/>
                  </a:lnTo>
                  <a:lnTo>
                    <a:pt x="36000" y="139090"/>
                  </a:lnTo>
                  <a:lnTo>
                    <a:pt x="527362" y="139090"/>
                  </a:lnTo>
                  <a:lnTo>
                    <a:pt x="541374" y="136261"/>
                  </a:lnTo>
                  <a:lnTo>
                    <a:pt x="552817" y="128546"/>
                  </a:lnTo>
                  <a:lnTo>
                    <a:pt x="560533" y="117103"/>
                  </a:lnTo>
                  <a:lnTo>
                    <a:pt x="563362" y="103090"/>
                  </a:lnTo>
                  <a:lnTo>
                    <a:pt x="563362" y="36000"/>
                  </a:lnTo>
                  <a:lnTo>
                    <a:pt x="560533" y="21987"/>
                  </a:lnTo>
                  <a:lnTo>
                    <a:pt x="552817" y="10544"/>
                  </a:lnTo>
                  <a:lnTo>
                    <a:pt x="541374" y="2829"/>
                  </a:lnTo>
                  <a:lnTo>
                    <a:pt x="527362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1574914" y="2542545"/>
              <a:ext cx="683260" cy="147955"/>
            </a:xfrm>
            <a:custGeom>
              <a:avLst/>
              <a:gdLst/>
              <a:ahLst/>
              <a:cxnLst/>
              <a:rect l="l" t="t" r="r" b="b"/>
              <a:pathLst>
                <a:path w="683260" h="147955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631"/>
                  </a:lnTo>
                  <a:lnTo>
                    <a:pt x="2829" y="125644"/>
                  </a:lnTo>
                  <a:lnTo>
                    <a:pt x="10544" y="137087"/>
                  </a:lnTo>
                  <a:lnTo>
                    <a:pt x="21987" y="144802"/>
                  </a:lnTo>
                  <a:lnTo>
                    <a:pt x="36000" y="147631"/>
                  </a:lnTo>
                  <a:lnTo>
                    <a:pt x="646930" y="147631"/>
                  </a:lnTo>
                  <a:lnTo>
                    <a:pt x="660943" y="144802"/>
                  </a:lnTo>
                  <a:lnTo>
                    <a:pt x="672386" y="137087"/>
                  </a:lnTo>
                  <a:lnTo>
                    <a:pt x="680101" y="125644"/>
                  </a:lnTo>
                  <a:lnTo>
                    <a:pt x="682930" y="111631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4" name="object 14"/>
            <p:cNvSpPr/>
            <p:nvPr/>
          </p:nvSpPr>
          <p:spPr>
            <a:xfrm>
              <a:off x="1574914" y="2542545"/>
              <a:ext cx="683260" cy="147955"/>
            </a:xfrm>
            <a:custGeom>
              <a:avLst/>
              <a:gdLst/>
              <a:ahLst/>
              <a:cxnLst/>
              <a:rect l="l" t="t" r="r" b="b"/>
              <a:pathLst>
                <a:path w="683260" h="147955">
                  <a:moveTo>
                    <a:pt x="64693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631"/>
                  </a:lnTo>
                  <a:lnTo>
                    <a:pt x="2829" y="125644"/>
                  </a:lnTo>
                  <a:lnTo>
                    <a:pt x="10544" y="137087"/>
                  </a:lnTo>
                  <a:lnTo>
                    <a:pt x="21987" y="144802"/>
                  </a:lnTo>
                  <a:lnTo>
                    <a:pt x="36000" y="147631"/>
                  </a:lnTo>
                  <a:lnTo>
                    <a:pt x="646930" y="147631"/>
                  </a:lnTo>
                  <a:lnTo>
                    <a:pt x="660943" y="144802"/>
                  </a:lnTo>
                  <a:lnTo>
                    <a:pt x="672386" y="137087"/>
                  </a:lnTo>
                  <a:lnTo>
                    <a:pt x="680101" y="125644"/>
                  </a:lnTo>
                  <a:lnTo>
                    <a:pt x="682930" y="111631"/>
                  </a:lnTo>
                  <a:lnTo>
                    <a:pt x="682930" y="36000"/>
                  </a:lnTo>
                  <a:lnTo>
                    <a:pt x="680101" y="21987"/>
                  </a:lnTo>
                  <a:lnTo>
                    <a:pt x="672386" y="10544"/>
                  </a:lnTo>
                  <a:lnTo>
                    <a:pt x="660943" y="2829"/>
                  </a:lnTo>
                  <a:lnTo>
                    <a:pt x="64693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5" name="object 15"/>
            <p:cNvSpPr/>
            <p:nvPr/>
          </p:nvSpPr>
          <p:spPr>
            <a:xfrm>
              <a:off x="2426931" y="2550631"/>
              <a:ext cx="982344" cy="139700"/>
            </a:xfrm>
            <a:custGeom>
              <a:avLst/>
              <a:gdLst/>
              <a:ahLst/>
              <a:cxnLst/>
              <a:rect l="l" t="t" r="r" b="b"/>
              <a:pathLst>
                <a:path w="982345" h="139700">
                  <a:moveTo>
                    <a:pt x="94585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660"/>
                  </a:lnTo>
                  <a:lnTo>
                    <a:pt x="2829" y="117673"/>
                  </a:lnTo>
                  <a:lnTo>
                    <a:pt x="10544" y="129116"/>
                  </a:lnTo>
                  <a:lnTo>
                    <a:pt x="21987" y="136831"/>
                  </a:lnTo>
                  <a:lnTo>
                    <a:pt x="36000" y="139660"/>
                  </a:lnTo>
                  <a:lnTo>
                    <a:pt x="945850" y="139660"/>
                  </a:lnTo>
                  <a:lnTo>
                    <a:pt x="959863" y="136831"/>
                  </a:lnTo>
                  <a:lnTo>
                    <a:pt x="971306" y="129116"/>
                  </a:lnTo>
                  <a:lnTo>
                    <a:pt x="979021" y="117673"/>
                  </a:lnTo>
                  <a:lnTo>
                    <a:pt x="981850" y="103660"/>
                  </a:lnTo>
                  <a:lnTo>
                    <a:pt x="981850" y="36000"/>
                  </a:lnTo>
                  <a:lnTo>
                    <a:pt x="979021" y="21987"/>
                  </a:lnTo>
                  <a:lnTo>
                    <a:pt x="971306" y="10544"/>
                  </a:lnTo>
                  <a:lnTo>
                    <a:pt x="959863" y="2829"/>
                  </a:lnTo>
                  <a:lnTo>
                    <a:pt x="945850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6" name="object 16"/>
            <p:cNvSpPr/>
            <p:nvPr/>
          </p:nvSpPr>
          <p:spPr>
            <a:xfrm>
              <a:off x="2426931" y="2550631"/>
              <a:ext cx="982344" cy="139700"/>
            </a:xfrm>
            <a:custGeom>
              <a:avLst/>
              <a:gdLst/>
              <a:ahLst/>
              <a:cxnLst/>
              <a:rect l="l" t="t" r="r" b="b"/>
              <a:pathLst>
                <a:path w="982345" h="139700">
                  <a:moveTo>
                    <a:pt x="945850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3660"/>
                  </a:lnTo>
                  <a:lnTo>
                    <a:pt x="2829" y="117673"/>
                  </a:lnTo>
                  <a:lnTo>
                    <a:pt x="10544" y="129116"/>
                  </a:lnTo>
                  <a:lnTo>
                    <a:pt x="21987" y="136831"/>
                  </a:lnTo>
                  <a:lnTo>
                    <a:pt x="36000" y="139660"/>
                  </a:lnTo>
                  <a:lnTo>
                    <a:pt x="945850" y="139660"/>
                  </a:lnTo>
                  <a:lnTo>
                    <a:pt x="959863" y="136831"/>
                  </a:lnTo>
                  <a:lnTo>
                    <a:pt x="971306" y="129116"/>
                  </a:lnTo>
                  <a:lnTo>
                    <a:pt x="979021" y="117673"/>
                  </a:lnTo>
                  <a:lnTo>
                    <a:pt x="981850" y="103660"/>
                  </a:lnTo>
                  <a:lnTo>
                    <a:pt x="981850" y="36000"/>
                  </a:lnTo>
                  <a:lnTo>
                    <a:pt x="979021" y="21987"/>
                  </a:lnTo>
                  <a:lnTo>
                    <a:pt x="971306" y="10544"/>
                  </a:lnTo>
                  <a:lnTo>
                    <a:pt x="959863" y="2829"/>
                  </a:lnTo>
                  <a:lnTo>
                    <a:pt x="945850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47294" y="657507"/>
            <a:ext cx="5044440" cy="2017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Next,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we’ll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modify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route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table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allow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traﬀic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flow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r>
              <a:rPr lang="en-US" sz="900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Remember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said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already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created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default route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table for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our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subnets?</a:t>
            </a:r>
            <a:r>
              <a:rPr lang="en-US" sz="900" spc="7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 is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 one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to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modify.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800"/>
              </a:spcBef>
              <a:buAutoNum type="arabicPeriod"/>
              <a:tabLst>
                <a:tab pos="239395" algn="l"/>
              </a:tabLst>
            </a:pP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Search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VPC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result.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 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Route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Tables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left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navigation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pane.</a:t>
            </a:r>
            <a:endParaRPr lang="en-US" sz="900" noProof="1">
              <a:latin typeface="Arial"/>
              <a:cs typeface="Arial"/>
            </a:endParaRPr>
          </a:p>
          <a:p>
            <a:pPr marL="238760" marR="69215" indent="-147320">
              <a:lnSpc>
                <a:spcPct val="116199"/>
              </a:lnSpc>
              <a:buAutoNum type="arabicPeriod"/>
              <a:tabLst>
                <a:tab pos="240029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default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route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table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associated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test-</a:t>
            </a:r>
            <a:r>
              <a:rPr lang="en-US" sz="900" noProof="1">
                <a:latin typeface="Courier New"/>
                <a:cs typeface="Courier New"/>
              </a:rPr>
              <a:t>vpc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lang="en-US" sz="900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no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name 	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 that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ends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1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0" noProof="1">
                <a:latin typeface="Courier New"/>
                <a:cs typeface="Courier New"/>
              </a:rPr>
              <a:t>|</a:t>
            </a:r>
            <a:r>
              <a:rPr lang="en-US" sz="900" spc="-75" noProof="1">
                <a:latin typeface="Courier New"/>
                <a:cs typeface="Courier New"/>
              </a:rPr>
              <a:t> test-vpc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VPC</a:t>
            </a:r>
            <a:r>
              <a:rPr lang="en-US" sz="900" b="1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column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(you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may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scroll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right</a:t>
            </a:r>
            <a:r>
              <a:rPr lang="en-US" sz="900" spc="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see 	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it).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Routes</a:t>
            </a:r>
            <a:r>
              <a:rPr lang="en-US" sz="9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tab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down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below.</a:t>
            </a:r>
            <a:endParaRPr lang="en-US" sz="900" noProof="1">
              <a:latin typeface="Arial"/>
              <a:cs typeface="Arial"/>
            </a:endParaRPr>
          </a:p>
          <a:p>
            <a:pPr marL="239395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Edit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routes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8760" marR="136525" indent="-147320">
              <a:lnSpc>
                <a:spcPct val="116199"/>
              </a:lnSpc>
              <a:buAutoNum type="arabicPeriod"/>
              <a:tabLst>
                <a:tab pos="240029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Add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route</a:t>
            </a:r>
            <a:r>
              <a:rPr lang="en-US" sz="900" b="1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 type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0.0.0.0/0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Destination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select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NAT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Gateway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just 	created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Target</a:t>
            </a:r>
            <a:r>
              <a:rPr lang="en-US" sz="900" b="1" spc="5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55" noProof="1">
                <a:solidFill>
                  <a:srgbClr val="22373A"/>
                </a:solidFill>
                <a:latin typeface="Arial"/>
                <a:cs typeface="Arial"/>
              </a:rPr>
              <a:t>(</a:t>
            </a:r>
            <a:r>
              <a:rPr lang="en-US" sz="900" spc="-15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NAT Gateway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spc="185" noProof="1">
                <a:solidFill>
                  <a:srgbClr val="22373A"/>
                </a:solidFill>
                <a:latin typeface="Arial"/>
                <a:cs typeface="Arial"/>
              </a:rPr>
              <a:t>&gt;</a:t>
            </a:r>
            <a:r>
              <a:rPr lang="en-US" sz="900" spc="14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test-nat-</a:t>
            </a:r>
            <a:r>
              <a:rPr lang="en-US" sz="900" spc="-10" noProof="1">
                <a:latin typeface="Courier New"/>
                <a:cs typeface="Courier New"/>
              </a:rPr>
              <a:t>gateway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).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9" name="object 19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0" name="object 2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21" name="object 21"/>
            <p:cNvSpPr/>
            <p:nvPr/>
          </p:nvSpPr>
          <p:spPr>
            <a:xfrm>
              <a:off x="0" y="3234963"/>
              <a:ext cx="5469890" cy="5080"/>
            </a:xfrm>
            <a:custGeom>
              <a:avLst/>
              <a:gdLst/>
              <a:ahLst/>
              <a:cxnLst/>
              <a:rect l="l" t="t" r="r" b="b"/>
              <a:pathLst>
                <a:path w="5469890" h="5080">
                  <a:moveTo>
                    <a:pt x="0" y="5060"/>
                  </a:moveTo>
                  <a:lnTo>
                    <a:pt x="0" y="0"/>
                  </a:lnTo>
                  <a:lnTo>
                    <a:pt x="5469679" y="0"/>
                  </a:lnTo>
                  <a:lnTo>
                    <a:pt x="546967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5" noProof="1"/>
              <a:t>Deploy</a:t>
            </a:r>
            <a:r>
              <a:rPr lang="en-US" spc="15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noProof="1"/>
              <a:t>file</a:t>
            </a:r>
            <a:r>
              <a:rPr lang="en-US" spc="20" noProof="1"/>
              <a:t> </a:t>
            </a:r>
            <a:r>
              <a:rPr lang="en-US" spc="-40" noProof="1"/>
              <a:t>server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654747"/>
            <a:ext cx="5015230" cy="320040"/>
            <a:chOff x="372646" y="1654747"/>
            <a:chExt cx="5015230" cy="320040"/>
          </a:xfrm>
        </p:grpSpPr>
        <p:sp>
          <p:nvSpPr>
            <p:cNvPr id="4" name="object 4"/>
            <p:cNvSpPr/>
            <p:nvPr/>
          </p:nvSpPr>
          <p:spPr>
            <a:xfrm>
              <a:off x="377994" y="1660094"/>
              <a:ext cx="5004435" cy="309245"/>
            </a:xfrm>
            <a:custGeom>
              <a:avLst/>
              <a:gdLst/>
              <a:ahLst/>
              <a:cxnLst/>
              <a:rect l="l" t="t" r="r" b="b"/>
              <a:pathLst>
                <a:path w="5004435" h="309244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273226"/>
                  </a:lnTo>
                  <a:lnTo>
                    <a:pt x="2829" y="287239"/>
                  </a:lnTo>
                  <a:lnTo>
                    <a:pt x="10544" y="298682"/>
                  </a:lnTo>
                  <a:lnTo>
                    <a:pt x="21987" y="306398"/>
                  </a:lnTo>
                  <a:lnTo>
                    <a:pt x="36000" y="309227"/>
                  </a:lnTo>
                  <a:lnTo>
                    <a:pt x="4968064" y="309227"/>
                  </a:lnTo>
                  <a:lnTo>
                    <a:pt x="4982077" y="306398"/>
                  </a:lnTo>
                  <a:lnTo>
                    <a:pt x="4993521" y="298682"/>
                  </a:lnTo>
                  <a:lnTo>
                    <a:pt x="5001236" y="287239"/>
                  </a:lnTo>
                  <a:lnTo>
                    <a:pt x="5004065" y="273226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661073"/>
              <a:ext cx="5002530" cy="307340"/>
            </a:xfrm>
            <a:custGeom>
              <a:avLst/>
              <a:gdLst/>
              <a:ahLst/>
              <a:cxnLst/>
              <a:rect l="l" t="t" r="r" b="b"/>
              <a:pathLst>
                <a:path w="5002530" h="307339">
                  <a:moveTo>
                    <a:pt x="0" y="272247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272247"/>
                  </a:lnTo>
                  <a:lnTo>
                    <a:pt x="4999354" y="285879"/>
                  </a:lnTo>
                  <a:lnTo>
                    <a:pt x="4991849" y="297011"/>
                  </a:lnTo>
                  <a:lnTo>
                    <a:pt x="4980717" y="304516"/>
                  </a:lnTo>
                  <a:lnTo>
                    <a:pt x="4967085" y="307268"/>
                  </a:lnTo>
                  <a:lnTo>
                    <a:pt x="35021" y="307268"/>
                  </a:lnTo>
                  <a:lnTo>
                    <a:pt x="21389" y="304516"/>
                  </a:lnTo>
                  <a:lnTo>
                    <a:pt x="10257" y="297011"/>
                  </a:lnTo>
                  <a:lnTo>
                    <a:pt x="2752" y="285879"/>
                  </a:lnTo>
                  <a:lnTo>
                    <a:pt x="0" y="272247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752663" y="2077955"/>
            <a:ext cx="384175" cy="121285"/>
            <a:chOff x="1752663" y="2077955"/>
            <a:chExt cx="384175" cy="121285"/>
          </a:xfrm>
        </p:grpSpPr>
        <p:sp>
          <p:nvSpPr>
            <p:cNvPr id="7" name="object 7"/>
            <p:cNvSpPr/>
            <p:nvPr/>
          </p:nvSpPr>
          <p:spPr>
            <a:xfrm>
              <a:off x="1752663" y="2077955"/>
              <a:ext cx="384175" cy="121285"/>
            </a:xfrm>
            <a:custGeom>
              <a:avLst/>
              <a:gdLst/>
              <a:ahLst/>
              <a:cxnLst/>
              <a:rect l="l" t="t" r="r" b="b"/>
              <a:pathLst>
                <a:path w="384175" h="121285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348009" y="120757"/>
                  </a:lnTo>
                  <a:lnTo>
                    <a:pt x="362022" y="117928"/>
                  </a:lnTo>
                  <a:lnTo>
                    <a:pt x="373465" y="110213"/>
                  </a:lnTo>
                  <a:lnTo>
                    <a:pt x="381180" y="98770"/>
                  </a:lnTo>
                  <a:lnTo>
                    <a:pt x="384009" y="84757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1752663" y="2077955"/>
              <a:ext cx="384175" cy="121285"/>
            </a:xfrm>
            <a:custGeom>
              <a:avLst/>
              <a:gdLst/>
              <a:ahLst/>
              <a:cxnLst/>
              <a:rect l="l" t="t" r="r" b="b"/>
              <a:pathLst>
                <a:path w="384175" h="121285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348009" y="120757"/>
                  </a:lnTo>
                  <a:lnTo>
                    <a:pt x="362022" y="117928"/>
                  </a:lnTo>
                  <a:lnTo>
                    <a:pt x="373465" y="110213"/>
                  </a:lnTo>
                  <a:lnTo>
                    <a:pt x="381180" y="98770"/>
                  </a:lnTo>
                  <a:lnTo>
                    <a:pt x="384009" y="84757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3292602" y="2076702"/>
            <a:ext cx="504190" cy="122555"/>
            <a:chOff x="3292602" y="2076702"/>
            <a:chExt cx="504190" cy="122555"/>
          </a:xfrm>
        </p:grpSpPr>
        <p:sp>
          <p:nvSpPr>
            <p:cNvPr id="10" name="object 10"/>
            <p:cNvSpPr/>
            <p:nvPr/>
          </p:nvSpPr>
          <p:spPr>
            <a:xfrm>
              <a:off x="3292602" y="2076702"/>
              <a:ext cx="504190" cy="122555"/>
            </a:xfrm>
            <a:custGeom>
              <a:avLst/>
              <a:gdLst/>
              <a:ahLst/>
              <a:cxnLst/>
              <a:rect l="l" t="t" r="r" b="b"/>
              <a:pathLst>
                <a:path w="504189" h="122555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009"/>
                  </a:lnTo>
                  <a:lnTo>
                    <a:pt x="2829" y="100022"/>
                  </a:lnTo>
                  <a:lnTo>
                    <a:pt x="10544" y="111465"/>
                  </a:lnTo>
                  <a:lnTo>
                    <a:pt x="21987" y="119181"/>
                  </a:lnTo>
                  <a:lnTo>
                    <a:pt x="36000" y="122010"/>
                  </a:lnTo>
                  <a:lnTo>
                    <a:pt x="467577" y="122010"/>
                  </a:lnTo>
                  <a:lnTo>
                    <a:pt x="481590" y="119181"/>
                  </a:lnTo>
                  <a:lnTo>
                    <a:pt x="493033" y="111465"/>
                  </a:lnTo>
                  <a:lnTo>
                    <a:pt x="500748" y="100022"/>
                  </a:lnTo>
                  <a:lnTo>
                    <a:pt x="503577" y="86009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1" name="object 11"/>
            <p:cNvSpPr/>
            <p:nvPr/>
          </p:nvSpPr>
          <p:spPr>
            <a:xfrm>
              <a:off x="3292602" y="2076702"/>
              <a:ext cx="504190" cy="122555"/>
            </a:xfrm>
            <a:custGeom>
              <a:avLst/>
              <a:gdLst/>
              <a:ahLst/>
              <a:cxnLst/>
              <a:rect l="l" t="t" r="r" b="b"/>
              <a:pathLst>
                <a:path w="504189" h="122555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6009"/>
                  </a:lnTo>
                  <a:lnTo>
                    <a:pt x="2829" y="100022"/>
                  </a:lnTo>
                  <a:lnTo>
                    <a:pt x="10544" y="111465"/>
                  </a:lnTo>
                  <a:lnTo>
                    <a:pt x="21987" y="119181"/>
                  </a:lnTo>
                  <a:lnTo>
                    <a:pt x="36000" y="122010"/>
                  </a:lnTo>
                  <a:lnTo>
                    <a:pt x="467577" y="122010"/>
                  </a:lnTo>
                  <a:lnTo>
                    <a:pt x="481590" y="119181"/>
                  </a:lnTo>
                  <a:lnTo>
                    <a:pt x="493033" y="111465"/>
                  </a:lnTo>
                  <a:lnTo>
                    <a:pt x="500748" y="100022"/>
                  </a:lnTo>
                  <a:lnTo>
                    <a:pt x="503577" y="86009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47294" y="1171773"/>
            <a:ext cx="4807585" cy="1036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has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access,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let’s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connect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deploy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server.</a:t>
            </a:r>
            <a:endParaRPr lang="en-US" sz="900" noProof="1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all,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SSH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machine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5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its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IP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while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being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connected</a:t>
            </a:r>
            <a:r>
              <a:rPr lang="en-US" sz="900" b="1" spc="3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VPN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: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0185">
              <a:lnSpc>
                <a:spcPct val="100000"/>
              </a:lnSpc>
            </a:pPr>
            <a:r>
              <a:rPr lang="en-US" sz="800" spc="-50" noProof="1">
                <a:solidFill>
                  <a:srgbClr val="05287C"/>
                </a:solidFill>
                <a:latin typeface="Courier New"/>
                <a:cs typeface="Courier New"/>
              </a:rPr>
              <a:t>ssh</a:t>
            </a:r>
            <a:r>
              <a:rPr lang="en-US" sz="800" spc="75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lang="en-US" sz="800" noProof="1">
                <a:solidFill>
                  <a:srgbClr val="7C8E28"/>
                </a:solidFill>
                <a:latin typeface="Courier New"/>
                <a:cs typeface="Courier New"/>
              </a:rPr>
              <a:t>i</a:t>
            </a:r>
            <a:r>
              <a:rPr lang="en-US" sz="800" spc="75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~/.ssh/aws-keypair</a:t>
            </a:r>
            <a:r>
              <a:rPr lang="en-US" sz="800" spc="7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ubuntu@</a:t>
            </a:r>
            <a:r>
              <a:rPr lang="en-US" sz="800" spc="-60" noProof="1">
                <a:solidFill>
                  <a:srgbClr val="666666"/>
                </a:solidFill>
                <a:latin typeface="Courier New"/>
                <a:cs typeface="Courier New"/>
              </a:rPr>
              <a:t>&lt;</a:t>
            </a:r>
            <a:r>
              <a:rPr lang="en-US" sz="800" spc="-60" noProof="1">
                <a:latin typeface="Courier New"/>
                <a:cs typeface="Courier New"/>
              </a:rPr>
              <a:t>file-server-ec2-instance-private-</a:t>
            </a:r>
            <a:r>
              <a:rPr lang="en-US" sz="800" spc="-25" noProof="1">
                <a:latin typeface="Courier New"/>
                <a:cs typeface="Courier New"/>
              </a:rPr>
              <a:t>ip</a:t>
            </a:r>
            <a:r>
              <a:rPr lang="en-US" sz="800" spc="-25" noProof="1">
                <a:solidFill>
                  <a:srgbClr val="666666"/>
                </a:solidFill>
                <a:latin typeface="Courier New"/>
                <a:cs typeface="Courier New"/>
              </a:rPr>
              <a:t>&gt;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Note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are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spc="1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ubuntu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user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instead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0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ec2-</a:t>
            </a:r>
            <a:r>
              <a:rPr lang="en-US" sz="900" spc="-10" noProof="1">
                <a:latin typeface="Courier New"/>
                <a:cs typeface="Courier New"/>
              </a:rPr>
              <a:t>user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4" name="object 14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5" name="object 15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6" name="object 16"/>
            <p:cNvSpPr/>
            <p:nvPr/>
          </p:nvSpPr>
          <p:spPr>
            <a:xfrm>
              <a:off x="0" y="3234963"/>
              <a:ext cx="5518150" cy="5080"/>
            </a:xfrm>
            <a:custGeom>
              <a:avLst/>
              <a:gdLst/>
              <a:ahLst/>
              <a:cxnLst/>
              <a:rect l="l" t="t" r="r" b="b"/>
              <a:pathLst>
                <a:path w="5518150" h="5080">
                  <a:moveTo>
                    <a:pt x="0" y="5060"/>
                  </a:moveTo>
                  <a:lnTo>
                    <a:pt x="0" y="0"/>
                  </a:lnTo>
                  <a:lnTo>
                    <a:pt x="5518019" y="0"/>
                  </a:lnTo>
                  <a:lnTo>
                    <a:pt x="5518019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25" noProof="1"/>
              <a:t>Deploy</a:t>
            </a:r>
            <a:r>
              <a:rPr lang="en-US" spc="15" noProof="1"/>
              <a:t> </a:t>
            </a:r>
            <a:r>
              <a:rPr lang="en-US" noProof="1"/>
              <a:t>the</a:t>
            </a:r>
            <a:r>
              <a:rPr lang="en-US" spc="15" noProof="1"/>
              <a:t> </a:t>
            </a:r>
            <a:r>
              <a:rPr lang="en-US" noProof="1"/>
              <a:t>file</a:t>
            </a:r>
            <a:r>
              <a:rPr lang="en-US" spc="20" noProof="1"/>
              <a:t> </a:t>
            </a:r>
            <a:r>
              <a:rPr lang="en-US" spc="-40" noProof="1"/>
              <a:t>server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72646" y="1250387"/>
            <a:ext cx="5015230" cy="706120"/>
            <a:chOff x="372646" y="1250387"/>
            <a:chExt cx="5015230" cy="706120"/>
          </a:xfrm>
        </p:grpSpPr>
        <p:sp>
          <p:nvSpPr>
            <p:cNvPr id="4" name="object 4"/>
            <p:cNvSpPr/>
            <p:nvPr/>
          </p:nvSpPr>
          <p:spPr>
            <a:xfrm>
              <a:off x="377994" y="1255734"/>
              <a:ext cx="5004435" cy="695325"/>
            </a:xfrm>
            <a:custGeom>
              <a:avLst/>
              <a:gdLst/>
              <a:ahLst/>
              <a:cxnLst/>
              <a:rect l="l" t="t" r="r" b="b"/>
              <a:pathLst>
                <a:path w="5004435" h="695325">
                  <a:moveTo>
                    <a:pt x="496806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658904"/>
                  </a:lnTo>
                  <a:lnTo>
                    <a:pt x="2829" y="672917"/>
                  </a:lnTo>
                  <a:lnTo>
                    <a:pt x="10544" y="684361"/>
                  </a:lnTo>
                  <a:lnTo>
                    <a:pt x="21987" y="692076"/>
                  </a:lnTo>
                  <a:lnTo>
                    <a:pt x="36000" y="694905"/>
                  </a:lnTo>
                  <a:lnTo>
                    <a:pt x="4968064" y="694905"/>
                  </a:lnTo>
                  <a:lnTo>
                    <a:pt x="4982077" y="692076"/>
                  </a:lnTo>
                  <a:lnTo>
                    <a:pt x="4993521" y="684361"/>
                  </a:lnTo>
                  <a:lnTo>
                    <a:pt x="5001236" y="672917"/>
                  </a:lnTo>
                  <a:lnTo>
                    <a:pt x="5004065" y="658904"/>
                  </a:lnTo>
                  <a:lnTo>
                    <a:pt x="5004065" y="36000"/>
                  </a:lnTo>
                  <a:lnTo>
                    <a:pt x="5001236" y="21987"/>
                  </a:lnTo>
                  <a:lnTo>
                    <a:pt x="4993521" y="10544"/>
                  </a:lnTo>
                  <a:lnTo>
                    <a:pt x="4982077" y="2829"/>
                  </a:lnTo>
                  <a:lnTo>
                    <a:pt x="496806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378973" y="1256713"/>
              <a:ext cx="5002530" cy="693420"/>
            </a:xfrm>
            <a:custGeom>
              <a:avLst/>
              <a:gdLst/>
              <a:ahLst/>
              <a:cxnLst/>
              <a:rect l="l" t="t" r="r" b="b"/>
              <a:pathLst>
                <a:path w="5002530" h="693419">
                  <a:moveTo>
                    <a:pt x="0" y="657925"/>
                  </a:moveTo>
                  <a:lnTo>
                    <a:pt x="0" y="35021"/>
                  </a:lnTo>
                  <a:lnTo>
                    <a:pt x="2752" y="21389"/>
                  </a:lnTo>
                  <a:lnTo>
                    <a:pt x="10257" y="10257"/>
                  </a:lnTo>
                  <a:lnTo>
                    <a:pt x="21389" y="2752"/>
                  </a:lnTo>
                  <a:lnTo>
                    <a:pt x="35021" y="0"/>
                  </a:lnTo>
                  <a:lnTo>
                    <a:pt x="4967085" y="0"/>
                  </a:lnTo>
                  <a:lnTo>
                    <a:pt x="4980717" y="2752"/>
                  </a:lnTo>
                  <a:lnTo>
                    <a:pt x="4991849" y="10257"/>
                  </a:lnTo>
                  <a:lnTo>
                    <a:pt x="4999354" y="21389"/>
                  </a:lnTo>
                  <a:lnTo>
                    <a:pt x="5002106" y="35021"/>
                  </a:lnTo>
                  <a:lnTo>
                    <a:pt x="5002106" y="657925"/>
                  </a:lnTo>
                  <a:lnTo>
                    <a:pt x="4999354" y="671557"/>
                  </a:lnTo>
                  <a:lnTo>
                    <a:pt x="4991849" y="682689"/>
                  </a:lnTo>
                  <a:lnTo>
                    <a:pt x="4980717" y="690194"/>
                  </a:lnTo>
                  <a:lnTo>
                    <a:pt x="4967085" y="692946"/>
                  </a:lnTo>
                  <a:lnTo>
                    <a:pt x="35021" y="692946"/>
                  </a:lnTo>
                  <a:lnTo>
                    <a:pt x="21389" y="690194"/>
                  </a:lnTo>
                  <a:lnTo>
                    <a:pt x="10257" y="682689"/>
                  </a:lnTo>
                  <a:lnTo>
                    <a:pt x="2752" y="671557"/>
                  </a:lnTo>
                  <a:lnTo>
                    <a:pt x="0" y="657925"/>
                  </a:lnTo>
                  <a:close/>
                </a:path>
              </a:pathLst>
            </a:custGeom>
            <a:ln w="12652">
              <a:solidFill>
                <a:srgbClr val="545454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359994" y="2209147"/>
            <a:ext cx="2955290" cy="154940"/>
            <a:chOff x="359994" y="2209147"/>
            <a:chExt cx="2955290" cy="154940"/>
          </a:xfrm>
        </p:grpSpPr>
        <p:sp>
          <p:nvSpPr>
            <p:cNvPr id="7" name="object 7"/>
            <p:cNvSpPr/>
            <p:nvPr/>
          </p:nvSpPr>
          <p:spPr>
            <a:xfrm>
              <a:off x="359994" y="2209147"/>
              <a:ext cx="2955290" cy="154940"/>
            </a:xfrm>
            <a:custGeom>
              <a:avLst/>
              <a:gdLst/>
              <a:ahLst/>
              <a:cxnLst/>
              <a:rect l="l" t="t" r="r" b="b"/>
              <a:pathLst>
                <a:path w="2955290" h="154939">
                  <a:moveTo>
                    <a:pt x="291872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8919"/>
                  </a:lnTo>
                  <a:lnTo>
                    <a:pt x="2829" y="132932"/>
                  </a:lnTo>
                  <a:lnTo>
                    <a:pt x="10544" y="144375"/>
                  </a:lnTo>
                  <a:lnTo>
                    <a:pt x="21987" y="152090"/>
                  </a:lnTo>
                  <a:lnTo>
                    <a:pt x="36000" y="154919"/>
                  </a:lnTo>
                  <a:lnTo>
                    <a:pt x="2918725" y="154919"/>
                  </a:lnTo>
                  <a:lnTo>
                    <a:pt x="2932738" y="152090"/>
                  </a:lnTo>
                  <a:lnTo>
                    <a:pt x="2944181" y="144375"/>
                  </a:lnTo>
                  <a:lnTo>
                    <a:pt x="2951896" y="132932"/>
                  </a:lnTo>
                  <a:lnTo>
                    <a:pt x="2954725" y="118919"/>
                  </a:lnTo>
                  <a:lnTo>
                    <a:pt x="2954725" y="36000"/>
                  </a:lnTo>
                  <a:lnTo>
                    <a:pt x="2951896" y="21987"/>
                  </a:lnTo>
                  <a:lnTo>
                    <a:pt x="2944181" y="10544"/>
                  </a:lnTo>
                  <a:lnTo>
                    <a:pt x="2932738" y="2829"/>
                  </a:lnTo>
                  <a:lnTo>
                    <a:pt x="2918725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359994" y="2209147"/>
              <a:ext cx="2955290" cy="154940"/>
            </a:xfrm>
            <a:custGeom>
              <a:avLst/>
              <a:gdLst/>
              <a:ahLst/>
              <a:cxnLst/>
              <a:rect l="l" t="t" r="r" b="b"/>
              <a:pathLst>
                <a:path w="2955290" h="154939">
                  <a:moveTo>
                    <a:pt x="2918725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8919"/>
                  </a:lnTo>
                  <a:lnTo>
                    <a:pt x="2829" y="132932"/>
                  </a:lnTo>
                  <a:lnTo>
                    <a:pt x="10544" y="144375"/>
                  </a:lnTo>
                  <a:lnTo>
                    <a:pt x="21987" y="152090"/>
                  </a:lnTo>
                  <a:lnTo>
                    <a:pt x="36000" y="154919"/>
                  </a:lnTo>
                  <a:lnTo>
                    <a:pt x="2918725" y="154919"/>
                  </a:lnTo>
                  <a:lnTo>
                    <a:pt x="2932738" y="152090"/>
                  </a:lnTo>
                  <a:lnTo>
                    <a:pt x="2944181" y="144375"/>
                  </a:lnTo>
                  <a:lnTo>
                    <a:pt x="2951896" y="132932"/>
                  </a:lnTo>
                  <a:lnTo>
                    <a:pt x="2954725" y="118919"/>
                  </a:lnTo>
                  <a:lnTo>
                    <a:pt x="2954725" y="36000"/>
                  </a:lnTo>
                  <a:lnTo>
                    <a:pt x="2951896" y="21987"/>
                  </a:lnTo>
                  <a:lnTo>
                    <a:pt x="2944181" y="10544"/>
                  </a:lnTo>
                  <a:lnTo>
                    <a:pt x="2932738" y="2829"/>
                  </a:lnTo>
                  <a:lnTo>
                    <a:pt x="291872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3319" y="1006418"/>
            <a:ext cx="4043679" cy="1343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just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run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couple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commands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install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deploy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server.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lang="en-US" sz="900" noProof="1">
              <a:latin typeface="Arial"/>
              <a:cs typeface="Arial"/>
            </a:endParaRPr>
          </a:p>
          <a:p>
            <a:pPr marL="214629" marR="866140">
              <a:lnSpc>
                <a:spcPct val="107400"/>
              </a:lnSpc>
            </a:pPr>
            <a:r>
              <a:rPr lang="en-US" sz="800" spc="-55" noProof="1">
                <a:solidFill>
                  <a:srgbClr val="05287C"/>
                </a:solidFill>
                <a:latin typeface="Courier New"/>
                <a:cs typeface="Courier New"/>
              </a:rPr>
              <a:t>sudo</a:t>
            </a:r>
            <a:r>
              <a:rPr lang="en-US" sz="800" spc="-45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apt</a:t>
            </a:r>
            <a:r>
              <a:rPr lang="en-US" sz="800" spc="-4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update</a:t>
            </a:r>
            <a:r>
              <a:rPr lang="en-US" sz="800" spc="-4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lang="en-US" sz="800" noProof="1">
                <a:solidFill>
                  <a:srgbClr val="7C8E28"/>
                </a:solidFill>
                <a:latin typeface="Courier New"/>
                <a:cs typeface="Courier New"/>
              </a:rPr>
              <a:t>y</a:t>
            </a:r>
            <a:r>
              <a:rPr lang="en-US" sz="800" spc="-40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b="1" spc="-60" noProof="1">
                <a:solidFill>
                  <a:srgbClr val="007021"/>
                </a:solidFill>
                <a:latin typeface="Courier New"/>
                <a:cs typeface="Courier New"/>
              </a:rPr>
              <a:t>&amp;&amp;</a:t>
            </a:r>
            <a:r>
              <a:rPr lang="en-US" sz="800" b="1" spc="-40" noProof="1">
                <a:solidFill>
                  <a:srgbClr val="007021"/>
                </a:solidFill>
                <a:latin typeface="Courier New"/>
                <a:cs typeface="Courier New"/>
              </a:rPr>
              <a:t> </a:t>
            </a:r>
            <a:r>
              <a:rPr lang="en-US" sz="800" spc="-55" noProof="1">
                <a:solidFill>
                  <a:srgbClr val="05287C"/>
                </a:solidFill>
                <a:latin typeface="Courier New"/>
                <a:cs typeface="Courier New"/>
              </a:rPr>
              <a:t>sudo</a:t>
            </a:r>
            <a:r>
              <a:rPr lang="en-US" sz="800" spc="-40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apt</a:t>
            </a:r>
            <a:r>
              <a:rPr lang="en-US" sz="800" spc="-4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install</a:t>
            </a:r>
            <a:r>
              <a:rPr lang="en-US" sz="800" spc="-4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podman-docker</a:t>
            </a:r>
            <a:r>
              <a:rPr lang="en-US" sz="800" spc="-4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lang="en-US" sz="800" spc="-50" noProof="1">
                <a:solidFill>
                  <a:srgbClr val="7C8E28"/>
                </a:solidFill>
                <a:latin typeface="Courier New"/>
                <a:cs typeface="Courier New"/>
              </a:rPr>
              <a:t>y </a:t>
            </a:r>
            <a:r>
              <a:rPr lang="en-US" sz="800" spc="-60" noProof="1">
                <a:solidFill>
                  <a:srgbClr val="05287C"/>
                </a:solidFill>
                <a:latin typeface="Courier New"/>
                <a:cs typeface="Courier New"/>
              </a:rPr>
              <a:t>mkdir</a:t>
            </a:r>
            <a:r>
              <a:rPr lang="en-US" sz="800" spc="-25" noProof="1">
                <a:solidFill>
                  <a:srgbClr val="05287C"/>
                </a:solidFill>
                <a:latin typeface="Courier New"/>
                <a:cs typeface="Courier New"/>
              </a:rPr>
              <a:t> </a:t>
            </a:r>
            <a:r>
              <a:rPr lang="en-US" sz="800" spc="-20" noProof="1">
                <a:latin typeface="Courier New"/>
                <a:cs typeface="Courier New"/>
              </a:rPr>
              <a:t>data</a:t>
            </a:r>
            <a:endParaRPr lang="en-US" sz="800" noProof="1">
              <a:latin typeface="Courier New"/>
              <a:cs typeface="Courier New"/>
            </a:endParaRPr>
          </a:p>
          <a:p>
            <a:pPr marL="214629">
              <a:lnSpc>
                <a:spcPct val="100000"/>
              </a:lnSpc>
              <a:spcBef>
                <a:spcPts val="75"/>
              </a:spcBef>
            </a:pPr>
            <a:r>
              <a:rPr lang="en-US" sz="800" spc="-60" noProof="1">
                <a:latin typeface="Courier New"/>
                <a:cs typeface="Courier New"/>
              </a:rPr>
              <a:t>docker</a:t>
            </a:r>
            <a:r>
              <a:rPr lang="en-US" sz="800" spc="-40" noProof="1">
                <a:latin typeface="Courier New"/>
                <a:cs typeface="Courier New"/>
              </a:rPr>
              <a:t> </a:t>
            </a:r>
            <a:r>
              <a:rPr lang="en-US" sz="800" spc="-50" noProof="1">
                <a:latin typeface="Courier New"/>
                <a:cs typeface="Courier New"/>
              </a:rPr>
              <a:t>run</a:t>
            </a:r>
            <a:r>
              <a:rPr lang="en-US" sz="800" spc="-4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lang="en-US" sz="800" noProof="1">
                <a:solidFill>
                  <a:srgbClr val="7C8E28"/>
                </a:solidFill>
                <a:latin typeface="Courier New"/>
                <a:cs typeface="Courier New"/>
              </a:rPr>
              <a:t>p</a:t>
            </a:r>
            <a:r>
              <a:rPr lang="en-US" sz="800" spc="-35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8080:8080</a:t>
            </a:r>
            <a:r>
              <a:rPr lang="en-US" sz="800" spc="-40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--restart</a:t>
            </a:r>
            <a:r>
              <a:rPr lang="en-US" sz="800" spc="-40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unless-stopped</a:t>
            </a:r>
            <a:r>
              <a:rPr lang="en-US" sz="800" spc="-35" noProof="1">
                <a:latin typeface="Courier New"/>
                <a:cs typeface="Courier New"/>
              </a:rPr>
              <a:t> </a:t>
            </a: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lang="en-US" sz="800" noProof="1">
                <a:solidFill>
                  <a:srgbClr val="7C8E28"/>
                </a:solidFill>
                <a:latin typeface="Courier New"/>
                <a:cs typeface="Courier New"/>
              </a:rPr>
              <a:t>d</a:t>
            </a:r>
            <a:r>
              <a:rPr lang="en-US" sz="800" spc="-40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50" noProof="1">
                <a:solidFill>
                  <a:srgbClr val="8E2100"/>
                </a:solidFill>
                <a:latin typeface="Courier New"/>
                <a:cs typeface="Courier New"/>
              </a:rPr>
              <a:t>\</a:t>
            </a:r>
            <a:endParaRPr lang="en-US" sz="800" noProof="1">
              <a:latin typeface="Courier New"/>
              <a:cs typeface="Courier New"/>
            </a:endParaRPr>
          </a:p>
          <a:p>
            <a:pPr marL="429259">
              <a:lnSpc>
                <a:spcPct val="100000"/>
              </a:lnSpc>
              <a:spcBef>
                <a:spcPts val="70"/>
              </a:spcBef>
            </a:pPr>
            <a:r>
              <a:rPr lang="en-US" sz="800" spc="-60" noProof="1">
                <a:solidFill>
                  <a:srgbClr val="7C8E28"/>
                </a:solidFill>
                <a:latin typeface="Courier New"/>
                <a:cs typeface="Courier New"/>
              </a:rPr>
              <a:t>-</a:t>
            </a:r>
            <a:r>
              <a:rPr lang="en-US" sz="800" noProof="1">
                <a:solidFill>
                  <a:srgbClr val="7C8E28"/>
                </a:solidFill>
                <a:latin typeface="Courier New"/>
                <a:cs typeface="Courier New"/>
              </a:rPr>
              <a:t>v</a:t>
            </a:r>
            <a:r>
              <a:rPr lang="en-US" sz="800" spc="45" noProof="1">
                <a:solidFill>
                  <a:srgbClr val="7C8E28"/>
                </a:solidFill>
                <a:latin typeface="Courier New"/>
                <a:cs typeface="Courier New"/>
              </a:rPr>
              <a:t> </a:t>
            </a:r>
            <a:r>
              <a:rPr lang="en-US" sz="800" spc="-60" noProof="1">
                <a:latin typeface="Courier New"/>
                <a:cs typeface="Courier New"/>
              </a:rPr>
              <a:t>data:/var/www/filegator/repository</a:t>
            </a:r>
            <a:r>
              <a:rPr lang="en-US" sz="800" spc="50" noProof="1">
                <a:latin typeface="Courier New"/>
                <a:cs typeface="Courier New"/>
              </a:rPr>
              <a:t> </a:t>
            </a:r>
            <a:r>
              <a:rPr lang="en-US" sz="800" spc="-55" noProof="1">
                <a:latin typeface="Courier New"/>
                <a:cs typeface="Courier New"/>
              </a:rPr>
              <a:t>docker.io/filegator/filegator</a:t>
            </a:r>
            <a:endParaRPr lang="en-US" sz="800" noProof="1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lang="en-US" sz="800" noProof="1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That’s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it!</a:t>
            </a:r>
            <a:r>
              <a:rPr lang="en-US" sz="900" spc="114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You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endParaRPr lang="en-US" sz="900" noProof="1">
              <a:latin typeface="Arial"/>
              <a:cs typeface="Arial"/>
            </a:endParaRPr>
          </a:p>
          <a:p>
            <a:pPr marL="29209">
              <a:lnSpc>
                <a:spcPct val="100000"/>
              </a:lnSpc>
              <a:spcBef>
                <a:spcPts val="170"/>
              </a:spcBef>
            </a:pPr>
            <a:r>
              <a:rPr lang="en-US" sz="900" spc="-75" noProof="1">
                <a:latin typeface="Courier New"/>
                <a:cs typeface="Courier New"/>
              </a:rPr>
              <a:t>http://&lt;file-server-ec2-instance-private-ip&gt;:8080</a:t>
            </a:r>
            <a:r>
              <a:rPr lang="en-US" sz="900" spc="-195" noProof="1">
                <a:latin typeface="Courier New"/>
                <a:cs typeface="Courier New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5567045" cy="5080"/>
            </a:xfrm>
            <a:custGeom>
              <a:avLst/>
              <a:gdLst/>
              <a:ahLst/>
              <a:cxnLst/>
              <a:rect l="l" t="t" r="r" b="b"/>
              <a:pathLst>
                <a:path w="5567045" h="5080">
                  <a:moveTo>
                    <a:pt x="0" y="5060"/>
                  </a:moveTo>
                  <a:lnTo>
                    <a:pt x="0" y="0"/>
                  </a:lnTo>
                  <a:lnTo>
                    <a:pt x="5566448" y="0"/>
                  </a:lnTo>
                  <a:lnTo>
                    <a:pt x="5566448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0" noProof="1"/>
              <a:t>Remove</a:t>
            </a:r>
            <a:r>
              <a:rPr lang="en-US" spc="35" noProof="1"/>
              <a:t> </a:t>
            </a:r>
            <a:r>
              <a:rPr lang="en-US" spc="-65" noProof="1"/>
              <a:t>access</a:t>
            </a:r>
            <a:r>
              <a:rPr lang="en-US" spc="35" noProof="1"/>
              <a:t> </a:t>
            </a:r>
            <a:r>
              <a:rPr lang="en-US" noProof="1"/>
              <a:t>to</a:t>
            </a:r>
            <a:r>
              <a:rPr lang="en-US" spc="40" noProof="1"/>
              <a:t> </a:t>
            </a:r>
            <a:r>
              <a:rPr lang="en-US" noProof="1"/>
              <a:t>the</a:t>
            </a:r>
            <a:r>
              <a:rPr lang="en-US" spc="35" noProof="1"/>
              <a:t> </a:t>
            </a:r>
            <a:r>
              <a:rPr lang="en-US" spc="-10" noProof="1"/>
              <a:t>internet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3319" y="1229071"/>
            <a:ext cx="5069840" cy="90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>
              <a:lnSpc>
                <a:spcPct val="116199"/>
              </a:lnSpc>
              <a:spcBef>
                <a:spcPts val="100"/>
              </a:spcBef>
            </a:pP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Since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didn’t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want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machines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subnet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have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internet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access,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now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is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configured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won’t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need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0" noProof="1">
                <a:solidFill>
                  <a:srgbClr val="22373A"/>
                </a:solidFill>
                <a:latin typeface="Arial"/>
                <a:cs typeface="Arial"/>
              </a:rPr>
              <a:t>download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any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0" noProof="1">
                <a:solidFill>
                  <a:srgbClr val="22373A"/>
                </a:solidFill>
                <a:latin typeface="Arial"/>
                <a:cs typeface="Arial"/>
              </a:rPr>
              <a:t>more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software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,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can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remove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the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endParaRPr lang="en-US" sz="900" noProof="1">
              <a:latin typeface="Arial"/>
              <a:cs typeface="Arial"/>
            </a:endParaRPr>
          </a:p>
          <a:p>
            <a:pPr marL="16510" marR="5080" indent="-4445">
              <a:lnSpc>
                <a:spcPct val="116199"/>
              </a:lnSpc>
              <a:spcBef>
                <a:spcPts val="62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would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easy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as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removing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added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table.</a:t>
            </a:r>
            <a:r>
              <a:rPr lang="en-US" sz="900" spc="9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But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sake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reducing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costs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we’re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0" noProof="1">
                <a:solidFill>
                  <a:srgbClr val="22373A"/>
                </a:solidFill>
                <a:latin typeface="Arial"/>
                <a:cs typeface="Arial"/>
              </a:rPr>
              <a:t>also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going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delete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NAT</a:t>
            </a:r>
            <a:r>
              <a:rPr lang="en-US" sz="900" b="1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Gateway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5" name="object 5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3234963"/>
              <a:ext cx="5615305" cy="5080"/>
            </a:xfrm>
            <a:custGeom>
              <a:avLst/>
              <a:gdLst/>
              <a:ahLst/>
              <a:cxnLst/>
              <a:rect l="l" t="t" r="r" b="b"/>
              <a:pathLst>
                <a:path w="5615305" h="5080">
                  <a:moveTo>
                    <a:pt x="0" y="5060"/>
                  </a:moveTo>
                  <a:lnTo>
                    <a:pt x="0" y="0"/>
                  </a:lnTo>
                  <a:lnTo>
                    <a:pt x="5614876" y="0"/>
                  </a:lnTo>
                  <a:lnTo>
                    <a:pt x="5614876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0" noProof="1"/>
              <a:t>Remove</a:t>
            </a:r>
            <a:r>
              <a:rPr lang="en-US" spc="35" noProof="1"/>
              <a:t> </a:t>
            </a:r>
            <a:r>
              <a:rPr lang="en-US" spc="-65" noProof="1"/>
              <a:t>access</a:t>
            </a:r>
            <a:r>
              <a:rPr lang="en-US" spc="35" noProof="1"/>
              <a:t> </a:t>
            </a:r>
            <a:r>
              <a:rPr lang="en-US" noProof="1"/>
              <a:t>to</a:t>
            </a:r>
            <a:r>
              <a:rPr lang="en-US" spc="40" noProof="1"/>
              <a:t> </a:t>
            </a:r>
            <a:r>
              <a:rPr lang="en-US" noProof="1"/>
              <a:t>the</a:t>
            </a:r>
            <a:r>
              <a:rPr lang="en-US" spc="35" noProof="1"/>
              <a:t> </a:t>
            </a:r>
            <a:r>
              <a:rPr lang="en-US" spc="-10" noProof="1"/>
              <a:t>internet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9301" y="1202513"/>
            <a:ext cx="204657" cy="12269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302482" y="1528913"/>
            <a:ext cx="504190" cy="139065"/>
            <a:chOff x="3302482" y="1528913"/>
            <a:chExt cx="504190" cy="139065"/>
          </a:xfrm>
        </p:grpSpPr>
        <p:sp>
          <p:nvSpPr>
            <p:cNvPr id="5" name="object 5"/>
            <p:cNvSpPr/>
            <p:nvPr/>
          </p:nvSpPr>
          <p:spPr>
            <a:xfrm>
              <a:off x="3302482" y="1528913"/>
              <a:ext cx="504190" cy="139065"/>
            </a:xfrm>
            <a:custGeom>
              <a:avLst/>
              <a:gdLst/>
              <a:ahLst/>
              <a:cxnLst/>
              <a:rect l="l" t="t" r="r" b="b"/>
              <a:pathLst>
                <a:path w="504189" h="139064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2976"/>
                  </a:lnTo>
                  <a:lnTo>
                    <a:pt x="2829" y="116989"/>
                  </a:lnTo>
                  <a:lnTo>
                    <a:pt x="10544" y="128433"/>
                  </a:lnTo>
                  <a:lnTo>
                    <a:pt x="21987" y="136148"/>
                  </a:lnTo>
                  <a:lnTo>
                    <a:pt x="36000" y="138977"/>
                  </a:lnTo>
                  <a:lnTo>
                    <a:pt x="467577" y="138977"/>
                  </a:lnTo>
                  <a:lnTo>
                    <a:pt x="481590" y="136148"/>
                  </a:lnTo>
                  <a:lnTo>
                    <a:pt x="493033" y="128433"/>
                  </a:lnTo>
                  <a:lnTo>
                    <a:pt x="500748" y="116989"/>
                  </a:lnTo>
                  <a:lnTo>
                    <a:pt x="503577" y="102976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6" name="object 6"/>
            <p:cNvSpPr/>
            <p:nvPr/>
          </p:nvSpPr>
          <p:spPr>
            <a:xfrm>
              <a:off x="3302482" y="1528913"/>
              <a:ext cx="504190" cy="139065"/>
            </a:xfrm>
            <a:custGeom>
              <a:avLst/>
              <a:gdLst/>
              <a:ahLst/>
              <a:cxnLst/>
              <a:rect l="l" t="t" r="r" b="b"/>
              <a:pathLst>
                <a:path w="504189" h="139064">
                  <a:moveTo>
                    <a:pt x="46757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02976"/>
                  </a:lnTo>
                  <a:lnTo>
                    <a:pt x="2829" y="116989"/>
                  </a:lnTo>
                  <a:lnTo>
                    <a:pt x="10544" y="128433"/>
                  </a:lnTo>
                  <a:lnTo>
                    <a:pt x="21987" y="136148"/>
                  </a:lnTo>
                  <a:lnTo>
                    <a:pt x="36000" y="138977"/>
                  </a:lnTo>
                  <a:lnTo>
                    <a:pt x="467577" y="138977"/>
                  </a:lnTo>
                  <a:lnTo>
                    <a:pt x="481590" y="136148"/>
                  </a:lnTo>
                  <a:lnTo>
                    <a:pt x="493033" y="128433"/>
                  </a:lnTo>
                  <a:lnTo>
                    <a:pt x="500748" y="116989"/>
                  </a:lnTo>
                  <a:lnTo>
                    <a:pt x="503577" y="102976"/>
                  </a:lnTo>
                  <a:lnTo>
                    <a:pt x="503577" y="36000"/>
                  </a:lnTo>
                  <a:lnTo>
                    <a:pt x="500748" y="21987"/>
                  </a:lnTo>
                  <a:lnTo>
                    <a:pt x="493033" y="10544"/>
                  </a:lnTo>
                  <a:lnTo>
                    <a:pt x="481590" y="2829"/>
                  </a:lnTo>
                  <a:lnTo>
                    <a:pt x="46757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43319" y="933089"/>
            <a:ext cx="4801235" cy="1516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delete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route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added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table: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AutoNum type="arabicPeriod"/>
              <a:tabLst>
                <a:tab pos="243204" algn="l"/>
              </a:tabLst>
            </a:pP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Search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9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VPC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service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result.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 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Route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Tables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left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navigation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pane.</a:t>
            </a:r>
            <a:endParaRPr lang="en-US" sz="900" noProof="1">
              <a:latin typeface="Arial"/>
              <a:cs typeface="Arial"/>
            </a:endParaRPr>
          </a:p>
          <a:p>
            <a:pPr marL="242570" marR="5080" indent="-147320">
              <a:lnSpc>
                <a:spcPct val="116199"/>
              </a:lnSpc>
              <a:buAutoNum type="arabicPeriod"/>
              <a:tabLst>
                <a:tab pos="243840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default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route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table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that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is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associated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1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test-vpc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(the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one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with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no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name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we 	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modified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before).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Routes</a:t>
            </a:r>
            <a:r>
              <a:rPr lang="en-US" sz="900" b="1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tab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down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below.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Edit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routes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Remove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right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route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added.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Save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 changes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9" name="object 9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1" name="object 11"/>
            <p:cNvSpPr/>
            <p:nvPr/>
          </p:nvSpPr>
          <p:spPr>
            <a:xfrm>
              <a:off x="0" y="3234963"/>
              <a:ext cx="5663565" cy="5080"/>
            </a:xfrm>
            <a:custGeom>
              <a:avLst/>
              <a:gdLst/>
              <a:ahLst/>
              <a:cxnLst/>
              <a:rect l="l" t="t" r="r" b="b"/>
              <a:pathLst>
                <a:path w="5663565" h="5080">
                  <a:moveTo>
                    <a:pt x="0" y="5060"/>
                  </a:moveTo>
                  <a:lnTo>
                    <a:pt x="0" y="0"/>
                  </a:lnTo>
                  <a:lnTo>
                    <a:pt x="5663305" y="0"/>
                  </a:lnTo>
                  <a:lnTo>
                    <a:pt x="566330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30" noProof="1"/>
              <a:t>Remove</a:t>
            </a:r>
            <a:r>
              <a:rPr lang="en-US" spc="35" noProof="1"/>
              <a:t> </a:t>
            </a:r>
            <a:r>
              <a:rPr lang="en-US" spc="-65" noProof="1"/>
              <a:t>access</a:t>
            </a:r>
            <a:r>
              <a:rPr lang="en-US" spc="35" noProof="1"/>
              <a:t> </a:t>
            </a:r>
            <a:r>
              <a:rPr lang="en-US" noProof="1"/>
              <a:t>to</a:t>
            </a:r>
            <a:r>
              <a:rPr lang="en-US" spc="40" noProof="1"/>
              <a:t> </a:t>
            </a:r>
            <a:r>
              <a:rPr lang="en-US" noProof="1"/>
              <a:t>the</a:t>
            </a:r>
            <a:r>
              <a:rPr lang="en-US" spc="35" noProof="1"/>
              <a:t> </a:t>
            </a:r>
            <a:r>
              <a:rPr lang="en-US" spc="-10" noProof="1"/>
              <a:t>internet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19301" y="1519624"/>
            <a:ext cx="742950" cy="147955"/>
            <a:chOff x="1119301" y="1519624"/>
            <a:chExt cx="742950" cy="147955"/>
          </a:xfrm>
        </p:grpSpPr>
        <p:sp>
          <p:nvSpPr>
            <p:cNvPr id="4" name="object 4"/>
            <p:cNvSpPr/>
            <p:nvPr/>
          </p:nvSpPr>
          <p:spPr>
            <a:xfrm>
              <a:off x="1119301" y="1519624"/>
              <a:ext cx="742950" cy="147955"/>
            </a:xfrm>
            <a:custGeom>
              <a:avLst/>
              <a:gdLst/>
              <a:ahLst/>
              <a:cxnLst/>
              <a:rect l="l" t="t" r="r" b="b"/>
              <a:pathLst>
                <a:path w="742950" h="147955">
                  <a:moveTo>
                    <a:pt x="70671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631"/>
                  </a:lnTo>
                  <a:lnTo>
                    <a:pt x="2829" y="125644"/>
                  </a:lnTo>
                  <a:lnTo>
                    <a:pt x="10544" y="137087"/>
                  </a:lnTo>
                  <a:lnTo>
                    <a:pt x="21987" y="144802"/>
                  </a:lnTo>
                  <a:lnTo>
                    <a:pt x="36000" y="147631"/>
                  </a:lnTo>
                  <a:lnTo>
                    <a:pt x="706714" y="147631"/>
                  </a:lnTo>
                  <a:lnTo>
                    <a:pt x="720727" y="144802"/>
                  </a:lnTo>
                  <a:lnTo>
                    <a:pt x="732170" y="137087"/>
                  </a:lnTo>
                  <a:lnTo>
                    <a:pt x="739885" y="125644"/>
                  </a:lnTo>
                  <a:lnTo>
                    <a:pt x="742714" y="111631"/>
                  </a:lnTo>
                  <a:lnTo>
                    <a:pt x="742714" y="36000"/>
                  </a:lnTo>
                  <a:lnTo>
                    <a:pt x="739885" y="21987"/>
                  </a:lnTo>
                  <a:lnTo>
                    <a:pt x="732170" y="10544"/>
                  </a:lnTo>
                  <a:lnTo>
                    <a:pt x="720727" y="2829"/>
                  </a:lnTo>
                  <a:lnTo>
                    <a:pt x="706714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1119301" y="1519624"/>
              <a:ext cx="742950" cy="147955"/>
            </a:xfrm>
            <a:custGeom>
              <a:avLst/>
              <a:gdLst/>
              <a:ahLst/>
              <a:cxnLst/>
              <a:rect l="l" t="t" r="r" b="b"/>
              <a:pathLst>
                <a:path w="742950" h="147955">
                  <a:moveTo>
                    <a:pt x="706714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111631"/>
                  </a:lnTo>
                  <a:lnTo>
                    <a:pt x="2829" y="125644"/>
                  </a:lnTo>
                  <a:lnTo>
                    <a:pt x="10544" y="137087"/>
                  </a:lnTo>
                  <a:lnTo>
                    <a:pt x="21987" y="144802"/>
                  </a:lnTo>
                  <a:lnTo>
                    <a:pt x="36000" y="147631"/>
                  </a:lnTo>
                  <a:lnTo>
                    <a:pt x="706714" y="147631"/>
                  </a:lnTo>
                  <a:lnTo>
                    <a:pt x="720727" y="144802"/>
                  </a:lnTo>
                  <a:lnTo>
                    <a:pt x="732170" y="137087"/>
                  </a:lnTo>
                  <a:lnTo>
                    <a:pt x="739885" y="125644"/>
                  </a:lnTo>
                  <a:lnTo>
                    <a:pt x="742714" y="111631"/>
                  </a:lnTo>
                  <a:lnTo>
                    <a:pt x="742714" y="36000"/>
                  </a:lnTo>
                  <a:lnTo>
                    <a:pt x="739885" y="21987"/>
                  </a:lnTo>
                  <a:lnTo>
                    <a:pt x="732170" y="10544"/>
                  </a:lnTo>
                  <a:lnTo>
                    <a:pt x="720727" y="2829"/>
                  </a:lnTo>
                  <a:lnTo>
                    <a:pt x="706714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862749" y="1999190"/>
            <a:ext cx="384175" cy="121285"/>
            <a:chOff x="862749" y="1999190"/>
            <a:chExt cx="384175" cy="121285"/>
          </a:xfrm>
        </p:grpSpPr>
        <p:sp>
          <p:nvSpPr>
            <p:cNvPr id="7" name="object 7"/>
            <p:cNvSpPr/>
            <p:nvPr/>
          </p:nvSpPr>
          <p:spPr>
            <a:xfrm>
              <a:off x="862749" y="1999190"/>
              <a:ext cx="384175" cy="121285"/>
            </a:xfrm>
            <a:custGeom>
              <a:avLst/>
              <a:gdLst/>
              <a:ahLst/>
              <a:cxnLst/>
              <a:rect l="l" t="t" r="r" b="b"/>
              <a:pathLst>
                <a:path w="384175" h="121285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348009" y="120757"/>
                  </a:lnTo>
                  <a:lnTo>
                    <a:pt x="362022" y="117928"/>
                  </a:lnTo>
                  <a:lnTo>
                    <a:pt x="373465" y="110213"/>
                  </a:lnTo>
                  <a:lnTo>
                    <a:pt x="381180" y="98770"/>
                  </a:lnTo>
                  <a:lnTo>
                    <a:pt x="384009" y="84757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3F3F3F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8" name="object 8"/>
            <p:cNvSpPr/>
            <p:nvPr/>
          </p:nvSpPr>
          <p:spPr>
            <a:xfrm>
              <a:off x="862749" y="1999190"/>
              <a:ext cx="384175" cy="121285"/>
            </a:xfrm>
            <a:custGeom>
              <a:avLst/>
              <a:gdLst/>
              <a:ahLst/>
              <a:cxnLst/>
              <a:rect l="l" t="t" r="r" b="b"/>
              <a:pathLst>
                <a:path w="384175" h="121285">
                  <a:moveTo>
                    <a:pt x="348009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84757"/>
                  </a:lnTo>
                  <a:lnTo>
                    <a:pt x="2829" y="98770"/>
                  </a:lnTo>
                  <a:lnTo>
                    <a:pt x="10544" y="110213"/>
                  </a:lnTo>
                  <a:lnTo>
                    <a:pt x="21987" y="117928"/>
                  </a:lnTo>
                  <a:lnTo>
                    <a:pt x="36000" y="120757"/>
                  </a:lnTo>
                  <a:lnTo>
                    <a:pt x="348009" y="120757"/>
                  </a:lnTo>
                  <a:lnTo>
                    <a:pt x="362022" y="117928"/>
                  </a:lnTo>
                  <a:lnTo>
                    <a:pt x="373465" y="110213"/>
                  </a:lnTo>
                  <a:lnTo>
                    <a:pt x="381180" y="98770"/>
                  </a:lnTo>
                  <a:lnTo>
                    <a:pt x="384009" y="84757"/>
                  </a:lnTo>
                  <a:lnTo>
                    <a:pt x="384009" y="36000"/>
                  </a:lnTo>
                  <a:lnTo>
                    <a:pt x="381180" y="21987"/>
                  </a:lnTo>
                  <a:lnTo>
                    <a:pt x="373465" y="10544"/>
                  </a:lnTo>
                  <a:lnTo>
                    <a:pt x="362022" y="2829"/>
                  </a:lnTo>
                  <a:lnTo>
                    <a:pt x="348009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43319" y="1250538"/>
            <a:ext cx="4613910" cy="8794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delete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NAT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Gateway: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AutoNum type="arabicPeriod"/>
              <a:tabLst>
                <a:tab pos="243204" algn="l"/>
              </a:tabLst>
            </a:pP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Search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for</a:t>
            </a:r>
            <a:r>
              <a:rPr lang="en-US" sz="900" spc="7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0" noProof="1">
                <a:latin typeface="Courier New"/>
                <a:cs typeface="Courier New"/>
              </a:rPr>
              <a:t>NAT </a:t>
            </a:r>
            <a:r>
              <a:rPr lang="en-US" sz="900" spc="-75" noProof="1">
                <a:latin typeface="Courier New"/>
                <a:cs typeface="Courier New"/>
              </a:rPr>
              <a:t>Gateways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Management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5" noProof="1">
                <a:solidFill>
                  <a:srgbClr val="22373A"/>
                </a:solidFill>
                <a:latin typeface="Arial"/>
                <a:cs typeface="Arial"/>
              </a:rPr>
              <a:t>Console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first</a:t>
            </a:r>
            <a:r>
              <a:rPr lang="en-US" sz="900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result.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NAT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Gateway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created.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43204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Actions</a:t>
            </a:r>
            <a:r>
              <a:rPr lang="en-US" sz="900" b="1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Delete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NAT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Gateway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  <a:p>
            <a:pPr marL="239395" indent="-143510">
              <a:lnSpc>
                <a:spcPct val="100000"/>
              </a:lnSpc>
              <a:spcBef>
                <a:spcPts val="175"/>
              </a:spcBef>
              <a:buAutoNum type="arabicPeriod"/>
              <a:tabLst>
                <a:tab pos="239395" algn="l"/>
              </a:tabLst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Type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latin typeface="Courier New"/>
                <a:cs typeface="Courier New"/>
              </a:rPr>
              <a:t>delete</a:t>
            </a:r>
            <a:r>
              <a:rPr lang="en-US" sz="900" spc="-135" noProof="1">
                <a:latin typeface="Courier New"/>
                <a:cs typeface="Courier New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and</a:t>
            </a:r>
            <a:r>
              <a:rPr lang="en-US" sz="900" spc="-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click on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Delete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11" name="object 11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2" name="object 12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3234963"/>
              <a:ext cx="5711825" cy="5080"/>
            </a:xfrm>
            <a:custGeom>
              <a:avLst/>
              <a:gdLst/>
              <a:ahLst/>
              <a:cxnLst/>
              <a:rect l="l" t="t" r="r" b="b"/>
              <a:pathLst>
                <a:path w="5711825" h="5080">
                  <a:moveTo>
                    <a:pt x="0" y="5060"/>
                  </a:moveTo>
                  <a:lnTo>
                    <a:pt x="0" y="0"/>
                  </a:lnTo>
                  <a:lnTo>
                    <a:pt x="5711645" y="0"/>
                  </a:lnTo>
                  <a:lnTo>
                    <a:pt x="5711645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526" y="59834"/>
            <a:ext cx="3784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40" noProof="1"/>
              <a:t>Recap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63993" y="2187493"/>
            <a:ext cx="4032250" cy="512445"/>
            <a:chOff x="863993" y="2187493"/>
            <a:chExt cx="4032250" cy="512445"/>
          </a:xfrm>
        </p:grpSpPr>
        <p:sp>
          <p:nvSpPr>
            <p:cNvPr id="4" name="object 4"/>
            <p:cNvSpPr/>
            <p:nvPr/>
          </p:nvSpPr>
          <p:spPr>
            <a:xfrm>
              <a:off x="863993" y="2187493"/>
              <a:ext cx="4032250" cy="512445"/>
            </a:xfrm>
            <a:custGeom>
              <a:avLst/>
              <a:gdLst/>
              <a:ahLst/>
              <a:cxnLst/>
              <a:rect l="l" t="t" r="r" b="b"/>
              <a:pathLst>
                <a:path w="4032250" h="512444">
                  <a:moveTo>
                    <a:pt x="3978067" y="0"/>
                  </a:moveTo>
                  <a:lnTo>
                    <a:pt x="54000" y="0"/>
                  </a:lnTo>
                  <a:lnTo>
                    <a:pt x="32980" y="4243"/>
                  </a:lnTo>
                  <a:lnTo>
                    <a:pt x="15816" y="15816"/>
                  </a:lnTo>
                  <a:lnTo>
                    <a:pt x="4243" y="32980"/>
                  </a:lnTo>
                  <a:lnTo>
                    <a:pt x="0" y="54000"/>
                  </a:lnTo>
                  <a:lnTo>
                    <a:pt x="0" y="458450"/>
                  </a:lnTo>
                  <a:lnTo>
                    <a:pt x="4243" y="479470"/>
                  </a:lnTo>
                  <a:lnTo>
                    <a:pt x="15816" y="496634"/>
                  </a:lnTo>
                  <a:lnTo>
                    <a:pt x="32980" y="508207"/>
                  </a:lnTo>
                  <a:lnTo>
                    <a:pt x="54000" y="512450"/>
                  </a:lnTo>
                  <a:lnTo>
                    <a:pt x="3978067" y="512450"/>
                  </a:lnTo>
                  <a:lnTo>
                    <a:pt x="3999086" y="508207"/>
                  </a:lnTo>
                  <a:lnTo>
                    <a:pt x="4016251" y="496634"/>
                  </a:lnTo>
                  <a:lnTo>
                    <a:pt x="4027823" y="479470"/>
                  </a:lnTo>
                  <a:lnTo>
                    <a:pt x="4032067" y="458450"/>
                  </a:lnTo>
                  <a:lnTo>
                    <a:pt x="4032067" y="54000"/>
                  </a:lnTo>
                  <a:lnTo>
                    <a:pt x="4027823" y="32980"/>
                  </a:lnTo>
                  <a:lnTo>
                    <a:pt x="4016251" y="15816"/>
                  </a:lnTo>
                  <a:lnTo>
                    <a:pt x="3999086" y="4243"/>
                  </a:lnTo>
                  <a:lnTo>
                    <a:pt x="3978067" y="0"/>
                  </a:lnTo>
                  <a:close/>
                </a:path>
              </a:pathLst>
            </a:custGeom>
            <a:solidFill>
              <a:srgbClr val="880C58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5" name="object 5"/>
            <p:cNvSpPr/>
            <p:nvPr/>
          </p:nvSpPr>
          <p:spPr>
            <a:xfrm>
              <a:off x="881993" y="2205493"/>
              <a:ext cx="3996690" cy="476884"/>
            </a:xfrm>
            <a:custGeom>
              <a:avLst/>
              <a:gdLst/>
              <a:ahLst/>
              <a:cxnLst/>
              <a:rect l="l" t="t" r="r" b="b"/>
              <a:pathLst>
                <a:path w="3996690" h="476885">
                  <a:moveTo>
                    <a:pt x="3960067" y="0"/>
                  </a:moveTo>
                  <a:lnTo>
                    <a:pt x="36000" y="0"/>
                  </a:lnTo>
                  <a:lnTo>
                    <a:pt x="21987" y="2829"/>
                  </a:lnTo>
                  <a:lnTo>
                    <a:pt x="10544" y="10544"/>
                  </a:lnTo>
                  <a:lnTo>
                    <a:pt x="2829" y="21987"/>
                  </a:lnTo>
                  <a:lnTo>
                    <a:pt x="0" y="36000"/>
                  </a:lnTo>
                  <a:lnTo>
                    <a:pt x="0" y="440450"/>
                  </a:lnTo>
                  <a:lnTo>
                    <a:pt x="2829" y="454463"/>
                  </a:lnTo>
                  <a:lnTo>
                    <a:pt x="10544" y="465906"/>
                  </a:lnTo>
                  <a:lnTo>
                    <a:pt x="21987" y="473621"/>
                  </a:lnTo>
                  <a:lnTo>
                    <a:pt x="36000" y="476450"/>
                  </a:lnTo>
                  <a:lnTo>
                    <a:pt x="3960067" y="476450"/>
                  </a:lnTo>
                  <a:lnTo>
                    <a:pt x="3974080" y="473621"/>
                  </a:lnTo>
                  <a:lnTo>
                    <a:pt x="3985523" y="465906"/>
                  </a:lnTo>
                  <a:lnTo>
                    <a:pt x="3993238" y="454463"/>
                  </a:lnTo>
                  <a:lnTo>
                    <a:pt x="3996067" y="440450"/>
                  </a:lnTo>
                  <a:lnTo>
                    <a:pt x="3996067" y="36000"/>
                  </a:lnTo>
                  <a:lnTo>
                    <a:pt x="3993238" y="21987"/>
                  </a:lnTo>
                  <a:lnTo>
                    <a:pt x="3985523" y="10544"/>
                  </a:lnTo>
                  <a:lnTo>
                    <a:pt x="3974080" y="2829"/>
                  </a:lnTo>
                  <a:lnTo>
                    <a:pt x="3960067" y="0"/>
                  </a:lnTo>
                  <a:close/>
                </a:path>
              </a:pathLst>
            </a:custGeom>
            <a:solidFill>
              <a:srgbClr val="EAEAEA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3319" y="670542"/>
            <a:ext cx="5052060" cy="19170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During</a:t>
            </a:r>
            <a:r>
              <a:rPr lang="en-US" sz="900" spc="-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this lab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we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have: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800"/>
              </a:spcBef>
              <a:buChar char="•"/>
              <a:tabLst>
                <a:tab pos="243204" algn="l"/>
              </a:tabLst>
            </a:pP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Created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VPN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using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AWS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Client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VPN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service.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Connected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VPN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3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lang="en-US" sz="900" spc="4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computer.</a:t>
            </a:r>
            <a:endParaRPr lang="en-US" sz="900" noProof="1">
              <a:latin typeface="Arial"/>
              <a:cs typeface="Arial"/>
            </a:endParaRPr>
          </a:p>
          <a:p>
            <a:pPr marL="243204" indent="-147320">
              <a:lnSpc>
                <a:spcPct val="100000"/>
              </a:lnSpc>
              <a:spcBef>
                <a:spcPts val="175"/>
              </a:spcBef>
              <a:buChar char="•"/>
              <a:tabLst>
                <a:tab pos="243204" algn="l"/>
              </a:tabLst>
            </a:pP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Deployed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on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private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EC2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instance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by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temporarily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giving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7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internet.</a:t>
            </a:r>
            <a:endParaRPr lang="en-US" sz="900" noProof="1">
              <a:latin typeface="Arial"/>
              <a:cs typeface="Arial"/>
            </a:endParaRPr>
          </a:p>
          <a:p>
            <a:pPr marL="239395" indent="-143510">
              <a:lnSpc>
                <a:spcPct val="100000"/>
              </a:lnSpc>
              <a:spcBef>
                <a:spcPts val="175"/>
              </a:spcBef>
              <a:buChar char="•"/>
              <a:tabLst>
                <a:tab pos="239395" algn="l"/>
              </a:tabLst>
            </a:pPr>
            <a:r>
              <a:rPr lang="en-US" sz="900" spc="-60" noProof="1">
                <a:solidFill>
                  <a:srgbClr val="22373A"/>
                </a:solidFill>
                <a:latin typeface="Arial"/>
                <a:cs typeface="Arial"/>
              </a:rPr>
              <a:t>Accessed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file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server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our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computer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through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VPN.</a:t>
            </a:r>
            <a:endParaRPr lang="en-US" sz="900" noProof="1">
              <a:latin typeface="Arial"/>
              <a:cs typeface="Arial"/>
            </a:endParaRPr>
          </a:p>
          <a:p>
            <a:pPr marL="12700" marR="5080" indent="3810">
              <a:lnSpc>
                <a:spcPct val="116199"/>
              </a:lnSpc>
              <a:spcBef>
                <a:spcPts val="625"/>
              </a:spcBef>
            </a:pP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Lots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of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40" noProof="1">
                <a:solidFill>
                  <a:srgbClr val="22373A"/>
                </a:solidFill>
                <a:latin typeface="Arial"/>
                <a:cs typeface="Arial"/>
              </a:rPr>
              <a:t>companies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use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VPNs</a:t>
            </a:r>
            <a:r>
              <a:rPr lang="en-US" sz="900" spc="1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allow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their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55" noProof="1">
                <a:solidFill>
                  <a:srgbClr val="22373A"/>
                </a:solidFill>
                <a:latin typeface="Arial"/>
                <a:cs typeface="Arial"/>
              </a:rPr>
              <a:t>employees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to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65" noProof="1">
                <a:solidFill>
                  <a:srgbClr val="22373A"/>
                </a:solidFill>
                <a:latin typeface="Arial"/>
                <a:cs typeface="Arial"/>
              </a:rPr>
              <a:t>access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55" noProof="1">
                <a:solidFill>
                  <a:srgbClr val="22373A"/>
                </a:solidFill>
                <a:latin typeface="Arial"/>
                <a:cs typeface="Arial"/>
              </a:rPr>
              <a:t>resources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40" noProof="1">
                <a:solidFill>
                  <a:srgbClr val="22373A"/>
                </a:solidFill>
                <a:latin typeface="Arial"/>
                <a:cs typeface="Arial"/>
              </a:rPr>
              <a:t>inside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1" spc="2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10" noProof="1">
                <a:solidFill>
                  <a:srgbClr val="22373A"/>
                </a:solidFill>
                <a:latin typeface="Arial"/>
                <a:cs typeface="Arial"/>
              </a:rPr>
              <a:t>company </a:t>
            </a:r>
            <a:r>
              <a:rPr lang="en-US" sz="900" b="1" spc="-30" noProof="1">
                <a:solidFill>
                  <a:srgbClr val="22373A"/>
                </a:solidFill>
                <a:latin typeface="Arial"/>
                <a:cs typeface="Arial"/>
              </a:rPr>
              <a:t>network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from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35" noProof="1">
                <a:solidFill>
                  <a:srgbClr val="22373A"/>
                </a:solidFill>
                <a:latin typeface="Arial"/>
                <a:cs typeface="Arial"/>
              </a:rPr>
              <a:t>anywhere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in</a:t>
            </a:r>
            <a:r>
              <a:rPr lang="en-US" sz="900" b="1" spc="20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noProof="1">
                <a:solidFill>
                  <a:srgbClr val="22373A"/>
                </a:solidFill>
                <a:latin typeface="Arial"/>
                <a:cs typeface="Arial"/>
              </a:rPr>
              <a:t>the</a:t>
            </a:r>
            <a:r>
              <a:rPr lang="en-US" sz="900" b="1" spc="1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b="1" spc="-25" noProof="1">
                <a:solidFill>
                  <a:srgbClr val="22373A"/>
                </a:solidFill>
                <a:latin typeface="Arial"/>
                <a:cs typeface="Arial"/>
              </a:rPr>
              <a:t>world</a:t>
            </a:r>
            <a:r>
              <a:rPr lang="en-US" sz="900" spc="-25" noProof="1">
                <a:solidFill>
                  <a:srgbClr val="22373A"/>
                </a:solidFill>
                <a:latin typeface="Arial"/>
                <a:cs typeface="Arial"/>
              </a:rPr>
              <a:t>.</a:t>
            </a:r>
            <a:r>
              <a:rPr lang="en-US" sz="900" spc="8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A </a:t>
            </a:r>
            <a:r>
              <a:rPr lang="en-US" sz="900" spc="-20" noProof="1">
                <a:solidFill>
                  <a:srgbClr val="22373A"/>
                </a:solidFill>
                <a:latin typeface="Arial"/>
                <a:cs typeface="Arial"/>
              </a:rPr>
              <a:t>practice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which </a:t>
            </a:r>
            <a:r>
              <a:rPr lang="en-US" sz="900" spc="-55" noProof="1">
                <a:solidFill>
                  <a:srgbClr val="22373A"/>
                </a:solidFill>
                <a:latin typeface="Arial"/>
                <a:cs typeface="Arial"/>
              </a:rPr>
              <a:t>was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35" noProof="1">
                <a:solidFill>
                  <a:srgbClr val="22373A"/>
                </a:solidFill>
                <a:latin typeface="Arial"/>
                <a:cs typeface="Arial"/>
              </a:rPr>
              <a:t>accelerated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by </a:t>
            </a:r>
            <a:r>
              <a:rPr lang="en-US" sz="900" spc="-30" noProof="1">
                <a:solidFill>
                  <a:srgbClr val="22373A"/>
                </a:solidFill>
                <a:latin typeface="Arial"/>
                <a:cs typeface="Arial"/>
              </a:rPr>
              <a:t>pandemic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 and the</a:t>
            </a:r>
            <a:r>
              <a:rPr lang="en-US" sz="900" spc="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remote work</a:t>
            </a:r>
            <a:r>
              <a:rPr lang="en-US" sz="900" spc="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noProof="1">
                <a:solidFill>
                  <a:srgbClr val="22373A"/>
                </a:solidFill>
                <a:latin typeface="Arial"/>
                <a:cs typeface="Arial"/>
              </a:rPr>
              <a:t>it</a:t>
            </a:r>
            <a:r>
              <a:rPr lang="en-US" sz="900" spc="65" noProof="1">
                <a:solidFill>
                  <a:srgbClr val="22373A"/>
                </a:solidFill>
                <a:latin typeface="Arial"/>
                <a:cs typeface="Arial"/>
              </a:rPr>
              <a:t> </a:t>
            </a:r>
            <a:r>
              <a:rPr lang="en-US" sz="900" spc="-10" noProof="1">
                <a:solidFill>
                  <a:srgbClr val="22373A"/>
                </a:solidFill>
                <a:latin typeface="Arial"/>
                <a:cs typeface="Arial"/>
              </a:rPr>
              <a:t>brought.</a:t>
            </a:r>
            <a:endParaRPr lang="en-US" sz="900" noProof="1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lang="en-US" sz="900" noProof="1">
              <a:latin typeface="Arial"/>
              <a:cs typeface="Arial"/>
            </a:endParaRPr>
          </a:p>
          <a:p>
            <a:pPr marL="1105535" marR="1054100" indent="19685">
              <a:lnSpc>
                <a:spcPct val="116199"/>
              </a:lnSpc>
            </a:pPr>
            <a:r>
              <a:rPr lang="en-US" sz="900" noProof="1">
                <a:latin typeface="Arial"/>
                <a:cs typeface="Arial"/>
              </a:rPr>
              <a:t>Try</a:t>
            </a:r>
            <a:r>
              <a:rPr lang="en-US" sz="900" spc="10" noProof="1">
                <a:latin typeface="Arial"/>
                <a:cs typeface="Arial"/>
              </a:rPr>
              <a:t> </a:t>
            </a:r>
            <a:r>
              <a:rPr lang="en-US" sz="900" spc="-20" noProof="1">
                <a:latin typeface="Arial"/>
                <a:cs typeface="Arial"/>
              </a:rPr>
              <a:t>experimenting</a:t>
            </a:r>
            <a:r>
              <a:rPr lang="en-US" sz="900" spc="15" noProof="1">
                <a:latin typeface="Arial"/>
                <a:cs typeface="Arial"/>
              </a:rPr>
              <a:t> </a:t>
            </a:r>
            <a:r>
              <a:rPr lang="en-US" sz="900" noProof="1">
                <a:latin typeface="Arial"/>
                <a:cs typeface="Arial"/>
              </a:rPr>
              <a:t>with</a:t>
            </a:r>
            <a:r>
              <a:rPr lang="en-US" sz="900" spc="15" noProof="1">
                <a:latin typeface="Arial"/>
                <a:cs typeface="Arial"/>
              </a:rPr>
              <a:t> </a:t>
            </a:r>
            <a:r>
              <a:rPr lang="en-US" sz="900" spc="-10" noProof="1">
                <a:latin typeface="Arial"/>
                <a:cs typeface="Arial"/>
              </a:rPr>
              <a:t>being</a:t>
            </a:r>
            <a:r>
              <a:rPr lang="en-US" sz="900" spc="10" noProof="1">
                <a:latin typeface="Arial"/>
                <a:cs typeface="Arial"/>
              </a:rPr>
              <a:t> </a:t>
            </a:r>
            <a:r>
              <a:rPr lang="en-US" sz="900" spc="-10" noProof="1">
                <a:latin typeface="Arial"/>
                <a:cs typeface="Arial"/>
              </a:rPr>
              <a:t>and</a:t>
            </a:r>
            <a:r>
              <a:rPr lang="en-US" sz="900" spc="15" noProof="1">
                <a:latin typeface="Arial"/>
                <a:cs typeface="Arial"/>
              </a:rPr>
              <a:t> </a:t>
            </a:r>
            <a:r>
              <a:rPr lang="en-US" sz="900" noProof="1">
                <a:latin typeface="Arial"/>
                <a:cs typeface="Arial"/>
              </a:rPr>
              <a:t>not</a:t>
            </a:r>
            <a:r>
              <a:rPr lang="en-US" sz="900" spc="15" noProof="1">
                <a:latin typeface="Arial"/>
                <a:cs typeface="Arial"/>
              </a:rPr>
              <a:t> </a:t>
            </a:r>
            <a:r>
              <a:rPr lang="en-US" sz="900" spc="-10" noProof="1">
                <a:latin typeface="Arial"/>
                <a:cs typeface="Arial"/>
              </a:rPr>
              <a:t>being</a:t>
            </a:r>
            <a:r>
              <a:rPr lang="en-US" sz="900" spc="10" noProof="1">
                <a:latin typeface="Arial"/>
                <a:cs typeface="Arial"/>
              </a:rPr>
              <a:t> </a:t>
            </a:r>
            <a:r>
              <a:rPr lang="en-US" sz="900" spc="-30" noProof="1">
                <a:latin typeface="Arial"/>
                <a:cs typeface="Arial"/>
              </a:rPr>
              <a:t>connected</a:t>
            </a:r>
            <a:r>
              <a:rPr lang="en-US" sz="900" spc="15" noProof="1">
                <a:latin typeface="Arial"/>
                <a:cs typeface="Arial"/>
              </a:rPr>
              <a:t> </a:t>
            </a:r>
            <a:r>
              <a:rPr lang="en-US" sz="900" spc="-25" noProof="1">
                <a:latin typeface="Arial"/>
                <a:cs typeface="Arial"/>
              </a:rPr>
              <a:t>to </a:t>
            </a:r>
            <a:r>
              <a:rPr lang="en-US" sz="900" noProof="1">
                <a:latin typeface="Arial"/>
                <a:cs typeface="Arial"/>
              </a:rPr>
              <a:t>the</a:t>
            </a:r>
            <a:r>
              <a:rPr lang="en-US" sz="900" spc="-5" noProof="1">
                <a:latin typeface="Arial"/>
                <a:cs typeface="Arial"/>
              </a:rPr>
              <a:t> </a:t>
            </a:r>
            <a:r>
              <a:rPr lang="en-US" sz="900" noProof="1">
                <a:latin typeface="Arial"/>
                <a:cs typeface="Arial"/>
              </a:rPr>
              <a:t>VPN. </a:t>
            </a:r>
            <a:r>
              <a:rPr lang="en-US" sz="900" spc="-20" noProof="1">
                <a:latin typeface="Arial"/>
                <a:cs typeface="Arial"/>
              </a:rPr>
              <a:t>Make</a:t>
            </a:r>
            <a:r>
              <a:rPr lang="en-US" sz="900" noProof="1">
                <a:latin typeface="Arial"/>
                <a:cs typeface="Arial"/>
              </a:rPr>
              <a:t> </a:t>
            </a:r>
            <a:r>
              <a:rPr lang="en-US" sz="900" spc="-35" noProof="1">
                <a:latin typeface="Arial"/>
                <a:cs typeface="Arial"/>
              </a:rPr>
              <a:t>sure</a:t>
            </a:r>
            <a:r>
              <a:rPr lang="en-US" sz="900" spc="-5" noProof="1">
                <a:latin typeface="Arial"/>
                <a:cs typeface="Arial"/>
              </a:rPr>
              <a:t> </a:t>
            </a:r>
            <a:r>
              <a:rPr lang="en-US" sz="900" noProof="1">
                <a:latin typeface="Arial"/>
                <a:cs typeface="Arial"/>
              </a:rPr>
              <a:t>the </a:t>
            </a:r>
            <a:r>
              <a:rPr lang="en-US" sz="900" spc="-40" noProof="1">
                <a:latin typeface="Arial"/>
                <a:cs typeface="Arial"/>
              </a:rPr>
              <a:t>scenario</a:t>
            </a:r>
            <a:r>
              <a:rPr lang="en-US" sz="900" noProof="1">
                <a:latin typeface="Arial"/>
                <a:cs typeface="Arial"/>
              </a:rPr>
              <a:t> </a:t>
            </a:r>
            <a:r>
              <a:rPr lang="en-US" sz="900" spc="-30" noProof="1">
                <a:latin typeface="Arial"/>
                <a:cs typeface="Arial"/>
              </a:rPr>
              <a:t>we’ve</a:t>
            </a:r>
            <a:r>
              <a:rPr lang="en-US" sz="900" spc="-5" noProof="1">
                <a:latin typeface="Arial"/>
                <a:cs typeface="Arial"/>
              </a:rPr>
              <a:t> </a:t>
            </a:r>
            <a:r>
              <a:rPr lang="en-US" sz="900" spc="-20" noProof="1">
                <a:latin typeface="Arial"/>
                <a:cs typeface="Arial"/>
              </a:rPr>
              <a:t>setup</a:t>
            </a:r>
            <a:r>
              <a:rPr lang="en-US" sz="900" noProof="1">
                <a:latin typeface="Arial"/>
                <a:cs typeface="Arial"/>
              </a:rPr>
              <a:t> </a:t>
            </a:r>
            <a:r>
              <a:rPr lang="en-US" sz="900" spc="-50" noProof="1">
                <a:latin typeface="Arial"/>
                <a:cs typeface="Arial"/>
              </a:rPr>
              <a:t>makes</a:t>
            </a:r>
            <a:r>
              <a:rPr lang="en-US" sz="900" noProof="1">
                <a:latin typeface="Arial"/>
                <a:cs typeface="Arial"/>
              </a:rPr>
              <a:t> </a:t>
            </a:r>
            <a:r>
              <a:rPr lang="en-US" sz="900" spc="-55" noProof="1">
                <a:latin typeface="Arial"/>
                <a:cs typeface="Arial"/>
              </a:rPr>
              <a:t>sense.</a:t>
            </a:r>
            <a:endParaRPr lang="en-US" sz="900" noProof="1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0" y="3234963"/>
            <a:ext cx="5760085" cy="5080"/>
            <a:chOff x="0" y="3234963"/>
            <a:chExt cx="5760085" cy="5080"/>
          </a:xfrm>
        </p:grpSpPr>
        <p:sp>
          <p:nvSpPr>
            <p:cNvPr id="8" name="object 8"/>
            <p:cNvSpPr/>
            <p:nvPr/>
          </p:nvSpPr>
          <p:spPr>
            <a:xfrm>
              <a:off x="0" y="3237496"/>
              <a:ext cx="5760085" cy="0"/>
            </a:xfrm>
            <a:custGeom>
              <a:avLst/>
              <a:gdLst/>
              <a:ahLst/>
              <a:cxnLst/>
              <a:rect l="l" t="t" r="r" b="b"/>
              <a:pathLst>
                <a:path w="5760085">
                  <a:moveTo>
                    <a:pt x="0" y="0"/>
                  </a:moveTo>
                  <a:lnTo>
                    <a:pt x="5759996" y="0"/>
                  </a:lnTo>
                </a:path>
              </a:pathLst>
            </a:custGeom>
            <a:ln w="5060">
              <a:solidFill>
                <a:srgbClr val="D5C5B6"/>
              </a:solidFill>
            </a:ln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D5C5B6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  <p:sp>
          <p:nvSpPr>
            <p:cNvPr id="10" name="object 10"/>
            <p:cNvSpPr/>
            <p:nvPr/>
          </p:nvSpPr>
          <p:spPr>
            <a:xfrm>
              <a:off x="0" y="3234963"/>
              <a:ext cx="5760085" cy="5080"/>
            </a:xfrm>
            <a:custGeom>
              <a:avLst/>
              <a:gdLst/>
              <a:ahLst/>
              <a:cxnLst/>
              <a:rect l="l" t="t" r="r" b="b"/>
              <a:pathLst>
                <a:path w="5760085" h="5080">
                  <a:moveTo>
                    <a:pt x="0" y="5060"/>
                  </a:moveTo>
                  <a:lnTo>
                    <a:pt x="0" y="0"/>
                  </a:lnTo>
                  <a:lnTo>
                    <a:pt x="5760073" y="0"/>
                  </a:lnTo>
                  <a:lnTo>
                    <a:pt x="5760073" y="5060"/>
                  </a:lnTo>
                  <a:lnTo>
                    <a:pt x="0" y="5060"/>
                  </a:lnTo>
                  <a:close/>
                </a:path>
              </a:pathLst>
            </a:custGeom>
            <a:solidFill>
              <a:srgbClr val="EB811B"/>
            </a:solidFill>
          </p:spPr>
          <p:txBody>
            <a:bodyPr wrap="square" lIns="0" tIns="0" rIns="0" bIns="0" rtlCol="0"/>
            <a:lstStyle/>
            <a:p>
              <a:endParaRPr lang="en-US" noProof="1"/>
            </a:p>
          </p:txBody>
        </p:sp>
      </p:grp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2373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</TotalTime>
  <Words>8132</Words>
  <Application>Microsoft Macintosh PowerPoint</Application>
  <PresentationFormat>Personalizado</PresentationFormat>
  <Paragraphs>631</Paragraphs>
  <Slides>114</Slides>
  <Notes>1</Notes>
  <HiddenSlides>1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114</vt:i4>
      </vt:variant>
    </vt:vector>
  </HeadingPairs>
  <TitlesOfParts>
    <vt:vector size="118" baseType="lpstr">
      <vt:lpstr>Aptos</vt:lpstr>
      <vt:lpstr>Arial</vt:lpstr>
      <vt:lpstr>Courier New</vt:lpstr>
      <vt:lpstr>Office Theme</vt:lpstr>
      <vt:lpstr>Presentación de PowerPoint</vt:lpstr>
      <vt:lpstr>Presentación de PowerPoint</vt:lpstr>
      <vt:lpstr>Networking concepts we already met</vt:lpstr>
      <vt:lpstr>Networking concepts we already met</vt:lpstr>
      <vt:lpstr>Presentación de PowerPoint</vt:lpstr>
      <vt:lpstr>What is an IP address?</vt:lpstr>
      <vt:lpstr>Presentación de PowerPoint</vt:lpstr>
      <vt:lpstr>Private vs Public IP addresses</vt:lpstr>
      <vt:lpstr>Private vs Public IP addresses</vt:lpstr>
      <vt:lpstr>The Domain Name System (DNS) is a system that translates domain names to IP addresses. Remember during class when I said you can use the DNS name or the public IP address to connect to an EC2 instance? A DNS name or a domain name is a human-readable name that references an IP address.</vt:lpstr>
      <vt:lpstr>Ports</vt:lpstr>
      <vt:lpstr>Ports</vt:lpstr>
      <vt:lpstr>Recap</vt:lpstr>
      <vt:lpstr>Our home network</vt:lpstr>
      <vt:lpstr>Our home network</vt:lpstr>
      <vt:lpstr>Your router and NAT</vt:lpstr>
      <vt:lpstr>Your router and NAT</vt:lpstr>
      <vt:lpstr>Your router and NAT</vt:lpstr>
      <vt:lpstr>Your router and NAT</vt:lpstr>
      <vt:lpstr>Your router and NAT</vt:lpstr>
      <vt:lpstr>What is a network?</vt:lpstr>
      <vt:lpstr>What is a network?</vt:lpstr>
      <vt:lpstr>What is the internet?</vt:lpstr>
      <vt:lpstr>What is the internet?</vt:lpstr>
      <vt:lpstr>What is the internet?</vt:lpstr>
      <vt:lpstr>What is the internet?</vt:lpstr>
      <vt:lpstr>Presentación de PowerPoint</vt:lpstr>
      <vt:lpstr>What is the internet?</vt:lpstr>
      <vt:lpstr>Playing with the internet</vt:lpstr>
      <vt:lpstr>Playing with the internet</vt:lpstr>
      <vt:lpstr>Playing with the internet</vt:lpstr>
      <vt:lpstr>Recap</vt:lpstr>
      <vt:lpstr>Presentación de PowerPoint</vt:lpstr>
      <vt:lpstr>What is a subnet?</vt:lpstr>
      <vt:lpstr>What is a subnet?</vt:lpstr>
      <vt:lpstr>What is a subnet?</vt:lpstr>
      <vt:lpstr>What is a subnet?</vt:lpstr>
      <vt:lpstr>What is a subnet?</vt:lpstr>
      <vt:lpstr>What is a subnet?</vt:lpstr>
      <vt:lpstr>What is a subnet?</vt:lpstr>
      <vt:lpstr>Presentación de PowerPoint</vt:lpstr>
      <vt:lpstr>How do AWS networks work?</vt:lpstr>
      <vt:lpstr>Presentación de PowerPoint</vt:lpstr>
      <vt:lpstr>How do AWS networks work?</vt:lpstr>
      <vt:lpstr>Presentación de PowerPoint</vt:lpstr>
      <vt:lpstr>Goal of the lab</vt:lpstr>
      <vt:lpstr>Presentación de PowerPoint</vt:lpstr>
      <vt:lpstr>Presentación de PowerPoint</vt:lpstr>
      <vt:lpstr>Creating a VPC</vt:lpstr>
      <vt:lpstr>We are now going to add a subnet to the VPC we just created.</vt:lpstr>
      <vt:lpstr>Creating a public subnet in a VPC</vt:lpstr>
      <vt:lpstr>Presentación de PowerPoint</vt:lpstr>
      <vt:lpstr>Creating a private subnet in a VPC</vt:lpstr>
      <vt:lpstr>Default route table</vt:lpstr>
      <vt:lpstr>Deploying an EC2 instance in the public subnet</vt:lpstr>
      <vt:lpstr>Deploying an EC2 instance in the public subnet</vt:lpstr>
      <vt:lpstr>Accessing the public EC2 instance</vt:lpstr>
      <vt:lpstr>Accessing the public EC2 instance</vt:lpstr>
      <vt:lpstr>Accessing the public EC2 instance</vt:lpstr>
      <vt:lpstr>Accessing the public EC2 instance</vt:lpstr>
      <vt:lpstr>Accessing the public EC2 instance</vt:lpstr>
      <vt:lpstr>Accessing the public EC2 instance</vt:lpstr>
      <vt:lpstr>Accessing the public EC2 instance</vt:lpstr>
      <vt:lpstr>Accessing the public EC2 instance</vt:lpstr>
      <vt:lpstr>Deploying an EC2 instance in the private subnet</vt:lpstr>
      <vt:lpstr>Deploying an EC2 instance in the private subnet</vt:lpstr>
      <vt:lpstr>Accessing the private EC2 instance</vt:lpstr>
      <vt:lpstr>Accessing the private EC2 instance</vt:lpstr>
      <vt:lpstr>Accessing the private EC2 instance</vt:lpstr>
      <vt:lpstr>Accessing the private EC2 instance</vt:lpstr>
      <vt:lpstr>Presentación de PowerPoint</vt:lpstr>
      <vt:lpstr>Where we can’t directly access the private EC2 instance through SSH.</vt:lpstr>
      <vt:lpstr>But we can access the private EC2 instance from the public EC2 instance.</vt:lpstr>
      <vt:lpstr>Presentación de PowerPoint</vt:lpstr>
      <vt:lpstr>What is a VPN?</vt:lpstr>
      <vt:lpstr>What is a VPN?</vt:lpstr>
      <vt:lpstr>Presentación de PowerPoint</vt:lpstr>
      <vt:lpstr>Presentación de PowerPoint</vt:lpstr>
      <vt:lpstr>Presentación de PowerPoint</vt:lpstr>
      <vt:lpstr>Goal of the lab</vt:lpstr>
      <vt:lpstr>Presentación de PowerPoint</vt:lpstr>
      <vt:lpstr>Presentación de PowerPoint</vt:lpstr>
      <vt:lpstr>Generate client and server certificates</vt:lpstr>
      <vt:lpstr>Generate client and server certificates</vt:lpstr>
      <vt:lpstr>Generate client and server certificates</vt:lpstr>
      <vt:lpstr>Generate client and server certificates</vt:lpstr>
      <vt:lpstr>Generate client and server certificates</vt:lpstr>
      <vt:lpstr>Import the certificates to AWS</vt:lpstr>
      <vt:lpstr>Presentación de PowerPoint</vt:lpstr>
      <vt:lpstr>Create client VPN endpoint</vt:lpstr>
      <vt:lpstr>Associate the client VPN endpoint with the VPC public subnet</vt:lpstr>
      <vt:lpstr>Presentación de PowerPoint</vt:lpstr>
      <vt:lpstr>Add an authorization rule for the VPC</vt:lpstr>
      <vt:lpstr>Provide access to the internet for devices connected to the VPN</vt:lpstr>
      <vt:lpstr>Setup the Client VPN endpoint configuration file</vt:lpstr>
      <vt:lpstr>Setup the Client VPN endpoint configuration file</vt:lpstr>
      <vt:lpstr>Setup the Client VPN endpoint configuration file</vt:lpstr>
      <vt:lpstr>Setup the Client VPN endpoint configuration file</vt:lpstr>
      <vt:lpstr>Connect to the Client VPN endpoint</vt:lpstr>
      <vt:lpstr>Test the VPN</vt:lpstr>
      <vt:lpstr>Deploying a file server on the private subnet</vt:lpstr>
      <vt:lpstr>Presentación de PowerPoint</vt:lpstr>
      <vt:lpstr>Create an EC2 instance on the private subnet</vt:lpstr>
      <vt:lpstr>Give it access to internet</vt:lpstr>
      <vt:lpstr>Presentación de PowerPoint</vt:lpstr>
      <vt:lpstr>Presentación de PowerPoint</vt:lpstr>
      <vt:lpstr>Give it access to internet</vt:lpstr>
      <vt:lpstr>Give it access to internet</vt:lpstr>
      <vt:lpstr>Deploy the file server</vt:lpstr>
      <vt:lpstr>Deploy the file server</vt:lpstr>
      <vt:lpstr>Remove access to the internet</vt:lpstr>
      <vt:lpstr>Remove access to the internet</vt:lpstr>
      <vt:lpstr>Remove access to the internet</vt:lpstr>
      <vt:lpstr>Recap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High Performance and Distributed Computing for Big Data - Unit 3: AWS - Networking</dc:title>
  <dc:creator>Ferran Aran Domingo ` `%%%`#`&amp;12_`__~~~ౡ氀猀攀</dc:creator>
  <cp:keywords>Cloud Computing, AWS, Healtcare, Cloud Computing in Healthcare</cp:keywords>
  <cp:lastModifiedBy>Francesc Xavier Solsona Tehas</cp:lastModifiedBy>
  <cp:revision>39</cp:revision>
  <dcterms:created xsi:type="dcterms:W3CDTF">2025-05-19T16:07:08Z</dcterms:created>
  <dcterms:modified xsi:type="dcterms:W3CDTF">2026-05-11T18:34:02Z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2025-03-27T00:00:00Z</vt:filetime>
  </property>
  <property fmtid="{D5CDD505-2E9C-101B-9397-08002B2CF9AE}" pid="3" name="Creator">
    <vt:lpwstr>LaTeX via pandoc</vt:lpwstr>
  </property>
  <property fmtid="{D5CDD505-2E9C-101B-9397-08002B2CF9AE}" pid="4" name="Producer">
    <vt:lpwstr>xdvipdfmx (20240210)</vt:lpwstr>
  </property>
  <property fmtid="{D5CDD505-2E9C-101B-9397-08002B2CF9AE}" pid="5" name="LastSaved">
    <vt:filetime>2025-03-27T00:00:00Z</vt:filetime>
  </property>
</Properties>
</file>