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4"/>
  </p:notesMasterIdLst>
  <p:sldIdLst>
    <p:sldId id="256" r:id="rId2"/>
    <p:sldId id="262" r:id="rId3"/>
    <p:sldId id="268" r:id="rId4"/>
    <p:sldId id="269" r:id="rId5"/>
    <p:sldId id="274" r:id="rId6"/>
    <p:sldId id="276" r:id="rId7"/>
    <p:sldId id="280" r:id="rId8"/>
    <p:sldId id="284" r:id="rId9"/>
    <p:sldId id="285" r:id="rId10"/>
    <p:sldId id="288" r:id="rId11"/>
    <p:sldId id="289" r:id="rId12"/>
    <p:sldId id="296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318" r:id="rId31"/>
    <p:sldId id="319" r:id="rId32"/>
    <p:sldId id="320" r:id="rId33"/>
    <p:sldId id="322" r:id="rId34"/>
    <p:sldId id="324" r:id="rId35"/>
    <p:sldId id="325" r:id="rId36"/>
    <p:sldId id="326" r:id="rId37"/>
    <p:sldId id="327" r:id="rId38"/>
    <p:sldId id="328" r:id="rId39"/>
    <p:sldId id="330" r:id="rId40"/>
    <p:sldId id="331" r:id="rId41"/>
    <p:sldId id="332" r:id="rId42"/>
    <p:sldId id="333" r:id="rId43"/>
    <p:sldId id="338" r:id="rId44"/>
    <p:sldId id="344" r:id="rId45"/>
    <p:sldId id="345" r:id="rId46"/>
    <p:sldId id="346" r:id="rId47"/>
    <p:sldId id="347" r:id="rId48"/>
    <p:sldId id="348" r:id="rId49"/>
    <p:sldId id="349" r:id="rId50"/>
    <p:sldId id="350" r:id="rId51"/>
    <p:sldId id="351" r:id="rId52"/>
    <p:sldId id="352" r:id="rId53"/>
    <p:sldId id="353" r:id="rId54"/>
    <p:sldId id="354" r:id="rId55"/>
    <p:sldId id="355" r:id="rId56"/>
    <p:sldId id="357" r:id="rId57"/>
    <p:sldId id="358" r:id="rId58"/>
    <p:sldId id="359" r:id="rId59"/>
    <p:sldId id="360" r:id="rId60"/>
    <p:sldId id="36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369" r:id="rId69"/>
    <p:sldId id="370" r:id="rId70"/>
    <p:sldId id="371" r:id="rId71"/>
    <p:sldId id="372" r:id="rId72"/>
    <p:sldId id="373" r:id="rId73"/>
    <p:sldId id="375" r:id="rId74"/>
    <p:sldId id="377" r:id="rId75"/>
    <p:sldId id="378" r:id="rId76"/>
    <p:sldId id="379" r:id="rId77"/>
    <p:sldId id="381" r:id="rId78"/>
    <p:sldId id="386" r:id="rId79"/>
    <p:sldId id="387" r:id="rId80"/>
    <p:sldId id="388" r:id="rId81"/>
    <p:sldId id="389" r:id="rId82"/>
    <p:sldId id="390" r:id="rId83"/>
    <p:sldId id="391" r:id="rId84"/>
    <p:sldId id="392" r:id="rId85"/>
    <p:sldId id="393" r:id="rId86"/>
    <p:sldId id="394" r:id="rId87"/>
    <p:sldId id="395" r:id="rId88"/>
    <p:sldId id="396" r:id="rId89"/>
    <p:sldId id="397" r:id="rId90"/>
    <p:sldId id="398" r:id="rId91"/>
    <p:sldId id="399" r:id="rId92"/>
    <p:sldId id="400" r:id="rId93"/>
    <p:sldId id="401" r:id="rId94"/>
    <p:sldId id="402" r:id="rId95"/>
    <p:sldId id="403" r:id="rId96"/>
    <p:sldId id="404" r:id="rId97"/>
    <p:sldId id="405" r:id="rId98"/>
    <p:sldId id="406" r:id="rId99"/>
    <p:sldId id="407" r:id="rId100"/>
    <p:sldId id="408" r:id="rId101"/>
    <p:sldId id="409" r:id="rId102"/>
    <p:sldId id="410" r:id="rId103"/>
    <p:sldId id="411" r:id="rId104"/>
    <p:sldId id="412" r:id="rId105"/>
    <p:sldId id="413" r:id="rId106"/>
    <p:sldId id="414" r:id="rId107"/>
    <p:sldId id="415" r:id="rId108"/>
    <p:sldId id="416" r:id="rId109"/>
    <p:sldId id="417" r:id="rId110"/>
    <p:sldId id="418" r:id="rId111"/>
    <p:sldId id="419" r:id="rId112"/>
    <p:sldId id="420" r:id="rId113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9"/>
    <p:restoredTop sz="94416"/>
  </p:normalViewPr>
  <p:slideViewPr>
    <p:cSldViewPr>
      <p:cViewPr varScale="1">
        <p:scale>
          <a:sx n="202" d="100"/>
          <a:sy n="202" d="100"/>
        </p:scale>
        <p:origin x="25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82878-805C-6A42-9949-9C6B067B9616}" type="datetimeFigureOut">
              <a:rPr lang="es-ES" smtClean="0"/>
              <a:t>12/5/26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938A7-1781-174F-B170-3326EB9DFB3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308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938A7-1781-174F-B170-3326EB9DFB30}" type="slidenum">
              <a:rPr lang="es-ES" smtClean="0"/>
              <a:t>65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82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16281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9158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633263"/>
            <a:ext cx="5071110" cy="1979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6-7-8.html" TargetMode="External"/><Relationship Id="rId2" Type="http://schemas.openxmlformats.org/officeDocument/2006/relationships/hyperlink" Target="mailto: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hatismyip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work_address_translation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bmarinecablemap.com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mailto:ec2-user@%3cyour-public-ec2-instance-public-ip%3e:.ss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slide" Target="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VPN/easy-rsa/releases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vpn/client-vpn-download/" TargetMode="Externa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o.com/" TargetMode="External"/><Relationship Id="rId2" Type="http://schemas.openxmlformats.org/officeDocument/2006/relationships/hyperlink" Target="https://iplocation.io/" TargetMode="Externa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gator.io/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842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012825"/>
            <a:ext cx="29928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</a:t>
            </a:r>
            <a:r>
              <a:rPr lang="en-US" sz="800" spc="-20" noProof="1"/>
              <a:t>f</a:t>
            </a:r>
            <a:r>
              <a:rPr lang="en-US" sz="800" spc="-20" noProof="1">
                <a:hlinkClick r:id="rId2"/>
              </a:rPr>
              <a:t>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895" cy="5080"/>
            </a:xfrm>
            <a:custGeom>
              <a:avLst/>
              <a:gdLst/>
              <a:ahLst/>
              <a:cxnLst/>
              <a:rect l="l" t="t" r="r" b="b"/>
              <a:pathLst>
                <a:path w="48895" h="5080">
                  <a:moveTo>
                    <a:pt x="0" y="5060"/>
                  </a:moveTo>
                  <a:lnTo>
                    <a:pt x="0" y="0"/>
                  </a:lnTo>
                  <a:lnTo>
                    <a:pt x="48428" y="0"/>
                  </a:lnTo>
                  <a:lnTo>
                    <a:pt x="48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53D29060-4CCC-9584-B2CA-ECAD6932200B}"/>
              </a:ext>
            </a:extLst>
          </p:cNvPr>
          <p:cNvSpPr txBox="1"/>
          <p:nvPr/>
        </p:nvSpPr>
        <p:spPr>
          <a:xfrm>
            <a:off x="359994" y="1284711"/>
            <a:ext cx="29928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6 &amp; 7 - AWS Networking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3618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interacting with different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155" cy="5080"/>
            </a:xfrm>
            <a:custGeom>
              <a:avLst/>
              <a:gdLst/>
              <a:ahLst/>
              <a:cxnLst/>
              <a:rect l="l" t="t" r="r" b="b"/>
              <a:pathLst>
                <a:path w="97155" h="5080">
                  <a:moveTo>
                    <a:pt x="0" y="5060"/>
                  </a:moveTo>
                  <a:lnTo>
                    <a:pt x="0" y="0"/>
                  </a:lnTo>
                  <a:lnTo>
                    <a:pt x="96768" y="0"/>
                  </a:lnTo>
                  <a:lnTo>
                    <a:pt x="967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1069749"/>
            <a:ext cx="4999355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concepts,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haven’t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really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detail.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ask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ourselves: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sometimes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interchangeably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difference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changing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lab?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5415" cy="5080"/>
            </a:xfrm>
            <a:custGeom>
              <a:avLst/>
              <a:gdLst/>
              <a:ahLst/>
              <a:cxnLst/>
              <a:rect l="l" t="t" r="r" b="b"/>
              <a:pathLst>
                <a:path w="145415" h="5080">
                  <a:moveTo>
                    <a:pt x="0" y="5060"/>
                  </a:moveTo>
                  <a:lnTo>
                    <a:pt x="0" y="0"/>
                  </a:lnTo>
                  <a:lnTo>
                    <a:pt x="145196" y="0"/>
                  </a:lnTo>
                  <a:lnTo>
                    <a:pt x="1451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164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8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basics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63500" cy="5080"/>
            </a:xfrm>
            <a:custGeom>
              <a:avLst/>
              <a:gdLst/>
              <a:ahLst/>
              <a:cxnLst/>
              <a:rect l="l" t="t" r="r" b="b"/>
              <a:pathLst>
                <a:path w="63500" h="5080">
                  <a:moveTo>
                    <a:pt x="0" y="5060"/>
                  </a:moveTo>
                  <a:lnTo>
                    <a:pt x="0" y="0"/>
                  </a:lnTo>
                  <a:lnTo>
                    <a:pt x="63150" y="0"/>
                  </a:lnTo>
                  <a:lnTo>
                    <a:pt x="631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70" noProof="1"/>
              <a:t> </a:t>
            </a:r>
            <a:r>
              <a:rPr lang="en-US" spc="-25" noProof="1"/>
              <a:t>is</a:t>
            </a:r>
            <a:r>
              <a:rPr lang="en-US" spc="70" noProof="1"/>
              <a:t> </a:t>
            </a:r>
            <a:r>
              <a:rPr lang="en-US" noProof="1"/>
              <a:t>an</a:t>
            </a:r>
            <a:r>
              <a:rPr lang="en-US" spc="70" noProof="1"/>
              <a:t> </a:t>
            </a:r>
            <a:r>
              <a:rPr lang="en-US" noProof="1"/>
              <a:t>IP</a:t>
            </a:r>
            <a:r>
              <a:rPr lang="en-US" spc="75" noProof="1"/>
              <a:t> </a:t>
            </a:r>
            <a:r>
              <a:rPr lang="en-US" spc="-60" noProof="1"/>
              <a:t>address?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4963" y="1373393"/>
            <a:ext cx="443865" cy="123189"/>
            <a:chOff x="1054963" y="1373393"/>
            <a:chExt cx="443865" cy="123189"/>
          </a:xfrm>
        </p:grpSpPr>
        <p:sp>
          <p:nvSpPr>
            <p:cNvPr id="4" name="object 4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672069" y="1373165"/>
            <a:ext cx="623570" cy="123825"/>
            <a:chOff x="1672069" y="1373165"/>
            <a:chExt cx="623570" cy="123825"/>
          </a:xfrm>
        </p:grpSpPr>
        <p:sp>
          <p:nvSpPr>
            <p:cNvPr id="7" name="object 7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63993" y="2068508"/>
            <a:ext cx="4032250" cy="516890"/>
            <a:chOff x="863993" y="2068508"/>
            <a:chExt cx="4032250" cy="516890"/>
          </a:xfrm>
        </p:grpSpPr>
        <p:sp>
          <p:nvSpPr>
            <p:cNvPr id="10" name="object 10"/>
            <p:cNvSpPr/>
            <p:nvPr/>
          </p:nvSpPr>
          <p:spPr>
            <a:xfrm>
              <a:off x="863993" y="2068508"/>
              <a:ext cx="4032250" cy="516890"/>
            </a:xfrm>
            <a:custGeom>
              <a:avLst/>
              <a:gdLst/>
              <a:ahLst/>
              <a:cxnLst/>
              <a:rect l="l" t="t" r="r" b="b"/>
              <a:pathLst>
                <a:path w="4032250" h="51688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2322"/>
                  </a:lnTo>
                  <a:lnTo>
                    <a:pt x="4243" y="483341"/>
                  </a:lnTo>
                  <a:lnTo>
                    <a:pt x="15816" y="500506"/>
                  </a:lnTo>
                  <a:lnTo>
                    <a:pt x="32980" y="512079"/>
                  </a:lnTo>
                  <a:lnTo>
                    <a:pt x="54000" y="516322"/>
                  </a:lnTo>
                  <a:lnTo>
                    <a:pt x="3978067" y="516322"/>
                  </a:lnTo>
                  <a:lnTo>
                    <a:pt x="3999086" y="512079"/>
                  </a:lnTo>
                  <a:lnTo>
                    <a:pt x="4016251" y="500506"/>
                  </a:lnTo>
                  <a:lnTo>
                    <a:pt x="4027823" y="483341"/>
                  </a:lnTo>
                  <a:lnTo>
                    <a:pt x="4032067" y="462322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881993" y="2086508"/>
              <a:ext cx="3996690" cy="480695"/>
            </a:xfrm>
            <a:custGeom>
              <a:avLst/>
              <a:gdLst/>
              <a:ahLst/>
              <a:cxnLst/>
              <a:rect l="l" t="t" r="r" b="b"/>
              <a:pathLst>
                <a:path w="3996690" h="480694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4322"/>
                  </a:lnTo>
                  <a:lnTo>
                    <a:pt x="2829" y="458335"/>
                  </a:lnTo>
                  <a:lnTo>
                    <a:pt x="10544" y="469778"/>
                  </a:lnTo>
                  <a:lnTo>
                    <a:pt x="21987" y="477493"/>
                  </a:lnTo>
                  <a:lnTo>
                    <a:pt x="36000" y="480322"/>
                  </a:lnTo>
                  <a:lnTo>
                    <a:pt x="3960067" y="480322"/>
                  </a:lnTo>
                  <a:lnTo>
                    <a:pt x="3974080" y="477493"/>
                  </a:lnTo>
                  <a:lnTo>
                    <a:pt x="3985523" y="469778"/>
                  </a:lnTo>
                  <a:lnTo>
                    <a:pt x="3993238" y="458335"/>
                  </a:lnTo>
                  <a:lnTo>
                    <a:pt x="3996067" y="444322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433" y="762981"/>
            <a:ext cx="5069205" cy="170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75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device.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39395" marR="1390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	example,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1.2.3.4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52.4.75.36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octet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239395" marR="5080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255.255.255.255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	total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4,294,967,296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(2^32).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724535" marR="690245" indent="60325">
              <a:lnSpc>
                <a:spcPct val="116199"/>
              </a:lnSpc>
            </a:pPr>
            <a:r>
              <a:rPr lang="en-US" sz="900" spc="-30" noProof="1">
                <a:latin typeface="Arial"/>
                <a:cs typeface="Arial"/>
              </a:rPr>
              <a:t>So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around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four billion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IP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addresses.</a:t>
            </a:r>
            <a:r>
              <a:rPr lang="en-US" sz="900" spc="1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This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might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0" noProof="1">
                <a:latin typeface="Arial"/>
                <a:cs typeface="Arial"/>
              </a:rPr>
              <a:t>seem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like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lot, </a:t>
            </a:r>
            <a:r>
              <a:rPr lang="en-US" sz="900" noProof="1">
                <a:latin typeface="Arial"/>
                <a:cs typeface="Arial"/>
              </a:rPr>
              <a:t>but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is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enough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give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an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65" noProof="1">
                <a:latin typeface="Arial"/>
                <a:cs typeface="Arial"/>
              </a:rPr>
              <a:t>address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every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device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world</a:t>
            </a:r>
            <a:r>
              <a:rPr lang="en-US" sz="900" spc="-20" noProof="1"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93675" cy="5080"/>
            </a:xfrm>
            <a:custGeom>
              <a:avLst/>
              <a:gdLst/>
              <a:ahLst/>
              <a:cxnLst/>
              <a:rect l="l" t="t" r="r" b="b"/>
              <a:pathLst>
                <a:path w="193675" h="5080">
                  <a:moveTo>
                    <a:pt x="0" y="5060"/>
                  </a:moveTo>
                  <a:lnTo>
                    <a:pt x="0" y="0"/>
                  </a:lnTo>
                  <a:lnTo>
                    <a:pt x="193625" y="0"/>
                  </a:lnTo>
                  <a:lnTo>
                    <a:pt x="193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IP</a:t>
            </a:r>
            <a:r>
              <a:rPr lang="en-US" sz="1000" b="1" spc="7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0" noProof="1">
                <a:solidFill>
                  <a:srgbClr val="F9F9F9"/>
                </a:solidFill>
                <a:latin typeface="Arial"/>
                <a:cs typeface="Arial"/>
              </a:rPr>
              <a:t>address?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7696" y="644331"/>
            <a:ext cx="3204608" cy="17993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57298" y="2556136"/>
            <a:ext cx="16510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this?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idea?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2570" cy="5080"/>
            </a:xfrm>
            <a:custGeom>
              <a:avLst/>
              <a:gdLst/>
              <a:ahLst/>
              <a:cxnLst/>
              <a:rect l="l" t="t" r="r" b="b"/>
              <a:pathLst>
                <a:path w="242570" h="5080">
                  <a:moveTo>
                    <a:pt x="0" y="5060"/>
                  </a:moveTo>
                  <a:lnTo>
                    <a:pt x="0" y="0"/>
                  </a:lnTo>
                  <a:lnTo>
                    <a:pt x="242053" y="0"/>
                  </a:lnTo>
                  <a:lnTo>
                    <a:pt x="242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2149063"/>
            <a:ext cx="2775585" cy="138430"/>
            <a:chOff x="587743" y="2149063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83584"/>
            <a:ext cx="503745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problem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addresses,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reused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networks.</a:t>
            </a:r>
            <a:endParaRPr lang="en-US" sz="900" noProof="1">
              <a:latin typeface="Arial"/>
              <a:cs typeface="Arial"/>
            </a:endParaRPr>
          </a:p>
          <a:p>
            <a:pPr marL="243840" marR="110489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reused.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endParaRPr lang="en-US" sz="900" noProof="1">
              <a:latin typeface="Arial"/>
              <a:cs typeface="Arial"/>
            </a:endParaRPr>
          </a:p>
          <a:p>
            <a:pPr marL="256540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75" noProof="1">
                <a:latin typeface="Courier New"/>
                <a:cs typeface="Courier New"/>
              </a:rPr>
              <a:t>192.168.x.x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0830" cy="5080"/>
            </a:xfrm>
            <a:custGeom>
              <a:avLst/>
              <a:gdLst/>
              <a:ahLst/>
              <a:cxnLst/>
              <a:rect l="l" t="t" r="r" b="b"/>
              <a:pathLst>
                <a:path w="290830" h="5080">
                  <a:moveTo>
                    <a:pt x="0" y="5060"/>
                  </a:moveTo>
                  <a:lnTo>
                    <a:pt x="0" y="0"/>
                  </a:lnTo>
                  <a:lnTo>
                    <a:pt x="290394" y="0"/>
                  </a:lnTo>
                  <a:lnTo>
                    <a:pt x="290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467"/>
            <a:ext cx="5037455" cy="10610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17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hotels.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street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reused.</a:t>
            </a:r>
            <a:endParaRPr lang="en-US" sz="900" noProof="1">
              <a:latin typeface="Arial"/>
              <a:cs typeface="Arial"/>
            </a:endParaRPr>
          </a:p>
          <a:p>
            <a:pPr marL="239395" marR="272415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9090" cy="5080"/>
            </a:xfrm>
            <a:custGeom>
              <a:avLst/>
              <a:gdLst/>
              <a:ahLst/>
              <a:cxnLst/>
              <a:rect l="l" t="t" r="r" b="b"/>
              <a:pathLst>
                <a:path w="339090" h="5080">
                  <a:moveTo>
                    <a:pt x="0" y="5060"/>
                  </a:moveTo>
                  <a:lnTo>
                    <a:pt x="0" y="0"/>
                  </a:lnTo>
                  <a:lnTo>
                    <a:pt x="338822" y="0"/>
                  </a:lnTo>
                  <a:lnTo>
                    <a:pt x="338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04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DNS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3319" y="950915"/>
            <a:ext cx="503174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</a:rPr>
              <a:t>Domain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Name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spc="-30" noProof="1">
                <a:solidFill>
                  <a:srgbClr val="22373A"/>
                </a:solidFill>
              </a:rPr>
              <a:t>System</a:t>
            </a:r>
            <a:r>
              <a:rPr lang="en-US" sz="900" spc="50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(DNS)</a:t>
            </a:r>
            <a:r>
              <a:rPr lang="en-US" sz="900" spc="35" noProof="1">
                <a:solidFill>
                  <a:srgbClr val="22373A"/>
                </a:solidFill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addresses.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 the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 IP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instance?</a:t>
            </a:r>
            <a:r>
              <a:rPr lang="en-US" sz="900" b="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 DNS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human-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readable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references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667881"/>
            <a:ext cx="501015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corresponds,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phone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7350" cy="5080"/>
            </a:xfrm>
            <a:custGeom>
              <a:avLst/>
              <a:gdLst/>
              <a:ahLst/>
              <a:cxnLst/>
              <a:rect l="l" t="t" r="r" b="b"/>
              <a:pathLst>
                <a:path w="387350" h="5080">
                  <a:moveTo>
                    <a:pt x="0" y="5060"/>
                  </a:moveTo>
                  <a:lnTo>
                    <a:pt x="0" y="0"/>
                  </a:lnTo>
                  <a:lnTo>
                    <a:pt x="387250" y="0"/>
                  </a:lnTo>
                  <a:lnTo>
                    <a:pt x="387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91793"/>
            <a:ext cx="5015230" cy="320040"/>
            <a:chOff x="372646" y="149179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9714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9811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286622"/>
            <a:ext cx="5015230" cy="320040"/>
            <a:chOff x="372646" y="2286622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29197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29294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23" y="2922106"/>
            <a:ext cx="5015230" cy="313690"/>
            <a:chOff x="372623" y="2922106"/>
            <a:chExt cx="5015230" cy="313690"/>
          </a:xfrm>
        </p:grpSpPr>
        <p:sp>
          <p:nvSpPr>
            <p:cNvPr id="10" name="object 10"/>
            <p:cNvSpPr/>
            <p:nvPr/>
          </p:nvSpPr>
          <p:spPr>
            <a:xfrm>
              <a:off x="377994" y="2927477"/>
              <a:ext cx="5004435" cy="302895"/>
            </a:xfrm>
            <a:custGeom>
              <a:avLst/>
              <a:gdLst/>
              <a:ahLst/>
              <a:cxnLst/>
              <a:rect l="l" t="t" r="r" b="b"/>
              <a:pathLst>
                <a:path w="5004435" h="30289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343"/>
                  </a:lnTo>
                  <a:lnTo>
                    <a:pt x="2829" y="280356"/>
                  </a:lnTo>
                  <a:lnTo>
                    <a:pt x="10544" y="291799"/>
                  </a:lnTo>
                  <a:lnTo>
                    <a:pt x="21987" y="299514"/>
                  </a:lnTo>
                  <a:lnTo>
                    <a:pt x="36000" y="302343"/>
                  </a:lnTo>
                  <a:lnTo>
                    <a:pt x="4968064" y="302343"/>
                  </a:lnTo>
                  <a:lnTo>
                    <a:pt x="4982077" y="299514"/>
                  </a:lnTo>
                  <a:lnTo>
                    <a:pt x="4993521" y="291799"/>
                  </a:lnTo>
                  <a:lnTo>
                    <a:pt x="5001236" y="280356"/>
                  </a:lnTo>
                  <a:lnTo>
                    <a:pt x="5004065" y="26634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928456"/>
              <a:ext cx="5002530" cy="300990"/>
            </a:xfrm>
            <a:custGeom>
              <a:avLst/>
              <a:gdLst/>
              <a:ahLst/>
              <a:cxnLst/>
              <a:rect l="l" t="t" r="r" b="b"/>
              <a:pathLst>
                <a:path w="5002530" h="300989">
                  <a:moveTo>
                    <a:pt x="0" y="265364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364"/>
                  </a:lnTo>
                  <a:lnTo>
                    <a:pt x="4999354" y="278996"/>
                  </a:lnTo>
                  <a:lnTo>
                    <a:pt x="4991849" y="290128"/>
                  </a:lnTo>
                  <a:lnTo>
                    <a:pt x="4980717" y="297633"/>
                  </a:lnTo>
                  <a:lnTo>
                    <a:pt x="4967085" y="300385"/>
                  </a:lnTo>
                  <a:lnTo>
                    <a:pt x="35021" y="300385"/>
                  </a:lnTo>
                  <a:lnTo>
                    <a:pt x="21389" y="297633"/>
                  </a:lnTo>
                  <a:lnTo>
                    <a:pt x="10257" y="290128"/>
                  </a:lnTo>
                  <a:lnTo>
                    <a:pt x="2752" y="278996"/>
                  </a:lnTo>
                  <a:lnTo>
                    <a:pt x="0" y="265364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348847"/>
            <a:ext cx="5039995" cy="28397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 marR="5080" indent="254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8888).</a:t>
            </a:r>
            <a:endParaRPr lang="en-US" sz="900" noProof="1">
              <a:latin typeface="Arial"/>
              <a:cs typeface="Arial"/>
            </a:endParaRPr>
          </a:p>
          <a:p>
            <a:pPr marL="17780" marR="146050" indent="-5715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wanted.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5" noProof="1">
                <a:latin typeface="Courier New"/>
                <a:cs typeface="Courier New"/>
              </a:rPr>
              <a:t>22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413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specify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port: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0" noProof="1">
                <a:latin typeface="Courier New"/>
                <a:cs typeface="Courier New"/>
              </a:rPr>
              <a:t>1234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ssh: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connect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host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port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1234: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timed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out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35609" cy="5080"/>
            </a:xfrm>
            <a:custGeom>
              <a:avLst/>
              <a:gdLst/>
              <a:ahLst/>
              <a:cxnLst/>
              <a:rect l="l" t="t" r="r" b="b"/>
              <a:pathLst>
                <a:path w="435609" h="5080">
                  <a:moveTo>
                    <a:pt x="0" y="5060"/>
                  </a:moveTo>
                  <a:lnTo>
                    <a:pt x="0" y="0"/>
                  </a:lnTo>
                  <a:lnTo>
                    <a:pt x="435591" y="0"/>
                  </a:lnTo>
                  <a:lnTo>
                    <a:pt x="4355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392784"/>
            <a:ext cx="5015230" cy="320040"/>
            <a:chOff x="372646" y="1392784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398131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399110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8773" y="1815992"/>
            <a:ext cx="204657" cy="120757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863917" y="2294371"/>
            <a:ext cx="4032250" cy="354965"/>
            <a:chOff x="863993" y="2185854"/>
            <a:chExt cx="4032250" cy="354965"/>
          </a:xfrm>
        </p:grpSpPr>
        <p:sp>
          <p:nvSpPr>
            <p:cNvPr id="8" name="object 8"/>
            <p:cNvSpPr/>
            <p:nvPr/>
          </p:nvSpPr>
          <p:spPr>
            <a:xfrm>
              <a:off x="863993" y="2185854"/>
              <a:ext cx="4032250" cy="354965"/>
            </a:xfrm>
            <a:custGeom>
              <a:avLst/>
              <a:gdLst/>
              <a:ahLst/>
              <a:cxnLst/>
              <a:rect l="l" t="t" r="r" b="b"/>
              <a:pathLst>
                <a:path w="4032250" h="35496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0488"/>
                  </a:lnTo>
                  <a:lnTo>
                    <a:pt x="4243" y="321508"/>
                  </a:lnTo>
                  <a:lnTo>
                    <a:pt x="15816" y="338672"/>
                  </a:lnTo>
                  <a:lnTo>
                    <a:pt x="32980" y="350245"/>
                  </a:lnTo>
                  <a:lnTo>
                    <a:pt x="54000" y="354488"/>
                  </a:lnTo>
                  <a:lnTo>
                    <a:pt x="3978067" y="354488"/>
                  </a:lnTo>
                  <a:lnTo>
                    <a:pt x="3999086" y="350245"/>
                  </a:lnTo>
                  <a:lnTo>
                    <a:pt x="4016251" y="338672"/>
                  </a:lnTo>
                  <a:lnTo>
                    <a:pt x="4027823" y="321508"/>
                  </a:lnTo>
                  <a:lnTo>
                    <a:pt x="4032067" y="300488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81993" y="2203853"/>
              <a:ext cx="3996690" cy="318770"/>
            </a:xfrm>
            <a:custGeom>
              <a:avLst/>
              <a:gdLst/>
              <a:ahLst/>
              <a:cxnLst/>
              <a:rect l="l" t="t" r="r" b="b"/>
              <a:pathLst>
                <a:path w="3996690" h="31876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2488"/>
                  </a:lnTo>
                  <a:lnTo>
                    <a:pt x="2829" y="296501"/>
                  </a:lnTo>
                  <a:lnTo>
                    <a:pt x="10544" y="307944"/>
                  </a:lnTo>
                  <a:lnTo>
                    <a:pt x="21987" y="315660"/>
                  </a:lnTo>
                  <a:lnTo>
                    <a:pt x="36000" y="318489"/>
                  </a:lnTo>
                  <a:lnTo>
                    <a:pt x="3960067" y="318489"/>
                  </a:lnTo>
                  <a:lnTo>
                    <a:pt x="3974080" y="315660"/>
                  </a:lnTo>
                  <a:lnTo>
                    <a:pt x="3985523" y="307944"/>
                  </a:lnTo>
                  <a:lnTo>
                    <a:pt x="3993238" y="296501"/>
                  </a:lnTo>
                  <a:lnTo>
                    <a:pt x="3996067" y="282488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310393" y="613802"/>
            <a:ext cx="5071110" cy="1979930"/>
          </a:xfrm>
          <a:prstGeom prst="rect">
            <a:avLst/>
          </a:prstGeom>
        </p:spPr>
        <p:txBody>
          <a:bodyPr vert="horz" wrap="square" lIns="0" tIns="186906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What</a:t>
            </a:r>
            <a:r>
              <a:rPr lang="en-US" spc="10" noProof="1"/>
              <a:t> </a:t>
            </a:r>
            <a:r>
              <a:rPr lang="en-US" noProof="1"/>
              <a:t>did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15" noProof="1"/>
              <a:t> </a:t>
            </a:r>
            <a:r>
              <a:rPr lang="en-US" noProof="1"/>
              <a:t>do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te</a:t>
            </a:r>
            <a:r>
              <a:rPr lang="en-US" spc="15" noProof="1"/>
              <a:t> </a:t>
            </a:r>
            <a:r>
              <a:rPr lang="en-US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-40" noProof="1"/>
              <a:t>service?</a:t>
            </a:r>
            <a:r>
              <a:rPr lang="en-US" spc="100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55" noProof="1"/>
              <a:t>used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public</a:t>
            </a:r>
            <a:r>
              <a:rPr lang="en-US" spc="15" noProof="1"/>
              <a:t> </a:t>
            </a:r>
            <a:r>
              <a:rPr lang="en-US" noProof="1"/>
              <a:t>IP</a:t>
            </a:r>
            <a:r>
              <a:rPr lang="en-US" spc="15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EC2 instance</a:t>
            </a:r>
            <a:r>
              <a:rPr lang="en-US" spc="5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port</a:t>
            </a:r>
            <a:r>
              <a:rPr lang="en-US" spc="5" noProof="1"/>
              <a:t> </a:t>
            </a:r>
            <a:r>
              <a:rPr lang="en-US" spc="-10" noProof="1"/>
              <a:t>8888.</a:t>
            </a:r>
            <a:r>
              <a:rPr lang="en-US" spc="95" noProof="1"/>
              <a:t> </a:t>
            </a:r>
            <a:r>
              <a:rPr lang="en-US" noProof="1"/>
              <a:t>But</a:t>
            </a:r>
            <a:r>
              <a:rPr lang="en-US" spc="10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25" noProof="1"/>
              <a:t>command,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noProof="1"/>
              <a:t>typed</a:t>
            </a:r>
            <a:r>
              <a:rPr lang="en-US" spc="5" noProof="1"/>
              <a:t> </a:t>
            </a:r>
            <a:r>
              <a:rPr lang="en-US" spc="-25" noProof="1"/>
              <a:t>the </a:t>
            </a:r>
            <a:r>
              <a:rPr lang="en-US" spc="-10" noProof="1"/>
              <a:t>following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browser:</a:t>
            </a: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http://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your-ec2-instance-public-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:8888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104139" indent="-4445">
              <a:lnSpc>
                <a:spcPct val="116199"/>
              </a:lnSpc>
            </a:pPr>
            <a:r>
              <a:rPr lang="en-US" noProof="1"/>
              <a:t>That</a:t>
            </a:r>
            <a:r>
              <a:rPr lang="en-US" spc="-25" noProof="1"/>
              <a:t> </a:t>
            </a:r>
            <a:r>
              <a:rPr lang="en-US" noProof="1"/>
              <a:t>is</a:t>
            </a:r>
            <a:r>
              <a:rPr lang="en-US" spc="20" noProof="1"/>
              <a:t> </a:t>
            </a:r>
            <a:r>
              <a:rPr lang="en-US" spc="-50" noProof="1"/>
              <a:t>because</a:t>
            </a:r>
            <a:r>
              <a:rPr lang="en-US" spc="20" noProof="1"/>
              <a:t> </a:t>
            </a:r>
            <a:r>
              <a:rPr lang="en-US" noProof="1"/>
              <a:t>for</a:t>
            </a:r>
            <a:r>
              <a:rPr lang="en-US" spc="20" noProof="1"/>
              <a:t> </a:t>
            </a:r>
            <a:r>
              <a:rPr lang="en-US" spc="-25" noProof="1"/>
              <a:t>SSH,</a:t>
            </a:r>
            <a:r>
              <a:rPr lang="en-US" spc="20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ssh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25" noProof="1"/>
              <a:t>command</a:t>
            </a:r>
            <a:r>
              <a:rPr lang="en-US" spc="20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point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specific</a:t>
            </a:r>
            <a:r>
              <a:rPr lang="en-US" spc="20" noProof="1"/>
              <a:t> </a:t>
            </a:r>
            <a:r>
              <a:rPr lang="en-US" noProof="1"/>
              <a:t>IP</a:t>
            </a:r>
            <a:r>
              <a:rPr lang="en-US" spc="20" noProof="1"/>
              <a:t> </a:t>
            </a:r>
            <a:r>
              <a:rPr lang="en-US" spc="-45" noProof="1"/>
              <a:t>address</a:t>
            </a:r>
            <a:r>
              <a:rPr lang="en-US" spc="20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port.</a:t>
            </a:r>
            <a:r>
              <a:rPr lang="en-US" spc="110" noProof="1"/>
              <a:t> </a:t>
            </a:r>
            <a:r>
              <a:rPr lang="en-US" spc="-25" noProof="1"/>
              <a:t>But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jupyter</a:t>
            </a:r>
            <a:r>
              <a:rPr lang="en-US" spc="10" noProof="1"/>
              <a:t> </a:t>
            </a:r>
            <a:r>
              <a:rPr lang="en-US" spc="-20" noProof="1"/>
              <a:t>notebooks,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55" noProof="1"/>
              <a:t>use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0" noProof="1"/>
              <a:t>browser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point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specific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spc="-10" noProof="1"/>
              <a:t>port.</a:t>
            </a:r>
          </a:p>
          <a:p>
            <a:pPr>
              <a:lnSpc>
                <a:spcPct val="100000"/>
              </a:lnSpc>
              <a:spcBef>
                <a:spcPts val="409"/>
              </a:spcBef>
            </a:pPr>
            <a:endParaRPr lang="en-US" spc="-10" noProof="1"/>
          </a:p>
          <a:p>
            <a:pPr marL="27940" algn="ctr">
              <a:lnSpc>
                <a:spcPct val="100000"/>
              </a:lnSpc>
            </a:pPr>
            <a:r>
              <a:rPr lang="en-US" noProof="1">
                <a:solidFill>
                  <a:srgbClr val="000000"/>
                </a:solidFill>
              </a:rPr>
              <a:t>In</a:t>
            </a:r>
            <a:r>
              <a:rPr lang="en-US" spc="-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both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75" noProof="1">
                <a:solidFill>
                  <a:srgbClr val="000000"/>
                </a:solidFill>
              </a:rPr>
              <a:t>cases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we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are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accessing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service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on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20" noProof="1">
                <a:solidFill>
                  <a:srgbClr val="000000"/>
                </a:solidFill>
              </a:rPr>
              <a:t>remote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10" noProof="1">
                <a:solidFill>
                  <a:srgbClr val="000000"/>
                </a:solidFill>
              </a:rPr>
              <a:t>device.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84505" cy="5080"/>
            </a:xfrm>
            <a:custGeom>
              <a:avLst/>
              <a:gdLst/>
              <a:ahLst/>
              <a:cxnLst/>
              <a:rect l="l" t="t" r="r" b="b"/>
              <a:pathLst>
                <a:path w="484505" h="5080">
                  <a:moveTo>
                    <a:pt x="0" y="5060"/>
                  </a:moveTo>
                  <a:lnTo>
                    <a:pt x="0" y="0"/>
                  </a:lnTo>
                  <a:lnTo>
                    <a:pt x="484019" y="0"/>
                  </a:lnTo>
                  <a:lnTo>
                    <a:pt x="484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9834"/>
            <a:ext cx="506539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could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Amazon Echo).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5056" y="1368397"/>
            <a:ext cx="2369903" cy="119958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678180" cy="5080"/>
            </a:xfrm>
            <a:custGeom>
              <a:avLst/>
              <a:gdLst/>
              <a:ahLst/>
              <a:cxnLst/>
              <a:rect l="l" t="t" r="r" b="b"/>
              <a:pathLst>
                <a:path w="678180" h="5080">
                  <a:moveTo>
                    <a:pt x="0" y="5060"/>
                  </a:moveTo>
                  <a:lnTo>
                    <a:pt x="0" y="0"/>
                  </a:lnTo>
                  <a:lnTo>
                    <a:pt x="677645" y="0"/>
                  </a:lnTo>
                  <a:lnTo>
                    <a:pt x="677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742470"/>
            <a:ext cx="4844415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themselves. F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spotify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phone,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song.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happening?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3488" y="1405798"/>
            <a:ext cx="2153025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26440" cy="5080"/>
            </a:xfrm>
            <a:custGeom>
              <a:avLst/>
              <a:gdLst/>
              <a:ahLst/>
              <a:cxnLst/>
              <a:rect l="l" t="t" r="r" b="b"/>
              <a:pathLst>
                <a:path w="726440" h="5080">
                  <a:moveTo>
                    <a:pt x="0" y="5060"/>
                  </a:moveTo>
                  <a:lnTo>
                    <a:pt x="0" y="0"/>
                  </a:lnTo>
                  <a:lnTo>
                    <a:pt x="726073" y="0"/>
                  </a:lnTo>
                  <a:lnTo>
                    <a:pt x="726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03482"/>
            <a:ext cx="5048250" cy="87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6830" indent="381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No!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player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heard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 we must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restart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receptionist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8538" y="1644787"/>
            <a:ext cx="2222928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74700" cy="5080"/>
            </a:xfrm>
            <a:custGeom>
              <a:avLst/>
              <a:gdLst/>
              <a:ahLst/>
              <a:cxnLst/>
              <a:rect l="l" t="t" r="r" b="b"/>
              <a:pathLst>
                <a:path w="774700" h="5080">
                  <a:moveTo>
                    <a:pt x="0" y="5060"/>
                  </a:moveTo>
                  <a:lnTo>
                    <a:pt x="0" y="0"/>
                  </a:lnTo>
                  <a:lnTo>
                    <a:pt x="774501" y="0"/>
                  </a:lnTo>
                  <a:lnTo>
                    <a:pt x="774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76231"/>
            <a:ext cx="5015230" cy="312420"/>
            <a:chOff x="372646" y="1776231"/>
            <a:chExt cx="5015230" cy="312420"/>
          </a:xfrm>
        </p:grpSpPr>
        <p:sp>
          <p:nvSpPr>
            <p:cNvPr id="4" name="object 4"/>
            <p:cNvSpPr/>
            <p:nvPr/>
          </p:nvSpPr>
          <p:spPr>
            <a:xfrm>
              <a:off x="377994" y="178157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8255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403941"/>
            <a:ext cx="5015230" cy="312420"/>
            <a:chOff x="372646" y="240394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2409289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410268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2005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0" noProof="1"/>
              <a:t>Remember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said</a:t>
            </a:r>
            <a:r>
              <a:rPr lang="en-US" spc="-5" noProof="1"/>
              <a:t> </a:t>
            </a:r>
            <a:r>
              <a:rPr lang="en-US" spc="-10" noProof="1"/>
              <a:t>there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noProof="1"/>
              <a:t>different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noProof="1"/>
              <a:t>IP </a:t>
            </a:r>
            <a:r>
              <a:rPr lang="en-US" spc="-40" noProof="1"/>
              <a:t>ranges</a:t>
            </a:r>
            <a:r>
              <a:rPr lang="en-US" spc="-5" noProof="1"/>
              <a:t> </a:t>
            </a:r>
            <a:r>
              <a:rPr lang="en-US" spc="-45" noProof="1"/>
              <a:t>reserved</a:t>
            </a:r>
            <a:r>
              <a:rPr lang="en-US" spc="-5" noProof="1"/>
              <a:t> </a:t>
            </a:r>
            <a:r>
              <a:rPr lang="en-US" noProof="1"/>
              <a:t>for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spc="-30" noProof="1"/>
              <a:t>networks?</a:t>
            </a:r>
            <a:r>
              <a:rPr lang="en-US" spc="75" noProof="1"/>
              <a:t> </a:t>
            </a:r>
            <a:r>
              <a:rPr lang="en-US" noProof="1"/>
              <a:t>Well, the</a:t>
            </a:r>
            <a:r>
              <a:rPr lang="en-US" spc="-5" noProof="1"/>
              <a:t> </a:t>
            </a:r>
            <a:r>
              <a:rPr lang="en-US" spc="-10" noProof="1"/>
              <a:t>router </a:t>
            </a:r>
            <a:r>
              <a:rPr lang="en-US" spc="-70" noProof="1"/>
              <a:t>uses</a:t>
            </a:r>
            <a:r>
              <a:rPr lang="en-US" spc="10" noProof="1"/>
              <a:t> </a:t>
            </a:r>
            <a:r>
              <a:rPr lang="en-US" spc="-30" noProof="1"/>
              <a:t>these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identify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network.</a:t>
            </a:r>
            <a:r>
              <a:rPr lang="en-US" spc="95" noProof="1"/>
              <a:t> </a:t>
            </a:r>
            <a:r>
              <a:rPr lang="en-US" spc="-20" noProof="1"/>
              <a:t>So</a:t>
            </a:r>
            <a:r>
              <a:rPr lang="en-US" spc="10" noProof="1"/>
              <a:t> </a:t>
            </a:r>
            <a:r>
              <a:rPr lang="en-US" spc="-25" noProof="1"/>
              <a:t>when</a:t>
            </a:r>
            <a:r>
              <a:rPr lang="en-US" spc="10" noProof="1"/>
              <a:t> </a:t>
            </a:r>
            <a:r>
              <a:rPr lang="en-US" noProof="1"/>
              <a:t>my</a:t>
            </a:r>
            <a:r>
              <a:rPr lang="en-US" spc="10" noProof="1"/>
              <a:t> </a:t>
            </a:r>
            <a:r>
              <a:rPr lang="en-US" spc="-30" noProof="1"/>
              <a:t>phone</a:t>
            </a:r>
            <a:r>
              <a:rPr lang="en-US" spc="10" noProof="1"/>
              <a:t> </a:t>
            </a:r>
            <a:r>
              <a:rPr lang="en-US" spc="-55" noProof="1"/>
              <a:t>sends</a:t>
            </a:r>
            <a:r>
              <a:rPr lang="en-US" spc="10" noProof="1"/>
              <a:t> </a:t>
            </a:r>
            <a:r>
              <a:rPr lang="en-US" spc="-50" noProof="1"/>
              <a:t>a</a:t>
            </a:r>
            <a:r>
              <a:rPr lang="en-US" spc="500" noProof="1"/>
              <a:t> </a:t>
            </a:r>
            <a:r>
              <a:rPr lang="en-US" spc="-75" noProof="1"/>
              <a:t>message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smart</a:t>
            </a:r>
            <a:r>
              <a:rPr lang="en-US" spc="25" noProof="1"/>
              <a:t> </a:t>
            </a:r>
            <a:r>
              <a:rPr lang="en-US" spc="-40" noProof="1"/>
              <a:t>speaker,</a:t>
            </a:r>
            <a:r>
              <a:rPr lang="en-US" spc="25" noProof="1"/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75" noProof="1">
                <a:latin typeface="Arial"/>
                <a:cs typeface="Arial"/>
              </a:rPr>
              <a:t>uses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smart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speaker</a:t>
            </a:r>
            <a:r>
              <a:rPr lang="en-US" spc="-35" noProof="1"/>
              <a:t>.</a:t>
            </a:r>
            <a:r>
              <a:rPr lang="en-US" spc="114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55" noProof="1"/>
              <a:t>same</a:t>
            </a:r>
            <a:r>
              <a:rPr lang="en-US" spc="25" noProof="1"/>
              <a:t> </a:t>
            </a:r>
            <a:r>
              <a:rPr lang="en-US" spc="-40" noProof="1"/>
              <a:t>way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noProof="1"/>
              <a:t> hotel</a:t>
            </a:r>
            <a:r>
              <a:rPr lang="en-US" spc="15" noProof="1"/>
              <a:t> </a:t>
            </a:r>
            <a:r>
              <a:rPr lang="en-US" spc="-70" noProof="1"/>
              <a:t>uses</a:t>
            </a:r>
            <a:r>
              <a:rPr lang="en-US" spc="15" noProof="1"/>
              <a:t> </a:t>
            </a:r>
            <a:r>
              <a:rPr lang="en-US" noProof="1"/>
              <a:t>room</a:t>
            </a:r>
            <a:r>
              <a:rPr lang="en-US" spc="20" noProof="1"/>
              <a:t> </a:t>
            </a:r>
            <a:r>
              <a:rPr lang="en-US" spc="-25" noProof="1"/>
              <a:t>numbers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identify</a:t>
            </a:r>
            <a:r>
              <a:rPr lang="en-US" spc="15" noProof="1"/>
              <a:t> </a:t>
            </a:r>
            <a:r>
              <a:rPr lang="en-US" spc="-10" noProof="1"/>
              <a:t>rooms.</a:t>
            </a:r>
          </a:p>
          <a:p>
            <a:pPr marL="12700" marR="436245" indent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fact, let’s do an </a:t>
            </a:r>
            <a:r>
              <a:rPr lang="en-US" spc="-10" noProof="1"/>
              <a:t>experiment.</a:t>
            </a:r>
            <a:r>
              <a:rPr lang="en-US" spc="80" noProof="1"/>
              <a:t> </a:t>
            </a:r>
            <a:r>
              <a:rPr lang="en-US" spc="-10" noProof="1"/>
              <a:t>Open</a:t>
            </a:r>
            <a:r>
              <a:rPr lang="en-US" noProof="1"/>
              <a:t> a terminal and</a:t>
            </a:r>
            <a:r>
              <a:rPr lang="en-US" spc="-5" noProof="1"/>
              <a:t> </a:t>
            </a:r>
            <a:r>
              <a:rPr lang="en-US" noProof="1"/>
              <a:t>run the </a:t>
            </a:r>
            <a:r>
              <a:rPr lang="en-US" spc="-10" noProof="1"/>
              <a:t>following</a:t>
            </a:r>
            <a:r>
              <a:rPr lang="en-US" noProof="1"/>
              <a:t> </a:t>
            </a:r>
            <a:r>
              <a:rPr lang="en-US" spc="-25" noProof="1"/>
              <a:t>command</a:t>
            </a:r>
            <a:r>
              <a:rPr lang="en-US" noProof="1"/>
              <a:t> if </a:t>
            </a:r>
            <a:r>
              <a:rPr lang="en-US" spc="-10" noProof="1"/>
              <a:t>you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25" noProof="1"/>
              <a:t>on </a:t>
            </a:r>
            <a:r>
              <a:rPr lang="en-US" spc="-10" noProof="1"/>
              <a:t>Windows: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Node&gt; ipconfig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</a:pPr>
            <a:r>
              <a:rPr lang="en-US" noProof="1"/>
              <a:t>Or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10" noProof="1"/>
              <a:t> </a:t>
            </a:r>
            <a:r>
              <a:rPr lang="en-US" noProof="1"/>
              <a:t>or</a:t>
            </a:r>
            <a:r>
              <a:rPr lang="en-US" spc="10" noProof="1"/>
              <a:t> </a:t>
            </a:r>
            <a:r>
              <a:rPr lang="en-US" spc="-10" noProof="1"/>
              <a:t>MacOS: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$ ifconfig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39418" y="1281900"/>
            <a:ext cx="742950" cy="122555"/>
            <a:chOff x="1339418" y="1281900"/>
            <a:chExt cx="742950" cy="122555"/>
          </a:xfrm>
        </p:grpSpPr>
        <p:sp>
          <p:nvSpPr>
            <p:cNvPr id="4" name="object 4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4335" y="1229109"/>
            <a:ext cx="5091430" cy="90233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IPv4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latin typeface="Courier New"/>
                <a:cs typeface="Courier New"/>
              </a:rPr>
              <a:t>Address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192.168.x.x,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10.x.x.x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-3175">
              <a:lnSpc>
                <a:spcPct val="116199"/>
              </a:lnSpc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172.16.x.x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172.31.x.x.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times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homes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192.168.x.x.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analogous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hotels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101)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240" marR="2794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visit 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whatismyip.com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</a:t>
            </a:r>
            <a:r>
              <a:rPr lang="en-US" sz="900" spc="-10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IP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871855" cy="5080"/>
            </a:xfrm>
            <a:custGeom>
              <a:avLst/>
              <a:gdLst/>
              <a:ahLst/>
              <a:cxnLst/>
              <a:rect l="l" t="t" r="r" b="b"/>
              <a:pathLst>
                <a:path w="871855" h="5080">
                  <a:moveTo>
                    <a:pt x="0" y="5060"/>
                  </a:moveTo>
                  <a:lnTo>
                    <a:pt x="0" y="0"/>
                  </a:lnTo>
                  <a:lnTo>
                    <a:pt x="871270" y="0"/>
                  </a:lnTo>
                  <a:lnTo>
                    <a:pt x="8712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3138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 </a:t>
            </a:r>
            <a:r>
              <a:rPr lang="en-US" spc="-95" noProof="1"/>
              <a:t>see</a:t>
            </a:r>
            <a:r>
              <a:rPr lang="en-US" spc="35" noProof="1"/>
              <a:t> </a:t>
            </a:r>
            <a:r>
              <a:rPr lang="en-US" spc="-10" noProof="1"/>
              <a:t>now</a:t>
            </a:r>
            <a:r>
              <a:rPr lang="en-US" spc="20" noProof="1"/>
              <a:t> </a:t>
            </a:r>
            <a:r>
              <a:rPr lang="en-US" spc="-10" noProof="1"/>
              <a:t>how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router</a:t>
            </a:r>
            <a:r>
              <a:rPr lang="en-US" spc="20" noProof="1"/>
              <a:t> </a:t>
            </a:r>
            <a:r>
              <a:rPr lang="en-US" spc="-70" noProof="1"/>
              <a:t>uses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b="1" spc="-35" noProof="1">
                <a:latin typeface="Arial"/>
                <a:cs typeface="Arial"/>
              </a:rPr>
              <a:t>public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communicate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with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98425">
              <a:lnSpc>
                <a:spcPct val="116199"/>
              </a:lnSpc>
              <a:spcBef>
                <a:spcPts val="625"/>
              </a:spcBef>
            </a:pPr>
            <a:r>
              <a:rPr lang="en-US" spc="-25" noProof="1"/>
              <a:t>Imagine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spc="-20" noProof="1"/>
              <a:t>staying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hotel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spc="-55" noProof="1"/>
              <a:t>send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letter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friend’s</a:t>
            </a:r>
            <a:r>
              <a:rPr lang="en-US" spc="10" noProof="1"/>
              <a:t> </a:t>
            </a:r>
            <a:r>
              <a:rPr lang="en-US" spc="-25" noProof="1"/>
              <a:t>home</a:t>
            </a:r>
            <a:r>
              <a:rPr lang="en-US" spc="10" noProof="1"/>
              <a:t> </a:t>
            </a:r>
            <a:r>
              <a:rPr lang="en-US" noProof="1"/>
              <a:t>(and</a:t>
            </a:r>
            <a:r>
              <a:rPr lang="en-US" spc="15" noProof="1"/>
              <a:t> </a:t>
            </a:r>
            <a:r>
              <a:rPr lang="en-US" spc="-25" noProof="1"/>
              <a:t>imagine</a:t>
            </a:r>
            <a:r>
              <a:rPr lang="en-US" spc="10" noProof="1"/>
              <a:t> </a:t>
            </a:r>
            <a:r>
              <a:rPr lang="en-US" spc="-25" noProof="1"/>
              <a:t>the </a:t>
            </a:r>
            <a:r>
              <a:rPr lang="en-US" noProof="1"/>
              <a:t>hotel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willing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55" noProof="1"/>
              <a:t>send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letter</a:t>
            </a:r>
            <a:r>
              <a:rPr lang="en-US" spc="15" noProof="1"/>
              <a:t> </a:t>
            </a:r>
            <a:r>
              <a:rPr lang="en-US" noProof="1"/>
              <a:t>for</a:t>
            </a:r>
            <a:r>
              <a:rPr lang="en-US" spc="10" noProof="1"/>
              <a:t> </a:t>
            </a:r>
            <a:r>
              <a:rPr lang="en-US" noProof="1"/>
              <a:t>you).</a:t>
            </a:r>
            <a:r>
              <a:rPr lang="en-US" spc="100" noProof="1"/>
              <a:t> </a:t>
            </a:r>
            <a:r>
              <a:rPr lang="en-US" spc="-20" noProof="1"/>
              <a:t>You</a:t>
            </a:r>
            <a:r>
              <a:rPr lang="en-US" spc="15" noProof="1"/>
              <a:t> </a:t>
            </a:r>
            <a:r>
              <a:rPr lang="en-US" spc="-10" noProof="1"/>
              <a:t>would</a:t>
            </a:r>
            <a:r>
              <a:rPr lang="en-US" spc="10" noProof="1"/>
              <a:t> </a:t>
            </a:r>
            <a:r>
              <a:rPr lang="en-US" noProof="1"/>
              <a:t>write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spc="-10" noProof="1"/>
              <a:t>your</a:t>
            </a:r>
            <a:r>
              <a:rPr lang="en-US" spc="10" noProof="1"/>
              <a:t> </a:t>
            </a:r>
            <a:r>
              <a:rPr lang="en-US" spc="-10" noProof="1"/>
              <a:t>friend’s</a:t>
            </a:r>
            <a:r>
              <a:rPr lang="en-US" spc="15" noProof="1"/>
              <a:t> </a:t>
            </a:r>
            <a:r>
              <a:rPr lang="en-US" spc="-25" noProof="1"/>
              <a:t>home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15" noProof="1"/>
              <a:t> </a:t>
            </a:r>
            <a:r>
              <a:rPr lang="en-US" spc="-25" noProof="1"/>
              <a:t>the </a:t>
            </a:r>
            <a:r>
              <a:rPr lang="en-US" spc="-35" noProof="1"/>
              <a:t>envelope,</a:t>
            </a:r>
            <a:r>
              <a:rPr lang="en-US" spc="30" noProof="1"/>
              <a:t> </a:t>
            </a:r>
            <a:r>
              <a:rPr lang="en-US" spc="-10" noProof="1"/>
              <a:t>hand</a:t>
            </a:r>
            <a:r>
              <a:rPr lang="en-US" spc="35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receptionist,</a:t>
            </a:r>
            <a:r>
              <a:rPr lang="en-US" spc="35" noProof="1"/>
              <a:t> </a:t>
            </a:r>
            <a:r>
              <a:rPr lang="en-US" noProof="1"/>
              <a:t>and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receptionist</a:t>
            </a:r>
            <a:r>
              <a:rPr lang="en-US" spc="35" noProof="1"/>
              <a:t> </a:t>
            </a:r>
            <a:r>
              <a:rPr lang="en-US" spc="-10" noProof="1"/>
              <a:t>would</a:t>
            </a:r>
            <a:r>
              <a:rPr lang="en-US" spc="35" noProof="1"/>
              <a:t> </a:t>
            </a:r>
            <a:r>
              <a:rPr lang="en-US" spc="-55" noProof="1"/>
              <a:t>send</a:t>
            </a:r>
            <a:r>
              <a:rPr lang="en-US" spc="3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10" noProof="1"/>
              <a:t>your</a:t>
            </a:r>
            <a:r>
              <a:rPr lang="en-US" spc="35" noProof="1"/>
              <a:t> </a:t>
            </a:r>
            <a:r>
              <a:rPr lang="en-US" spc="-10" noProof="1"/>
              <a:t>friend’s</a:t>
            </a:r>
            <a:r>
              <a:rPr lang="en-US" spc="35" noProof="1"/>
              <a:t> </a:t>
            </a:r>
            <a:r>
              <a:rPr lang="en-US" spc="-10" noProof="1"/>
              <a:t>home.</a:t>
            </a:r>
          </a:p>
          <a:p>
            <a:pPr marL="17780" marR="5080">
              <a:lnSpc>
                <a:spcPct val="116199"/>
              </a:lnSpc>
              <a:spcBef>
                <a:spcPts val="630"/>
              </a:spcBef>
            </a:pPr>
            <a:r>
              <a:rPr lang="en-US" noProof="1"/>
              <a:t>More </a:t>
            </a:r>
            <a:r>
              <a:rPr lang="en-US" spc="-30" noProof="1"/>
              <a:t>people</a:t>
            </a:r>
            <a:r>
              <a:rPr lang="en-US" noProof="1"/>
              <a:t> on the hotel </a:t>
            </a:r>
            <a:r>
              <a:rPr lang="en-US" spc="-20" noProof="1"/>
              <a:t>may</a:t>
            </a:r>
            <a:r>
              <a:rPr lang="en-US" noProof="1"/>
              <a:t> be </a:t>
            </a:r>
            <a:r>
              <a:rPr lang="en-US" spc="-35" noProof="1"/>
              <a:t>sending</a:t>
            </a:r>
            <a:r>
              <a:rPr lang="en-US" noProof="1"/>
              <a:t> letters to their </a:t>
            </a:r>
            <a:r>
              <a:rPr lang="en-US" spc="-30" noProof="1"/>
              <a:t>respective</a:t>
            </a:r>
            <a:r>
              <a:rPr lang="en-US" noProof="1"/>
              <a:t> </a:t>
            </a:r>
            <a:r>
              <a:rPr lang="en-US" spc="-10" noProof="1"/>
              <a:t>friends’</a:t>
            </a:r>
            <a:r>
              <a:rPr lang="en-US" noProof="1"/>
              <a:t> </a:t>
            </a:r>
            <a:r>
              <a:rPr lang="en-US" spc="-35" noProof="1"/>
              <a:t>homes,</a:t>
            </a:r>
            <a:r>
              <a:rPr lang="en-US" noProof="1"/>
              <a:t> </a:t>
            </a:r>
            <a:r>
              <a:rPr lang="en-US" spc="-25" noProof="1"/>
              <a:t>so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10" noProof="1"/>
              <a:t>receptionist </a:t>
            </a:r>
            <a:r>
              <a:rPr lang="en-US" b="1" spc="-45" noProof="1">
                <a:latin typeface="Arial"/>
                <a:cs typeface="Arial"/>
              </a:rPr>
              <a:t>needs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keep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track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which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letter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45" noProof="1">
                <a:latin typeface="Arial"/>
                <a:cs typeface="Arial"/>
              </a:rPr>
              <a:t>goes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which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home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5" noProof="1"/>
              <a:t>so</a:t>
            </a:r>
            <a:r>
              <a:rPr lang="en-US" spc="-5" noProof="1"/>
              <a:t> </a:t>
            </a:r>
            <a:r>
              <a:rPr lang="en-US" spc="-25" noProof="1"/>
              <a:t>when</a:t>
            </a:r>
            <a:r>
              <a:rPr lang="en-US" noProof="1"/>
              <a:t> the</a:t>
            </a:r>
            <a:r>
              <a:rPr lang="en-US" spc="-5" noProof="1"/>
              <a:t> </a:t>
            </a:r>
            <a:r>
              <a:rPr lang="en-US" spc="-55" noProof="1"/>
              <a:t>responses</a:t>
            </a:r>
            <a:r>
              <a:rPr lang="en-US" spc="-5" noProof="1"/>
              <a:t> </a:t>
            </a:r>
            <a:r>
              <a:rPr lang="en-US" spc="-30" noProof="1"/>
              <a:t>come</a:t>
            </a:r>
            <a:r>
              <a:rPr lang="en-US" noProof="1"/>
              <a:t> </a:t>
            </a:r>
            <a:r>
              <a:rPr lang="en-US" spc="-10" noProof="1"/>
              <a:t>back,</a:t>
            </a:r>
            <a:r>
              <a:rPr lang="en-US" spc="-5" noProof="1"/>
              <a:t> </a:t>
            </a:r>
            <a:r>
              <a:rPr lang="en-US" spc="-25" noProof="1"/>
              <a:t>the </a:t>
            </a:r>
            <a:r>
              <a:rPr lang="en-US" spc="-20" noProof="1"/>
              <a:t>receptionist</a:t>
            </a:r>
            <a:r>
              <a:rPr lang="en-US" spc="30" noProof="1"/>
              <a:t> </a:t>
            </a:r>
            <a:r>
              <a:rPr lang="en-US" spc="-30" noProof="1"/>
              <a:t>knows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whom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give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letter.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20115" cy="5080"/>
            </a:xfrm>
            <a:custGeom>
              <a:avLst/>
              <a:gdLst/>
              <a:ahLst/>
              <a:cxnLst/>
              <a:rect l="l" t="t" r="r" b="b"/>
              <a:pathLst>
                <a:path w="920115" h="5080">
                  <a:moveTo>
                    <a:pt x="0" y="5060"/>
                  </a:moveTo>
                  <a:lnTo>
                    <a:pt x="0" y="0"/>
                  </a:lnTo>
                  <a:lnTo>
                    <a:pt x="919699" y="0"/>
                  </a:lnTo>
                  <a:lnTo>
                    <a:pt x="9196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6984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movie,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handling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558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router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keeps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track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knows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Translation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(NAT)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protocol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single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address. Read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68375" cy="5080"/>
            </a:xfrm>
            <a:custGeom>
              <a:avLst/>
              <a:gdLst/>
              <a:ahLst/>
              <a:cxnLst/>
              <a:rect l="l" t="t" r="r" b="b"/>
              <a:pathLst>
                <a:path w="968375" h="5080">
                  <a:moveTo>
                    <a:pt x="0" y="5060"/>
                  </a:moveTo>
                  <a:lnTo>
                    <a:pt x="0" y="0"/>
                  </a:lnTo>
                  <a:lnTo>
                    <a:pt x="968039" y="0"/>
                  </a:lnTo>
                  <a:lnTo>
                    <a:pt x="96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54942"/>
            <a:ext cx="508571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270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talking about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TV,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they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68580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hotel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1309" y="1993200"/>
            <a:ext cx="1777395" cy="8996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16635" cy="5080"/>
            </a:xfrm>
            <a:custGeom>
              <a:avLst/>
              <a:gdLst/>
              <a:ahLst/>
              <a:cxnLst/>
              <a:rect l="l" t="t" r="r" b="b"/>
              <a:pathLst>
                <a:path w="1016635" h="5080">
                  <a:moveTo>
                    <a:pt x="0" y="5060"/>
                  </a:moveTo>
                  <a:lnTo>
                    <a:pt x="0" y="0"/>
                  </a:lnTo>
                  <a:lnTo>
                    <a:pt x="1016467" y="0"/>
                  </a:lnTo>
                  <a:lnTo>
                    <a:pt x="10164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62029"/>
            <a:ext cx="48253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world;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2060" y="986369"/>
            <a:ext cx="3775878" cy="17994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64895" cy="5080"/>
            </a:xfrm>
            <a:custGeom>
              <a:avLst/>
              <a:gdLst/>
              <a:ahLst/>
              <a:cxnLst/>
              <a:rect l="l" t="t" r="r" b="b"/>
              <a:pathLst>
                <a:path w="1064895" h="5080">
                  <a:moveTo>
                    <a:pt x="0" y="5060"/>
                  </a:moveTo>
                  <a:lnTo>
                    <a:pt x="0" y="0"/>
                  </a:lnTo>
                  <a:lnTo>
                    <a:pt x="1064896" y="0"/>
                  </a:lnTo>
                  <a:lnTo>
                    <a:pt x="10648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11991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hierarchical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sales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2663" y="1136350"/>
            <a:ext cx="2754669" cy="149945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13790" cy="5080"/>
            </a:xfrm>
            <a:custGeom>
              <a:avLst/>
              <a:gdLst/>
              <a:ahLst/>
              <a:cxnLst/>
              <a:rect l="l" t="t" r="r" b="b"/>
              <a:pathLst>
                <a:path w="1113790" h="5080">
                  <a:moveTo>
                    <a:pt x="0" y="5060"/>
                  </a:moveTo>
                  <a:lnTo>
                    <a:pt x="0" y="0"/>
                  </a:lnTo>
                  <a:lnTo>
                    <a:pt x="1113324" y="0"/>
                  </a:lnTo>
                  <a:lnTo>
                    <a:pt x="11133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348847"/>
            <a:ext cx="5069840" cy="718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exist,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endParaRPr lang="en-US" sz="900" noProof="1">
              <a:latin typeface="Arial"/>
              <a:cs typeface="Arial"/>
            </a:endParaRPr>
          </a:p>
          <a:p>
            <a:pPr marL="16510" marR="13652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why 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internet, 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YouTube,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whole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picture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1329457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210310" cy="5080"/>
            </a:xfrm>
            <a:custGeom>
              <a:avLst/>
              <a:gdLst/>
              <a:ahLst/>
              <a:cxnLst/>
              <a:rect l="l" t="t" r="r" b="b"/>
              <a:pathLst>
                <a:path w="1210310" h="5080">
                  <a:moveTo>
                    <a:pt x="0" y="5060"/>
                  </a:moveTo>
                  <a:lnTo>
                    <a:pt x="0" y="0"/>
                  </a:lnTo>
                  <a:lnTo>
                    <a:pt x="1210093" y="0"/>
                  </a:lnTo>
                  <a:lnTo>
                    <a:pt x="12100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850299"/>
            <a:ext cx="563880" cy="122555"/>
            <a:chOff x="359994" y="1850299"/>
            <a:chExt cx="563880" cy="122555"/>
          </a:xfrm>
        </p:grpSpPr>
        <p:sp>
          <p:nvSpPr>
            <p:cNvPr id="4" name="object 4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8985" rIns="0" bIns="0" rtlCol="0">
            <a:spAutoFit/>
          </a:bodyPr>
          <a:lstStyle/>
          <a:p>
            <a:pPr marL="17780" marR="132080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0" noProof="1"/>
              <a:t> </a:t>
            </a:r>
            <a:r>
              <a:rPr lang="en-US" spc="-10" noProof="1"/>
              <a:t>constantly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5" noProof="1"/>
              <a:t> </a:t>
            </a:r>
            <a:r>
              <a:rPr lang="en-US" spc="-30" noProof="1"/>
              <a:t>concepts</a:t>
            </a:r>
            <a:r>
              <a:rPr lang="en-US" spc="20" noProof="1"/>
              <a:t> </a:t>
            </a:r>
            <a:r>
              <a:rPr lang="en-US" noProof="1"/>
              <a:t>like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or</a:t>
            </a:r>
            <a:r>
              <a:rPr lang="en-US" spc="25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internet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without</a:t>
            </a:r>
            <a:r>
              <a:rPr lang="en-US" spc="25" noProof="1"/>
              <a:t> </a:t>
            </a:r>
            <a:r>
              <a:rPr lang="en-US" spc="-10" noProof="1"/>
              <a:t>really</a:t>
            </a:r>
            <a:r>
              <a:rPr lang="en-US" spc="20" noProof="1"/>
              <a:t> </a:t>
            </a:r>
            <a:r>
              <a:rPr lang="en-US" noProof="1"/>
              <a:t>thinking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0" noProof="1"/>
              <a:t> </a:t>
            </a:r>
            <a:r>
              <a:rPr lang="en-US" noProof="1"/>
              <a:t>this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just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spc="-40" noProof="1"/>
              <a:t> colossal</a:t>
            </a:r>
            <a:r>
              <a:rPr lang="en-US" spc="5" noProof="1"/>
              <a:t> </a:t>
            </a:r>
            <a:r>
              <a:rPr lang="en-US" noProof="1"/>
              <a:t>amount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5" noProof="1"/>
              <a:t> </a:t>
            </a:r>
            <a:r>
              <a:rPr lang="en-US" spc="-30" noProof="1"/>
              <a:t>connected</a:t>
            </a:r>
            <a:r>
              <a:rPr lang="en-US" spc="10" noProof="1"/>
              <a:t> </a:t>
            </a:r>
            <a:r>
              <a:rPr lang="en-US" spc="-35" noProof="1"/>
              <a:t>between</a:t>
            </a:r>
            <a:r>
              <a:rPr lang="en-US" spc="10" noProof="1"/>
              <a:t> </a:t>
            </a:r>
            <a:r>
              <a:rPr lang="en-US" spc="-10" noProof="1"/>
              <a:t>them.</a:t>
            </a: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pc="-10" noProof="1"/>
              <a:t>When</a:t>
            </a:r>
            <a:r>
              <a:rPr lang="en-US" spc="15" noProof="1"/>
              <a:t> </a:t>
            </a:r>
            <a:r>
              <a:rPr lang="en-US" noProof="1"/>
              <a:t>I</a:t>
            </a:r>
            <a:r>
              <a:rPr lang="en-US" spc="20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connect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spc="-25" noProof="1"/>
              <a:t>EC2</a:t>
            </a:r>
            <a:r>
              <a:rPr lang="en-US" spc="20" noProof="1"/>
              <a:t> </a:t>
            </a:r>
            <a:r>
              <a:rPr lang="en-US" spc="-25" noProof="1"/>
              <a:t>machine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cloud</a:t>
            </a:r>
            <a:r>
              <a:rPr lang="en-US" noProof="1"/>
              <a:t>,</a:t>
            </a:r>
            <a:r>
              <a:rPr lang="en-US" spc="20" noProof="1"/>
              <a:t> </a:t>
            </a:r>
            <a:r>
              <a:rPr lang="en-US" spc="-30" noProof="1"/>
              <a:t>(assuming</a:t>
            </a:r>
            <a:r>
              <a:rPr lang="en-US" spc="15" noProof="1"/>
              <a:t> </a:t>
            </a:r>
            <a:r>
              <a:rPr lang="en-US" noProof="1"/>
              <a:t>it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default</a:t>
            </a:r>
            <a:r>
              <a:rPr lang="en-US" spc="20" noProof="1"/>
              <a:t> </a:t>
            </a:r>
            <a:r>
              <a:rPr lang="en-US" spc="-10" noProof="1"/>
              <a:t>region</a:t>
            </a:r>
          </a:p>
          <a:p>
            <a:pPr marL="17780" marR="5080" indent="12065">
              <a:lnSpc>
                <a:spcPct val="116199"/>
              </a:lnSpc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us-east-1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),</a:t>
            </a:r>
            <a:r>
              <a:rPr lang="en-US" spc="20" noProof="1"/>
              <a:t> </a:t>
            </a:r>
            <a:r>
              <a:rPr lang="en-US" noProof="1"/>
              <a:t>I</a:t>
            </a:r>
            <a:r>
              <a:rPr lang="en-US" spc="25" noProof="1"/>
              <a:t> </a:t>
            </a:r>
            <a:r>
              <a:rPr lang="en-US" noProof="1"/>
              <a:t>am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35" noProof="1"/>
              <a:t>sending</a:t>
            </a:r>
            <a:r>
              <a:rPr lang="en-US" spc="30" noProof="1"/>
              <a:t> </a:t>
            </a:r>
            <a:r>
              <a:rPr lang="en-US" spc="-10" noProof="1"/>
              <a:t>electrical</a:t>
            </a:r>
            <a:r>
              <a:rPr lang="en-US" spc="30" noProof="1"/>
              <a:t> </a:t>
            </a:r>
            <a:r>
              <a:rPr lang="en-US" spc="-30" noProof="1"/>
              <a:t>signals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10" noProof="1"/>
              <a:t>located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20" noProof="1"/>
              <a:t>datacenter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United States.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58570" cy="5080"/>
            </a:xfrm>
            <a:custGeom>
              <a:avLst/>
              <a:gdLst/>
              <a:ahLst/>
              <a:cxnLst/>
              <a:rect l="l" t="t" r="r" b="b"/>
              <a:pathLst>
                <a:path w="1258570" h="5080">
                  <a:moveTo>
                    <a:pt x="0" y="5060"/>
                  </a:moveTo>
                  <a:lnTo>
                    <a:pt x="0" y="0"/>
                  </a:lnTo>
                  <a:lnTo>
                    <a:pt x="1258521" y="0"/>
                  </a:lnTo>
                  <a:lnTo>
                    <a:pt x="1258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7238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6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moment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insane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(ISPs)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Spain,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cross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Atlantic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United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States,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ISPs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datacenter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 is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an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immense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 of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cables,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switches,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huge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continents.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map of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submarinecablemap.com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307465" cy="5080"/>
            </a:xfrm>
            <a:custGeom>
              <a:avLst/>
              <a:gdLst/>
              <a:ahLst/>
              <a:cxnLst/>
              <a:rect l="l" t="t" r="r" b="b"/>
              <a:pathLst>
                <a:path w="1307465" h="5080">
                  <a:moveTo>
                    <a:pt x="0" y="5060"/>
                  </a:moveTo>
                  <a:lnTo>
                    <a:pt x="0" y="0"/>
                  </a:lnTo>
                  <a:lnTo>
                    <a:pt x="1306862" y="0"/>
                  </a:lnTo>
                  <a:lnTo>
                    <a:pt x="13068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76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internet?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536" y="475651"/>
            <a:ext cx="4848937" cy="23990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55725" cy="5080"/>
            </a:xfrm>
            <a:custGeom>
              <a:avLst/>
              <a:gdLst/>
              <a:ahLst/>
              <a:cxnLst/>
              <a:rect l="l" t="t" r="r" b="b"/>
              <a:pathLst>
                <a:path w="1355725" h="5080">
                  <a:moveTo>
                    <a:pt x="0" y="5060"/>
                  </a:moveTo>
                  <a:lnTo>
                    <a:pt x="0" y="0"/>
                  </a:lnTo>
                  <a:lnTo>
                    <a:pt x="1355290" y="0"/>
                  </a:lnTo>
                  <a:lnTo>
                    <a:pt x="13552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62054"/>
            <a:ext cx="46348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thought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sending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crossing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80451" y="986413"/>
            <a:ext cx="2399109" cy="179933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403985" cy="5080"/>
            </a:xfrm>
            <a:custGeom>
              <a:avLst/>
              <a:gdLst/>
              <a:ahLst/>
              <a:cxnLst/>
              <a:rect l="l" t="t" r="r" b="b"/>
              <a:pathLst>
                <a:path w="1403985" h="5080">
                  <a:moveTo>
                    <a:pt x="0" y="5060"/>
                  </a:moveTo>
                  <a:lnTo>
                    <a:pt x="0" y="0"/>
                  </a:lnTo>
                  <a:lnTo>
                    <a:pt x="1403719" y="0"/>
                  </a:lnTo>
                  <a:lnTo>
                    <a:pt x="1403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28355" y="1090471"/>
            <a:ext cx="264795" cy="146050"/>
            <a:chOff x="1628355" y="1090471"/>
            <a:chExt cx="264795" cy="146050"/>
          </a:xfrm>
        </p:grpSpPr>
        <p:sp>
          <p:nvSpPr>
            <p:cNvPr id="4" name="object 4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461625"/>
            <a:ext cx="5015230" cy="311785"/>
            <a:chOff x="372646" y="1461625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1466972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467951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6303"/>
            <a:ext cx="5026025" cy="160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8064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quick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experiment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travel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given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ping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location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google.es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google.es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round-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milliseconds.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 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good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indicator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452245" cy="5080"/>
            </a:xfrm>
            <a:custGeom>
              <a:avLst/>
              <a:gdLst/>
              <a:ahLst/>
              <a:cxnLst/>
              <a:rect l="l" t="t" r="r" b="b"/>
              <a:pathLst>
                <a:path w="1452245" h="5080">
                  <a:moveTo>
                    <a:pt x="0" y="5060"/>
                  </a:moveTo>
                  <a:lnTo>
                    <a:pt x="0" y="0"/>
                  </a:lnTo>
                  <a:lnTo>
                    <a:pt x="1452147" y="0"/>
                  </a:lnTo>
                  <a:lnTo>
                    <a:pt x="1452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29224"/>
            <a:ext cx="5053965" cy="1202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domain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domains: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States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00505" cy="5080"/>
            </a:xfrm>
            <a:custGeom>
              <a:avLst/>
              <a:gdLst/>
              <a:ahLst/>
              <a:cxnLst/>
              <a:rect l="l" t="t" r="r" b="b"/>
              <a:pathLst>
                <a:path w="1500505" h="5080">
                  <a:moveTo>
                    <a:pt x="0" y="5060"/>
                  </a:moveTo>
                  <a:lnTo>
                    <a:pt x="0" y="0"/>
                  </a:lnTo>
                  <a:lnTo>
                    <a:pt x="1500487" y="0"/>
                  </a:lnTo>
                  <a:lnTo>
                    <a:pt x="15004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8172" y="1090074"/>
            <a:ext cx="443865" cy="114300"/>
            <a:chOff x="3308172" y="1090074"/>
            <a:chExt cx="443865" cy="114300"/>
          </a:xfrm>
        </p:grpSpPr>
        <p:sp>
          <p:nvSpPr>
            <p:cNvPr id="4" name="object 4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92472" y="1089961"/>
            <a:ext cx="623570" cy="114935"/>
            <a:chOff x="4492472" y="1089961"/>
            <a:chExt cx="623570" cy="114935"/>
          </a:xfrm>
        </p:grpSpPr>
        <p:sp>
          <p:nvSpPr>
            <p:cNvPr id="7" name="object 7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10" name="object 10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92100" y="1040018"/>
            <a:ext cx="5293185" cy="11879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explore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tracert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latin typeface="Courier New"/>
                <a:cs typeface="Courier New"/>
              </a:rPr>
              <a:t>traceroute</a:t>
            </a:r>
            <a:r>
              <a:rPr lang="en-US" sz="900" b="1" spc="-114" noProof="1">
                <a:latin typeface="Courier New"/>
                <a:cs typeface="Courier New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shows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given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3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States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549400" cy="5080"/>
            </a:xfrm>
            <a:custGeom>
              <a:avLst/>
              <a:gdLst/>
              <a:ahLst/>
              <a:cxnLst/>
              <a:rect l="l" t="t" r="r" b="b"/>
              <a:pathLst>
                <a:path w="1549400" h="5080">
                  <a:moveTo>
                    <a:pt x="0" y="5060"/>
                  </a:moveTo>
                  <a:lnTo>
                    <a:pt x="0" y="0"/>
                  </a:lnTo>
                  <a:lnTo>
                    <a:pt x="1548916" y="0"/>
                  </a:lnTo>
                  <a:lnTo>
                    <a:pt x="15489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160491"/>
            <a:ext cx="483362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networks?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connected?</a:t>
            </a:r>
            <a:endParaRPr lang="en-US" sz="900" noProof="1">
              <a:latin typeface="Arial"/>
              <a:cs typeface="Arial"/>
            </a:endParaRPr>
          </a:p>
          <a:p>
            <a:pPr marL="245745" marR="29209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decide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traﬀic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597660" cy="5080"/>
            </a:xfrm>
            <a:custGeom>
              <a:avLst/>
              <a:gdLst/>
              <a:ahLst/>
              <a:cxnLst/>
              <a:rect l="l" t="t" r="r" b="b"/>
              <a:pathLst>
                <a:path w="1597660" h="5080">
                  <a:moveTo>
                    <a:pt x="0" y="5060"/>
                  </a:moveTo>
                  <a:lnTo>
                    <a:pt x="0" y="0"/>
                  </a:lnTo>
                  <a:lnTo>
                    <a:pt x="1597344" y="0"/>
                  </a:lnTo>
                  <a:lnTo>
                    <a:pt x="159734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1564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Subnetting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95325" cy="5080"/>
            </a:xfrm>
            <a:custGeom>
              <a:avLst/>
              <a:gdLst/>
              <a:ahLst/>
              <a:cxnLst/>
              <a:rect l="l" t="t" r="r" b="b"/>
              <a:pathLst>
                <a:path w="695325" h="5080">
                  <a:moveTo>
                    <a:pt x="0" y="5060"/>
                  </a:moveTo>
                  <a:lnTo>
                    <a:pt x="0" y="0"/>
                  </a:lnTo>
                  <a:lnTo>
                    <a:pt x="694735" y="0"/>
                  </a:lnTo>
                  <a:lnTo>
                    <a:pt x="6947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555625"/>
            <a:ext cx="5071110" cy="2628822"/>
          </a:xfrm>
          <a:prstGeom prst="rect">
            <a:avLst/>
          </a:prstGeom>
        </p:spPr>
        <p:txBody>
          <a:bodyPr vert="horz" wrap="square" lIns="0" tIns="289839" rIns="0" bIns="0" rtlCol="0">
            <a:spAutoFit/>
          </a:bodyPr>
          <a:lstStyle/>
          <a:p>
            <a:pPr marL="17780" marR="3098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While</a:t>
            </a:r>
            <a:r>
              <a:rPr lang="en-US" spc="5" noProof="1"/>
              <a:t> </a:t>
            </a:r>
            <a:r>
              <a:rPr lang="en-US" spc="-20" noProof="1"/>
              <a:t>explaining</a:t>
            </a:r>
            <a:r>
              <a:rPr lang="en-US" spc="10" noProof="1"/>
              <a:t> </a:t>
            </a:r>
            <a:r>
              <a:rPr lang="en-US" noProof="1"/>
              <a:t>what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internet,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20" noProof="1"/>
              <a:t>mentioned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10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30" noProof="1"/>
              <a:t>made</a:t>
            </a:r>
            <a:r>
              <a:rPr lang="en-US" spc="10" noProof="1"/>
              <a:t> </a:t>
            </a:r>
            <a:r>
              <a:rPr lang="en-US" noProof="1"/>
              <a:t>up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different 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r>
              <a:rPr lang="en-US" noProof="1"/>
              <a:t>This</a:t>
            </a:r>
            <a:r>
              <a:rPr lang="en-US" spc="-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30" noProof="1"/>
              <a:t>where</a:t>
            </a:r>
            <a:r>
              <a:rPr lang="en-US" spc="5" noProof="1"/>
              <a:t> </a:t>
            </a:r>
            <a:r>
              <a:rPr lang="en-US" b="1" spc="-45" noProof="1">
                <a:latin typeface="Arial"/>
                <a:cs typeface="Arial"/>
              </a:rPr>
              <a:t>subnets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30" noProof="1"/>
              <a:t>come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0" noProof="1"/>
              <a:t>play.</a:t>
            </a:r>
            <a:r>
              <a:rPr lang="en-US" spc="9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0" noProof="1"/>
              <a:t>way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noProof="1"/>
              <a:t>dividing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10" noProof="1"/>
              <a:t> </a:t>
            </a:r>
            <a:r>
              <a:rPr lang="en-US" spc="-10" noProof="1"/>
              <a:t>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  <a:p>
            <a:pPr marL="13970" marR="99060">
              <a:lnSpc>
                <a:spcPct val="116199"/>
              </a:lnSpc>
              <a:spcBef>
                <a:spcPts val="100"/>
              </a:spcBef>
            </a:pPr>
            <a:r>
              <a:rPr lang="en-US" spc="-35" noProof="1"/>
              <a:t>The subnets</a:t>
            </a:r>
            <a:r>
              <a:rPr lang="en-US" spc="5" noProof="1"/>
              <a:t> </a:t>
            </a:r>
            <a:r>
              <a:rPr lang="en-US" spc="-10" noProof="1"/>
              <a:t>allow</a:t>
            </a:r>
            <a:r>
              <a:rPr lang="en-US" spc="5" noProof="1"/>
              <a:t> </a:t>
            </a:r>
            <a:r>
              <a:rPr lang="en-US" spc="-10" noProof="1"/>
              <a:t>us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divide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5" noProof="1"/>
              <a:t> </a:t>
            </a:r>
            <a:r>
              <a:rPr lang="en-US" spc="-30" noProof="1"/>
              <a:t>networks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10" noProof="1"/>
              <a:t>control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talk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noProof="1"/>
              <a:t>other</a:t>
            </a:r>
            <a:r>
              <a:rPr lang="en-US" spc="5" noProof="1"/>
              <a:t> </a:t>
            </a:r>
            <a:r>
              <a:rPr lang="en-US" spc="-10" noProof="1"/>
              <a:t>subnet.</a:t>
            </a:r>
          </a:p>
          <a:p>
            <a:pPr marL="1778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 </a:t>
            </a:r>
            <a:r>
              <a:rPr lang="en-US" spc="-65" noProof="1"/>
              <a:t>case</a:t>
            </a:r>
            <a:r>
              <a:rPr lang="en-US" spc="5" noProof="1"/>
              <a:t> </a:t>
            </a:r>
            <a:r>
              <a:rPr lang="en-US" noProof="1"/>
              <a:t>of a </a:t>
            </a:r>
            <a:r>
              <a:rPr lang="en-US" spc="-30" noProof="1"/>
              <a:t>company</a:t>
            </a:r>
            <a:r>
              <a:rPr lang="en-US" spc="5" noProof="1"/>
              <a:t> </a:t>
            </a:r>
            <a:r>
              <a:rPr lang="en-US" spc="-50" noProof="1"/>
              <a:t>we</a:t>
            </a:r>
            <a:r>
              <a:rPr lang="en-US" noProof="1"/>
              <a:t> </a:t>
            </a:r>
            <a:r>
              <a:rPr lang="en-US" spc="-30" noProof="1"/>
              <a:t>may</a:t>
            </a:r>
            <a:r>
              <a:rPr lang="en-US" noProof="1"/>
              <a:t> want the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noProof="1"/>
              <a:t> of </a:t>
            </a:r>
            <a:r>
              <a:rPr lang="en-US" spc="-65" noProof="1"/>
              <a:t>sales</a:t>
            </a:r>
            <a:r>
              <a:rPr lang="en-US" spc="5" noProof="1"/>
              <a:t> </a:t>
            </a:r>
            <a:r>
              <a:rPr lang="en-US" spc="-20" noProof="1"/>
              <a:t>department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the </a:t>
            </a:r>
            <a:r>
              <a:rPr lang="en-US" spc="-20" noProof="1"/>
              <a:t>subnet</a:t>
            </a:r>
            <a:r>
              <a:rPr lang="en-US" noProof="1"/>
              <a:t> of</a:t>
            </a:r>
            <a:r>
              <a:rPr lang="en-US" spc="5" noProof="1"/>
              <a:t> </a:t>
            </a:r>
            <a:r>
              <a:rPr lang="en-US" noProof="1"/>
              <a:t>the </a:t>
            </a:r>
            <a:r>
              <a:rPr lang="en-US" spc="-10" noProof="1"/>
              <a:t>marketing department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be</a:t>
            </a:r>
            <a:r>
              <a:rPr lang="en-US" spc="40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talk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40" noProof="1"/>
              <a:t> </a:t>
            </a:r>
            <a:r>
              <a:rPr lang="en-US" noProof="1"/>
              <a:t>of</a:t>
            </a:r>
            <a:r>
              <a:rPr lang="en-US" spc="4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spc="-10" noProof="1"/>
              <a:t>administration,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0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don’t</a:t>
            </a:r>
            <a:r>
              <a:rPr lang="en-US" spc="40" noProof="1"/>
              <a:t> </a:t>
            </a:r>
            <a:r>
              <a:rPr lang="en-US" noProof="1"/>
              <a:t>want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spc="-25" noProof="1"/>
              <a:t>of</a:t>
            </a:r>
            <a:r>
              <a:rPr lang="en-US" spc="500" noProof="1"/>
              <a:t> </a:t>
            </a:r>
            <a:r>
              <a:rPr lang="en-US" spc="-55" noProof="1"/>
              <a:t>sales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be</a:t>
            </a:r>
            <a:r>
              <a:rPr lang="en-US" spc="35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talk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noProof="1"/>
              <a:t>of</a:t>
            </a:r>
            <a:r>
              <a:rPr lang="en-US" spc="35" noProof="1"/>
              <a:t> </a:t>
            </a:r>
            <a:r>
              <a:rPr lang="en-US" spc="-10" noProof="1"/>
              <a:t>marketing.</a:t>
            </a:r>
          </a:p>
          <a:p>
            <a:pPr marL="17780" marR="2971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10" noProof="1"/>
              <a:t>could</a:t>
            </a:r>
            <a:r>
              <a:rPr lang="en-US" spc="15" noProof="1"/>
              <a:t> </a:t>
            </a:r>
            <a:r>
              <a:rPr lang="en-US" spc="-25" noProof="1"/>
              <a:t>also</a:t>
            </a:r>
            <a:r>
              <a:rPr lang="en-US" spc="20" noProof="1"/>
              <a:t> </a:t>
            </a:r>
            <a:r>
              <a:rPr lang="en-US" spc="-35" noProof="1"/>
              <a:t>have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15" noProof="1"/>
              <a:t> </a:t>
            </a:r>
            <a:r>
              <a:rPr lang="en-US" spc="-35" noProof="1"/>
              <a:t>camera</a:t>
            </a:r>
            <a:r>
              <a:rPr lang="en-US" spc="15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noProof="1"/>
              <a:t>don’t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communicate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20" noProof="1"/>
              <a:t> </a:t>
            </a:r>
            <a:r>
              <a:rPr lang="en-US" spc="-10" noProof="1"/>
              <a:t>any</a:t>
            </a:r>
            <a:r>
              <a:rPr lang="en-US" spc="15" noProof="1"/>
              <a:t> </a:t>
            </a:r>
            <a:r>
              <a:rPr lang="en-US" spc="-10" noProof="1"/>
              <a:t>other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b="1" spc="-20" noProof="1"/>
              <a:t>nor</a:t>
            </a:r>
            <a:r>
              <a:rPr lang="en-US" b="1" spc="10" noProof="1"/>
              <a:t> </a:t>
            </a:r>
            <a:r>
              <a:rPr lang="en-US" b="1" noProof="1"/>
              <a:t>with</a:t>
            </a:r>
            <a:r>
              <a:rPr lang="en-US" b="1" spc="15" noProof="1"/>
              <a:t> </a:t>
            </a:r>
            <a:r>
              <a:rPr lang="en-US" b="1" noProof="1"/>
              <a:t>the</a:t>
            </a:r>
            <a:r>
              <a:rPr lang="en-US" b="1" spc="10" noProof="1"/>
              <a:t> </a:t>
            </a:r>
            <a:r>
              <a:rPr lang="en-US" b="1" spc="-10" noProof="1"/>
              <a:t>internet</a:t>
            </a:r>
            <a:r>
              <a:rPr lang="en-US" spc="-10" noProof="1"/>
              <a:t>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45920" cy="5080"/>
            </a:xfrm>
            <a:custGeom>
              <a:avLst/>
              <a:gdLst/>
              <a:ahLst/>
              <a:cxnLst/>
              <a:rect l="l" t="t" r="r" b="b"/>
              <a:pathLst>
                <a:path w="1645920" h="5080">
                  <a:moveTo>
                    <a:pt x="0" y="5060"/>
                  </a:moveTo>
                  <a:lnTo>
                    <a:pt x="0" y="0"/>
                  </a:lnTo>
                  <a:lnTo>
                    <a:pt x="1645772" y="0"/>
                  </a:lnTo>
                  <a:lnTo>
                    <a:pt x="16457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216908"/>
            <a:ext cx="2775585" cy="138430"/>
            <a:chOff x="359994" y="1216908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48327" y="1444307"/>
            <a:ext cx="4032250" cy="356235"/>
            <a:chOff x="863993" y="1987027"/>
            <a:chExt cx="4032250" cy="356235"/>
          </a:xfrm>
        </p:grpSpPr>
        <p:sp>
          <p:nvSpPr>
            <p:cNvPr id="7" name="object 7"/>
            <p:cNvSpPr/>
            <p:nvPr/>
          </p:nvSpPr>
          <p:spPr>
            <a:xfrm>
              <a:off x="863993" y="1987027"/>
              <a:ext cx="4032250" cy="356235"/>
            </a:xfrm>
            <a:custGeom>
              <a:avLst/>
              <a:gdLst/>
              <a:ahLst/>
              <a:cxnLst/>
              <a:rect l="l" t="t" r="r" b="b"/>
              <a:pathLst>
                <a:path w="4032250" h="35623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1741"/>
                  </a:lnTo>
                  <a:lnTo>
                    <a:pt x="4243" y="322760"/>
                  </a:lnTo>
                  <a:lnTo>
                    <a:pt x="15816" y="339925"/>
                  </a:lnTo>
                  <a:lnTo>
                    <a:pt x="32980" y="351497"/>
                  </a:lnTo>
                  <a:lnTo>
                    <a:pt x="54000" y="355741"/>
                  </a:lnTo>
                  <a:lnTo>
                    <a:pt x="3978067" y="355741"/>
                  </a:lnTo>
                  <a:lnTo>
                    <a:pt x="3999086" y="351497"/>
                  </a:lnTo>
                  <a:lnTo>
                    <a:pt x="4016251" y="339925"/>
                  </a:lnTo>
                  <a:lnTo>
                    <a:pt x="4027823" y="322760"/>
                  </a:lnTo>
                  <a:lnTo>
                    <a:pt x="4032067" y="301741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81993" y="2005027"/>
              <a:ext cx="3996690" cy="320040"/>
            </a:xfrm>
            <a:custGeom>
              <a:avLst/>
              <a:gdLst/>
              <a:ahLst/>
              <a:cxnLst/>
              <a:rect l="l" t="t" r="r" b="b"/>
              <a:pathLst>
                <a:path w="3996690" h="32003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3741"/>
                  </a:lnTo>
                  <a:lnTo>
                    <a:pt x="2829" y="297754"/>
                  </a:lnTo>
                  <a:lnTo>
                    <a:pt x="10544" y="309197"/>
                  </a:lnTo>
                  <a:lnTo>
                    <a:pt x="21987" y="316912"/>
                  </a:lnTo>
                  <a:lnTo>
                    <a:pt x="36000" y="319741"/>
                  </a:lnTo>
                  <a:lnTo>
                    <a:pt x="3960067" y="319741"/>
                  </a:lnTo>
                  <a:lnTo>
                    <a:pt x="3974080" y="316912"/>
                  </a:lnTo>
                  <a:lnTo>
                    <a:pt x="3985523" y="309197"/>
                  </a:lnTo>
                  <a:lnTo>
                    <a:pt x="3993238" y="297754"/>
                  </a:lnTo>
                  <a:lnTo>
                    <a:pt x="3996067" y="283741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05043"/>
            <a:ext cx="5065395" cy="66620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mentioned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earlier?</a:t>
            </a:r>
            <a:endParaRPr lang="en-US" sz="900" noProof="1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10" noProof="1">
                <a:latin typeface="Courier New"/>
                <a:cs typeface="Courier New"/>
              </a:rPr>
              <a:t>192.168.x.x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5080" algn="ctr">
              <a:lnSpc>
                <a:spcPct val="100000"/>
              </a:lnSpc>
            </a:pPr>
            <a:r>
              <a:rPr lang="en-US" sz="900" noProof="1">
                <a:latin typeface="Arial"/>
                <a:cs typeface="Arial"/>
              </a:rPr>
              <a:t>How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do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define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ranges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</a:t>
            </a:r>
            <a:r>
              <a:rPr lang="en-US" sz="900" spc="-10" noProof="1">
                <a:latin typeface="Arial"/>
                <a:cs typeface="Arial"/>
              </a:rPr>
              <a:t> subnets?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743075" cy="5080"/>
            </a:xfrm>
            <a:custGeom>
              <a:avLst/>
              <a:gdLst/>
              <a:ahLst/>
              <a:cxnLst/>
              <a:rect l="l" t="t" r="r" b="b"/>
              <a:pathLst>
                <a:path w="1743075" h="5080">
                  <a:moveTo>
                    <a:pt x="0" y="5060"/>
                  </a:moveTo>
                  <a:lnTo>
                    <a:pt x="0" y="0"/>
                  </a:lnTo>
                  <a:lnTo>
                    <a:pt x="1742541" y="0"/>
                  </a:lnTo>
                  <a:lnTo>
                    <a:pt x="17425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463E815-16FA-9EAD-09AD-1B85FDC93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2100" y="1216908"/>
            <a:ext cx="5071110" cy="1979930"/>
          </a:xfrm>
          <a:prstGeom prst="rect">
            <a:avLst/>
          </a:prstGeom>
        </p:spPr>
        <p:txBody>
          <a:bodyPr vert="horz" wrap="square" lIns="0" tIns="70885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275"/>
              </a:spcBef>
            </a:pPr>
            <a:r>
              <a:rPr lang="en-US" spc="-20" noProof="1"/>
              <a:t>You</a:t>
            </a:r>
            <a:r>
              <a:rPr lang="en-US" spc="5" noProof="1"/>
              <a:t> </a:t>
            </a:r>
            <a:r>
              <a:rPr lang="en-US" spc="-20" noProof="1"/>
              <a:t>may</a:t>
            </a:r>
            <a:r>
              <a:rPr lang="en-US" spc="10" noProof="1"/>
              <a:t> </a:t>
            </a:r>
            <a:r>
              <a:rPr lang="en-US" spc="-35" noProof="1"/>
              <a:t>have</a:t>
            </a:r>
            <a:r>
              <a:rPr lang="en-US" spc="5" noProof="1"/>
              <a:t> </a:t>
            </a:r>
            <a:r>
              <a:rPr lang="en-US" spc="-10" noProof="1"/>
              <a:t>noticed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5" noProof="1"/>
              <a:t> </a:t>
            </a:r>
            <a:r>
              <a:rPr lang="en-US" noProof="1"/>
              <a:t>often</a:t>
            </a:r>
            <a:r>
              <a:rPr lang="en-US" spc="10" noProof="1"/>
              <a:t> </a:t>
            </a:r>
            <a:r>
              <a:rPr lang="en-US" spc="-30" noProof="1"/>
              <a:t>come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trailing</a:t>
            </a:r>
            <a:r>
              <a:rPr lang="en-US" spc="5" noProof="1"/>
              <a:t> </a:t>
            </a:r>
            <a:r>
              <a:rPr lang="en-US" spc="-40" noProof="1"/>
              <a:t>slash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number.</a:t>
            </a:r>
            <a:r>
              <a:rPr lang="en-US" spc="90" noProof="1"/>
              <a:t> </a:t>
            </a:r>
            <a:r>
              <a:rPr lang="en-US" spc="-10" noProof="1"/>
              <a:t>For</a:t>
            </a:r>
            <a:r>
              <a:rPr lang="en-US" spc="10" noProof="1"/>
              <a:t> </a:t>
            </a:r>
            <a:r>
              <a:rPr lang="en-US" spc="-10" noProof="1"/>
              <a:t>example,</a:t>
            </a:r>
          </a:p>
          <a:p>
            <a:pPr marL="30480">
              <a:lnSpc>
                <a:spcPct val="100000"/>
              </a:lnSpc>
              <a:spcBef>
                <a:spcPts val="175"/>
              </a:spcBef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192.168.1.0/24</a:t>
            </a:r>
            <a:r>
              <a:rPr lang="en-US" spc="-37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  <a:p>
            <a:pPr marL="1778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75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/24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spc="-20" noProof="1"/>
              <a:t>called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mask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25" noProof="1"/>
              <a:t> </a:t>
            </a:r>
            <a:r>
              <a:rPr lang="en-US" noProof="1"/>
              <a:t>it</a:t>
            </a:r>
            <a:r>
              <a:rPr lang="en-US" spc="25" noProof="1"/>
              <a:t> </a:t>
            </a:r>
            <a:r>
              <a:rPr lang="en-US" spc="-45" noProof="1"/>
              <a:t>means</a:t>
            </a:r>
            <a:r>
              <a:rPr lang="en-US" spc="30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25" noProof="1"/>
              <a:t> </a:t>
            </a:r>
            <a:r>
              <a:rPr lang="en-US" spc="-30" noProof="1"/>
              <a:t>are</a:t>
            </a:r>
            <a:r>
              <a:rPr lang="en-US" spc="25" noProof="1"/>
              <a:t> </a:t>
            </a:r>
            <a:r>
              <a:rPr lang="en-US" noProof="1"/>
              <a:t>not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front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45" noProof="1"/>
              <a:t>address</a:t>
            </a:r>
            <a:r>
              <a:rPr lang="en-US" spc="25" noProof="1"/>
              <a:t> </a:t>
            </a:r>
            <a:r>
              <a:rPr lang="en-US" noProof="1"/>
              <a:t>but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b="1" spc="-25" noProof="1">
                <a:latin typeface="Arial"/>
                <a:cs typeface="Arial"/>
              </a:rPr>
              <a:t>IP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range</a:t>
            </a:r>
            <a:r>
              <a:rPr lang="en-US" spc="-20" noProof="1"/>
              <a:t>,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case,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30" noProof="1"/>
              <a:t>range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60" noProof="1"/>
              <a:t>addresses</a:t>
            </a:r>
            <a:r>
              <a:rPr lang="en-US" spc="25" noProof="1"/>
              <a:t> </a:t>
            </a:r>
            <a:r>
              <a:rPr lang="en-US" spc="-30" noProof="1"/>
              <a:t>between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and</a:t>
            </a:r>
            <a:r>
              <a:rPr lang="en-US" spc="114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192.168.1.255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2316" y="1706485"/>
            <a:ext cx="204657" cy="1390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13432" y="2104795"/>
            <a:ext cx="204657" cy="13909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73388" y="2104795"/>
            <a:ext cx="144873" cy="13909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02915" y="2104795"/>
            <a:ext cx="204657" cy="1390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06792" y="2264117"/>
            <a:ext cx="144873" cy="13909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3319" y="944604"/>
            <a:ext cx="494474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30810">
              <a:lnSpc>
                <a:spcPct val="116199"/>
              </a:lnSpc>
              <a:spcBef>
                <a:spcPts val="1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dots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255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endParaRPr lang="en-US" sz="900" noProof="1">
              <a:latin typeface="Arial"/>
              <a:cs typeface="Arial"/>
            </a:endParaRPr>
          </a:p>
          <a:p>
            <a:pPr marL="16510" marR="6794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telling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can change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/24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change,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the last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the 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0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masks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16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16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39595" cy="5080"/>
            </a:xfrm>
            <a:custGeom>
              <a:avLst/>
              <a:gdLst/>
              <a:ahLst/>
              <a:cxnLst/>
              <a:rect l="l" t="t" r="r" b="b"/>
              <a:pathLst>
                <a:path w="1839595" h="5080">
                  <a:moveTo>
                    <a:pt x="0" y="5060"/>
                  </a:moveTo>
                  <a:lnTo>
                    <a:pt x="0" y="0"/>
                  </a:lnTo>
                  <a:lnTo>
                    <a:pt x="1839310" y="0"/>
                  </a:lnTo>
                  <a:lnTo>
                    <a:pt x="18393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/>
          <p:nvPr/>
        </p:nvSpPr>
        <p:spPr>
          <a:xfrm>
            <a:off x="2032711" y="1449679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4" name="object 4"/>
          <p:cNvSpPr txBox="1"/>
          <p:nvPr/>
        </p:nvSpPr>
        <p:spPr>
          <a:xfrm>
            <a:off x="347294" y="983466"/>
            <a:ext cx="5019675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Depending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how many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octets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fixed,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R="131445" algn="ctr">
              <a:lnSpc>
                <a:spcPct val="100000"/>
              </a:lnSpc>
              <a:spcBef>
                <a:spcPts val="5"/>
              </a:spcBef>
              <a:tabLst>
                <a:tab pos="79184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32711" y="1669491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5693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/>
          <p:nvPr/>
        </p:nvSpPr>
        <p:spPr>
          <a:xfrm>
            <a:off x="2020011" y="1667488"/>
            <a:ext cx="20129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/8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/16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/24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12148" y="1667488"/>
            <a:ext cx="928369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16,777,216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(2^24)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65,536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(2^16)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256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(2^8)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032711" y="2207958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87855" cy="5080"/>
            </a:xfrm>
            <a:custGeom>
              <a:avLst/>
              <a:gdLst/>
              <a:ahLst/>
              <a:cxnLst/>
              <a:rect l="l" t="t" r="r" b="b"/>
              <a:pathLst>
                <a:path w="1887855" h="5080">
                  <a:moveTo>
                    <a:pt x="0" y="5060"/>
                  </a:moveTo>
                  <a:lnTo>
                    <a:pt x="0" y="0"/>
                  </a:lnTo>
                  <a:lnTo>
                    <a:pt x="1887739" y="0"/>
                  </a:lnTo>
                  <a:lnTo>
                    <a:pt x="18877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237" y="1333120"/>
            <a:ext cx="504190" cy="123189"/>
            <a:chOff x="626237" y="1333120"/>
            <a:chExt cx="504190" cy="123189"/>
          </a:xfrm>
        </p:grpSpPr>
        <p:sp>
          <p:nvSpPr>
            <p:cNvPr id="4" name="object 4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10856" y="1165592"/>
            <a:ext cx="840740" cy="290830"/>
            <a:chOff x="1210856" y="1165592"/>
            <a:chExt cx="840740" cy="290830"/>
          </a:xfrm>
        </p:grpSpPr>
        <p:sp>
          <p:nvSpPr>
            <p:cNvPr id="7" name="object 7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10691" y="1802891"/>
            <a:ext cx="683260" cy="457834"/>
            <a:chOff x="1110691" y="1802891"/>
            <a:chExt cx="683260" cy="457834"/>
          </a:xfrm>
        </p:grpSpPr>
        <p:sp>
          <p:nvSpPr>
            <p:cNvPr id="12" name="object 12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785897" y="1811097"/>
            <a:ext cx="504190" cy="441959"/>
            <a:chOff x="2785897" y="1811097"/>
            <a:chExt cx="504190" cy="441959"/>
          </a:xfrm>
        </p:grpSpPr>
        <p:sp>
          <p:nvSpPr>
            <p:cNvPr id="19" name="object 19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3468370" y="1811097"/>
            <a:ext cx="623570" cy="441959"/>
            <a:chOff x="3468370" y="1811097"/>
            <a:chExt cx="623570" cy="441959"/>
          </a:xfrm>
        </p:grpSpPr>
        <p:sp>
          <p:nvSpPr>
            <p:cNvPr id="26" name="object 26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7" name="object 27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47294" y="961355"/>
            <a:ext cx="506539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65,536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</a:t>
            </a:r>
            <a:r>
              <a:rPr lang="en-US" sz="900" spc="-9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10.0.255.255</a:t>
            </a:r>
            <a:r>
              <a:rPr lang="en-US" sz="900" spc="-434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34" name="object 3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6" name="object 36"/>
            <p:cNvSpPr/>
            <p:nvPr/>
          </p:nvSpPr>
          <p:spPr>
            <a:xfrm>
              <a:off x="0" y="3234963"/>
              <a:ext cx="1936750" cy="5080"/>
            </a:xfrm>
            <a:custGeom>
              <a:avLst/>
              <a:gdLst/>
              <a:ahLst/>
              <a:cxnLst/>
              <a:rect l="l" t="t" r="r" b="b"/>
              <a:pathLst>
                <a:path w="1936750" h="5080">
                  <a:moveTo>
                    <a:pt x="0" y="5060"/>
                  </a:moveTo>
                  <a:lnTo>
                    <a:pt x="0" y="0"/>
                  </a:lnTo>
                  <a:lnTo>
                    <a:pt x="1936167" y="0"/>
                  </a:lnTo>
                  <a:lnTo>
                    <a:pt x="1936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2143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if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want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cameras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904" y="836474"/>
            <a:ext cx="3840204" cy="209919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85010" cy="5080"/>
            </a:xfrm>
            <a:custGeom>
              <a:avLst/>
              <a:gdLst/>
              <a:ahLst/>
              <a:cxnLst/>
              <a:rect l="l" t="t" r="r" b="b"/>
              <a:pathLst>
                <a:path w="1985010" h="5080">
                  <a:moveTo>
                    <a:pt x="0" y="5060"/>
                  </a:moveTo>
                  <a:lnTo>
                    <a:pt x="0" y="0"/>
                  </a:lnTo>
                  <a:lnTo>
                    <a:pt x="1984595" y="0"/>
                  </a:lnTo>
                  <a:lnTo>
                    <a:pt x="19845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927" rIns="0" bIns="0" rtlCol="0">
            <a:spAutoFit/>
          </a:bodyPr>
          <a:lstStyle/>
          <a:p>
            <a:pPr marL="17780" marR="75565" indent="-444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how</a:t>
            </a:r>
            <a:r>
              <a:rPr lang="en-US" noProof="1"/>
              <a:t> do </a:t>
            </a:r>
            <a:r>
              <a:rPr lang="en-US" spc="-10" noProof="1"/>
              <a:t>routers</a:t>
            </a:r>
            <a:r>
              <a:rPr lang="en-US" noProof="1"/>
              <a:t> </a:t>
            </a:r>
            <a:r>
              <a:rPr lang="en-US" spc="-10" noProof="1"/>
              <a:t>apply</a:t>
            </a:r>
            <a:r>
              <a:rPr lang="en-US" spc="-5" noProof="1"/>
              <a:t> </a:t>
            </a:r>
            <a:r>
              <a:rPr lang="en-US" noProof="1"/>
              <a:t>different </a:t>
            </a:r>
            <a:r>
              <a:rPr lang="en-US" spc="-25" noProof="1"/>
              <a:t>rules</a:t>
            </a:r>
            <a:r>
              <a:rPr lang="en-US" noProof="1"/>
              <a:t> to different</a:t>
            </a:r>
            <a:r>
              <a:rPr lang="en-US" spc="-5" noProof="1"/>
              <a:t> </a:t>
            </a:r>
            <a:r>
              <a:rPr lang="en-US" spc="-35" noProof="1"/>
              <a:t>subnets?</a:t>
            </a:r>
            <a:r>
              <a:rPr lang="en-US" spc="85" noProof="1"/>
              <a:t> </a:t>
            </a:r>
            <a:r>
              <a:rPr lang="en-US" noProof="1"/>
              <a:t>They</a:t>
            </a:r>
            <a:r>
              <a:rPr lang="en-US" spc="-5" noProof="1"/>
              <a:t> </a:t>
            </a:r>
            <a:r>
              <a:rPr lang="en-US" spc="-55" noProof="1"/>
              <a:t>use</a:t>
            </a:r>
            <a:r>
              <a:rPr lang="en-US" noProof="1"/>
              <a:t> </a:t>
            </a:r>
            <a:r>
              <a:rPr lang="en-US" b="1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tables</a:t>
            </a:r>
            <a:r>
              <a:rPr lang="en-US" spc="-10" noProof="1"/>
              <a:t>.</a:t>
            </a:r>
            <a:r>
              <a:rPr lang="en-US" spc="80" noProof="1"/>
              <a:t> </a:t>
            </a:r>
            <a:r>
              <a:rPr lang="en-US" noProof="1"/>
              <a:t>It </a:t>
            </a:r>
            <a:r>
              <a:rPr lang="en-US" spc="-30" noProof="1"/>
              <a:t>consists</a:t>
            </a:r>
            <a:r>
              <a:rPr lang="en-US" noProof="1"/>
              <a:t> of </a:t>
            </a:r>
            <a:r>
              <a:rPr lang="en-US" spc="-50" noProof="1"/>
              <a:t>a</a:t>
            </a:r>
            <a:r>
              <a:rPr lang="en-US" noProof="1"/>
              <a:t> list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25" noProof="1"/>
              <a:t>rules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specify</a:t>
            </a:r>
            <a:r>
              <a:rPr lang="en-US" spc="5" noProof="1"/>
              <a:t> </a:t>
            </a: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spc="-10" noProof="1"/>
              <a:t>traﬀic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go</a:t>
            </a:r>
            <a:r>
              <a:rPr lang="en-US" spc="5" noProof="1"/>
              <a:t> </a:t>
            </a:r>
            <a:r>
              <a:rPr lang="en-US" spc="-10" noProof="1"/>
              <a:t>where.</a:t>
            </a:r>
          </a:p>
          <a:p>
            <a:pPr marL="15240" marR="5080" indent="-317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5" noProof="1"/>
              <a:t> </a:t>
            </a:r>
            <a:r>
              <a:rPr lang="en-US" spc="-10" noProof="1"/>
              <a:t>could</a:t>
            </a:r>
            <a:r>
              <a:rPr lang="en-US" spc="5" noProof="1"/>
              <a:t> </a:t>
            </a:r>
            <a:r>
              <a:rPr lang="en-US" noProof="1"/>
              <a:t>build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route</a:t>
            </a:r>
            <a:r>
              <a:rPr lang="en-US" spc="10" noProof="1"/>
              <a:t> </a:t>
            </a:r>
            <a:r>
              <a:rPr lang="en-US" noProof="1"/>
              <a:t>table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spc="-75" noProof="1"/>
              <a:t>says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traﬀic</a:t>
            </a:r>
            <a:r>
              <a:rPr lang="en-US" spc="10" noProof="1"/>
              <a:t> </a:t>
            </a:r>
            <a:r>
              <a:rPr lang="en-US" noProof="1"/>
              <a:t>from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marketing</a:t>
            </a:r>
            <a:r>
              <a:rPr lang="en-US" spc="10" noProof="1"/>
              <a:t> </a:t>
            </a:r>
            <a:r>
              <a:rPr lang="en-US" spc="-20" noProof="1"/>
              <a:t>department</a:t>
            </a:r>
            <a:r>
              <a:rPr lang="en-US" spc="10" noProof="1"/>
              <a:t> </a:t>
            </a:r>
            <a:r>
              <a:rPr lang="en-US" spc="-10" noProof="1"/>
              <a:t>and</a:t>
            </a:r>
            <a:r>
              <a:rPr lang="en-US" spc="10" noProof="1"/>
              <a:t> </a:t>
            </a:r>
            <a:r>
              <a:rPr lang="en-US" spc="-20" noProof="1"/>
              <a:t>security</a:t>
            </a:r>
            <a:r>
              <a:rPr lang="en-US" spc="5" noProof="1"/>
              <a:t> </a:t>
            </a:r>
            <a:r>
              <a:rPr lang="en-US" spc="-55" noProof="1"/>
              <a:t>cameras</a:t>
            </a:r>
            <a:r>
              <a:rPr lang="en-US" spc="-10" noProof="1"/>
              <a:t> can </a:t>
            </a:r>
            <a:r>
              <a:rPr lang="en-US" noProof="1"/>
              <a:t>go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10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noProof="1"/>
              <a:t>internet</a:t>
            </a:r>
            <a:r>
              <a:rPr lang="en-US" spc="-5" noProof="1"/>
              <a:t> </a:t>
            </a:r>
            <a:r>
              <a:rPr lang="en-US" noProof="1"/>
              <a:t>(so</a:t>
            </a:r>
            <a:r>
              <a:rPr lang="en-US" spc="-10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may</a:t>
            </a:r>
            <a:r>
              <a:rPr lang="en-US" spc="-10" noProof="1"/>
              <a:t> </a:t>
            </a:r>
            <a:r>
              <a:rPr lang="en-US" noProof="1"/>
              <a:t>simplify</a:t>
            </a:r>
            <a:r>
              <a:rPr lang="en-US" spc="-5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55" noProof="1"/>
              <a:t>say</a:t>
            </a:r>
            <a:r>
              <a:rPr lang="en-US" spc="-10" noProof="1"/>
              <a:t> </a:t>
            </a:r>
            <a:r>
              <a:rPr lang="en-US" noProof="1"/>
              <a:t>that</a:t>
            </a:r>
            <a:r>
              <a:rPr lang="en-US" spc="-5" noProof="1"/>
              <a:t> </a:t>
            </a:r>
            <a:r>
              <a:rPr lang="en-US" spc="-10" noProof="1"/>
              <a:t>traﬀic</a:t>
            </a:r>
            <a:r>
              <a:rPr lang="en-US" spc="-5" noProof="1"/>
              <a:t> </a:t>
            </a:r>
            <a:r>
              <a:rPr lang="en-US" noProof="1"/>
              <a:t>originating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b="1" spc="-20" noProof="1">
                <a:latin typeface="Arial"/>
                <a:cs typeface="Arial"/>
              </a:rPr>
              <a:t>any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10" noProof="1"/>
              <a:t>can</a:t>
            </a:r>
            <a:r>
              <a:rPr lang="en-US" spc="-5" noProof="1"/>
              <a:t> </a:t>
            </a:r>
            <a:r>
              <a:rPr lang="en-US" noProof="1"/>
              <a:t>go</a:t>
            </a:r>
            <a:r>
              <a:rPr lang="en-US" spc="-10" noProof="1"/>
              <a:t> </a:t>
            </a:r>
            <a:r>
              <a:rPr lang="en-US" spc="-25" noProof="1"/>
              <a:t>to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internet),</a:t>
            </a:r>
            <a:r>
              <a:rPr lang="en-US" spc="20" noProof="1"/>
              <a:t> </a:t>
            </a:r>
            <a:r>
              <a:rPr lang="en-US" noProof="1"/>
              <a:t>but</a:t>
            </a:r>
            <a:r>
              <a:rPr lang="en-US" spc="20" noProof="1"/>
              <a:t> </a:t>
            </a:r>
            <a:r>
              <a:rPr lang="en-US" spc="-10" noProof="1"/>
              <a:t>traﬀic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marketing</a:t>
            </a:r>
            <a:r>
              <a:rPr lang="en-US" spc="20" noProof="1"/>
              <a:t> </a:t>
            </a:r>
            <a:r>
              <a:rPr lang="en-US" spc="-10" noProof="1"/>
              <a:t>department</a:t>
            </a:r>
            <a:r>
              <a:rPr lang="en-US" spc="20" noProof="1"/>
              <a:t> </a:t>
            </a:r>
            <a:r>
              <a:rPr lang="en-US" noProof="1"/>
              <a:t>can’t</a:t>
            </a:r>
            <a:r>
              <a:rPr lang="en-US" spc="20" noProof="1"/>
              <a:t> </a:t>
            </a:r>
            <a:r>
              <a:rPr lang="en-US" noProof="1"/>
              <a:t>go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20" noProof="1"/>
              <a:t> </a:t>
            </a:r>
            <a:r>
              <a:rPr lang="en-US" spc="-40" noProof="1"/>
              <a:t>cameras</a:t>
            </a:r>
            <a:r>
              <a:rPr lang="en-US" spc="20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spc="-25" noProof="1"/>
              <a:t>and </a:t>
            </a:r>
            <a:r>
              <a:rPr lang="en-US" spc="-10" noProof="1"/>
              <a:t>vice</a:t>
            </a:r>
            <a:r>
              <a:rPr lang="en-US" spc="-50" noProof="1"/>
              <a:t> </a:t>
            </a:r>
            <a:r>
              <a:rPr lang="en-US" spc="-10" noProof="1"/>
              <a:t>versa.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033270" cy="5080"/>
            </a:xfrm>
            <a:custGeom>
              <a:avLst/>
              <a:gdLst/>
              <a:ahLst/>
              <a:cxnLst/>
              <a:rect l="l" t="t" r="r" b="b"/>
              <a:pathLst>
                <a:path w="2033270" h="5080">
                  <a:moveTo>
                    <a:pt x="0" y="5060"/>
                  </a:moveTo>
                  <a:lnTo>
                    <a:pt x="0" y="0"/>
                  </a:lnTo>
                  <a:lnTo>
                    <a:pt x="2032936" y="0"/>
                  </a:lnTo>
                  <a:lnTo>
                    <a:pt x="20329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712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905510" cy="5080"/>
            </a:xfrm>
            <a:custGeom>
              <a:avLst/>
              <a:gdLst/>
              <a:ahLst/>
              <a:cxnLst/>
              <a:rect l="l" t="t" r="r" b="b"/>
              <a:pathLst>
                <a:path w="905510" h="5080">
                  <a:moveTo>
                    <a:pt x="0" y="5060"/>
                  </a:moveTo>
                  <a:lnTo>
                    <a:pt x="0" y="0"/>
                  </a:lnTo>
                  <a:lnTo>
                    <a:pt x="905250" y="0"/>
                  </a:lnTo>
                  <a:lnTo>
                    <a:pt x="905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66563"/>
            <a:ext cx="49822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 about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general,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AWS?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reminder,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981909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129790" cy="5080"/>
            </a:xfrm>
            <a:custGeom>
              <a:avLst/>
              <a:gdLst/>
              <a:ahLst/>
              <a:cxnLst/>
              <a:rect l="l" t="t" r="r" b="b"/>
              <a:pathLst>
                <a:path w="2129790" h="5080">
                  <a:moveTo>
                    <a:pt x="0" y="5060"/>
                  </a:moveTo>
                  <a:lnTo>
                    <a:pt x="0" y="0"/>
                  </a:lnTo>
                  <a:lnTo>
                    <a:pt x="2129792" y="0"/>
                  </a:lnTo>
                  <a:lnTo>
                    <a:pt x="21297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How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networks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work?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964978"/>
            <a:ext cx="21405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1876" y="1205958"/>
            <a:ext cx="2356255" cy="11995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685" cy="5080"/>
            </a:xfrm>
            <a:custGeom>
              <a:avLst/>
              <a:gdLst/>
              <a:ahLst/>
              <a:cxnLst/>
              <a:rect l="l" t="t" r="r" b="b"/>
              <a:pathLst>
                <a:path w="2178685" h="5080">
                  <a:moveTo>
                    <a:pt x="0" y="5060"/>
                  </a:moveTo>
                  <a:lnTo>
                    <a:pt x="0" y="0"/>
                  </a:lnTo>
                  <a:lnTo>
                    <a:pt x="2178221" y="0"/>
                  </a:lnTo>
                  <a:lnTo>
                    <a:pt x="21782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32250"/>
            <a:ext cx="502412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space?</a:t>
            </a:r>
            <a:endParaRPr lang="en-US" sz="900" noProof="1">
              <a:latin typeface="Arial"/>
              <a:cs typeface="Arial"/>
            </a:endParaRPr>
          </a:p>
          <a:p>
            <a:pPr marL="12700" marR="220345">
              <a:lnSpc>
                <a:spcPct val="116199"/>
              </a:lnSpc>
              <a:spcBef>
                <a:spcPts val="6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(VPCs)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fancy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3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lives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configures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26945" cy="5080"/>
            </a:xfrm>
            <a:custGeom>
              <a:avLst/>
              <a:gdLst/>
              <a:ahLst/>
              <a:cxnLst/>
              <a:rect l="l" t="t" r="r" b="b"/>
              <a:pathLst>
                <a:path w="2226945" h="5080">
                  <a:moveTo>
                    <a:pt x="0" y="5060"/>
                  </a:moveTo>
                  <a:lnTo>
                    <a:pt x="0" y="0"/>
                  </a:lnTo>
                  <a:lnTo>
                    <a:pt x="2226561" y="0"/>
                  </a:lnTo>
                  <a:lnTo>
                    <a:pt x="22265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07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1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Experimenting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52830" cy="5080"/>
            </a:xfrm>
            <a:custGeom>
              <a:avLst/>
              <a:gdLst/>
              <a:ahLst/>
              <a:cxnLst/>
              <a:rect l="l" t="t" r="r" b="b"/>
              <a:pathLst>
                <a:path w="1052830" h="5080">
                  <a:moveTo>
                    <a:pt x="0" y="5060"/>
                  </a:moveTo>
                  <a:lnTo>
                    <a:pt x="0" y="0"/>
                  </a:lnTo>
                  <a:lnTo>
                    <a:pt x="1052615" y="0"/>
                  </a:lnTo>
                  <a:lnTo>
                    <a:pt x="1052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93096"/>
            <a:ext cx="49206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 Tables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625581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17140" cy="5080"/>
            </a:xfrm>
            <a:custGeom>
              <a:avLst/>
              <a:gdLst/>
              <a:ahLst/>
              <a:cxnLst/>
              <a:rect l="l" t="t" r="r" b="b"/>
              <a:pathLst>
                <a:path w="2517140" h="5080">
                  <a:moveTo>
                    <a:pt x="0" y="5060"/>
                  </a:moveTo>
                  <a:lnTo>
                    <a:pt x="0" y="0"/>
                  </a:lnTo>
                  <a:lnTo>
                    <a:pt x="2517043" y="0"/>
                  </a:lnTo>
                  <a:lnTo>
                    <a:pt x="25170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46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00" y="625557"/>
            <a:ext cx="4504221" cy="209925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65400" cy="5080"/>
            </a:xfrm>
            <a:custGeom>
              <a:avLst/>
              <a:gdLst/>
              <a:ahLst/>
              <a:cxnLst/>
              <a:rect l="l" t="t" r="r" b="b"/>
              <a:pathLst>
                <a:path w="2565400" h="5080">
                  <a:moveTo>
                    <a:pt x="0" y="5060"/>
                  </a:moveTo>
                  <a:lnTo>
                    <a:pt x="0" y="0"/>
                  </a:lnTo>
                  <a:lnTo>
                    <a:pt x="2565384" y="0"/>
                  </a:lnTo>
                  <a:lnTo>
                    <a:pt x="25653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1520181"/>
            <a:ext cx="504190" cy="147320"/>
            <a:chOff x="979360" y="1520181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1148426"/>
            <a:ext cx="2664460" cy="10839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 </a:t>
            </a:r>
            <a:r>
              <a:rPr lang="en-US" sz="900" spc="-20" noProof="1">
                <a:latin typeface="Courier New"/>
                <a:cs typeface="Courier New"/>
              </a:rPr>
              <a:t>only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14295" cy="5080"/>
            </a:xfrm>
            <a:custGeom>
              <a:avLst/>
              <a:gdLst/>
              <a:ahLst/>
              <a:cxnLst/>
              <a:rect l="l" t="t" r="r" b="b"/>
              <a:pathLst>
                <a:path w="2614295" h="5080">
                  <a:moveTo>
                    <a:pt x="0" y="5060"/>
                  </a:moveTo>
                  <a:lnTo>
                    <a:pt x="0" y="0"/>
                  </a:lnTo>
                  <a:lnTo>
                    <a:pt x="2613812" y="0"/>
                  </a:lnTo>
                  <a:lnTo>
                    <a:pt x="26138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0237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71"/>
            <a:ext cx="31305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add a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the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VPC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546" y="756805"/>
            <a:ext cx="4426920" cy="209920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662555" cy="5080"/>
            </a:xfrm>
            <a:custGeom>
              <a:avLst/>
              <a:gdLst/>
              <a:ahLst/>
              <a:cxnLst/>
              <a:rect l="l" t="t" r="r" b="b"/>
              <a:pathLst>
                <a:path w="2662555" h="5080">
                  <a:moveTo>
                    <a:pt x="0" y="5060"/>
                  </a:moveTo>
                  <a:lnTo>
                    <a:pt x="0" y="0"/>
                  </a:lnTo>
                  <a:lnTo>
                    <a:pt x="2662241" y="0"/>
                  </a:lnTo>
                  <a:lnTo>
                    <a:pt x="26622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35" noProof="1"/>
              <a:t>subnet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96494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(or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consistent)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10.0.1.0/24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710815" cy="5080"/>
            </a:xfrm>
            <a:custGeom>
              <a:avLst/>
              <a:gdLst/>
              <a:ahLst/>
              <a:cxnLst/>
              <a:rect l="l" t="t" r="r" b="b"/>
              <a:pathLst>
                <a:path w="2710815" h="5080">
                  <a:moveTo>
                    <a:pt x="0" y="5060"/>
                  </a:moveTo>
                  <a:lnTo>
                    <a:pt x="0" y="0"/>
                  </a:lnTo>
                  <a:lnTo>
                    <a:pt x="2710581" y="0"/>
                  </a:lnTo>
                  <a:lnTo>
                    <a:pt x="27105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0764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525533"/>
            <a:ext cx="13144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second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080" y="745658"/>
            <a:ext cx="4471853" cy="20992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59075" cy="5080"/>
            </a:xfrm>
            <a:custGeom>
              <a:avLst/>
              <a:gdLst/>
              <a:ahLst/>
              <a:cxnLst/>
              <a:rect l="l" t="t" r="r" b="b"/>
              <a:pathLst>
                <a:path w="2759075" h="5080">
                  <a:moveTo>
                    <a:pt x="0" y="5060"/>
                  </a:moveTo>
                  <a:lnTo>
                    <a:pt x="0" y="0"/>
                  </a:lnTo>
                  <a:lnTo>
                    <a:pt x="2759009" y="0"/>
                  </a:lnTo>
                  <a:lnTo>
                    <a:pt x="2759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35" noProof="1"/>
              <a:t>subnet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70967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10.0.2.0/24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807970" cy="5080"/>
            </a:xfrm>
            <a:custGeom>
              <a:avLst/>
              <a:gdLst/>
              <a:ahLst/>
              <a:cxnLst/>
              <a:rect l="l" t="t" r="r" b="b"/>
              <a:pathLst>
                <a:path w="2807970" h="5080">
                  <a:moveTo>
                    <a:pt x="0" y="5060"/>
                  </a:moveTo>
                  <a:lnTo>
                    <a:pt x="0" y="0"/>
                  </a:lnTo>
                  <a:lnTo>
                    <a:pt x="2807438" y="0"/>
                  </a:lnTo>
                  <a:lnTo>
                    <a:pt x="28074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Default</a:t>
            </a:r>
            <a:r>
              <a:rPr lang="en-US" spc="5" noProof="1"/>
              <a:t> </a:t>
            </a:r>
            <a:r>
              <a:rPr lang="en-US" noProof="1"/>
              <a:t>route</a:t>
            </a:r>
            <a:r>
              <a:rPr lang="en-US" spc="5" noProof="1"/>
              <a:t> </a:t>
            </a:r>
            <a:r>
              <a:rPr lang="en-US" spc="-10" noProof="1"/>
              <a:t>table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793385"/>
            <a:ext cx="499554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noticed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connected?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same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traﬀic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45398" y="1354867"/>
            <a:ext cx="1869197" cy="11995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56230" cy="5080"/>
            </a:xfrm>
            <a:custGeom>
              <a:avLst/>
              <a:gdLst/>
              <a:ahLst/>
              <a:cxnLst/>
              <a:rect l="l" t="t" r="r" b="b"/>
              <a:pathLst>
                <a:path w="2856230" h="5080">
                  <a:moveTo>
                    <a:pt x="0" y="5060"/>
                  </a:moveTo>
                  <a:lnTo>
                    <a:pt x="0" y="0"/>
                  </a:lnTo>
                  <a:lnTo>
                    <a:pt x="2855866" y="0"/>
                  </a:lnTo>
                  <a:lnTo>
                    <a:pt x="28558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471"/>
            <a:ext cx="34556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going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439" y="756801"/>
            <a:ext cx="4461143" cy="209921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904490" cy="5080"/>
            </a:xfrm>
            <a:custGeom>
              <a:avLst/>
              <a:gdLst/>
              <a:ahLst/>
              <a:cxnLst/>
              <a:rect l="l" t="t" r="r" b="b"/>
              <a:pathLst>
                <a:path w="2904490" h="5080">
                  <a:moveTo>
                    <a:pt x="0" y="5060"/>
                  </a:moveTo>
                  <a:lnTo>
                    <a:pt x="0" y="0"/>
                  </a:lnTo>
                  <a:lnTo>
                    <a:pt x="2904207" y="0"/>
                  </a:lnTo>
                  <a:lnTo>
                    <a:pt x="290420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public-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52750" cy="5080"/>
            </a:xfrm>
            <a:custGeom>
              <a:avLst/>
              <a:gdLst/>
              <a:ahLst/>
              <a:cxnLst/>
              <a:rect l="l" t="t" r="r" b="b"/>
              <a:pathLst>
                <a:path w="2952750" h="5080">
                  <a:moveTo>
                    <a:pt x="0" y="5060"/>
                  </a:moveTo>
                  <a:lnTo>
                    <a:pt x="0" y="0"/>
                  </a:lnTo>
                  <a:lnTo>
                    <a:pt x="2952635" y="0"/>
                  </a:lnTo>
                  <a:lnTo>
                    <a:pt x="29526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7477"/>
            <a:ext cx="5015230" cy="320040"/>
            <a:chOff x="372646" y="14574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6282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380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213492"/>
            <a:ext cx="4997450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error.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respond.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001645" cy="5080"/>
            </a:xfrm>
            <a:custGeom>
              <a:avLst/>
              <a:gdLst/>
              <a:ahLst/>
              <a:cxnLst/>
              <a:rect l="l" t="t" r="r" b="b"/>
              <a:pathLst>
                <a:path w="3001645" h="5080">
                  <a:moveTo>
                    <a:pt x="0" y="5060"/>
                  </a:moveTo>
                  <a:lnTo>
                    <a:pt x="0" y="0"/>
                  </a:lnTo>
                  <a:lnTo>
                    <a:pt x="3001063" y="0"/>
                  </a:lnTo>
                  <a:lnTo>
                    <a:pt x="3001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649155"/>
            <a:ext cx="5093970" cy="2092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reason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default.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entrypoint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745" marR="27305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bidirectional.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049905" cy="5080"/>
            </a:xfrm>
            <a:custGeom>
              <a:avLst/>
              <a:gdLst/>
              <a:ahLst/>
              <a:cxnLst/>
              <a:rect l="l" t="t" r="r" b="b"/>
              <a:pathLst>
                <a:path w="3049905" h="5080">
                  <a:moveTo>
                    <a:pt x="0" y="5060"/>
                  </a:moveTo>
                  <a:lnTo>
                    <a:pt x="0" y="0"/>
                  </a:lnTo>
                  <a:lnTo>
                    <a:pt x="3049404" y="0"/>
                  </a:lnTo>
                  <a:lnTo>
                    <a:pt x="30494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12118"/>
            <a:ext cx="475996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329" y="836448"/>
            <a:ext cx="4551347" cy="209924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098165" cy="5080"/>
            </a:xfrm>
            <a:custGeom>
              <a:avLst/>
              <a:gdLst/>
              <a:ahLst/>
              <a:cxnLst/>
              <a:rect l="l" t="t" r="r" b="b"/>
              <a:pathLst>
                <a:path w="3098165" h="5080">
                  <a:moveTo>
                    <a:pt x="0" y="5060"/>
                  </a:moveTo>
                  <a:lnTo>
                    <a:pt x="0" y="0"/>
                  </a:lnTo>
                  <a:lnTo>
                    <a:pt x="3097832" y="0"/>
                  </a:lnTo>
                  <a:lnTo>
                    <a:pt x="30978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91804" y="2293733"/>
            <a:ext cx="504190" cy="139065"/>
            <a:chOff x="1991804" y="2293733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923919"/>
            <a:ext cx="4039235" cy="1494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an 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Gateways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igw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146425" cy="5080"/>
            </a:xfrm>
            <a:custGeom>
              <a:avLst/>
              <a:gdLst/>
              <a:ahLst/>
              <a:cxnLst/>
              <a:rect l="l" t="t" r="r" b="b"/>
              <a:pathLst>
                <a:path w="3146425" h="5080">
                  <a:moveTo>
                    <a:pt x="0" y="5060"/>
                  </a:moveTo>
                  <a:lnTo>
                    <a:pt x="0" y="0"/>
                  </a:lnTo>
                  <a:lnTo>
                    <a:pt x="3146261" y="0"/>
                  </a:lnTo>
                  <a:lnTo>
                    <a:pt x="31462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93385"/>
            <a:ext cx="48990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despite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2785" y="1354849"/>
            <a:ext cx="1934428" cy="119957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194685" cy="5080"/>
            </a:xfrm>
            <a:custGeom>
              <a:avLst/>
              <a:gdLst/>
              <a:ahLst/>
              <a:cxnLst/>
              <a:rect l="l" t="t" r="r" b="b"/>
              <a:pathLst>
                <a:path w="3194685" h="5080">
                  <a:moveTo>
                    <a:pt x="0" y="5060"/>
                  </a:moveTo>
                  <a:lnTo>
                    <a:pt x="0" y="0"/>
                  </a:lnTo>
                  <a:lnTo>
                    <a:pt x="3194689" y="0"/>
                  </a:lnTo>
                  <a:lnTo>
                    <a:pt x="31946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5144"/>
            <a:ext cx="35591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2597" y="756121"/>
            <a:ext cx="4534820" cy="209921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43580" cy="5080"/>
            </a:xfrm>
            <a:custGeom>
              <a:avLst/>
              <a:gdLst/>
              <a:ahLst/>
              <a:cxnLst/>
              <a:rect l="l" t="t" r="r" b="b"/>
              <a:pathLst>
                <a:path w="3243580" h="5080">
                  <a:moveTo>
                    <a:pt x="0" y="5060"/>
                  </a:moveTo>
                  <a:lnTo>
                    <a:pt x="0" y="0"/>
                  </a:lnTo>
                  <a:lnTo>
                    <a:pt x="3243029" y="0"/>
                  </a:lnTo>
                  <a:lnTo>
                    <a:pt x="32430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02063"/>
            <a:ext cx="3985895" cy="2364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test-public-to-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8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2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8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igw).</a:t>
            </a:r>
            <a:endParaRPr lang="en-US" sz="800" noProof="1">
              <a:latin typeface="Arial"/>
              <a:cs typeface="Arial"/>
            </a:endParaRPr>
          </a:p>
          <a:p>
            <a:pPr marL="239395" indent="-20574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893"/>
            <a:ext cx="2794000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subnet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indeed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0100" cy="5080"/>
            </a:xfrm>
            <a:custGeom>
              <a:avLst/>
              <a:gdLst/>
              <a:ahLst/>
              <a:cxnLst/>
              <a:rect l="l" t="t" r="r" b="b"/>
              <a:pathLst>
                <a:path w="3340100" h="5080">
                  <a:moveTo>
                    <a:pt x="0" y="5060"/>
                  </a:moveTo>
                  <a:lnTo>
                    <a:pt x="0" y="0"/>
                  </a:lnTo>
                  <a:lnTo>
                    <a:pt x="3339886" y="0"/>
                  </a:lnTo>
                  <a:lnTo>
                    <a:pt x="33398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514459"/>
            <a:ext cx="35045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now 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756810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388360" cy="5080"/>
            </a:xfrm>
            <a:custGeom>
              <a:avLst/>
              <a:gdLst/>
              <a:ahLst/>
              <a:cxnLst/>
              <a:rect l="l" t="t" r="r" b="b"/>
              <a:pathLst>
                <a:path w="3388360" h="5080">
                  <a:moveTo>
                    <a:pt x="0" y="5060"/>
                  </a:moveTo>
                  <a:lnTo>
                    <a:pt x="0" y="0"/>
                  </a:lnTo>
                  <a:lnTo>
                    <a:pt x="3388314" y="0"/>
                  </a:lnTo>
                  <a:lnTo>
                    <a:pt x="33883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private-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37254" cy="5080"/>
            </a:xfrm>
            <a:custGeom>
              <a:avLst/>
              <a:gdLst/>
              <a:ahLst/>
              <a:cxnLst/>
              <a:rect l="l" t="t" r="r" b="b"/>
              <a:pathLst>
                <a:path w="3437254" h="5080">
                  <a:moveTo>
                    <a:pt x="0" y="5060"/>
                  </a:moveTo>
                  <a:lnTo>
                    <a:pt x="0" y="0"/>
                  </a:lnTo>
                  <a:lnTo>
                    <a:pt x="3436655" y="0"/>
                  </a:lnTo>
                  <a:lnTo>
                    <a:pt x="34366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3500" y="1815338"/>
            <a:ext cx="5562600" cy="320040"/>
            <a:chOff x="372646" y="1815338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82068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82166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9432" y="1036172"/>
            <a:ext cx="5970053" cy="14759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38671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subnet.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7780" marR="4273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step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be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scp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&lt;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your-public-ec2-instance-public-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ip</a:t>
            </a:r>
            <a:r>
              <a:rPr lang="en-US" sz="800" spc="-45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&gt;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:.ssh/</a:t>
            </a:r>
            <a:endParaRPr lang="en-US" sz="800" spc="-45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 marL="17780" marR="44577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is 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 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85515" cy="5080"/>
            </a:xfrm>
            <a:custGeom>
              <a:avLst/>
              <a:gdLst/>
              <a:ahLst/>
              <a:cxnLst/>
              <a:rect l="l" t="t" r="r" b="b"/>
              <a:pathLst>
                <a:path w="3485515" h="5080">
                  <a:moveTo>
                    <a:pt x="0" y="5060"/>
                  </a:moveTo>
                  <a:lnTo>
                    <a:pt x="0" y="0"/>
                  </a:lnTo>
                  <a:lnTo>
                    <a:pt x="3485083" y="0"/>
                  </a:lnTo>
                  <a:lnTo>
                    <a:pt x="34850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9870" y="608088"/>
            <a:ext cx="5015230" cy="320040"/>
            <a:chOff x="372646" y="101253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01788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885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40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50577" y="1264147"/>
            <a:ext cx="5015230" cy="320040"/>
            <a:chOff x="372646" y="1648041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1653388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54367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223497" y="1893858"/>
            <a:ext cx="5015230" cy="320040"/>
            <a:chOff x="372646" y="2283549"/>
            <a:chExt cx="5015230" cy="320040"/>
          </a:xfrm>
        </p:grpSpPr>
        <p:sp>
          <p:nvSpPr>
            <p:cNvPr id="10" name="object 10"/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3533775" cy="5080"/>
            </a:xfrm>
            <a:custGeom>
              <a:avLst/>
              <a:gdLst/>
              <a:ahLst/>
              <a:cxnLst/>
              <a:rect l="l" t="t" r="r" b="b"/>
              <a:pathLst>
                <a:path w="3533775" h="5080">
                  <a:moveTo>
                    <a:pt x="0" y="5060"/>
                  </a:moveTo>
                  <a:lnTo>
                    <a:pt x="0" y="0"/>
                  </a:lnTo>
                  <a:lnTo>
                    <a:pt x="3533512" y="0"/>
                  </a:lnTo>
                  <a:lnTo>
                    <a:pt x="35335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7" name="object 9">
            <a:extLst>
              <a:ext uri="{FF2B5EF4-FFF2-40B4-BE49-F238E27FC236}">
                <a16:creationId xmlns:a16="http://schemas.microsoft.com/office/drawing/2014/main" id="{A0E390B2-E774-4888-4054-D83113B1CF03}"/>
              </a:ext>
            </a:extLst>
          </p:cNvPr>
          <p:cNvGrpSpPr/>
          <p:nvPr/>
        </p:nvGrpSpPr>
        <p:grpSpPr>
          <a:xfrm>
            <a:off x="229870" y="2495775"/>
            <a:ext cx="5015230" cy="320040"/>
            <a:chOff x="372646" y="2283549"/>
            <a:chExt cx="5015230" cy="320040"/>
          </a:xfrm>
        </p:grpSpPr>
        <p:sp>
          <p:nvSpPr>
            <p:cNvPr id="18" name="object 10">
              <a:extLst>
                <a:ext uri="{FF2B5EF4-FFF2-40B4-BE49-F238E27FC236}">
                  <a16:creationId xmlns:a16="http://schemas.microsoft.com/office/drawing/2014/main" id="{39EA8810-5B8C-995C-AA4D-61F67B2DCCE0}"/>
                </a:ext>
              </a:extLst>
            </p:cNvPr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1">
              <a:extLst>
                <a:ext uri="{FF2B5EF4-FFF2-40B4-BE49-F238E27FC236}">
                  <a16:creationId xmlns:a16="http://schemas.microsoft.com/office/drawing/2014/main" id="{998DFD59-DB7A-721B-1295-72041E5E3CDA}"/>
                </a:ext>
              </a:extLst>
            </p:cNvPr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9700" y="367013"/>
            <a:ext cx="5105400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 chmod</a:t>
            </a:r>
            <a:r>
              <a:rPr lang="en-US" sz="800" spc="-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600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r>
              <a:rPr lang="en-US" sz="800" b="1" spc="-25" noProof="1">
                <a:solidFill>
                  <a:srgbClr val="666666"/>
                </a:solidFill>
                <a:latin typeface="Courier New"/>
                <a:cs typeface="Courier New"/>
              </a:rPr>
              <a:t>Usually, the private EC2 instance has no public IP address.</a:t>
            </a:r>
            <a:endParaRPr lang="en-US" sz="800" b="1" noProof="1">
              <a:latin typeface="Courier New"/>
              <a:cs typeface="Courier New"/>
            </a:endParaRPr>
          </a:p>
        </p:txBody>
      </p: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40675"/>
            <a:ext cx="5015230" cy="320040"/>
            <a:chOff x="372646" y="1740675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746022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47001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76177"/>
            <a:ext cx="5015230" cy="311785"/>
            <a:chOff x="372646" y="2376177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2381524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8250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438394"/>
            <a:ext cx="5069840" cy="253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2890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instead.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signaling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582035" cy="5080"/>
            </a:xfrm>
            <a:custGeom>
              <a:avLst/>
              <a:gdLst/>
              <a:ahLst/>
              <a:cxnLst/>
              <a:rect l="l" t="t" r="r" b="b"/>
              <a:pathLst>
                <a:path w="3582035" h="5080">
                  <a:moveTo>
                    <a:pt x="0" y="5060"/>
                  </a:moveTo>
                  <a:lnTo>
                    <a:pt x="0" y="0"/>
                  </a:lnTo>
                  <a:lnTo>
                    <a:pt x="3581852" y="0"/>
                  </a:lnTo>
                  <a:lnTo>
                    <a:pt x="35818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22293"/>
            <a:ext cx="372173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be.</a:t>
            </a:r>
            <a:endParaRPr lang="en-US" sz="900" noProof="1">
              <a:latin typeface="Arial"/>
              <a:cs typeface="Arial"/>
            </a:endParaRPr>
          </a:p>
          <a:p>
            <a:pPr marL="233679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367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30295" cy="5080"/>
            </a:xfrm>
            <a:custGeom>
              <a:avLst/>
              <a:gdLst/>
              <a:ahLst/>
              <a:cxnLst/>
              <a:rect l="l" t="t" r="r" b="b"/>
              <a:pathLst>
                <a:path w="3630295" h="5080">
                  <a:moveTo>
                    <a:pt x="0" y="5060"/>
                  </a:moveTo>
                  <a:lnTo>
                    <a:pt x="0" y="0"/>
                  </a:lnTo>
                  <a:lnTo>
                    <a:pt x="3630280" y="0"/>
                  </a:lnTo>
                  <a:lnTo>
                    <a:pt x="36302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1718" y="515144"/>
            <a:ext cx="14655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9602" y="756117"/>
            <a:ext cx="4200816" cy="209922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679190" cy="5080"/>
            </a:xfrm>
            <a:custGeom>
              <a:avLst/>
              <a:gdLst/>
              <a:ahLst/>
              <a:cxnLst/>
              <a:rect l="l" t="t" r="r" b="b"/>
              <a:pathLst>
                <a:path w="3679190" h="5080">
                  <a:moveTo>
                    <a:pt x="0" y="5060"/>
                  </a:moveTo>
                  <a:lnTo>
                    <a:pt x="0" y="0"/>
                  </a:lnTo>
                  <a:lnTo>
                    <a:pt x="3678709" y="0"/>
                  </a:lnTo>
                  <a:lnTo>
                    <a:pt x="3678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33"/>
            <a:ext cx="34728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1212" y="756784"/>
            <a:ext cx="4437597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27450" cy="5080"/>
            </a:xfrm>
            <a:custGeom>
              <a:avLst/>
              <a:gdLst/>
              <a:ahLst/>
              <a:cxnLst/>
              <a:rect l="l" t="t" r="r" b="b"/>
              <a:pathLst>
                <a:path w="3727450" h="5080">
                  <a:moveTo>
                    <a:pt x="0" y="5060"/>
                  </a:moveTo>
                  <a:lnTo>
                    <a:pt x="0" y="0"/>
                  </a:lnTo>
                  <a:lnTo>
                    <a:pt x="3727137" y="0"/>
                  </a:lnTo>
                  <a:lnTo>
                    <a:pt x="3727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515132"/>
            <a:ext cx="3662679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299" y="756110"/>
            <a:ext cx="4423405" cy="20992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75710" cy="5080"/>
            </a:xfrm>
            <a:custGeom>
              <a:avLst/>
              <a:gdLst/>
              <a:ahLst/>
              <a:cxnLst/>
              <a:rect l="l" t="t" r="r" b="b"/>
              <a:pathLst>
                <a:path w="3775710" h="5080">
                  <a:moveTo>
                    <a:pt x="0" y="5060"/>
                  </a:moveTo>
                  <a:lnTo>
                    <a:pt x="0" y="0"/>
                  </a:lnTo>
                  <a:lnTo>
                    <a:pt x="3775478" y="0"/>
                  </a:lnTo>
                  <a:lnTo>
                    <a:pt x="37754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93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642110" cy="5080"/>
            </a:xfrm>
            <a:custGeom>
              <a:avLst/>
              <a:gdLst/>
              <a:ahLst/>
              <a:cxnLst/>
              <a:rect l="l" t="t" r="r" b="b"/>
              <a:pathLst>
                <a:path w="1642110" h="5080">
                  <a:moveTo>
                    <a:pt x="0" y="5060"/>
                  </a:moveTo>
                  <a:lnTo>
                    <a:pt x="0" y="0"/>
                  </a:lnTo>
                  <a:lnTo>
                    <a:pt x="1642074" y="0"/>
                  </a:lnTo>
                  <a:lnTo>
                    <a:pt x="16420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012" y="1012825"/>
            <a:ext cx="5072380" cy="981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(VPN)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behave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physically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secure.</a:t>
            </a:r>
            <a:endParaRPr lang="en-US" sz="900" noProof="1">
              <a:latin typeface="Arial"/>
              <a:cs typeface="Arial"/>
            </a:endParaRPr>
          </a:p>
          <a:p>
            <a:pPr marL="16510" marR="38100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network.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23970" cy="5080"/>
            </a:xfrm>
            <a:custGeom>
              <a:avLst/>
              <a:gdLst/>
              <a:ahLst/>
              <a:cxnLst/>
              <a:rect l="l" t="t" r="r" b="b"/>
              <a:pathLst>
                <a:path w="3823970" h="5080">
                  <a:moveTo>
                    <a:pt x="0" y="5060"/>
                  </a:moveTo>
                  <a:lnTo>
                    <a:pt x="0" y="0"/>
                  </a:lnTo>
                  <a:lnTo>
                    <a:pt x="3823906" y="0"/>
                  </a:lnTo>
                  <a:lnTo>
                    <a:pt x="38239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3">
            <a:extLst>
              <a:ext uri="{FF2B5EF4-FFF2-40B4-BE49-F238E27FC236}">
                <a16:creationId xmlns:a16="http://schemas.microsoft.com/office/drawing/2014/main" id="{96046F9F-88FD-5B6F-C7E5-B5BF60AEE741}"/>
              </a:ext>
            </a:extLst>
          </p:cNvPr>
          <p:cNvSpPr txBox="1"/>
          <p:nvPr/>
        </p:nvSpPr>
        <p:spPr>
          <a:xfrm>
            <a:off x="337012" y="2232025"/>
            <a:ext cx="4746625" cy="55592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mainly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securely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anywhere.</a:t>
            </a:r>
            <a:endParaRPr lang="en-US" sz="9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09615"/>
            <a:ext cx="5069840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6350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buildings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 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21125" cy="5080"/>
            </a:xfrm>
            <a:custGeom>
              <a:avLst/>
              <a:gdLst/>
              <a:ahLst/>
              <a:cxnLst/>
              <a:rect l="l" t="t" r="r" b="b"/>
              <a:pathLst>
                <a:path w="3921125" h="5080">
                  <a:moveTo>
                    <a:pt x="0" y="5060"/>
                  </a:moveTo>
                  <a:lnTo>
                    <a:pt x="0" y="0"/>
                  </a:lnTo>
                  <a:lnTo>
                    <a:pt x="3920763" y="0"/>
                  </a:lnTo>
                  <a:lnTo>
                    <a:pt x="39207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05" y="625561"/>
            <a:ext cx="4352792" cy="209926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969385" cy="5080"/>
            </a:xfrm>
            <a:custGeom>
              <a:avLst/>
              <a:gdLst/>
              <a:ahLst/>
              <a:cxnLst/>
              <a:rect l="l" t="t" r="r" b="b"/>
              <a:pathLst>
                <a:path w="3969385" h="5080">
                  <a:moveTo>
                    <a:pt x="0" y="5060"/>
                  </a:moveTo>
                  <a:lnTo>
                    <a:pt x="0" y="0"/>
                  </a:lnTo>
                  <a:lnTo>
                    <a:pt x="3969103" y="0"/>
                  </a:lnTo>
                  <a:lnTo>
                    <a:pt x="39691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5614" y="625582"/>
            <a:ext cx="4308784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017645" cy="5080"/>
            </a:xfrm>
            <a:custGeom>
              <a:avLst/>
              <a:gdLst/>
              <a:ahLst/>
              <a:cxnLst/>
              <a:rect l="l" t="t" r="r" b="b"/>
              <a:pathLst>
                <a:path w="4017645" h="5080">
                  <a:moveTo>
                    <a:pt x="0" y="5060"/>
                  </a:moveTo>
                  <a:lnTo>
                    <a:pt x="0" y="0"/>
                  </a:lnTo>
                  <a:lnTo>
                    <a:pt x="4017531" y="0"/>
                  </a:lnTo>
                  <a:lnTo>
                    <a:pt x="40175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8040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7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Building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our</a:t>
            </a:r>
            <a:r>
              <a:rPr lang="en-US" sz="1100" b="1" spc="-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own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768475" cy="5080"/>
            </a:xfrm>
            <a:custGeom>
              <a:avLst/>
              <a:gdLst/>
              <a:ahLst/>
              <a:cxnLst/>
              <a:rect l="l" t="t" r="r" b="b"/>
              <a:pathLst>
                <a:path w="1768475" h="5080">
                  <a:moveTo>
                    <a:pt x="0" y="5060"/>
                  </a:moveTo>
                  <a:lnTo>
                    <a:pt x="0" y="0"/>
                  </a:lnTo>
                  <a:lnTo>
                    <a:pt x="1768414" y="0"/>
                  </a:lnTo>
                  <a:lnTo>
                    <a:pt x="17684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251744"/>
            <a:ext cx="31508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612" y="625578"/>
            <a:ext cx="4856785" cy="209921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63060" cy="5080"/>
            </a:xfrm>
            <a:custGeom>
              <a:avLst/>
              <a:gdLst/>
              <a:ahLst/>
              <a:cxnLst/>
              <a:rect l="l" t="t" r="r" b="b"/>
              <a:pathLst>
                <a:path w="4163060" h="5080">
                  <a:moveTo>
                    <a:pt x="0" y="5060"/>
                  </a:moveTo>
                  <a:lnTo>
                    <a:pt x="0" y="0"/>
                  </a:lnTo>
                  <a:lnTo>
                    <a:pt x="4162729" y="0"/>
                  </a:lnTo>
                  <a:lnTo>
                    <a:pt x="41627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460" y="625598"/>
            <a:ext cx="4849090" cy="209917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211320" cy="5080"/>
            </a:xfrm>
            <a:custGeom>
              <a:avLst/>
              <a:gdLst/>
              <a:ahLst/>
              <a:cxnLst/>
              <a:rect l="l" t="t" r="r" b="b"/>
              <a:pathLst>
                <a:path w="4211320" h="5080">
                  <a:moveTo>
                    <a:pt x="0" y="5060"/>
                  </a:moveTo>
                  <a:lnTo>
                    <a:pt x="0" y="0"/>
                  </a:lnTo>
                  <a:lnTo>
                    <a:pt x="4211157" y="0"/>
                  </a:lnTo>
                  <a:lnTo>
                    <a:pt x="42111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235367" y="2173192"/>
            <a:ext cx="4247733" cy="451484"/>
            <a:chOff x="372646" y="2259693"/>
            <a:chExt cx="5015230" cy="451484"/>
          </a:xfrm>
        </p:grpSpPr>
        <p:sp>
          <p:nvSpPr>
            <p:cNvPr id="13" name="object 13"/>
            <p:cNvSpPr/>
            <p:nvPr/>
          </p:nvSpPr>
          <p:spPr>
            <a:xfrm>
              <a:off x="377994" y="226504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226601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8527" y="578400"/>
            <a:ext cx="5451373" cy="19688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https://github.com/OpenVPN/easy-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rsa/releases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Assets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endParaRPr lang="en-US" sz="900" noProof="1">
              <a:latin typeface="Arial"/>
              <a:cs typeface="Arial"/>
            </a:endParaRPr>
          </a:p>
          <a:p>
            <a:pPr marL="252729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latin typeface="Courier New"/>
                <a:cs typeface="Courier New"/>
              </a:rPr>
              <a:t>win64.zip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extract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 startAt="2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.\EasyRSA-</a:t>
            </a:r>
            <a:r>
              <a:rPr lang="en-US" sz="900" spc="-10" noProof="1">
                <a:latin typeface="Courier New"/>
                <a:cs typeface="Courier New"/>
              </a:rPr>
              <a:t>Start.bat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git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clone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https://github.com/OpenVPN/easy-rsa.git </a:t>
            </a: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easy-</a:t>
            </a:r>
            <a:r>
              <a:rPr lang="en-US" sz="800" spc="-10" noProof="1">
                <a:latin typeface="Courier New"/>
                <a:cs typeface="Courier New"/>
              </a:rPr>
              <a:t>rsa/easyrsa3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4259580" cy="5080"/>
            </a:xfrm>
            <a:custGeom>
              <a:avLst/>
              <a:gdLst/>
              <a:ahLst/>
              <a:cxnLst/>
              <a:rect l="l" t="t" r="r" b="b"/>
              <a:pathLst>
                <a:path w="4259580" h="5080">
                  <a:moveTo>
                    <a:pt x="0" y="5060"/>
                  </a:moveTo>
                  <a:lnTo>
                    <a:pt x="0" y="0"/>
                  </a:lnTo>
                  <a:lnTo>
                    <a:pt x="4259585" y="0"/>
                  </a:lnTo>
                  <a:lnTo>
                    <a:pt x="42595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4762"/>
            <a:ext cx="5015230" cy="451484"/>
            <a:chOff x="372646" y="1264762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7011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7108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31213"/>
            <a:ext cx="5015230" cy="320040"/>
            <a:chOff x="372646" y="2031213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036560"/>
              <a:ext cx="5004435" cy="309880"/>
            </a:xfrm>
            <a:custGeom>
              <a:avLst/>
              <a:gdLst/>
              <a:ahLst/>
              <a:cxnLst/>
              <a:rect l="l" t="t" r="r" b="b"/>
              <a:pathLst>
                <a:path w="5004435" h="3098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328"/>
                  </a:lnTo>
                  <a:lnTo>
                    <a:pt x="2829" y="287341"/>
                  </a:lnTo>
                  <a:lnTo>
                    <a:pt x="10544" y="298784"/>
                  </a:lnTo>
                  <a:lnTo>
                    <a:pt x="21987" y="306499"/>
                  </a:lnTo>
                  <a:lnTo>
                    <a:pt x="36000" y="309328"/>
                  </a:lnTo>
                  <a:lnTo>
                    <a:pt x="4968064" y="309328"/>
                  </a:lnTo>
                  <a:lnTo>
                    <a:pt x="4982077" y="306499"/>
                  </a:lnTo>
                  <a:lnTo>
                    <a:pt x="4993521" y="298784"/>
                  </a:lnTo>
                  <a:lnTo>
                    <a:pt x="5001236" y="287341"/>
                  </a:lnTo>
                  <a:lnTo>
                    <a:pt x="5004065" y="273328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37539"/>
              <a:ext cx="5002530" cy="307975"/>
            </a:xfrm>
            <a:custGeom>
              <a:avLst/>
              <a:gdLst/>
              <a:ahLst/>
              <a:cxnLst/>
              <a:rect l="l" t="t" r="r" b="b"/>
              <a:pathLst>
                <a:path w="5002530" h="307975">
                  <a:moveTo>
                    <a:pt x="0" y="27234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348"/>
                  </a:lnTo>
                  <a:lnTo>
                    <a:pt x="4999354" y="285980"/>
                  </a:lnTo>
                  <a:lnTo>
                    <a:pt x="4991849" y="297112"/>
                  </a:lnTo>
                  <a:lnTo>
                    <a:pt x="4980717" y="304617"/>
                  </a:lnTo>
                  <a:lnTo>
                    <a:pt x="4967085" y="307369"/>
                  </a:lnTo>
                  <a:lnTo>
                    <a:pt x="35021" y="307369"/>
                  </a:lnTo>
                  <a:lnTo>
                    <a:pt x="21389" y="304617"/>
                  </a:lnTo>
                  <a:lnTo>
                    <a:pt x="10257" y="297112"/>
                  </a:lnTo>
                  <a:lnTo>
                    <a:pt x="2752" y="285980"/>
                  </a:lnTo>
                  <a:lnTo>
                    <a:pt x="0" y="27234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20782"/>
            <a:ext cx="3667760" cy="12638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running,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init-</a:t>
            </a:r>
            <a:r>
              <a:rPr lang="en-US" sz="800" spc="-25" noProof="1">
                <a:latin typeface="Courier New"/>
                <a:cs typeface="Courier New"/>
              </a:rPr>
              <a:t>pki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</a:t>
            </a:r>
            <a:r>
              <a:rPr lang="en-US" sz="800" spc="-50" noProof="1">
                <a:latin typeface="Courier New"/>
                <a:cs typeface="Courier New"/>
              </a:rPr>
              <a:t>ca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Common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Name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55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55" noProof="1">
                <a:latin typeface="Courier New"/>
                <a:cs typeface="Courier New"/>
              </a:rPr>
              <a:t>eg: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your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user,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host,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name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[Easy-</a:t>
            </a:r>
            <a:r>
              <a:rPr lang="en-US" sz="800" spc="-50" noProof="1">
                <a:latin typeface="Courier New"/>
                <a:cs typeface="Courier New"/>
              </a:rPr>
              <a:t>RSA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CA]: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308475" cy="5080"/>
            </a:xfrm>
            <a:custGeom>
              <a:avLst/>
              <a:gdLst/>
              <a:ahLst/>
              <a:cxnLst/>
              <a:rect l="l" t="t" r="r" b="b"/>
              <a:pathLst>
                <a:path w="4308475" h="5080">
                  <a:moveTo>
                    <a:pt x="0" y="5060"/>
                  </a:moveTo>
                  <a:lnTo>
                    <a:pt x="0" y="0"/>
                  </a:lnTo>
                  <a:lnTo>
                    <a:pt x="4307926" y="0"/>
                  </a:lnTo>
                  <a:lnTo>
                    <a:pt x="4307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196995"/>
            <a:ext cx="5015230" cy="451484"/>
            <a:chOff x="372646" y="1196995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02342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03322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3381" y="1770738"/>
            <a:ext cx="204657" cy="126450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72646" y="1975314"/>
            <a:ext cx="5015230" cy="443865"/>
            <a:chOff x="372646" y="1975314"/>
            <a:chExt cx="5015230" cy="443865"/>
          </a:xfrm>
        </p:grpSpPr>
        <p:sp>
          <p:nvSpPr>
            <p:cNvPr id="8" name="object 8"/>
            <p:cNvSpPr/>
            <p:nvPr/>
          </p:nvSpPr>
          <p:spPr>
            <a:xfrm>
              <a:off x="377994" y="1980661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994"/>
                  </a:lnTo>
                  <a:lnTo>
                    <a:pt x="2829" y="411007"/>
                  </a:lnTo>
                  <a:lnTo>
                    <a:pt x="10544" y="422450"/>
                  </a:lnTo>
                  <a:lnTo>
                    <a:pt x="21987" y="430165"/>
                  </a:lnTo>
                  <a:lnTo>
                    <a:pt x="36000" y="432995"/>
                  </a:lnTo>
                  <a:lnTo>
                    <a:pt x="4968064" y="432995"/>
                  </a:lnTo>
                  <a:lnTo>
                    <a:pt x="4982077" y="430165"/>
                  </a:lnTo>
                  <a:lnTo>
                    <a:pt x="4993521" y="422450"/>
                  </a:lnTo>
                  <a:lnTo>
                    <a:pt x="5001236" y="411007"/>
                  </a:lnTo>
                  <a:lnTo>
                    <a:pt x="5004065" y="39699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378973" y="1981640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601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6015"/>
                  </a:lnTo>
                  <a:lnTo>
                    <a:pt x="4999354" y="409647"/>
                  </a:lnTo>
                  <a:lnTo>
                    <a:pt x="4991849" y="420779"/>
                  </a:lnTo>
                  <a:lnTo>
                    <a:pt x="4980717" y="428284"/>
                  </a:lnTo>
                  <a:lnTo>
                    <a:pt x="4967085" y="431036"/>
                  </a:lnTo>
                  <a:lnTo>
                    <a:pt x="35021" y="431036"/>
                  </a:lnTo>
                  <a:lnTo>
                    <a:pt x="21389" y="428284"/>
                  </a:lnTo>
                  <a:lnTo>
                    <a:pt x="10257" y="420779"/>
                  </a:lnTo>
                  <a:lnTo>
                    <a:pt x="2752" y="409647"/>
                  </a:lnTo>
                  <a:lnTo>
                    <a:pt x="0" y="39601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7" y="953015"/>
            <a:ext cx="4015017" cy="138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san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DNS:server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build-server-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build-client-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client1.domain.tld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 both commands, when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yes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3215" marR="5080" indent="-10795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Type</a:t>
            </a:r>
            <a:r>
              <a:rPr lang="en-US" sz="800" spc="-50" noProof="1">
                <a:latin typeface="Courier New"/>
                <a:cs typeface="Courier New"/>
              </a:rPr>
              <a:t> the </a:t>
            </a:r>
            <a:r>
              <a:rPr lang="en-US" sz="800" spc="-55" noProof="1">
                <a:latin typeface="Courier New"/>
                <a:cs typeface="Courier New"/>
              </a:rPr>
              <a:t>word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'yes'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continue,</a:t>
            </a:r>
            <a:r>
              <a:rPr lang="en-US" sz="800" spc="-50" noProof="1">
                <a:latin typeface="Courier New"/>
                <a:cs typeface="Courier New"/>
              </a:rPr>
              <a:t> or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any </a:t>
            </a:r>
            <a:r>
              <a:rPr lang="en-US" sz="800" spc="-60" noProof="1">
                <a:latin typeface="Courier New"/>
                <a:cs typeface="Courier New"/>
              </a:rPr>
              <a:t>other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input</a:t>
            </a:r>
            <a:r>
              <a:rPr lang="en-US" sz="800" spc="-50" noProof="1">
                <a:latin typeface="Courier New"/>
                <a:cs typeface="Courier New"/>
              </a:rPr>
              <a:t> to</a:t>
            </a:r>
            <a:r>
              <a:rPr lang="en-US" sz="800" spc="-45" noProof="1">
                <a:latin typeface="Courier New"/>
                <a:cs typeface="Courier New"/>
              </a:rPr>
              <a:t> abort. </a:t>
            </a:r>
            <a:r>
              <a:rPr lang="en-US" sz="800" spc="-60" noProof="1">
                <a:latin typeface="Courier New"/>
                <a:cs typeface="Courier New"/>
              </a:rPr>
              <a:t>Confirm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requested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details: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356735" cy="5080"/>
            </a:xfrm>
            <a:custGeom>
              <a:avLst/>
              <a:gdLst/>
              <a:ahLst/>
              <a:cxnLst/>
              <a:rect l="l" t="t" r="r" b="b"/>
              <a:pathLst>
                <a:path w="4356735" h="5080">
                  <a:moveTo>
                    <a:pt x="0" y="5060"/>
                  </a:moveTo>
                  <a:lnTo>
                    <a:pt x="0" y="0"/>
                  </a:lnTo>
                  <a:lnTo>
                    <a:pt x="4356354" y="0"/>
                  </a:lnTo>
                  <a:lnTo>
                    <a:pt x="435635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16291" y="1167592"/>
            <a:ext cx="264795" cy="120650"/>
            <a:chOff x="1416291" y="1167592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38754"/>
            <a:ext cx="5015230" cy="1096645"/>
            <a:chOff x="372646" y="1538754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544102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45081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14441"/>
            <a:ext cx="4966335" cy="182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6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Okay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easier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exit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(instructions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slide):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55" noProof="1">
                <a:latin typeface="Courier New"/>
                <a:cs typeface="Courier New"/>
              </a:rPr>
              <a:t>a.crt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38252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55" noProof="1">
                <a:latin typeface="Courier New"/>
                <a:cs typeface="Courier New"/>
              </a:rPr>
              <a:t>ssued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erver.crt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C:</a:t>
            </a:r>
            <a:r>
              <a:rPr lang="en-US" sz="800" spc="-3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5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55" noProof="1">
                <a:latin typeface="Courier New"/>
                <a:cs typeface="Courier New"/>
              </a:rPr>
              <a:t>rivate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erver.key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73736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60" noProof="1">
                <a:latin typeface="Courier New"/>
                <a:cs typeface="Courier New"/>
              </a:rPr>
              <a:t>ssued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lient1.domain.tld.crt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30" noProof="1">
                <a:latin typeface="Courier New"/>
                <a:cs typeface="Courier New"/>
              </a:rPr>
              <a:t>C:</a:t>
            </a:r>
            <a:r>
              <a:rPr lang="en-US" sz="800" spc="-3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0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rivate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lient1.domain.tld.key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04995" cy="5080"/>
            </a:xfrm>
            <a:custGeom>
              <a:avLst/>
              <a:gdLst/>
              <a:ahLst/>
              <a:cxnLst/>
              <a:rect l="l" t="t" r="r" b="b"/>
              <a:pathLst>
                <a:path w="4404995" h="5080">
                  <a:moveTo>
                    <a:pt x="0" y="5060"/>
                  </a:moveTo>
                  <a:lnTo>
                    <a:pt x="0" y="0"/>
                  </a:lnTo>
                  <a:lnTo>
                    <a:pt x="4404783" y="0"/>
                  </a:lnTo>
                  <a:lnTo>
                    <a:pt x="44047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49180" y="1048098"/>
            <a:ext cx="264795" cy="120650"/>
            <a:chOff x="3249180" y="1048098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03276" y="1241425"/>
            <a:ext cx="5070423" cy="1280160"/>
            <a:chOff x="372646" y="1259926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265273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266252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3" y="1015956"/>
            <a:ext cx="3542817" cy="137903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exit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/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cd </a:t>
            </a:r>
            <a:r>
              <a:rPr lang="es-ES" sz="800" dirty="0"/>
              <a:t>easyrsa3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 </a:t>
            </a:r>
            <a:r>
              <a:rPr lang="en-US" sz="800" spc="-55" noProof="1">
                <a:latin typeface="Courier New"/>
                <a:cs typeface="Courier New"/>
              </a:rPr>
              <a:t>pki/ca.crt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78105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pki/issued/server.crt</a:t>
            </a:r>
            <a:r>
              <a:rPr lang="en-US" sz="800" spc="-35" noProof="1">
                <a:latin typeface="Courier New"/>
                <a:cs typeface="Courier New"/>
              </a:rPr>
              <a:t> ~/custom_folder/ </a:t>
            </a:r>
          </a:p>
          <a:p>
            <a:pPr marL="210185" marR="781050">
              <a:lnSpc>
                <a:spcPct val="107400"/>
              </a:lnSpc>
            </a:pP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pki/private/server.key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pki/issued/client1.domain.tld.crt</a:t>
            </a:r>
            <a:r>
              <a:rPr lang="en-US" sz="800" spc="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pki/private/client1.domain.tld.key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53255" cy="5080"/>
            </a:xfrm>
            <a:custGeom>
              <a:avLst/>
              <a:gdLst/>
              <a:ahLst/>
              <a:cxnLst/>
              <a:rect l="l" t="t" r="r" b="b"/>
              <a:pathLst>
                <a:path w="4453255" h="5080">
                  <a:moveTo>
                    <a:pt x="0" y="5060"/>
                  </a:moveTo>
                  <a:lnTo>
                    <a:pt x="0" y="0"/>
                  </a:lnTo>
                  <a:lnTo>
                    <a:pt x="4453123" y="0"/>
                  </a:lnTo>
                  <a:lnTo>
                    <a:pt x="44531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Import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60" noProof="1"/>
              <a:t> </a:t>
            </a:r>
            <a:r>
              <a:rPr lang="en-US" spc="-25" noProof="1"/>
              <a:t>certificates</a:t>
            </a:r>
            <a:r>
              <a:rPr lang="en-US" spc="60" noProof="1"/>
              <a:t> </a:t>
            </a:r>
            <a:r>
              <a:rPr lang="en-US" noProof="1"/>
              <a:t>to</a:t>
            </a:r>
            <a:r>
              <a:rPr lang="en-US" spc="60" noProof="1"/>
              <a:t> </a:t>
            </a:r>
            <a:r>
              <a:rPr lang="en-US" spc="-25" noProof="1"/>
              <a:t>AWS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0338"/>
            <a:ext cx="5015230" cy="582295"/>
            <a:chOff x="372646" y="1260338"/>
            <a:chExt cx="5015230" cy="582295"/>
          </a:xfrm>
        </p:grpSpPr>
        <p:sp>
          <p:nvSpPr>
            <p:cNvPr id="4" name="object 4"/>
            <p:cNvSpPr/>
            <p:nvPr/>
          </p:nvSpPr>
          <p:spPr>
            <a:xfrm>
              <a:off x="377994" y="1265685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66664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933044"/>
            <a:ext cx="5015230" cy="582295"/>
            <a:chOff x="372646" y="1933044"/>
            <a:chExt cx="5015230" cy="582295"/>
          </a:xfrm>
        </p:grpSpPr>
        <p:sp>
          <p:nvSpPr>
            <p:cNvPr id="7" name="object 7"/>
            <p:cNvSpPr/>
            <p:nvPr/>
          </p:nvSpPr>
          <p:spPr>
            <a:xfrm>
              <a:off x="377994" y="1938392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939371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834368"/>
            <a:ext cx="4961255" cy="1624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remember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update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.aws/credentials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fileb://server.crt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fileb://server.key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fileb://client1.domain.tld.crt</a:t>
            </a:r>
            <a:r>
              <a:rPr lang="en-US" sz="800" spc="37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spc="9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fileb://client1.domain.tld.key</a:t>
            </a:r>
            <a:r>
              <a:rPr lang="en-US" sz="800" spc="9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02150" cy="5080"/>
            </a:xfrm>
            <a:custGeom>
              <a:avLst/>
              <a:gdLst/>
              <a:ahLst/>
              <a:cxnLst/>
              <a:rect l="l" t="t" r="r" b="b"/>
              <a:pathLst>
                <a:path w="4502150" h="5080">
                  <a:moveTo>
                    <a:pt x="0" y="5060"/>
                  </a:moveTo>
                  <a:lnTo>
                    <a:pt x="0" y="0"/>
                  </a:lnTo>
                  <a:lnTo>
                    <a:pt x="4501551" y="0"/>
                  </a:lnTo>
                  <a:lnTo>
                    <a:pt x="45015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6490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Create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VPN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endpoint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434" y="625560"/>
            <a:ext cx="4857134" cy="209925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550410" cy="5080"/>
            </a:xfrm>
            <a:custGeom>
              <a:avLst/>
              <a:gdLst/>
              <a:ahLst/>
              <a:cxnLst/>
              <a:rect l="l" t="t" r="r" b="b"/>
              <a:pathLst>
                <a:path w="4550410" h="5080">
                  <a:moveTo>
                    <a:pt x="0" y="5060"/>
                  </a:moveTo>
                  <a:lnTo>
                    <a:pt x="0" y="0"/>
                  </a:lnTo>
                  <a:lnTo>
                    <a:pt x="4549980" y="0"/>
                  </a:lnTo>
                  <a:lnTo>
                    <a:pt x="45499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</a:t>
            </a:r>
            <a:r>
              <a:rPr lang="en-US" spc="15" noProof="1"/>
              <a:t> </a:t>
            </a:r>
            <a:r>
              <a:rPr lang="en-US" spc="-10" noProof="1"/>
              <a:t>client</a:t>
            </a:r>
            <a:r>
              <a:rPr lang="en-US" spc="25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007017" y="1735952"/>
            <a:ext cx="347980" cy="95885"/>
            <a:chOff x="3007017" y="1735952"/>
            <a:chExt cx="347980" cy="95885"/>
          </a:xfrm>
        </p:grpSpPr>
        <p:sp>
          <p:nvSpPr>
            <p:cNvPr id="4" name="object 4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15492" y="1979428"/>
            <a:ext cx="993140" cy="114300"/>
            <a:chOff x="815492" y="1979428"/>
            <a:chExt cx="993140" cy="114300"/>
          </a:xfrm>
        </p:grpSpPr>
        <p:sp>
          <p:nvSpPr>
            <p:cNvPr id="7" name="object 7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28619"/>
            <a:ext cx="5013960" cy="210762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test-client-vpn-endpoint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Mark only IPv4 addresses 2 times</a:t>
            </a: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10.83.0.0/16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ARN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8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options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Mutual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endParaRPr lang="en-US" sz="800" noProof="1">
              <a:latin typeface="Arial"/>
              <a:cs typeface="Arial"/>
            </a:endParaRPr>
          </a:p>
          <a:p>
            <a:pPr marL="48069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client1.domain.tld</a:t>
            </a:r>
            <a:r>
              <a:rPr lang="en-US" sz="800" spc="-2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1.1.1.1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8.8.8.8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rest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98670" cy="5080"/>
            </a:xfrm>
            <a:custGeom>
              <a:avLst/>
              <a:gdLst/>
              <a:ahLst/>
              <a:cxnLst/>
              <a:rect l="l" t="t" r="r" b="b"/>
              <a:pathLst>
                <a:path w="4598670" h="5080">
                  <a:moveTo>
                    <a:pt x="0" y="5060"/>
                  </a:moveTo>
                  <a:lnTo>
                    <a:pt x="0" y="0"/>
                  </a:lnTo>
                  <a:lnTo>
                    <a:pt x="4598408" y="0"/>
                  </a:lnTo>
                  <a:lnTo>
                    <a:pt x="45984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09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Associate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spc="-10" noProof="1"/>
              <a:t>client</a:t>
            </a:r>
            <a:r>
              <a:rPr lang="en-US" spc="50" noProof="1"/>
              <a:t> VPN </a:t>
            </a:r>
            <a:r>
              <a:rPr lang="en-US" spc="-25" noProof="1"/>
              <a:t>endpoint</a:t>
            </a:r>
            <a:r>
              <a:rPr lang="en-US" spc="45" noProof="1"/>
              <a:t> </a:t>
            </a:r>
            <a:r>
              <a:rPr lang="en-US" noProof="1"/>
              <a:t>with</a:t>
            </a:r>
            <a:r>
              <a:rPr lang="en-US" spc="50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noProof="1"/>
              <a:t>VPC</a:t>
            </a:r>
            <a:r>
              <a:rPr lang="en-US" spc="50" noProof="1"/>
              <a:t> </a:t>
            </a:r>
            <a:r>
              <a:rPr lang="en-US" spc="-30" noProof="1"/>
              <a:t>public</a:t>
            </a:r>
            <a:r>
              <a:rPr lang="en-US" spc="50" noProof="1"/>
              <a:t> </a:t>
            </a:r>
            <a:r>
              <a:rPr lang="en-US" spc="-1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006891"/>
            <a:ext cx="504190" cy="139065"/>
            <a:chOff x="979360" y="2006891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68969" y="2000400"/>
            <a:ext cx="1101725" cy="146050"/>
            <a:chOff x="2368969" y="2000400"/>
            <a:chExt cx="1101725" cy="146050"/>
          </a:xfrm>
        </p:grpSpPr>
        <p:sp>
          <p:nvSpPr>
            <p:cNvPr id="7" name="object 7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92423"/>
            <a:ext cx="50222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	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test-public-subnet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646930" cy="5080"/>
            </a:xfrm>
            <a:custGeom>
              <a:avLst/>
              <a:gdLst/>
              <a:ahLst/>
              <a:cxnLst/>
              <a:rect l="l" t="t" r="r" b="b"/>
              <a:pathLst>
                <a:path w="4646930" h="5080">
                  <a:moveTo>
                    <a:pt x="0" y="5060"/>
                  </a:moveTo>
                  <a:lnTo>
                    <a:pt x="0" y="0"/>
                  </a:lnTo>
                  <a:lnTo>
                    <a:pt x="4646749" y="0"/>
                  </a:lnTo>
                  <a:lnTo>
                    <a:pt x="46467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55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Add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authorization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rule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980" y="625582"/>
            <a:ext cx="4856044" cy="20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695190" cy="5080"/>
            </a:xfrm>
            <a:custGeom>
              <a:avLst/>
              <a:gdLst/>
              <a:ahLst/>
              <a:cxnLst/>
              <a:rect l="l" t="t" r="r" b="b"/>
              <a:pathLst>
                <a:path w="4695190" h="5080">
                  <a:moveTo>
                    <a:pt x="0" y="5060"/>
                  </a:moveTo>
                  <a:lnTo>
                    <a:pt x="0" y="0"/>
                  </a:lnTo>
                  <a:lnTo>
                    <a:pt x="4695177" y="0"/>
                  </a:lnTo>
                  <a:lnTo>
                    <a:pt x="469517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Add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25" noProof="1"/>
              <a:t>authorization</a:t>
            </a:r>
            <a:r>
              <a:rPr lang="en-US" spc="5" noProof="1"/>
              <a:t> </a:t>
            </a:r>
            <a:r>
              <a:rPr lang="en-US" spc="-10" noProof="1"/>
              <a:t>rule</a:t>
            </a:r>
            <a:r>
              <a:rPr lang="en-US" spc="10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91781" y="1905634"/>
            <a:ext cx="683260" cy="139700"/>
            <a:chOff x="891781" y="1905634"/>
            <a:chExt cx="683260" cy="139700"/>
          </a:xfrm>
        </p:grpSpPr>
        <p:sp>
          <p:nvSpPr>
            <p:cNvPr id="4" name="object 4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325760"/>
            <a:ext cx="4803140" cy="720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44085" cy="5080"/>
            </a:xfrm>
            <a:custGeom>
              <a:avLst/>
              <a:gdLst/>
              <a:ahLst/>
              <a:cxnLst/>
              <a:rect l="l" t="t" r="r" b="b"/>
              <a:pathLst>
                <a:path w="4744085" h="5080">
                  <a:moveTo>
                    <a:pt x="0" y="5060"/>
                  </a:moveTo>
                  <a:lnTo>
                    <a:pt x="0" y="0"/>
                  </a:lnTo>
                  <a:lnTo>
                    <a:pt x="4743605" y="0"/>
                  </a:lnTo>
                  <a:lnTo>
                    <a:pt x="47436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Provide</a:t>
            </a:r>
            <a:r>
              <a:rPr lang="en-US" spc="25" noProof="1"/>
              <a:t> </a:t>
            </a:r>
            <a:r>
              <a:rPr lang="en-US" spc="-65" noProof="1"/>
              <a:t>access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internet</a:t>
            </a:r>
            <a:r>
              <a:rPr lang="en-US" spc="25" noProof="1"/>
              <a:t> </a:t>
            </a:r>
            <a:r>
              <a:rPr lang="en-US" noProof="1"/>
              <a:t>for</a:t>
            </a:r>
            <a:r>
              <a:rPr lang="en-US" spc="30" noProof="1"/>
              <a:t> </a:t>
            </a:r>
            <a:r>
              <a:rPr lang="en-US" spc="-45" noProof="1"/>
              <a:t>devices</a:t>
            </a:r>
            <a:r>
              <a:rPr lang="en-US" spc="30" noProof="1"/>
              <a:t> </a:t>
            </a:r>
            <a:r>
              <a:rPr lang="en-US" spc="-40" noProof="1"/>
              <a:t>connected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451658"/>
            <a:ext cx="563880" cy="139700"/>
            <a:chOff x="979360" y="2451658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631244"/>
            <a:ext cx="5021580" cy="211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8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association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onte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starting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4475" marR="65405" indent="-147320">
              <a:lnSpc>
                <a:spcPct val="116199"/>
              </a:lnSpc>
              <a:buAutoNum type="arabicPeriod"/>
              <a:tabLst>
                <a:tab pos="24574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authorization 	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92345" cy="5080"/>
            </a:xfrm>
            <a:custGeom>
              <a:avLst/>
              <a:gdLst/>
              <a:ahLst/>
              <a:cxnLst/>
              <a:rect l="l" t="t" r="r" b="b"/>
              <a:pathLst>
                <a:path w="4792345" h="5080">
                  <a:moveTo>
                    <a:pt x="0" y="5060"/>
                  </a:moveTo>
                  <a:lnTo>
                    <a:pt x="0" y="0"/>
                  </a:lnTo>
                  <a:lnTo>
                    <a:pt x="4791946" y="0"/>
                  </a:lnTo>
                  <a:lnTo>
                    <a:pt x="47919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29701" y="1999833"/>
            <a:ext cx="1759585" cy="147320"/>
            <a:chOff x="2129701" y="1999833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69749"/>
            <a:ext cx="506857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2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click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click on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</a:t>
            </a:r>
            <a:r>
              <a:rPr lang="en-US" sz="900" spc="-10" noProof="1">
                <a:latin typeface="Courier New"/>
                <a:cs typeface="Courier New"/>
              </a:rPr>
              <a:t>config.ovpn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40605" cy="5080"/>
            </a:xfrm>
            <a:custGeom>
              <a:avLst/>
              <a:gdLst/>
              <a:ahLst/>
              <a:cxnLst/>
              <a:rect l="l" t="t" r="r" b="b"/>
              <a:pathLst>
                <a:path w="4840605" h="5080">
                  <a:moveTo>
                    <a:pt x="0" y="5060"/>
                  </a:moveTo>
                  <a:lnTo>
                    <a:pt x="0" y="0"/>
                  </a:lnTo>
                  <a:lnTo>
                    <a:pt x="4840374" y="0"/>
                  </a:lnTo>
                  <a:lnTo>
                    <a:pt x="48403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38964"/>
            <a:ext cx="5015230" cy="310515"/>
            <a:chOff x="372646" y="1538964"/>
            <a:chExt cx="5015230" cy="310515"/>
          </a:xfrm>
        </p:grpSpPr>
        <p:sp>
          <p:nvSpPr>
            <p:cNvPr id="4" name="object 4"/>
            <p:cNvSpPr/>
            <p:nvPr/>
          </p:nvSpPr>
          <p:spPr>
            <a:xfrm>
              <a:off x="377994" y="1544310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45290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164946"/>
            <a:ext cx="5015230" cy="310515"/>
            <a:chOff x="372646" y="2164946"/>
            <a:chExt cx="5015230" cy="310515"/>
          </a:xfrm>
        </p:grpSpPr>
        <p:sp>
          <p:nvSpPr>
            <p:cNvPr id="7" name="object 7"/>
            <p:cNvSpPr/>
            <p:nvPr/>
          </p:nvSpPr>
          <p:spPr>
            <a:xfrm>
              <a:off x="377994" y="2170293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171273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3992"/>
            <a:ext cx="5073015" cy="15396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folder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to. 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closed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888865" cy="5080"/>
            </a:xfrm>
            <a:custGeom>
              <a:avLst/>
              <a:gdLst/>
              <a:ahLst/>
              <a:cxnLst/>
              <a:rect l="l" t="t" r="r" b="b"/>
              <a:pathLst>
                <a:path w="4888865" h="5080">
                  <a:moveTo>
                    <a:pt x="0" y="5060"/>
                  </a:moveTo>
                  <a:lnTo>
                    <a:pt x="0" y="0"/>
                  </a:lnTo>
                  <a:lnTo>
                    <a:pt x="4888802" y="0"/>
                  </a:lnTo>
                  <a:lnTo>
                    <a:pt x="48888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8586" y="969431"/>
            <a:ext cx="1759585" cy="147320"/>
            <a:chOff x="828586" y="969431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341623"/>
            <a:ext cx="5015230" cy="1092200"/>
            <a:chOff x="372646" y="1341623"/>
            <a:chExt cx="5015230" cy="1092200"/>
          </a:xfrm>
        </p:grpSpPr>
        <p:sp>
          <p:nvSpPr>
            <p:cNvPr id="7" name="object 7"/>
            <p:cNvSpPr/>
            <p:nvPr/>
          </p:nvSpPr>
          <p:spPr>
            <a:xfrm>
              <a:off x="377994" y="1346970"/>
              <a:ext cx="5004435" cy="1081405"/>
            </a:xfrm>
            <a:custGeom>
              <a:avLst/>
              <a:gdLst/>
              <a:ahLst/>
              <a:cxnLst/>
              <a:rect l="l" t="t" r="r" b="b"/>
              <a:pathLst>
                <a:path w="5004435" h="108140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5392"/>
                  </a:lnTo>
                  <a:lnTo>
                    <a:pt x="2829" y="1059405"/>
                  </a:lnTo>
                  <a:lnTo>
                    <a:pt x="10544" y="1070848"/>
                  </a:lnTo>
                  <a:lnTo>
                    <a:pt x="21987" y="1078563"/>
                  </a:lnTo>
                  <a:lnTo>
                    <a:pt x="36000" y="1081392"/>
                  </a:lnTo>
                  <a:lnTo>
                    <a:pt x="4968064" y="1081392"/>
                  </a:lnTo>
                  <a:lnTo>
                    <a:pt x="4982077" y="1078563"/>
                  </a:lnTo>
                  <a:lnTo>
                    <a:pt x="4993521" y="1070848"/>
                  </a:lnTo>
                  <a:lnTo>
                    <a:pt x="5001236" y="1059405"/>
                  </a:lnTo>
                  <a:lnTo>
                    <a:pt x="5004065" y="10453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347949"/>
              <a:ext cx="5002530" cy="1079500"/>
            </a:xfrm>
            <a:custGeom>
              <a:avLst/>
              <a:gdLst/>
              <a:ahLst/>
              <a:cxnLst/>
              <a:rect l="l" t="t" r="r" b="b"/>
              <a:pathLst>
                <a:path w="5002530" h="1079500">
                  <a:moveTo>
                    <a:pt x="0" y="10444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4413"/>
                  </a:lnTo>
                  <a:lnTo>
                    <a:pt x="4999354" y="1058045"/>
                  </a:lnTo>
                  <a:lnTo>
                    <a:pt x="4991849" y="1069176"/>
                  </a:lnTo>
                  <a:lnTo>
                    <a:pt x="4980717" y="1076682"/>
                  </a:lnTo>
                  <a:lnTo>
                    <a:pt x="4967085" y="1079434"/>
                  </a:lnTo>
                  <a:lnTo>
                    <a:pt x="35021" y="1079434"/>
                  </a:lnTo>
                  <a:lnTo>
                    <a:pt x="21389" y="1076682"/>
                  </a:lnTo>
                  <a:lnTo>
                    <a:pt x="10257" y="1069176"/>
                  </a:lnTo>
                  <a:lnTo>
                    <a:pt x="2752" y="1058045"/>
                  </a:lnTo>
                  <a:lnTo>
                    <a:pt x="0" y="10444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915648"/>
            <a:ext cx="4980940" cy="141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lines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beginning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.crt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2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private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key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.key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880541"/>
            <a:ext cx="4089400" cy="474345"/>
            <a:chOff x="359994" y="880541"/>
            <a:chExt cx="4089400" cy="474345"/>
          </a:xfrm>
        </p:grpSpPr>
        <p:sp>
          <p:nvSpPr>
            <p:cNvPr id="4" name="object 4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72646" y="1819255"/>
            <a:ext cx="5015230" cy="443865"/>
            <a:chOff x="372646" y="1819255"/>
            <a:chExt cx="5015230" cy="443865"/>
          </a:xfrm>
        </p:grpSpPr>
        <p:sp>
          <p:nvSpPr>
            <p:cNvPr id="13" name="object 13"/>
            <p:cNvSpPr/>
            <p:nvPr/>
          </p:nvSpPr>
          <p:spPr>
            <a:xfrm>
              <a:off x="377994" y="1824602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1825581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785912" y="2365466"/>
            <a:ext cx="1759585" cy="147320"/>
            <a:chOff x="1785912" y="2365466"/>
            <a:chExt cx="1759585" cy="147320"/>
          </a:xfrm>
        </p:grpSpPr>
        <p:sp>
          <p:nvSpPr>
            <p:cNvPr id="16" name="object 16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3318" y="835612"/>
            <a:ext cx="5282781" cy="16721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</a:t>
            </a:r>
            <a:r>
              <a:rPr lang="en-US" sz="900" spc="-70" noProof="1">
                <a:latin typeface="Courier New"/>
                <a:cs typeface="Courier New"/>
              </a:rPr>
              <a:t> certificate </a:t>
            </a:r>
            <a:r>
              <a:rPr lang="en-US" sz="900" spc="-75" noProof="1">
                <a:latin typeface="Courier New"/>
                <a:cs typeface="Courier New"/>
              </a:rPr>
              <a:t>(.crt)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latin typeface="Courier New"/>
                <a:cs typeface="Courier New"/>
              </a:rPr>
              <a:t>client1.domain.tld.crt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private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key </a:t>
            </a:r>
            <a:r>
              <a:rPr lang="en-US" sz="900" spc="-75" noProof="1">
                <a:latin typeface="Courier New"/>
                <a:cs typeface="Courier New"/>
              </a:rPr>
              <a:t>(.key)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client1.domain.tld.key</a:t>
            </a:r>
            <a:r>
              <a:rPr lang="en-US" sz="900" spc="-11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6510" marR="11239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33489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client1.domain.tld.crt </a:t>
            </a:r>
          </a:p>
          <a:p>
            <a:pPr marL="214629" marR="3348990">
              <a:lnSpc>
                <a:spcPct val="1074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client1.domain.tld.key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4986020" cy="5080"/>
            </a:xfrm>
            <a:custGeom>
              <a:avLst/>
              <a:gdLst/>
              <a:ahLst/>
              <a:cxnLst/>
              <a:rect l="l" t="t" r="r" b="b"/>
              <a:pathLst>
                <a:path w="4986020" h="5080">
                  <a:moveTo>
                    <a:pt x="0" y="5060"/>
                  </a:moveTo>
                  <a:lnTo>
                    <a:pt x="0" y="0"/>
                  </a:lnTo>
                  <a:lnTo>
                    <a:pt x="4985571" y="0"/>
                  </a:lnTo>
                  <a:lnTo>
                    <a:pt x="49855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Connect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45" noProof="1"/>
              <a:t> </a:t>
            </a:r>
            <a:r>
              <a:rPr lang="en-US" noProof="1"/>
              <a:t>Client</a:t>
            </a:r>
            <a:r>
              <a:rPr lang="en-US" spc="50" noProof="1"/>
              <a:t> VPN</a:t>
            </a:r>
            <a:r>
              <a:rPr lang="en-US" spc="45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913837" y="1667847"/>
            <a:ext cx="264795" cy="121285"/>
            <a:chOff x="2913837" y="1667847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346627" y="1667271"/>
            <a:ext cx="922655" cy="147320"/>
            <a:chOff x="3346627" y="1667271"/>
            <a:chExt cx="922655" cy="147320"/>
          </a:xfrm>
        </p:grpSpPr>
        <p:sp>
          <p:nvSpPr>
            <p:cNvPr id="7" name="object 7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37024" y="1666252"/>
            <a:ext cx="683260" cy="122555"/>
            <a:chOff x="4437024" y="1666252"/>
            <a:chExt cx="683260" cy="122555"/>
          </a:xfrm>
        </p:grpSpPr>
        <p:sp>
          <p:nvSpPr>
            <p:cNvPr id="10" name="object 10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080249" y="1985926"/>
            <a:ext cx="1759585" cy="147320"/>
            <a:chOff x="1080249" y="1985926"/>
            <a:chExt cx="1759585" cy="147320"/>
          </a:xfrm>
        </p:grpSpPr>
        <p:sp>
          <p:nvSpPr>
            <p:cNvPr id="13" name="object 13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1704492"/>
          </a:xfrm>
          <a:prstGeom prst="rect">
            <a:avLst/>
          </a:prstGeom>
        </p:spPr>
        <p:txBody>
          <a:bodyPr vert="horz" wrap="square" lIns="0" tIns="594601" rIns="0" bIns="0" rtlCol="0">
            <a:spAutoFit/>
          </a:bodyPr>
          <a:lstStyle/>
          <a:p>
            <a:pPr marL="13970" marR="227965" indent="-190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5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20" noProof="1"/>
              <a:t>everything</a:t>
            </a:r>
            <a:r>
              <a:rPr lang="en-US" spc="25" noProof="1"/>
              <a:t> </a:t>
            </a:r>
            <a:r>
              <a:rPr lang="en-US" spc="-25" noProof="1"/>
              <a:t>ready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connect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VPN,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50" noProof="1"/>
              <a:t>need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spc="-30" noProof="1"/>
              <a:t>download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25" noProof="1"/>
              <a:t>AWS</a:t>
            </a:r>
            <a:r>
              <a:rPr lang="en-US" spc="25" noProof="1"/>
              <a:t> </a:t>
            </a:r>
            <a:r>
              <a:rPr lang="en-US" noProof="1"/>
              <a:t>VPN</a:t>
            </a:r>
            <a:r>
              <a:rPr lang="en-US" spc="25" noProof="1"/>
              <a:t> </a:t>
            </a:r>
            <a:r>
              <a:rPr lang="en-US" spc="-10" noProof="1"/>
              <a:t>Client </a:t>
            </a:r>
            <a:r>
              <a:rPr lang="en-US" noProof="1"/>
              <a:t>which </a:t>
            </a:r>
            <a:r>
              <a:rPr lang="en-US" spc="-10" noProof="1"/>
              <a:t>can</a:t>
            </a:r>
            <a:r>
              <a:rPr lang="en-US" spc="5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10" noProof="1"/>
              <a:t>obtained</a:t>
            </a:r>
            <a:r>
              <a:rPr lang="en-US" spc="5" noProof="1"/>
              <a:t> </a:t>
            </a:r>
            <a:r>
              <a:rPr lang="en-US" spc="-30" noProof="1"/>
              <a:t>here</a:t>
            </a:r>
            <a:r>
              <a:rPr lang="en-US" spc="5" noProof="1"/>
              <a:t> </a:t>
            </a:r>
            <a:r>
              <a:rPr lang="en-US" noProof="1">
                <a:hlinkClick r:id="rId2"/>
              </a:rPr>
              <a:t>https://aws.amazon.com/vpn/client-</a:t>
            </a:r>
            <a:r>
              <a:rPr lang="en-US" spc="-10" noProof="1">
                <a:hlinkClick r:id="rId2"/>
              </a:rPr>
              <a:t>vpn-download/</a:t>
            </a:r>
            <a:r>
              <a:rPr lang="en-US" spc="-10" noProof="1"/>
              <a:t>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30" noProof="1"/>
              <a:t>Once</a:t>
            </a:r>
            <a:r>
              <a:rPr lang="en-US" spc="-35" noProof="1"/>
              <a:t> </a:t>
            </a:r>
            <a:r>
              <a:rPr lang="en-US" spc="-10" noProof="1"/>
              <a:t>you</a:t>
            </a:r>
            <a:r>
              <a:rPr lang="en-US" spc="-40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10" noProof="1"/>
              <a:t>installed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client,</a:t>
            </a:r>
            <a:r>
              <a:rPr lang="en-US" spc="25" noProof="1"/>
              <a:t> </a:t>
            </a:r>
            <a:r>
              <a:rPr lang="en-US" spc="-25" noProof="1"/>
              <a:t>open</a:t>
            </a:r>
            <a:r>
              <a:rPr lang="en-US" spc="30" noProof="1"/>
              <a:t> </a:t>
            </a:r>
            <a:r>
              <a:rPr lang="en-US" noProof="1"/>
              <a:t>it,</a:t>
            </a:r>
            <a:r>
              <a:rPr lang="en-US" spc="25" noProof="1"/>
              <a:t> </a:t>
            </a:r>
            <a:r>
              <a:rPr lang="en-US" noProof="1"/>
              <a:t>click</a:t>
            </a:r>
            <a:r>
              <a:rPr lang="en-US" spc="30" noProof="1"/>
              <a:t> </a:t>
            </a:r>
            <a:r>
              <a:rPr lang="en-US" noProof="1"/>
              <a:t>on</a:t>
            </a:r>
            <a:r>
              <a:rPr lang="en-US" spc="12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File</a:t>
            </a:r>
            <a:r>
              <a:rPr lang="en-US" spc="-140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Manage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 Profiles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Add </a:t>
            </a:r>
            <a:r>
              <a:rPr lang="en-US" spc="-45" noProof="1">
                <a:solidFill>
                  <a:srgbClr val="000000"/>
                </a:solidFill>
                <a:latin typeface="Courier New"/>
                <a:cs typeface="Courier New"/>
              </a:rPr>
              <a:t>Profile</a:t>
            </a:r>
            <a:r>
              <a:rPr lang="en-US" spc="-45" noProof="1"/>
              <a:t>,</a:t>
            </a:r>
            <a:r>
              <a:rPr lang="en-US" spc="25" noProof="1"/>
              <a:t> </a:t>
            </a:r>
            <a:r>
              <a:rPr lang="en-US" spc="-20" noProof="1"/>
              <a:t>type </a:t>
            </a:r>
            <a:r>
              <a:rPr lang="en-US" spc="-25" noProof="1"/>
              <a:t>whichever</a:t>
            </a:r>
            <a:r>
              <a:rPr lang="en-US" noProof="1"/>
              <a:t> </a:t>
            </a:r>
            <a:r>
              <a:rPr lang="en-US" spc="-30" noProof="1"/>
              <a:t>name</a:t>
            </a:r>
            <a:r>
              <a:rPr lang="en-US" spc="5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noProof="1"/>
              <a:t>want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spc="-30" noProof="1">
                <a:latin typeface="Arial"/>
                <a:cs typeface="Arial"/>
              </a:rPr>
              <a:t>Display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name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noProof="1">
                <a:latin typeface="Arial"/>
                <a:cs typeface="Arial"/>
              </a:rPr>
              <a:t>VPN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Configuration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file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click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5" noProof="1"/>
              <a:t>browse</a:t>
            </a:r>
            <a:r>
              <a:rPr lang="en-US" spc="5" noProof="1"/>
              <a:t> </a:t>
            </a:r>
            <a:r>
              <a:rPr lang="en-US" spc="-20" noProof="1"/>
              <a:t>icon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30" noProof="1"/>
              <a:t>select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13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downloaded-client-config.ovpn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file</a:t>
            </a:r>
            <a:r>
              <a:rPr lang="en-US" spc="35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just</a:t>
            </a:r>
            <a:r>
              <a:rPr lang="en-US" spc="35" noProof="1"/>
              <a:t> </a:t>
            </a:r>
            <a:r>
              <a:rPr lang="en-US" spc="-10" noProof="1"/>
              <a:t>modified.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Then type </a:t>
            </a:r>
            <a:r>
              <a:rPr lang="en-US" b="1" spc="-10" noProof="1"/>
              <a:t>connect</a:t>
            </a:r>
            <a:r>
              <a:rPr lang="en-US" spc="-10" noProof="1"/>
              <a:t> to the VPN.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034280" cy="5080"/>
            </a:xfrm>
            <a:custGeom>
              <a:avLst/>
              <a:gdLst/>
              <a:ahLst/>
              <a:cxnLst/>
              <a:rect l="l" t="t" r="r" b="b"/>
              <a:pathLst>
                <a:path w="5034280" h="5080">
                  <a:moveTo>
                    <a:pt x="0" y="5060"/>
                  </a:moveTo>
                  <a:lnTo>
                    <a:pt x="0" y="0"/>
                  </a:lnTo>
                  <a:lnTo>
                    <a:pt x="5034000" y="0"/>
                  </a:lnTo>
                  <a:lnTo>
                    <a:pt x="50340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Test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4290"/>
            <a:ext cx="5015230" cy="320040"/>
            <a:chOff x="372646" y="1454290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9637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0616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811994"/>
            <a:ext cx="5071745" cy="2236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tests.</a:t>
            </a:r>
            <a:endParaRPr lang="en-US" sz="900" noProof="1">
              <a:latin typeface="Arial"/>
              <a:cs typeface="Arial"/>
            </a:endParaRPr>
          </a:p>
          <a:p>
            <a:pPr marL="12700" marR="22225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terminal and 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endParaRPr lang="en-US" sz="900" b="1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are now in the private EC2!!</a:t>
            </a:r>
          </a:p>
          <a:p>
            <a:pPr marL="16510" marR="5080" indent="-4445">
              <a:lnSpc>
                <a:spcPct val="116199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cool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geolocation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https://iplocation.io/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changed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5308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people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example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https://www.radio.com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082540" cy="5080"/>
            </a:xfrm>
            <a:custGeom>
              <a:avLst/>
              <a:gdLst/>
              <a:ahLst/>
              <a:cxnLst/>
              <a:rect l="l" t="t" r="r" b="b"/>
              <a:pathLst>
                <a:path w="5082540" h="5080">
                  <a:moveTo>
                    <a:pt x="0" y="5060"/>
                  </a:moveTo>
                  <a:lnTo>
                    <a:pt x="0" y="0"/>
                  </a:lnTo>
                  <a:lnTo>
                    <a:pt x="5082428" y="0"/>
                  </a:lnTo>
                  <a:lnTo>
                    <a:pt x="5082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file</a:t>
            </a:r>
            <a:r>
              <a:rPr lang="en-US" spc="10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9013" rIns="0" bIns="0" rtlCol="0">
            <a:spAutoFit/>
          </a:bodyPr>
          <a:lstStyle/>
          <a:p>
            <a:pPr marL="17780" marR="78105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now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add</a:t>
            </a:r>
            <a:r>
              <a:rPr lang="en-US" spc="-5" noProof="1"/>
              <a:t> </a:t>
            </a:r>
            <a:r>
              <a:rPr lang="en-US" spc="-10" noProof="1"/>
              <a:t>another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on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30" noProof="1"/>
              <a:t>where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 </a:t>
            </a:r>
            <a:r>
              <a:rPr lang="en-US" spc="-30" noProof="1"/>
              <a:t>deploy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file </a:t>
            </a:r>
            <a:r>
              <a:rPr lang="en-US" b="1" spc="-40" noProof="1">
                <a:latin typeface="Arial"/>
                <a:cs typeface="Arial"/>
              </a:rPr>
              <a:t>server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noProof="1"/>
              <a:t>(like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Google</a:t>
            </a:r>
            <a:r>
              <a:rPr lang="en-US" spc="5" noProof="1"/>
              <a:t> </a:t>
            </a:r>
            <a:r>
              <a:rPr lang="en-US" spc="-10" noProof="1"/>
              <a:t>Drive).</a:t>
            </a:r>
          </a:p>
          <a:p>
            <a:pPr marL="17780" marR="202565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55" noProof="1"/>
              <a:t> </a:t>
            </a:r>
            <a:r>
              <a:rPr lang="en-US" spc="-35" noProof="1"/>
              <a:t>service</a:t>
            </a:r>
            <a:r>
              <a:rPr lang="en-US" spc="60" noProof="1"/>
              <a:t> </a:t>
            </a:r>
            <a:r>
              <a:rPr lang="en-US" noProof="1"/>
              <a:t>is</a:t>
            </a:r>
            <a:r>
              <a:rPr lang="en-US" spc="60" noProof="1"/>
              <a:t> </a:t>
            </a:r>
            <a:r>
              <a:rPr lang="en-US" spc="-20" noProof="1"/>
              <a:t>called</a:t>
            </a:r>
            <a:r>
              <a:rPr lang="en-US" spc="55" noProof="1"/>
              <a:t> </a:t>
            </a:r>
            <a:r>
              <a:rPr lang="en-US" b="1" spc="-20" noProof="1">
                <a:latin typeface="Arial"/>
                <a:cs typeface="Arial"/>
              </a:rPr>
              <a:t>FileGator</a:t>
            </a:r>
            <a:r>
              <a:rPr lang="en-US" spc="-20" noProof="1"/>
              <a:t>,</a:t>
            </a:r>
            <a:r>
              <a:rPr lang="en-US" spc="60" noProof="1"/>
              <a:t> </a:t>
            </a:r>
            <a:r>
              <a:rPr lang="en-US" spc="-20" noProof="1"/>
              <a:t>read</a:t>
            </a:r>
            <a:r>
              <a:rPr lang="en-US" spc="60" noProof="1"/>
              <a:t> </a:t>
            </a:r>
            <a:r>
              <a:rPr lang="en-US" spc="-25" noProof="1"/>
              <a:t>more</a:t>
            </a:r>
            <a:r>
              <a:rPr lang="en-US" spc="55" noProof="1"/>
              <a:t> </a:t>
            </a:r>
            <a:r>
              <a:rPr lang="en-US" noProof="1"/>
              <a:t>about</a:t>
            </a:r>
            <a:r>
              <a:rPr lang="en-US" spc="60" noProof="1"/>
              <a:t> </a:t>
            </a:r>
            <a:r>
              <a:rPr lang="en-US" noProof="1"/>
              <a:t>it</a:t>
            </a:r>
            <a:r>
              <a:rPr lang="en-US" spc="60" noProof="1"/>
              <a:t> </a:t>
            </a:r>
            <a:r>
              <a:rPr lang="en-US" spc="-30" noProof="1"/>
              <a:t>here</a:t>
            </a:r>
            <a:r>
              <a:rPr lang="en-US" spc="60" noProof="1"/>
              <a:t> </a:t>
            </a:r>
            <a:r>
              <a:rPr lang="en-US" noProof="1">
                <a:hlinkClick r:id="rId2"/>
              </a:rPr>
              <a:t>https://filegator.io/</a:t>
            </a:r>
            <a:r>
              <a:rPr lang="en-US" noProof="1"/>
              <a:t>.</a:t>
            </a:r>
            <a:r>
              <a:rPr lang="en-US" spc="155" noProof="1"/>
              <a:t> </a:t>
            </a:r>
            <a:r>
              <a:rPr lang="en-US" noProof="1"/>
              <a:t>It’s</a:t>
            </a:r>
            <a:r>
              <a:rPr lang="en-US" spc="60" noProof="1"/>
              <a:t> </a:t>
            </a:r>
            <a:r>
              <a:rPr lang="en-US" spc="-25" noProof="1"/>
              <a:t>basically</a:t>
            </a:r>
            <a:r>
              <a:rPr lang="en-US" spc="60" noProof="1"/>
              <a:t> </a:t>
            </a:r>
            <a:r>
              <a:rPr lang="en-US" spc="-25" noProof="1"/>
              <a:t>one</a:t>
            </a:r>
            <a:r>
              <a:rPr lang="en-US" spc="60" noProof="1"/>
              <a:t> </a:t>
            </a:r>
            <a:r>
              <a:rPr lang="en-US" spc="-25" noProof="1"/>
              <a:t>of </a:t>
            </a:r>
            <a:r>
              <a:rPr lang="en-US" spc="-10" noProof="1"/>
              <a:t>many</a:t>
            </a:r>
            <a:r>
              <a:rPr lang="en-US" spc="-5" noProof="1"/>
              <a:t> </a:t>
            </a:r>
            <a:r>
              <a:rPr lang="en-US" spc="-35" noProof="1"/>
              <a:t>open-source</a:t>
            </a:r>
            <a:r>
              <a:rPr lang="en-US" spc="-5" noProof="1"/>
              <a:t> </a:t>
            </a:r>
            <a:r>
              <a:rPr lang="en-US" noProof="1"/>
              <a:t>locally </a:t>
            </a:r>
            <a:r>
              <a:rPr lang="en-US" spc="-40" noProof="1"/>
              <a:t>deployable</a:t>
            </a:r>
            <a:r>
              <a:rPr lang="en-US" spc="-5" noProof="1"/>
              <a:t> </a:t>
            </a:r>
            <a:r>
              <a:rPr lang="en-US" noProof="1"/>
              <a:t>file </a:t>
            </a:r>
            <a:r>
              <a:rPr lang="en-US" spc="-10" noProof="1"/>
              <a:t>servers.</a:t>
            </a:r>
          </a:p>
          <a:p>
            <a:pPr marL="1397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 time</a:t>
            </a:r>
            <a:r>
              <a:rPr lang="en-US" spc="5" noProof="1"/>
              <a:t> </a:t>
            </a:r>
            <a:r>
              <a:rPr lang="en-US" b="1" spc="-10" noProof="1">
                <a:latin typeface="Arial"/>
                <a:cs typeface="Arial"/>
              </a:rPr>
              <a:t>we’re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25" noProof="1"/>
              <a:t>Amazon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5" noProof="1"/>
              <a:t> </a:t>
            </a:r>
            <a:r>
              <a:rPr lang="en-US" spc="-60" noProof="1"/>
              <a:t>base</a:t>
            </a:r>
            <a:r>
              <a:rPr lang="en-US" spc="5" noProof="1"/>
              <a:t> </a:t>
            </a:r>
            <a:r>
              <a:rPr lang="en-US" spc="-25" noProof="1"/>
              <a:t>image</a:t>
            </a:r>
            <a:r>
              <a:rPr lang="en-US" noProof="1"/>
              <a:t> and</a:t>
            </a:r>
            <a:r>
              <a:rPr lang="en-US" spc="5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we’ll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spc="5" noProof="1"/>
              <a:t> </a:t>
            </a:r>
            <a:r>
              <a:rPr lang="en-US" noProof="1"/>
              <a:t>Ubuntu </a:t>
            </a:r>
            <a:r>
              <a:rPr lang="en-US" spc="-35" noProof="1"/>
              <a:t>since</a:t>
            </a:r>
            <a:r>
              <a:rPr lang="en-US" spc="5" noProof="1"/>
              <a:t> </a:t>
            </a:r>
            <a:r>
              <a:rPr lang="en-US" spc="-25" noProof="1"/>
              <a:t>it </a:t>
            </a:r>
            <a:r>
              <a:rPr lang="en-US" noProof="1"/>
              <a:t>will</a:t>
            </a:r>
            <a:r>
              <a:rPr lang="en-US" spc="10" noProof="1"/>
              <a:t> </a:t>
            </a:r>
            <a:r>
              <a:rPr lang="en-US" spc="-35" noProof="1"/>
              <a:t>make</a:t>
            </a:r>
            <a:r>
              <a:rPr lang="en-US" spc="10" noProof="1"/>
              <a:t> </a:t>
            </a:r>
            <a:r>
              <a:rPr lang="en-US" noProof="1"/>
              <a:t>things</a:t>
            </a:r>
            <a:r>
              <a:rPr lang="en-US" spc="15" noProof="1"/>
              <a:t> </a:t>
            </a:r>
            <a:r>
              <a:rPr lang="en-US" spc="-10" noProof="1"/>
              <a:t>easier.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131435" cy="5080"/>
            </a:xfrm>
            <a:custGeom>
              <a:avLst/>
              <a:gdLst/>
              <a:ahLst/>
              <a:cxnLst/>
              <a:rect l="l" t="t" r="r" b="b"/>
              <a:pathLst>
                <a:path w="5131435" h="5080">
                  <a:moveTo>
                    <a:pt x="0" y="5060"/>
                  </a:moveTo>
                  <a:lnTo>
                    <a:pt x="0" y="0"/>
                  </a:lnTo>
                  <a:lnTo>
                    <a:pt x="5130856" y="0"/>
                  </a:lnTo>
                  <a:lnTo>
                    <a:pt x="5130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00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Deploying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file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server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908" y="625548"/>
            <a:ext cx="4884200" cy="20992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9695" cy="5080"/>
            </a:xfrm>
            <a:custGeom>
              <a:avLst/>
              <a:gdLst/>
              <a:ahLst/>
              <a:cxnLst/>
              <a:rect l="l" t="t" r="r" b="b"/>
              <a:pathLst>
                <a:path w="5179695" h="5080">
                  <a:moveTo>
                    <a:pt x="0" y="5060"/>
                  </a:moveTo>
                  <a:lnTo>
                    <a:pt x="0" y="0"/>
                  </a:lnTo>
                  <a:lnTo>
                    <a:pt x="5179197" y="0"/>
                  </a:lnTo>
                  <a:lnTo>
                    <a:pt x="51791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684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 an EC2 </a:t>
            </a:r>
            <a:r>
              <a:rPr lang="en-US" spc="-30" noProof="1"/>
              <a:t>instance</a:t>
            </a:r>
            <a:r>
              <a:rPr lang="en-US" noProof="1"/>
              <a:t> on the</a:t>
            </a:r>
            <a:r>
              <a:rPr lang="en-US" spc="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3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304364"/>
            <a:ext cx="616585" cy="135890"/>
            <a:chOff x="1986813" y="1304364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530761"/>
            <a:ext cx="4702810" cy="23196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file-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server-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Application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OS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Images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Ubuntu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spcBef>
                <a:spcPts val="20"/>
              </a:spcBef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the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section,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rule: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range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8080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27955" cy="5080"/>
            </a:xfrm>
            <a:custGeom>
              <a:avLst/>
              <a:gdLst/>
              <a:ahLst/>
              <a:cxnLst/>
              <a:rect l="l" t="t" r="r" b="b"/>
              <a:pathLst>
                <a:path w="5227955" h="5080">
                  <a:moveTo>
                    <a:pt x="0" y="5060"/>
                  </a:moveTo>
                  <a:lnTo>
                    <a:pt x="0" y="0"/>
                  </a:lnTo>
                  <a:lnTo>
                    <a:pt x="5227625" y="0"/>
                  </a:lnTo>
                  <a:lnTo>
                    <a:pt x="5227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0373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25" noProof="1"/>
              <a:t>remember,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0" noProof="1"/>
              <a:t> </a:t>
            </a:r>
            <a:r>
              <a:rPr lang="en-US" spc="-40" noProof="1"/>
              <a:t>deployed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0" noProof="1"/>
              <a:t>subnet</a:t>
            </a:r>
            <a:r>
              <a:rPr lang="en-US" spc="15" noProof="1"/>
              <a:t> </a:t>
            </a:r>
            <a:r>
              <a:rPr lang="en-US" b="1" noProof="1">
                <a:latin typeface="Arial"/>
                <a:cs typeface="Arial"/>
              </a:rPr>
              <a:t>dit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have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65" noProof="1">
                <a:latin typeface="Arial"/>
                <a:cs typeface="Arial"/>
              </a:rPr>
              <a:t>access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50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We’re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temporarily</a:t>
            </a:r>
            <a:r>
              <a:rPr lang="en-US" spc="10" noProof="1"/>
              <a:t> </a:t>
            </a:r>
            <a:r>
              <a:rPr lang="en-US" spc="-35" noProof="1"/>
              <a:t>enable</a:t>
            </a:r>
            <a:r>
              <a:rPr lang="en-US" spc="5" noProof="1"/>
              <a:t> </a:t>
            </a:r>
            <a:r>
              <a:rPr lang="en-US" noProof="1"/>
              <a:t>internet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(which</a:t>
            </a:r>
            <a:r>
              <a:rPr lang="en-US" spc="5" noProof="1"/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same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as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making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public</a:t>
            </a:r>
            <a:r>
              <a:rPr lang="en-US" spc="-25" noProof="1"/>
              <a:t>)</a:t>
            </a:r>
            <a:r>
              <a:rPr lang="en-US" spc="10" noProof="1"/>
              <a:t> </a:t>
            </a:r>
            <a:r>
              <a:rPr lang="en-US" spc="-25" noProof="1"/>
              <a:t>so</a:t>
            </a:r>
            <a:r>
              <a:rPr lang="en-US" spc="5" noProof="1"/>
              <a:t> </a:t>
            </a:r>
            <a:r>
              <a:rPr lang="en-US" spc="-25" noProof="1"/>
              <a:t>we </a:t>
            </a:r>
            <a:r>
              <a:rPr lang="en-US" spc="-10" noProof="1"/>
              <a:t>can</a:t>
            </a:r>
            <a:r>
              <a:rPr lang="en-US" noProof="1"/>
              <a:t> install the </a:t>
            </a:r>
            <a:r>
              <a:rPr lang="en-US" spc="-55" noProof="1"/>
              <a:t>necessary</a:t>
            </a:r>
            <a:r>
              <a:rPr lang="en-US" spc="5" noProof="1"/>
              <a:t> </a:t>
            </a:r>
            <a:r>
              <a:rPr lang="en-US" spc="-25" noProof="1"/>
              <a:t>software.</a:t>
            </a:r>
            <a:r>
              <a:rPr lang="en-US" spc="85" noProof="1"/>
              <a:t> </a:t>
            </a:r>
            <a:r>
              <a:rPr lang="en-US" spc="-30" noProof="1"/>
              <a:t>Once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noProof="1"/>
              <a:t> </a:t>
            </a:r>
            <a:r>
              <a:rPr lang="en-US" spc="-20" noProof="1"/>
              <a:t>finished</a:t>
            </a:r>
            <a:r>
              <a:rPr lang="en-US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spc="-35" noProof="1"/>
              <a:t>remove</a:t>
            </a:r>
            <a:r>
              <a:rPr lang="en-US" noProof="1"/>
              <a:t> the internet</a:t>
            </a:r>
            <a:r>
              <a:rPr lang="en-US" spc="5" noProof="1"/>
              <a:t> </a:t>
            </a:r>
            <a:r>
              <a:rPr lang="en-US" spc="-10" noProof="1"/>
              <a:t>access.</a:t>
            </a:r>
          </a:p>
          <a:p>
            <a:pPr marL="13970">
              <a:lnSpc>
                <a:spcPct val="100000"/>
              </a:lnSpc>
              <a:spcBef>
                <a:spcPts val="805"/>
              </a:spcBef>
            </a:pP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do </a:t>
            </a:r>
            <a:r>
              <a:rPr lang="en-US" spc="-10" noProof="1"/>
              <a:t>so,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noProof="1"/>
              <a:t> </a:t>
            </a:r>
            <a:r>
              <a:rPr lang="en-US" spc="-50" noProof="1"/>
              <a:t>need</a:t>
            </a:r>
            <a:r>
              <a:rPr lang="en-US" noProof="1"/>
              <a:t> a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NAT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Gateway</a:t>
            </a:r>
            <a:r>
              <a:rPr lang="en-US" b="1" noProof="1">
                <a:latin typeface="Arial"/>
                <a:cs typeface="Arial"/>
              </a:rPr>
              <a:t> </a:t>
            </a:r>
            <a:r>
              <a:rPr lang="en-US" noProof="1"/>
              <a:t>and a</a:t>
            </a:r>
            <a:r>
              <a:rPr lang="en-US" spc="-5" noProof="1"/>
              <a:t> </a:t>
            </a:r>
            <a:r>
              <a:rPr lang="en-US" spc="-20" noProof="1"/>
              <a:t>new</a:t>
            </a:r>
            <a:r>
              <a:rPr lang="en-US" noProof="1"/>
              <a:t> </a:t>
            </a:r>
            <a:r>
              <a:rPr lang="en-US" b="1" spc="-10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table </a:t>
            </a:r>
            <a:r>
              <a:rPr lang="en-US" noProof="1"/>
              <a:t>for the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10" noProof="1"/>
              <a:t>subnet.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276215" cy="5080"/>
            </a:xfrm>
            <a:custGeom>
              <a:avLst/>
              <a:gdLst/>
              <a:ahLst/>
              <a:cxnLst/>
              <a:rect l="l" t="t" r="r" b="b"/>
              <a:pathLst>
                <a:path w="5276215" h="5080">
                  <a:moveTo>
                    <a:pt x="0" y="5060"/>
                  </a:moveTo>
                  <a:lnTo>
                    <a:pt x="0" y="0"/>
                  </a:lnTo>
                  <a:lnTo>
                    <a:pt x="5276053" y="0"/>
                  </a:lnTo>
                  <a:lnTo>
                    <a:pt x="5276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991" y="625555"/>
            <a:ext cx="4580019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24475" cy="5080"/>
            </a:xfrm>
            <a:custGeom>
              <a:avLst/>
              <a:gdLst/>
              <a:ahLst/>
              <a:cxnLst/>
              <a:rect l="l" t="t" r="r" b="b"/>
              <a:pathLst>
                <a:path w="5324475" h="5080">
                  <a:moveTo>
                    <a:pt x="0" y="5060"/>
                  </a:moveTo>
                  <a:lnTo>
                    <a:pt x="0" y="0"/>
                  </a:lnTo>
                  <a:lnTo>
                    <a:pt x="5324394" y="0"/>
                  </a:lnTo>
                  <a:lnTo>
                    <a:pt x="5324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159" y="625582"/>
            <a:ext cx="4785683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73370" cy="5080"/>
            </a:xfrm>
            <a:custGeom>
              <a:avLst/>
              <a:gdLst/>
              <a:ahLst/>
              <a:cxnLst/>
              <a:rect l="l" t="t" r="r" b="b"/>
              <a:pathLst>
                <a:path w="5373370" h="5080">
                  <a:moveTo>
                    <a:pt x="0" y="5060"/>
                  </a:moveTo>
                  <a:lnTo>
                    <a:pt x="0" y="0"/>
                  </a:lnTo>
                  <a:lnTo>
                    <a:pt x="5372822" y="0"/>
                  </a:lnTo>
                  <a:lnTo>
                    <a:pt x="5372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324450"/>
            <a:ext cx="742950" cy="147955"/>
            <a:chOff x="1119301" y="1324450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55364"/>
            <a:ext cx="4610100" cy="1271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test-nat-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(test-public-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allocation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Allocate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421630" cy="5080"/>
            </a:xfrm>
            <a:custGeom>
              <a:avLst/>
              <a:gdLst/>
              <a:ahLst/>
              <a:cxnLst/>
              <a:rect l="l" t="t" r="r" b="b"/>
              <a:pathLst>
                <a:path w="5421630" h="5080">
                  <a:moveTo>
                    <a:pt x="0" y="5060"/>
                  </a:moveTo>
                  <a:lnTo>
                    <a:pt x="0" y="0"/>
                  </a:lnTo>
                  <a:lnTo>
                    <a:pt x="5421251" y="0"/>
                  </a:lnTo>
                  <a:lnTo>
                    <a:pt x="54212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68274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94674"/>
            <a:ext cx="504190" cy="139065"/>
            <a:chOff x="3302482" y="1594674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50771" y="1738053"/>
            <a:ext cx="623570" cy="154940"/>
            <a:chOff x="1550771" y="1738053"/>
            <a:chExt cx="623570" cy="154940"/>
          </a:xfrm>
        </p:grpSpPr>
        <p:sp>
          <p:nvSpPr>
            <p:cNvPr id="8" name="object 8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1574914" y="2375356"/>
            <a:ext cx="1833880" cy="314960"/>
            <a:chOff x="1574914" y="2375356"/>
            <a:chExt cx="1833880" cy="314960"/>
          </a:xfrm>
        </p:grpSpPr>
        <p:sp>
          <p:nvSpPr>
            <p:cNvPr id="11" name="object 11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7294" y="657507"/>
            <a:ext cx="5044440" cy="2017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route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modify.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8760" marR="6921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</a:t>
            </a:r>
            <a:r>
              <a:rPr lang="en-US" sz="900" noProof="1">
                <a:latin typeface="Courier New"/>
                <a:cs typeface="Courier New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name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ends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|</a:t>
            </a:r>
            <a:r>
              <a:rPr lang="en-US" sz="900" spc="-75" noProof="1">
                <a:latin typeface="Courier New"/>
                <a:cs typeface="Courier New"/>
              </a:rPr>
              <a:t> 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column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it).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8760" marR="13652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type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	created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spc="-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NAT Gateway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&gt;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test-nat-</a:t>
            </a:r>
            <a:r>
              <a:rPr lang="en-US" sz="900" spc="-10" noProof="1">
                <a:latin typeface="Courier New"/>
                <a:cs typeface="Courier New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469890" cy="5080"/>
            </a:xfrm>
            <a:custGeom>
              <a:avLst/>
              <a:gdLst/>
              <a:ahLst/>
              <a:cxnLst/>
              <a:rect l="l" t="t" r="r" b="b"/>
              <a:pathLst>
                <a:path w="5469890" h="5080">
                  <a:moveTo>
                    <a:pt x="0" y="5060"/>
                  </a:moveTo>
                  <a:lnTo>
                    <a:pt x="0" y="0"/>
                  </a:lnTo>
                  <a:lnTo>
                    <a:pt x="5469679" y="0"/>
                  </a:lnTo>
                  <a:lnTo>
                    <a:pt x="5469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54747"/>
            <a:ext cx="5015230" cy="320040"/>
            <a:chOff x="372646" y="165474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66009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6107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752663" y="2077955"/>
            <a:ext cx="384175" cy="121285"/>
            <a:chOff x="1752663" y="2077955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292602" y="2076702"/>
            <a:ext cx="504190" cy="122555"/>
            <a:chOff x="3292602" y="2076702"/>
            <a:chExt cx="504190" cy="122555"/>
          </a:xfrm>
        </p:grpSpPr>
        <p:sp>
          <p:nvSpPr>
            <p:cNvPr id="10" name="object 10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7294" y="1171773"/>
            <a:ext cx="4807585" cy="1036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7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ubuntu@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file-server-ec2-instance-private-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ubuntu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ec2-</a:t>
            </a:r>
            <a:r>
              <a:rPr lang="en-US" sz="900" spc="-10" noProof="1">
                <a:latin typeface="Courier New"/>
                <a:cs typeface="Courier New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518150" cy="5080"/>
            </a:xfrm>
            <a:custGeom>
              <a:avLst/>
              <a:gdLst/>
              <a:ahLst/>
              <a:cxnLst/>
              <a:rect l="l" t="t" r="r" b="b"/>
              <a:pathLst>
                <a:path w="5518150" h="5080">
                  <a:moveTo>
                    <a:pt x="0" y="5060"/>
                  </a:moveTo>
                  <a:lnTo>
                    <a:pt x="0" y="0"/>
                  </a:lnTo>
                  <a:lnTo>
                    <a:pt x="5518019" y="0"/>
                  </a:lnTo>
                  <a:lnTo>
                    <a:pt x="5518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50387"/>
            <a:ext cx="5015230" cy="706120"/>
            <a:chOff x="372646" y="1250387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255734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56713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2209147"/>
            <a:ext cx="2955290" cy="154940"/>
            <a:chOff x="359994" y="2209147"/>
            <a:chExt cx="2955290" cy="154940"/>
          </a:xfrm>
        </p:grpSpPr>
        <p:sp>
          <p:nvSpPr>
            <p:cNvPr id="7" name="object 7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006418"/>
            <a:ext cx="4043679" cy="1343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866140">
              <a:lnSpc>
                <a:spcPct val="1074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update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y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&amp;&amp;</a:t>
            </a:r>
            <a:r>
              <a:rPr lang="en-US" sz="800" b="1" spc="-4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podman-docker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y </a:t>
            </a: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data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run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p</a:t>
            </a:r>
            <a:r>
              <a:rPr lang="en-US" sz="800" spc="-3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8080:8080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--restart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unless-stopped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d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v</a:t>
            </a:r>
            <a:r>
              <a:rPr lang="en-US" sz="800" spc="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data:/var/www/filegator/repository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docker.io/filegator/filegator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0"/>
              </a:spcBef>
            </a:pPr>
            <a:r>
              <a:rPr lang="en-US" sz="900" spc="-75" noProof="1">
                <a:latin typeface="Courier New"/>
                <a:cs typeface="Courier New"/>
              </a:rPr>
              <a:t>http://&lt;file-server-ec2-instance-private-ip&gt;:8080</a:t>
            </a:r>
            <a:r>
              <a:rPr lang="en-US" sz="900" spc="-19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567045" cy="5080"/>
            </a:xfrm>
            <a:custGeom>
              <a:avLst/>
              <a:gdLst/>
              <a:ahLst/>
              <a:cxnLst/>
              <a:rect l="l" t="t" r="r" b="b"/>
              <a:pathLst>
                <a:path w="5567045" h="5080">
                  <a:moveTo>
                    <a:pt x="0" y="5060"/>
                  </a:moveTo>
                  <a:lnTo>
                    <a:pt x="0" y="0"/>
                  </a:lnTo>
                  <a:lnTo>
                    <a:pt x="5566448" y="0"/>
                  </a:lnTo>
                  <a:lnTo>
                    <a:pt x="55664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229071"/>
            <a:ext cx="5069840" cy="90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reducing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15305" cy="5080"/>
            </a:xfrm>
            <a:custGeom>
              <a:avLst/>
              <a:gdLst/>
              <a:ahLst/>
              <a:cxnLst/>
              <a:rect l="l" t="t" r="r" b="b"/>
              <a:pathLst>
                <a:path w="5615305" h="5080">
                  <a:moveTo>
                    <a:pt x="0" y="5060"/>
                  </a:moveTo>
                  <a:lnTo>
                    <a:pt x="0" y="0"/>
                  </a:lnTo>
                  <a:lnTo>
                    <a:pt x="5614876" y="0"/>
                  </a:lnTo>
                  <a:lnTo>
                    <a:pt x="56148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02513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28913"/>
            <a:ext cx="504190" cy="139065"/>
            <a:chOff x="3302482" y="1528913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3319" y="933089"/>
            <a:ext cx="4801235" cy="1516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modified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663565" cy="5080"/>
            </a:xfrm>
            <a:custGeom>
              <a:avLst/>
              <a:gdLst/>
              <a:ahLst/>
              <a:cxnLst/>
              <a:rect l="l" t="t" r="r" b="b"/>
              <a:pathLst>
                <a:path w="5663565" h="5080">
                  <a:moveTo>
                    <a:pt x="0" y="5060"/>
                  </a:moveTo>
                  <a:lnTo>
                    <a:pt x="0" y="0"/>
                  </a:lnTo>
                  <a:lnTo>
                    <a:pt x="5663305" y="0"/>
                  </a:lnTo>
                  <a:lnTo>
                    <a:pt x="56633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519624"/>
            <a:ext cx="742950" cy="147955"/>
            <a:chOff x="1119301" y="1519624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62749" y="1999190"/>
            <a:ext cx="384175" cy="121285"/>
            <a:chOff x="862749" y="1999190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250538"/>
            <a:ext cx="461391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delete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11825" cy="5080"/>
            </a:xfrm>
            <a:custGeom>
              <a:avLst/>
              <a:gdLst/>
              <a:ahLst/>
              <a:cxnLst/>
              <a:rect l="l" t="t" r="r" b="b"/>
              <a:pathLst>
                <a:path w="5711825" h="5080">
                  <a:moveTo>
                    <a:pt x="0" y="5060"/>
                  </a:moveTo>
                  <a:lnTo>
                    <a:pt x="0" y="0"/>
                  </a:lnTo>
                  <a:lnTo>
                    <a:pt x="5711645" y="0"/>
                  </a:lnTo>
                  <a:lnTo>
                    <a:pt x="5711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2187493"/>
            <a:ext cx="4032250" cy="512445"/>
            <a:chOff x="863993" y="2187493"/>
            <a:chExt cx="4032250" cy="512445"/>
          </a:xfrm>
        </p:grpSpPr>
        <p:sp>
          <p:nvSpPr>
            <p:cNvPr id="4" name="object 4"/>
            <p:cNvSpPr/>
            <p:nvPr/>
          </p:nvSpPr>
          <p:spPr>
            <a:xfrm>
              <a:off x="863993" y="2187493"/>
              <a:ext cx="4032250" cy="512445"/>
            </a:xfrm>
            <a:custGeom>
              <a:avLst/>
              <a:gdLst/>
              <a:ahLst/>
              <a:cxnLst/>
              <a:rect l="l" t="t" r="r" b="b"/>
              <a:pathLst>
                <a:path w="4032250" h="51244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58450"/>
                  </a:lnTo>
                  <a:lnTo>
                    <a:pt x="4243" y="479470"/>
                  </a:lnTo>
                  <a:lnTo>
                    <a:pt x="15816" y="496634"/>
                  </a:lnTo>
                  <a:lnTo>
                    <a:pt x="32980" y="508207"/>
                  </a:lnTo>
                  <a:lnTo>
                    <a:pt x="54000" y="512450"/>
                  </a:lnTo>
                  <a:lnTo>
                    <a:pt x="3978067" y="512450"/>
                  </a:lnTo>
                  <a:lnTo>
                    <a:pt x="3999086" y="508207"/>
                  </a:lnTo>
                  <a:lnTo>
                    <a:pt x="4016251" y="496634"/>
                  </a:lnTo>
                  <a:lnTo>
                    <a:pt x="4027823" y="479470"/>
                  </a:lnTo>
                  <a:lnTo>
                    <a:pt x="4032067" y="458450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2205493"/>
              <a:ext cx="3996690" cy="476884"/>
            </a:xfrm>
            <a:custGeom>
              <a:avLst/>
              <a:gdLst/>
              <a:ahLst/>
              <a:cxnLst/>
              <a:rect l="l" t="t" r="r" b="b"/>
              <a:pathLst>
                <a:path w="3996690" h="47688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0450"/>
                  </a:lnTo>
                  <a:lnTo>
                    <a:pt x="2829" y="454463"/>
                  </a:lnTo>
                  <a:lnTo>
                    <a:pt x="10544" y="465906"/>
                  </a:lnTo>
                  <a:lnTo>
                    <a:pt x="21987" y="473621"/>
                  </a:lnTo>
                  <a:lnTo>
                    <a:pt x="36000" y="476450"/>
                  </a:lnTo>
                  <a:lnTo>
                    <a:pt x="3960067" y="476450"/>
                  </a:lnTo>
                  <a:lnTo>
                    <a:pt x="3974080" y="473621"/>
                  </a:lnTo>
                  <a:lnTo>
                    <a:pt x="3985523" y="465906"/>
                  </a:lnTo>
                  <a:lnTo>
                    <a:pt x="3993238" y="454463"/>
                  </a:lnTo>
                  <a:lnTo>
                    <a:pt x="3996067" y="440450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670542"/>
            <a:ext cx="5052060" cy="19170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Deployed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temporarily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giving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employees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company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accelerated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pandemic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work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brought.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05535" marR="1054100" indent="19685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Try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experimenting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with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not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connected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to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VPN. </a:t>
            </a:r>
            <a:r>
              <a:rPr lang="en-US" sz="900" spc="-20" noProof="1">
                <a:latin typeface="Arial"/>
                <a:cs typeface="Arial"/>
              </a:rPr>
              <a:t>Make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sure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40" noProof="1">
                <a:latin typeface="Arial"/>
                <a:cs typeface="Arial"/>
              </a:rPr>
              <a:t>scenario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we’ve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setup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makes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sense.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</TotalTime>
  <Words>8029</Words>
  <Application>Microsoft Macintosh PowerPoint</Application>
  <PresentationFormat>Personalizado</PresentationFormat>
  <Paragraphs>624</Paragraphs>
  <Slides>112</Slides>
  <Notes>1</Notes>
  <HiddenSlides>1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112</vt:i4>
      </vt:variant>
    </vt:vector>
  </HeadingPairs>
  <TitlesOfParts>
    <vt:vector size="116" baseType="lpstr">
      <vt:lpstr>Aptos</vt:lpstr>
      <vt:lpstr>Arial</vt:lpstr>
      <vt:lpstr>Courier New</vt:lpstr>
      <vt:lpstr>Office Theme</vt:lpstr>
      <vt:lpstr>Presentación de PowerPoint</vt:lpstr>
      <vt:lpstr>Networking concepts we already met</vt:lpstr>
      <vt:lpstr>Networking concepts we already met</vt:lpstr>
      <vt:lpstr>Presentación de PowerPoint</vt:lpstr>
      <vt:lpstr>What is an IP address?</vt:lpstr>
      <vt:lpstr>Presentación de PowerPoint</vt:lpstr>
      <vt:lpstr>Private vs Public IP addresses</vt:lpstr>
      <vt:lpstr>Private vs Public IP addresses</vt:lpstr>
      <vt:lpstr>The Domain Name System (DNS) is a system that translates domain names to IP addresses. Remember during class when I said you can use the DNS name or the public IP address to connect to an EC2 instance? A DNS name or a domain name is a human-readable name that references an IP address.</vt:lpstr>
      <vt:lpstr>Ports</vt:lpstr>
      <vt:lpstr>Ports</vt:lpstr>
      <vt:lpstr>Our home network</vt:lpstr>
      <vt:lpstr>Our home network</vt:lpstr>
      <vt:lpstr>Your router and NAT</vt:lpstr>
      <vt:lpstr>Your router and NAT</vt:lpstr>
      <vt:lpstr>Your router and NAT</vt:lpstr>
      <vt:lpstr>Your router and NAT</vt:lpstr>
      <vt:lpstr>Your router and NAT</vt:lpstr>
      <vt:lpstr>What is a network?</vt:lpstr>
      <vt:lpstr>What is a network?</vt:lpstr>
      <vt:lpstr>What is the internet?</vt:lpstr>
      <vt:lpstr>What is the internet?</vt:lpstr>
      <vt:lpstr>What is the internet?</vt:lpstr>
      <vt:lpstr>What is the internet?</vt:lpstr>
      <vt:lpstr>Presentación de PowerPoint</vt:lpstr>
      <vt:lpstr>What is the internet?</vt:lpstr>
      <vt:lpstr>Playing with the internet</vt:lpstr>
      <vt:lpstr>Playing with the internet</vt:lpstr>
      <vt:lpstr>Playing with the internet</vt:lpstr>
      <vt:lpstr>Recap</vt:lpstr>
      <vt:lpstr>Presentación de PowerPoint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Presentación de PowerPoint</vt:lpstr>
      <vt:lpstr>How do AWS networks work?</vt:lpstr>
      <vt:lpstr>Presentación de PowerPoint</vt:lpstr>
      <vt:lpstr>How do AWS networks work?</vt:lpstr>
      <vt:lpstr>Presentación de PowerPoint</vt:lpstr>
      <vt:lpstr>Goal of the lab</vt:lpstr>
      <vt:lpstr>Presentación de PowerPoint</vt:lpstr>
      <vt:lpstr>Presentación de PowerPoint</vt:lpstr>
      <vt:lpstr>Creating a VPC</vt:lpstr>
      <vt:lpstr>We are now going to add a subnet to the VPC we just created.</vt:lpstr>
      <vt:lpstr>Creating a public subnet in a VPC</vt:lpstr>
      <vt:lpstr>Presentación de PowerPoint</vt:lpstr>
      <vt:lpstr>Creating a private subnet in a VPC</vt:lpstr>
      <vt:lpstr>Default route table</vt:lpstr>
      <vt:lpstr>Deploying an EC2 instance in the public subnet</vt:lpstr>
      <vt:lpstr>Deploying an EC2 instance in the public subnet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Deploying an EC2 instance in the private subnet</vt:lpstr>
      <vt:lpstr>Deploying an EC2 instance in the private subnet</vt:lpstr>
      <vt:lpstr>Accessing the private EC2 instance</vt:lpstr>
      <vt:lpstr>Accessing the private EC2 instance</vt:lpstr>
      <vt:lpstr>Accessing the private EC2 instance</vt:lpstr>
      <vt:lpstr>Accessing the private EC2 instance</vt:lpstr>
      <vt:lpstr>Presentación de PowerPoint</vt:lpstr>
      <vt:lpstr>Where we can’t directly access the private EC2 instance through SSH.</vt:lpstr>
      <vt:lpstr>But we can access the private EC2 instance from the public EC2 instance.</vt:lpstr>
      <vt:lpstr>Presentación de PowerPoint</vt:lpstr>
      <vt:lpstr>What is a VPN?</vt:lpstr>
      <vt:lpstr>What is a VPN?</vt:lpstr>
      <vt:lpstr>Presentación de PowerPoint</vt:lpstr>
      <vt:lpstr>Presentación de PowerPoint</vt:lpstr>
      <vt:lpstr>Presentación de PowerPoint</vt:lpstr>
      <vt:lpstr>Goal of the lab</vt:lpstr>
      <vt:lpstr>Presentación de PowerPoint</vt:lpstr>
      <vt:lpstr>Presentación de PowerPoint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Import the certificates to AWS</vt:lpstr>
      <vt:lpstr>Presentación de PowerPoint</vt:lpstr>
      <vt:lpstr>Create client VPN endpoint</vt:lpstr>
      <vt:lpstr>Associate the client VPN endpoint with the VPC public subnet</vt:lpstr>
      <vt:lpstr>Presentación de PowerPoint</vt:lpstr>
      <vt:lpstr>Add an authorization rule for the VPC</vt:lpstr>
      <vt:lpstr>Provide access to the internet for devices connected to the VPN</vt:lpstr>
      <vt:lpstr>Setup the Client VPN endpoint configuration file</vt:lpstr>
      <vt:lpstr>Setup the Client VPN endpoint configuration file</vt:lpstr>
      <vt:lpstr>Setup the Client VPN endpoint configuration file</vt:lpstr>
      <vt:lpstr>Setup the Client VPN endpoint configuration file</vt:lpstr>
      <vt:lpstr>Connect to the Client VPN endpoint</vt:lpstr>
      <vt:lpstr>Test the VPN</vt:lpstr>
      <vt:lpstr>Deploying a file server on the private subnet</vt:lpstr>
      <vt:lpstr>Presentación de PowerPoint</vt:lpstr>
      <vt:lpstr>Create an EC2 instance on the private subnet</vt:lpstr>
      <vt:lpstr>Give it access to internet</vt:lpstr>
      <vt:lpstr>Presentación de PowerPoint</vt:lpstr>
      <vt:lpstr>Presentación de PowerPoint</vt:lpstr>
      <vt:lpstr>Give it access to internet</vt:lpstr>
      <vt:lpstr>Give it access to internet</vt:lpstr>
      <vt:lpstr>Deploy the file server</vt:lpstr>
      <vt:lpstr>Deploy the file server</vt:lpstr>
      <vt:lpstr>Remove access to the internet</vt:lpstr>
      <vt:lpstr>Remove access to the internet</vt:lpstr>
      <vt:lpstr>Remove access to the internet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Networking</dc:title>
  <dc:creator>Ferran Aran Domingo ` `%%%`#`&amp;12_`__~~~ౡ氀猀攀</dc:creator>
  <cp:keywords>Cloud Computing, AWS, Healtcare, Cloud Computing in Healthcare</cp:keywords>
  <cp:lastModifiedBy>Francesc Xavier Solsona Tehas</cp:lastModifiedBy>
  <cp:revision>41</cp:revision>
  <dcterms:created xsi:type="dcterms:W3CDTF">2025-05-19T16:07:08Z</dcterms:created>
  <dcterms:modified xsi:type="dcterms:W3CDTF">2026-05-12T14:47:36Z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2025-03-27T00:00:00Z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2025-03-27T00:00:00Z</vt:filetime>
  </property>
</Properties>
</file>