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9"/>
  </p:notesMasterIdLst>
  <p:sldIdLst>
    <p:sldId id="256" r:id="rId2"/>
    <p:sldId id="257" r:id="rId3"/>
    <p:sldId id="260" r:id="rId4"/>
    <p:sldId id="265" r:id="rId5"/>
    <p:sldId id="266" r:id="rId6"/>
    <p:sldId id="267" r:id="rId7"/>
    <p:sldId id="268" r:id="rId8"/>
    <p:sldId id="270" r:id="rId9"/>
    <p:sldId id="272" r:id="rId10"/>
    <p:sldId id="274" r:id="rId11"/>
    <p:sldId id="275" r:id="rId12"/>
    <p:sldId id="281" r:id="rId13"/>
    <p:sldId id="289" r:id="rId14"/>
    <p:sldId id="294" r:id="rId15"/>
    <p:sldId id="298" r:id="rId16"/>
    <p:sldId id="303" r:id="rId17"/>
    <p:sldId id="306" r:id="rId18"/>
    <p:sldId id="311" r:id="rId19"/>
    <p:sldId id="312" r:id="rId20"/>
    <p:sldId id="318" r:id="rId21"/>
    <p:sldId id="324" r:id="rId22"/>
    <p:sldId id="330" r:id="rId23"/>
    <p:sldId id="333" r:id="rId24"/>
    <p:sldId id="334" r:id="rId25"/>
    <p:sldId id="339" r:id="rId26"/>
    <p:sldId id="342" r:id="rId27"/>
    <p:sldId id="345" r:id="rId28"/>
    <p:sldId id="348" r:id="rId29"/>
    <p:sldId id="351" r:id="rId30"/>
    <p:sldId id="353" r:id="rId31"/>
    <p:sldId id="359" r:id="rId32"/>
    <p:sldId id="362" r:id="rId33"/>
    <p:sldId id="369" r:id="rId34"/>
    <p:sldId id="371" r:id="rId35"/>
    <p:sldId id="376" r:id="rId36"/>
    <p:sldId id="382" r:id="rId37"/>
    <p:sldId id="383" r:id="rId38"/>
    <p:sldId id="384" r:id="rId39"/>
    <p:sldId id="385" r:id="rId40"/>
    <p:sldId id="387" r:id="rId41"/>
    <p:sldId id="390" r:id="rId42"/>
    <p:sldId id="391" r:id="rId43"/>
    <p:sldId id="395" r:id="rId44"/>
    <p:sldId id="399" r:id="rId45"/>
    <p:sldId id="403" r:id="rId46"/>
    <p:sldId id="405" r:id="rId47"/>
    <p:sldId id="413" r:id="rId48"/>
    <p:sldId id="414" r:id="rId49"/>
    <p:sldId id="415" r:id="rId50"/>
    <p:sldId id="416" r:id="rId51"/>
    <p:sldId id="417" r:id="rId52"/>
    <p:sldId id="418" r:id="rId53"/>
    <p:sldId id="419" r:id="rId54"/>
    <p:sldId id="423" r:id="rId55"/>
    <p:sldId id="420" r:id="rId56"/>
    <p:sldId id="421" r:id="rId57"/>
    <p:sldId id="422" r:id="rId58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FCA0C83-5135-9444-B36B-52282EA983D6}" v="10" dt="2026-02-16T11:35:39.47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137"/>
    <p:restoredTop sz="91452"/>
  </p:normalViewPr>
  <p:slideViewPr>
    <p:cSldViewPr>
      <p:cViewPr varScale="1">
        <p:scale>
          <a:sx n="400" d="100"/>
          <a:sy n="400" d="100"/>
        </p:scale>
        <p:origin x="1920" y="44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65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addSld delSld modSld">
      <pc:chgData name="Francesc Xavier Solsona Tehas" userId="1f95e2c3-a25c-4efc-a37b-de93ab79e53c" providerId="ADAL" clId="{C51773D9-DD29-5A84-A509-762D3F3EA38B}" dt="2026-02-16T11:34:06.366" v="1237" actId="2696"/>
      <pc:docMkLst>
        <pc:docMk/>
      </pc:docMkLst>
      <pc:sldChg chg="modSp mod">
        <pc:chgData name="Francesc Xavier Solsona Tehas" userId="1f95e2c3-a25c-4efc-a37b-de93ab79e53c" providerId="ADAL" clId="{C51773D9-DD29-5A84-A509-762D3F3EA38B}" dt="2026-02-14T10:46:14.809" v="1140" actId="14100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14T10:46:14.809" v="1140" actId="14100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3:41.656" v="38" actId="20577"/>
        <pc:sldMkLst>
          <pc:docMk/>
          <pc:sldMk cId="0" sldId="260"/>
        </pc:sldMkLst>
        <pc:spChg chg="mod">
          <ac:chgData name="Francesc Xavier Solsona Tehas" userId="1f95e2c3-a25c-4efc-a37b-de93ab79e53c" providerId="ADAL" clId="{C51773D9-DD29-5A84-A509-762D3F3EA38B}" dt="2026-02-13T17:53:41.656" v="38" actId="20577"/>
          <ac:spMkLst>
            <pc:docMk/>
            <pc:sldMk cId="0" sldId="260"/>
            <ac:spMk id="9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6:15.957" v="93" actId="20577"/>
        <pc:sldMkLst>
          <pc:docMk/>
          <pc:sldMk cId="0" sldId="265"/>
        </pc:sldMkLst>
        <pc:spChg chg="mod">
          <ac:chgData name="Francesc Xavier Solsona Tehas" userId="1f95e2c3-a25c-4efc-a37b-de93ab79e53c" providerId="ADAL" clId="{C51773D9-DD29-5A84-A509-762D3F3EA38B}" dt="2026-02-13T17:56:15.957" v="93" actId="20577"/>
          <ac:spMkLst>
            <pc:docMk/>
            <pc:sldMk cId="0" sldId="265"/>
            <ac:spMk id="2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6:14.011" v="169" actId="255"/>
        <pc:sldMkLst>
          <pc:docMk/>
          <pc:sldMk cId="0" sldId="272"/>
        </pc:sldMkLst>
        <pc:spChg chg="mod">
          <ac:chgData name="Francesc Xavier Solsona Tehas" userId="1f95e2c3-a25c-4efc-a37b-de93ab79e53c" providerId="ADAL" clId="{C51773D9-DD29-5A84-A509-762D3F3EA38B}" dt="2026-02-13T18:26:14.011" v="169" actId="255"/>
          <ac:spMkLst>
            <pc:docMk/>
            <pc:sldMk cId="0" sldId="272"/>
            <ac:spMk id="4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8:19.707" v="187" actId="20577"/>
        <pc:sldMkLst>
          <pc:docMk/>
          <pc:sldMk cId="0" sldId="281"/>
        </pc:sldMkLst>
        <pc:spChg chg="mod">
          <ac:chgData name="Francesc Xavier Solsona Tehas" userId="1f95e2c3-a25c-4efc-a37b-de93ab79e53c" providerId="ADAL" clId="{C51773D9-DD29-5A84-A509-762D3F3EA38B}" dt="2026-02-13T18:28:19.707" v="187" actId="20577"/>
          <ac:spMkLst>
            <pc:docMk/>
            <pc:sldMk cId="0" sldId="281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6T11:20:16.953" v="1163" actId="20577"/>
        <pc:sldMkLst>
          <pc:docMk/>
          <pc:sldMk cId="0" sldId="289"/>
        </pc:sldMkLst>
        <pc:spChg chg="mod">
          <ac:chgData name="Francesc Xavier Solsona Tehas" userId="1f95e2c3-a25c-4efc-a37b-de93ab79e53c" providerId="ADAL" clId="{C51773D9-DD29-5A84-A509-762D3F3EA38B}" dt="2026-02-16T11:20:16.953" v="1163" actId="20577"/>
          <ac:spMkLst>
            <pc:docMk/>
            <pc:sldMk cId="0" sldId="289"/>
            <ac:spMk id="6" creationId="{00000000-0000-0000-0000-000000000000}"/>
          </ac:spMkLst>
        </pc:spChg>
      </pc:sldChg>
      <pc:sldChg chg="addSp delSp mod modNotesTx">
        <pc:chgData name="Francesc Xavier Solsona Tehas" userId="1f95e2c3-a25c-4efc-a37b-de93ab79e53c" providerId="ADAL" clId="{C51773D9-DD29-5A84-A509-762D3F3EA38B}" dt="2026-02-16T11:24:17.418" v="1199" actId="478"/>
        <pc:sldMkLst>
          <pc:docMk/>
          <pc:sldMk cId="0" sldId="306"/>
        </pc:sldMkLst>
        <pc:spChg chg="add del">
          <ac:chgData name="Francesc Xavier Solsona Tehas" userId="1f95e2c3-a25c-4efc-a37b-de93ab79e53c" providerId="ADAL" clId="{C51773D9-DD29-5A84-A509-762D3F3EA38B}" dt="2026-02-16T11:24:17.418" v="1199" actId="478"/>
          <ac:spMkLst>
            <pc:docMk/>
            <pc:sldMk cId="0" sldId="306"/>
            <ac:spMk id="4" creationId="{00000000-0000-0000-0000-000000000000}"/>
          </ac:spMkLst>
        </pc:spChg>
      </pc:sldChg>
      <pc:sldChg chg="modSp mod modNotesTx">
        <pc:chgData name="Francesc Xavier Solsona Tehas" userId="1f95e2c3-a25c-4efc-a37b-de93ab79e53c" providerId="ADAL" clId="{C51773D9-DD29-5A84-A509-762D3F3EA38B}" dt="2026-02-16T11:31:37.708" v="1226" actId="20577"/>
        <pc:sldMkLst>
          <pc:docMk/>
          <pc:sldMk cId="0" sldId="333"/>
        </pc:sldMkLst>
        <pc:spChg chg="mod">
          <ac:chgData name="Francesc Xavier Solsona Tehas" userId="1f95e2c3-a25c-4efc-a37b-de93ab79e53c" providerId="ADAL" clId="{C51773D9-DD29-5A84-A509-762D3F3EA38B}" dt="2026-02-16T11:30:41.892" v="1223" actId="20577"/>
          <ac:spMkLst>
            <pc:docMk/>
            <pc:sldMk cId="0" sldId="333"/>
            <ac:spMk id="3" creationId="{00000000-0000-0000-0000-000000000000}"/>
          </ac:spMkLst>
        </pc:spChg>
      </pc:sldChg>
      <pc:sldChg chg="delSp modSp mod">
        <pc:chgData name="Francesc Xavier Solsona Tehas" userId="1f95e2c3-a25c-4efc-a37b-de93ab79e53c" providerId="ADAL" clId="{C51773D9-DD29-5A84-A509-762D3F3EA38B}" dt="2026-02-16T11:33:33.723" v="1236" actId="14100"/>
        <pc:sldMkLst>
          <pc:docMk/>
          <pc:sldMk cId="0" sldId="351"/>
        </pc:sldMkLst>
        <pc:spChg chg="mod">
          <ac:chgData name="Francesc Xavier Solsona Tehas" userId="1f95e2c3-a25c-4efc-a37b-de93ab79e53c" providerId="ADAL" clId="{C51773D9-DD29-5A84-A509-762D3F3EA38B}" dt="2026-02-16T11:33:01.986" v="1228" actId="1076"/>
          <ac:spMkLst>
            <pc:docMk/>
            <pc:sldMk cId="0" sldId="351"/>
            <ac:spMk id="3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33.723" v="1236" actId="14100"/>
          <ac:spMkLst>
            <pc:docMk/>
            <pc:sldMk cId="0" sldId="351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27.218" v="1235" actId="20577"/>
          <ac:spMkLst>
            <pc:docMk/>
            <pc:sldMk cId="0" sldId="351"/>
            <ac:spMk id="5" creationId="{00000000-0000-0000-0000-000000000000}"/>
          </ac:spMkLst>
        </pc:spChg>
        <pc:spChg chg="del">
          <ac:chgData name="Francesc Xavier Solsona Tehas" userId="1f95e2c3-a25c-4efc-a37b-de93ab79e53c" providerId="ADAL" clId="{C51773D9-DD29-5A84-A509-762D3F3EA38B}" dt="2026-02-16T11:33:07.612" v="1230" actId="478"/>
          <ac:spMkLst>
            <pc:docMk/>
            <pc:sldMk cId="0" sldId="351"/>
            <ac:spMk id="6" creationId="{00000000-0000-0000-0000-000000000000}"/>
          </ac:spMkLst>
        </pc:spChg>
        <pc:spChg chg="del mod">
          <ac:chgData name="Francesc Xavier Solsona Tehas" userId="1f95e2c3-a25c-4efc-a37b-de93ab79e53c" providerId="ADAL" clId="{C51773D9-DD29-5A84-A509-762D3F3EA38B}" dt="2026-02-16T11:33:09.773" v="1231" actId="478"/>
          <ac:spMkLst>
            <pc:docMk/>
            <pc:sldMk cId="0" sldId="351"/>
            <ac:spMk id="7" creationId="{00000000-0000-0000-0000-000000000000}"/>
          </ac:spMkLst>
        </pc:spChg>
      </pc:sldChg>
      <pc:sldChg chg="add del">
        <pc:chgData name="Francesc Xavier Solsona Tehas" userId="1f95e2c3-a25c-4efc-a37b-de93ab79e53c" providerId="ADAL" clId="{C51773D9-DD29-5A84-A509-762D3F3EA38B}" dt="2026-02-16T11:34:06.366" v="1237" actId="2696"/>
        <pc:sldMkLst>
          <pc:docMk/>
          <pc:sldMk cId="0" sldId="352"/>
        </pc:sldMkLst>
      </pc:sldChg>
      <pc:sldChg chg="modSp mod">
        <pc:chgData name="Francesc Xavier Solsona Tehas" userId="1f95e2c3-a25c-4efc-a37b-de93ab79e53c" providerId="ADAL" clId="{C51773D9-DD29-5A84-A509-762D3F3EA38B}" dt="2026-02-13T19:00:33.578" v="381" actId="20577"/>
        <pc:sldMkLst>
          <pc:docMk/>
          <pc:sldMk cId="0" sldId="376"/>
        </pc:sldMkLst>
        <pc:spChg chg="mod">
          <ac:chgData name="Francesc Xavier Solsona Tehas" userId="1f95e2c3-a25c-4efc-a37b-de93ab79e53c" providerId="ADAL" clId="{C51773D9-DD29-5A84-A509-762D3F3EA38B}" dt="2026-02-13T19:00:33.578" v="381" actId="20577"/>
          <ac:spMkLst>
            <pc:docMk/>
            <pc:sldMk cId="0" sldId="376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40:44.509" v="276" actId="20577"/>
        <pc:sldMkLst>
          <pc:docMk/>
          <pc:sldMk cId="0" sldId="387"/>
        </pc:sldMkLst>
        <pc:spChg chg="mod">
          <ac:chgData name="Francesc Xavier Solsona Tehas" userId="1f95e2c3-a25c-4efc-a37b-de93ab79e53c" providerId="ADAL" clId="{C51773D9-DD29-5A84-A509-762D3F3EA38B}" dt="2026-02-13T18:40:44.509" v="276" actId="20577"/>
          <ac:spMkLst>
            <pc:docMk/>
            <pc:sldMk cId="0" sldId="387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6:39.417" v="374" actId="5793"/>
        <pc:sldMkLst>
          <pc:docMk/>
          <pc:sldMk cId="0" sldId="405"/>
        </pc:sldMkLst>
        <pc:spChg chg="mod">
          <ac:chgData name="Francesc Xavier Solsona Tehas" userId="1f95e2c3-a25c-4efc-a37b-de93ab79e53c" providerId="ADAL" clId="{C51773D9-DD29-5A84-A509-762D3F3EA38B}" dt="2026-02-13T18:56:39.417" v="374" actId="5793"/>
          <ac:spMkLst>
            <pc:docMk/>
            <pc:sldMk cId="0" sldId="405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4:45.034" v="346" actId="1076"/>
        <pc:sldMkLst>
          <pc:docMk/>
          <pc:sldMk cId="0" sldId="413"/>
        </pc:sldMkLst>
        <pc:spChg chg="mod">
          <ac:chgData name="Francesc Xavier Solsona Tehas" userId="1f95e2c3-a25c-4efc-a37b-de93ab79e53c" providerId="ADAL" clId="{C51773D9-DD29-5A84-A509-762D3F3EA38B}" dt="2026-02-13T18:54:45.034" v="346" actId="1076"/>
          <ac:spMkLst>
            <pc:docMk/>
            <pc:sldMk cId="0" sldId="413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3T18:54:21.868" v="332" actId="20577"/>
          <ac:spMkLst>
            <pc:docMk/>
            <pc:sldMk cId="0" sldId="413"/>
            <ac:spMk id="5" creationId="{00000000-0000-0000-0000-000000000000}"/>
          </ac:spMkLst>
        </pc:spChg>
      </pc:sldChg>
      <pc:sldChg chg="addSp delSp modSp add mod">
        <pc:chgData name="Francesc Xavier Solsona Tehas" userId="1f95e2c3-a25c-4efc-a37b-de93ab79e53c" providerId="ADAL" clId="{C51773D9-DD29-5A84-A509-762D3F3EA38B}" dt="2026-02-13T19:24:34.837" v="1116" actId="1035"/>
        <pc:sldMkLst>
          <pc:docMk/>
          <pc:sldMk cId="2027014884" sldId="423"/>
        </pc:sldMkLst>
        <pc:spChg chg="add mod">
          <ac:chgData name="Francesc Xavier Solsona Tehas" userId="1f95e2c3-a25c-4efc-a37b-de93ab79e53c" providerId="ADAL" clId="{C51773D9-DD29-5A84-A509-762D3F3EA38B}" dt="2026-02-13T19:24:34.837" v="1116" actId="1035"/>
          <ac:spMkLst>
            <pc:docMk/>
            <pc:sldMk cId="2027014884" sldId="423"/>
            <ac:spMk id="10" creationId="{D9996C46-94A3-3ED9-5DC9-7721B600A14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25BBCA-A755-494C-A608-EE676ACA215F}" type="datetimeFigureOut">
              <a:rPr lang="es-ES" smtClean="0"/>
              <a:t>16/2/26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CD6B7A-CA3A-4846-96EB-222948338FB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84725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>
                <a:solidFill>
                  <a:srgbClr val="0070C0"/>
                </a:solidFill>
              </a:rPr>
              <a:t>Runtime</a:t>
            </a:r>
            <a:r>
              <a:rPr lang="es-ES" dirty="0"/>
              <a:t>: </a:t>
            </a:r>
            <a:r>
              <a:rPr lang="es-ES" dirty="0" err="1"/>
              <a:t>environtment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apps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517108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EB811B"/>
                </a:solidFill>
                <a:latin typeface="Arial"/>
                <a:cs typeface="Arial"/>
              </a:rPr>
              <a:t>CAGR: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Compound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Annual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Growth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Rate</a:t>
            </a:r>
            <a:endParaRPr lang="es-E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585976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351536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2/14/26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2/14/26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2/14/26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2/14/26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2/14/26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76682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27304" y="630854"/>
            <a:ext cx="5208270" cy="21113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2/14/26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francesc.solsona@udl.ca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forms.office.com/e/ZTY3MEiPJb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forms.office.com/e/ZTY3MEiPJb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forms.office.com/e/ZTY3MEiPJb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57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iot-analytics.com/global-cloud-projects/" TargetMode="Externa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" Target="slide24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" Target="slide30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pages.github.com/" TargetMode="External"/><Relationship Id="rId2" Type="http://schemas.openxmlformats.org/officeDocument/2006/relationships/hyperlink" Target="https://github.com/signup" TargetMode="Externa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hdbc-17705110-mdbs.github.io/HandsOnLabs/hol1.html" TargetMode="Externa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slide" Target="slide42.xml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slide" Target="slide57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slide" Target="slide57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slide" Target="slide48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slide" Target="slide50.xml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hyperlink" Target="https://hdbc-17705110-mdbs.github.io/HandsOnLabs/hol1.html" TargetMode="Externa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quiz1.html" TargetMode="External"/><Relationship Id="rId2" Type="http://schemas.openxmlformats.org/officeDocument/2006/relationships/hyperlink" Target="https://hdbc-17705110-mdbs.github.io/HandsOnLabs/hol1.html" TargetMode="Externa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347294" y="98705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0" dirty="0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2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20" dirty="0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3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2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sz="11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1242941"/>
            <a:ext cx="13779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dirty="0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sz="10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dirty="0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sz="10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10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sz="100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>
            <a:spLocks noGrp="1"/>
          </p:cNvSpPr>
          <p:nvPr>
            <p:ph type="subTitle" idx="4"/>
          </p:nvPr>
        </p:nvSpPr>
        <p:spPr>
          <a:xfrm>
            <a:off x="347294" y="1828356"/>
            <a:ext cx="24594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s-ES" sz="800" spc="-10" dirty="0"/>
              <a:t>Francesc Solsona Tehas </a:t>
            </a:r>
            <a:r>
              <a:rPr lang="es-ES" sz="800" spc="-20" dirty="0">
                <a:hlinkClick r:id="rId2"/>
              </a:rPr>
              <a:t>francesc.solsona</a:t>
            </a:r>
            <a:r>
              <a:rPr sz="800" spc="-20" dirty="0">
                <a:hlinkClick r:id="rId2"/>
              </a:rPr>
              <a:t>@udl.cat</a:t>
            </a:r>
            <a:endParaRPr sz="800" dirty="0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sz="800" dirty="0"/>
          </a:p>
          <a:p>
            <a:pPr marL="12700">
              <a:lnSpc>
                <a:spcPct val="100000"/>
              </a:lnSpc>
            </a:pPr>
            <a:r>
              <a:rPr sz="600" dirty="0"/>
              <a:t>Universitat</a:t>
            </a:r>
            <a:r>
              <a:rPr sz="600" spc="20" dirty="0"/>
              <a:t> </a:t>
            </a:r>
            <a:r>
              <a:rPr sz="600" dirty="0"/>
              <a:t>Rovira</a:t>
            </a:r>
            <a:r>
              <a:rPr sz="600" spc="25" dirty="0"/>
              <a:t> </a:t>
            </a:r>
            <a:r>
              <a:rPr sz="600" dirty="0"/>
              <a:t>i</a:t>
            </a:r>
            <a:r>
              <a:rPr sz="600" spc="25" dirty="0"/>
              <a:t> </a:t>
            </a:r>
            <a:r>
              <a:rPr sz="600" dirty="0"/>
              <a:t>Virgili</a:t>
            </a:r>
            <a:r>
              <a:rPr sz="600" spc="25" dirty="0"/>
              <a:t> </a:t>
            </a:r>
            <a:r>
              <a:rPr sz="600" dirty="0"/>
              <a:t>and</a:t>
            </a:r>
            <a:r>
              <a:rPr sz="600" spc="25" dirty="0"/>
              <a:t> </a:t>
            </a:r>
            <a:r>
              <a:rPr sz="600" dirty="0"/>
              <a:t>Universitat</a:t>
            </a:r>
            <a:r>
              <a:rPr sz="600" spc="20" dirty="0"/>
              <a:t> </a:t>
            </a:r>
            <a:r>
              <a:rPr sz="600" dirty="0"/>
              <a:t>de</a:t>
            </a:r>
            <a:r>
              <a:rPr sz="600" spc="25" dirty="0"/>
              <a:t> </a:t>
            </a:r>
            <a:r>
              <a:rPr sz="600" spc="-10" dirty="0"/>
              <a:t>Lleida</a:t>
            </a:r>
            <a:endParaRPr sz="600" dirty="0"/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8110" cy="5080"/>
            </a:xfrm>
            <a:custGeom>
              <a:avLst/>
              <a:gdLst/>
              <a:ahLst/>
              <a:cxnLst/>
              <a:rect l="l" t="t" r="r" b="b"/>
              <a:pathLst>
                <a:path w="118110" h="5080">
                  <a:moveTo>
                    <a:pt x="0" y="5060"/>
                  </a:moveTo>
                  <a:lnTo>
                    <a:pt x="0" y="0"/>
                  </a:lnTo>
                  <a:lnTo>
                    <a:pt x="117511" y="0"/>
                  </a:lnTo>
                  <a:lnTo>
                    <a:pt x="1175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15913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dirty="0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spc="-25" dirty="0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F9F9F9"/>
                </a:solidFill>
                <a:latin typeface="Arial"/>
                <a:cs typeface="Arial"/>
              </a:rPr>
              <a:t>this</a:t>
            </a:r>
            <a:r>
              <a:rPr sz="1000" b="1" spc="2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spc="-50" dirty="0">
                <a:solidFill>
                  <a:srgbClr val="F9F9F9"/>
                </a:solidFill>
                <a:latin typeface="Arial"/>
                <a:cs typeface="Arial"/>
              </a:rPr>
              <a:t>course</a:t>
            </a:r>
            <a:r>
              <a:rPr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spc="-20" dirty="0">
                <a:solidFill>
                  <a:srgbClr val="F9F9F9"/>
                </a:solidFill>
                <a:latin typeface="Arial"/>
                <a:cs typeface="Arial"/>
              </a:rPr>
              <a:t>about?</a:t>
            </a:r>
            <a:endParaRPr sz="100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316291" y="708515"/>
            <a:ext cx="31280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dirty="0">
                <a:solidFill>
                  <a:srgbClr val="22373A"/>
                </a:solidFill>
              </a:rPr>
              <a:t>High</a:t>
            </a:r>
            <a:r>
              <a:rPr sz="900" spc="-5" dirty="0">
                <a:solidFill>
                  <a:srgbClr val="22373A"/>
                </a:solidFill>
              </a:rPr>
              <a:t> </a:t>
            </a:r>
            <a:r>
              <a:rPr sz="900" spc="-30" dirty="0">
                <a:solidFill>
                  <a:srgbClr val="22373A"/>
                </a:solidFill>
              </a:rPr>
              <a:t>Performance</a:t>
            </a:r>
            <a:r>
              <a:rPr sz="900" dirty="0">
                <a:solidFill>
                  <a:srgbClr val="22373A"/>
                </a:solidFill>
              </a:rPr>
              <a:t> </a:t>
            </a:r>
            <a:r>
              <a:rPr sz="900" spc="-10" dirty="0">
                <a:solidFill>
                  <a:srgbClr val="22373A"/>
                </a:solidFill>
              </a:rPr>
              <a:t>and</a:t>
            </a:r>
            <a:r>
              <a:rPr sz="900" spc="-5" dirty="0">
                <a:solidFill>
                  <a:srgbClr val="22373A"/>
                </a:solidFill>
              </a:rPr>
              <a:t> </a:t>
            </a:r>
            <a:r>
              <a:rPr sz="900" spc="-10" dirty="0">
                <a:solidFill>
                  <a:srgbClr val="22373A"/>
                </a:solidFill>
              </a:rPr>
              <a:t>Distributed</a:t>
            </a:r>
            <a:r>
              <a:rPr sz="900" dirty="0">
                <a:solidFill>
                  <a:srgbClr val="22373A"/>
                </a:solidFill>
              </a:rPr>
              <a:t> </a:t>
            </a:r>
            <a:r>
              <a:rPr sz="900" spc="-25" dirty="0">
                <a:solidFill>
                  <a:srgbClr val="22373A"/>
                </a:solidFill>
              </a:rPr>
              <a:t>Computing</a:t>
            </a:r>
            <a:r>
              <a:rPr sz="900" spc="-5" dirty="0">
                <a:solidFill>
                  <a:srgbClr val="22373A"/>
                </a:solidFill>
              </a:rPr>
              <a:t> </a:t>
            </a:r>
            <a:r>
              <a:rPr sz="900" dirty="0">
                <a:solidFill>
                  <a:srgbClr val="22373A"/>
                </a:solidFill>
              </a:rPr>
              <a:t>for Big</a:t>
            </a:r>
            <a:r>
              <a:rPr sz="900" spc="-5" dirty="0">
                <a:solidFill>
                  <a:srgbClr val="22373A"/>
                </a:solidFill>
              </a:rPr>
              <a:t> </a:t>
            </a:r>
            <a:r>
              <a:rPr sz="900" spc="-20" dirty="0">
                <a:solidFill>
                  <a:srgbClr val="22373A"/>
                </a:solidFill>
              </a:rPr>
              <a:t>Data</a:t>
            </a:r>
            <a:endParaRPr sz="900"/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5585" cy="5080"/>
            </a:xfrm>
            <a:custGeom>
              <a:avLst/>
              <a:gdLst/>
              <a:ahLst/>
              <a:cxnLst/>
              <a:rect l="l" t="t" r="r" b="b"/>
              <a:pathLst>
                <a:path w="235585" h="5080">
                  <a:moveTo>
                    <a:pt x="0" y="5060"/>
                  </a:moveTo>
                  <a:lnTo>
                    <a:pt x="0" y="0"/>
                  </a:lnTo>
                  <a:lnTo>
                    <a:pt x="235110" y="0"/>
                  </a:lnTo>
                  <a:lnTo>
                    <a:pt x="2351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What</a:t>
            </a:r>
            <a:r>
              <a:rPr spc="20" dirty="0"/>
              <a:t> </a:t>
            </a:r>
            <a:r>
              <a:rPr spc="-25" dirty="0"/>
              <a:t>is</a:t>
            </a:r>
            <a:r>
              <a:rPr spc="20" dirty="0"/>
              <a:t> </a:t>
            </a:r>
            <a:r>
              <a:rPr spc="-10" dirty="0"/>
              <a:t>this</a:t>
            </a:r>
            <a:r>
              <a:rPr spc="25" dirty="0"/>
              <a:t> </a:t>
            </a:r>
            <a:r>
              <a:rPr spc="-50" dirty="0"/>
              <a:t>course</a:t>
            </a:r>
            <a:r>
              <a:rPr spc="20" dirty="0"/>
              <a:t> </a:t>
            </a:r>
            <a:r>
              <a:rPr spc="-20" dirty="0"/>
              <a:t>about?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16291" y="708515"/>
            <a:ext cx="31280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sz="9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for Big</a:t>
            </a:r>
            <a:r>
              <a:rPr sz="9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sz="9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4711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High</a:t>
            </a:r>
            <a:r>
              <a:rPr sz="900" b="1" spc="-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Performance</a:t>
            </a:r>
            <a:endParaRPr sz="9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111542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supercomputers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parallel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techniques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solve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computational</a:t>
            </a:r>
            <a:endParaRPr sz="900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problems.</a:t>
            </a:r>
            <a:endParaRPr sz="9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47761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sz="900" b="1" spc="-10" dirty="0">
                <a:solidFill>
                  <a:srgbClr val="13AF3C"/>
                </a:solidFill>
                <a:latin typeface="Arial"/>
                <a:cs typeface="Arial"/>
              </a:rPr>
              <a:t>Distributed</a:t>
            </a:r>
            <a:r>
              <a:rPr sz="900" b="1" spc="-5" dirty="0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13AF3C"/>
                </a:solidFill>
                <a:latin typeface="Arial"/>
                <a:cs typeface="Arial"/>
              </a:rPr>
              <a:t>Computing</a:t>
            </a:r>
            <a:endParaRPr sz="9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712188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20"/>
              </a:spcBef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concept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multiple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interconnected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sz="900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common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goal.</a:t>
            </a:r>
            <a:endParaRPr sz="9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4853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Big </a:t>
            </a:r>
            <a:r>
              <a:rPr sz="900" b="1" spc="-2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sz="9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59994" y="2312962"/>
            <a:ext cx="5039995" cy="306494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term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leads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sets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sz="900" dirty="0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s-ES" sz="900" dirty="0" err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s-ES" sz="900" dirty="0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applications.</a:t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235585" cy="5080"/>
            </a:xfrm>
            <a:custGeom>
              <a:avLst/>
              <a:gdLst/>
              <a:ahLst/>
              <a:cxnLst/>
              <a:rect l="l" t="t" r="r" b="b"/>
              <a:pathLst>
                <a:path w="235585" h="5080">
                  <a:moveTo>
                    <a:pt x="0" y="5060"/>
                  </a:moveTo>
                  <a:lnTo>
                    <a:pt x="0" y="0"/>
                  </a:lnTo>
                  <a:lnTo>
                    <a:pt x="235110" y="0"/>
                  </a:lnTo>
                  <a:lnTo>
                    <a:pt x="2351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5964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Who</a:t>
            </a:r>
            <a:r>
              <a:rPr spc="5" dirty="0"/>
              <a:t> </a:t>
            </a:r>
            <a:r>
              <a:rPr dirty="0"/>
              <a:t>are</a:t>
            </a:r>
            <a:r>
              <a:rPr spc="5" dirty="0"/>
              <a:t> </a:t>
            </a:r>
            <a:r>
              <a:rPr spc="-50" dirty="0"/>
              <a:t>you?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331462"/>
            <a:ext cx="290449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95"/>
              </a:spcBef>
              <a:buChar char="•"/>
              <a:tabLst>
                <a:tab pos="160020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familiar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technology?</a:t>
            </a:r>
            <a:endParaRPr sz="9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035606" y="1889107"/>
            <a:ext cx="168910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spc="-4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Pre-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Course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Survey:</a:t>
            </a:r>
            <a:r>
              <a:rPr sz="900" spc="7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Who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are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you?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70534" cy="5080"/>
            </a:xfrm>
            <a:custGeom>
              <a:avLst/>
              <a:gdLst/>
              <a:ahLst/>
              <a:cxnLst/>
              <a:rect l="l" t="t" r="r" b="b"/>
              <a:pathLst>
                <a:path w="470534" h="5080">
                  <a:moveTo>
                    <a:pt x="0" y="5060"/>
                  </a:moveTo>
                  <a:lnTo>
                    <a:pt x="0" y="0"/>
                  </a:lnTo>
                  <a:lnTo>
                    <a:pt x="470220" y="0"/>
                  </a:lnTo>
                  <a:lnTo>
                    <a:pt x="4702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596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35" dirty="0"/>
              <a:t>Pre-</a:t>
            </a:r>
            <a:r>
              <a:rPr spc="-20" dirty="0"/>
              <a:t>Course</a:t>
            </a:r>
            <a:r>
              <a:rPr dirty="0"/>
              <a:t> </a:t>
            </a:r>
            <a:r>
              <a:rPr spc="-30" dirty="0"/>
              <a:t>Survey:</a:t>
            </a:r>
            <a:r>
              <a:rPr spc="100" dirty="0"/>
              <a:t> </a:t>
            </a:r>
            <a:r>
              <a:rPr dirty="0"/>
              <a:t>Who</a:t>
            </a:r>
            <a:r>
              <a:rPr spc="5" dirty="0"/>
              <a:t> </a:t>
            </a:r>
            <a:r>
              <a:rPr dirty="0"/>
              <a:t>are</a:t>
            </a:r>
            <a:r>
              <a:rPr spc="5" dirty="0"/>
              <a:t> </a:t>
            </a:r>
            <a:r>
              <a:rPr spc="-50" dirty="0"/>
              <a:t>you?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308789"/>
            <a:ext cx="3763645" cy="74295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familiar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technology?</a:t>
            </a:r>
            <a:endParaRPr sz="900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What is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background,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why did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enrol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Master’s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degree?</a:t>
            </a:r>
            <a:endParaRPr sz="9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19"/>
              </a:spcBef>
            </a:pPr>
            <a:endParaRPr sz="900">
              <a:latin typeface="Arial"/>
              <a:cs typeface="Arial"/>
            </a:endParaRPr>
          </a:p>
          <a:p>
            <a:pPr marL="1621155">
              <a:lnSpc>
                <a:spcPct val="100000"/>
              </a:lnSpc>
            </a:pPr>
            <a:r>
              <a:rPr sz="900" spc="-4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Pre-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Course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Survey:</a:t>
            </a:r>
            <a:r>
              <a:rPr sz="900" spc="7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Who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are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you?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70534" cy="5080"/>
            </a:xfrm>
            <a:custGeom>
              <a:avLst/>
              <a:gdLst/>
              <a:ahLst/>
              <a:cxnLst/>
              <a:rect l="l" t="t" r="r" b="b"/>
              <a:pathLst>
                <a:path w="470534" h="5080">
                  <a:moveTo>
                    <a:pt x="0" y="5060"/>
                  </a:moveTo>
                  <a:lnTo>
                    <a:pt x="0" y="0"/>
                  </a:lnTo>
                  <a:lnTo>
                    <a:pt x="470220" y="0"/>
                  </a:lnTo>
                  <a:lnTo>
                    <a:pt x="4702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596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35" dirty="0"/>
              <a:t>Pre-</a:t>
            </a:r>
            <a:r>
              <a:rPr spc="-20" dirty="0"/>
              <a:t>Course</a:t>
            </a:r>
            <a:r>
              <a:rPr dirty="0"/>
              <a:t> </a:t>
            </a:r>
            <a:r>
              <a:rPr spc="-30" dirty="0"/>
              <a:t>Survey:</a:t>
            </a:r>
            <a:r>
              <a:rPr spc="100" dirty="0"/>
              <a:t> </a:t>
            </a:r>
            <a:r>
              <a:rPr dirty="0"/>
              <a:t>Who</a:t>
            </a:r>
            <a:r>
              <a:rPr spc="5" dirty="0"/>
              <a:t> </a:t>
            </a:r>
            <a:r>
              <a:rPr dirty="0"/>
              <a:t>are</a:t>
            </a:r>
            <a:r>
              <a:rPr spc="5" dirty="0"/>
              <a:t> </a:t>
            </a:r>
            <a:r>
              <a:rPr spc="-50" dirty="0"/>
              <a:t>you?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308789"/>
            <a:ext cx="3763645" cy="74295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familiar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technology?</a:t>
            </a:r>
            <a:endParaRPr sz="900" dirty="0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What is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background,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why did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enrol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Master’s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degree?</a:t>
            </a:r>
            <a:endParaRPr sz="900" dirty="0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mean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you?</a:t>
            </a:r>
            <a:endParaRPr sz="900" dirty="0">
              <a:latin typeface="Arial"/>
              <a:cs typeface="Arial"/>
            </a:endParaRPr>
          </a:p>
          <a:p>
            <a:pPr marL="1621155">
              <a:lnSpc>
                <a:spcPct val="100000"/>
              </a:lnSpc>
              <a:spcBef>
                <a:spcPts val="800"/>
              </a:spcBef>
            </a:pPr>
            <a:r>
              <a:rPr sz="900" spc="-4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Pre-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Course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Survey:</a:t>
            </a:r>
            <a:r>
              <a:rPr sz="900" spc="7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Who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are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you?</a:t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70534" cy="5080"/>
            </a:xfrm>
            <a:custGeom>
              <a:avLst/>
              <a:gdLst/>
              <a:ahLst/>
              <a:cxnLst/>
              <a:rect l="l" t="t" r="r" b="b"/>
              <a:pathLst>
                <a:path w="470534" h="5080">
                  <a:moveTo>
                    <a:pt x="0" y="5060"/>
                  </a:moveTo>
                  <a:lnTo>
                    <a:pt x="0" y="0"/>
                  </a:lnTo>
                  <a:lnTo>
                    <a:pt x="470220" y="0"/>
                  </a:lnTo>
                  <a:lnTo>
                    <a:pt x="4702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8058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b="1" spc="-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Introduction</a:t>
            </a:r>
            <a:endParaRPr sz="110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05104" cy="5080"/>
            </a:xfrm>
            <a:custGeom>
              <a:avLst/>
              <a:gdLst/>
              <a:ahLst/>
              <a:cxnLst/>
              <a:rect l="l" t="t" r="r" b="b"/>
              <a:pathLst>
                <a:path w="205105" h="5080">
                  <a:moveTo>
                    <a:pt x="0" y="5060"/>
                  </a:moveTo>
                  <a:lnTo>
                    <a:pt x="0" y="0"/>
                  </a:lnTo>
                  <a:lnTo>
                    <a:pt x="204513" y="0"/>
                  </a:lnTo>
                  <a:lnTo>
                    <a:pt x="2045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What</a:t>
            </a:r>
            <a:r>
              <a:rPr spc="40" dirty="0"/>
              <a:t> </a:t>
            </a:r>
            <a:r>
              <a:rPr spc="-25" dirty="0"/>
              <a:t>is</a:t>
            </a:r>
            <a:r>
              <a:rPr spc="40" dirty="0"/>
              <a:t> </a:t>
            </a:r>
            <a:r>
              <a:rPr spc="-30" dirty="0"/>
              <a:t>Cloud</a:t>
            </a:r>
            <a:r>
              <a:rPr spc="40" dirty="0"/>
              <a:t> </a:t>
            </a:r>
            <a:r>
              <a:rPr spc="-35" dirty="0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40004" y="485821"/>
            <a:ext cx="2520032" cy="184671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77710" y="2466516"/>
            <a:ext cx="18446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sz="8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b="1" dirty="0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sz="800" b="1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spc="-10" dirty="0">
                <a:solidFill>
                  <a:srgbClr val="22373A"/>
                </a:solidFill>
                <a:latin typeface="Arial"/>
                <a:cs typeface="Arial"/>
              </a:rPr>
              <a:t>Overview</a:t>
            </a:r>
            <a:r>
              <a:rPr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8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sz="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2747" y="457359"/>
            <a:ext cx="2550160" cy="24904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145">
              <a:lnSpc>
                <a:spcPct val="100000"/>
              </a:lnSpc>
              <a:spcBef>
                <a:spcPts val="95"/>
              </a:spcBef>
            </a:pP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endParaRPr sz="900">
              <a:latin typeface="Arial"/>
              <a:cs typeface="Arial"/>
            </a:endParaRPr>
          </a:p>
          <a:p>
            <a:pPr marL="12700" marR="5080" indent="4445">
              <a:lnSpc>
                <a:spcPct val="116199"/>
              </a:lnSpc>
              <a:spcBef>
                <a:spcPts val="670"/>
              </a:spcBef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40" dirty="0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sz="900" b="1" spc="-30" dirty="0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sz="9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22373A"/>
                </a:solidFill>
                <a:latin typeface="Arial"/>
                <a:cs typeface="Arial"/>
              </a:rPr>
              <a:t>delivery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storage, </a:t>
            </a:r>
            <a:r>
              <a:rPr sz="900" i="1" spc="-40" dirty="0">
                <a:solidFill>
                  <a:srgbClr val="22373A"/>
                </a:solidFill>
                <a:latin typeface="Arial"/>
                <a:cs typeface="Arial"/>
              </a:rPr>
              <a:t>databases,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 software,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analytics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more,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i="1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50" dirty="0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sz="900" b="1" spc="-40" dirty="0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sz="900" b="1" spc="-55" dirty="0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sz="900" b="1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pricing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Mell,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Grance,</a:t>
            </a:r>
            <a:r>
              <a:rPr sz="900" spc="45" dirty="0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et</a:t>
            </a:r>
            <a:r>
              <a:rPr sz="900" spc="45" dirty="0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sz="900" spc="145" dirty="0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2011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sz="900">
              <a:latin typeface="Arial"/>
              <a:cs typeface="Arial"/>
            </a:endParaRPr>
          </a:p>
          <a:p>
            <a:pPr marL="17145">
              <a:lnSpc>
                <a:spcPct val="100000"/>
              </a:lnSpc>
              <a:spcBef>
                <a:spcPts val="855"/>
              </a:spcBef>
            </a:pP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Vision</a:t>
            </a:r>
            <a:endParaRPr sz="900">
              <a:latin typeface="Arial"/>
              <a:cs typeface="Arial"/>
            </a:endParaRPr>
          </a:p>
          <a:p>
            <a:pPr marL="17145" marR="17145">
              <a:lnSpc>
                <a:spcPct val="116199"/>
              </a:lnSpc>
              <a:spcBef>
                <a:spcPts val="670"/>
              </a:spcBef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computing,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sz="900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spc="-75" dirty="0">
                <a:solidFill>
                  <a:srgbClr val="EB811B"/>
                </a:solidFill>
                <a:latin typeface="Arial"/>
                <a:cs typeface="Arial"/>
              </a:rPr>
              <a:t>access</a:t>
            </a:r>
            <a:r>
              <a:rPr sz="900" spc="1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sz="900" spc="1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EB811B"/>
                </a:solidFill>
                <a:latin typeface="Arial"/>
                <a:cs typeface="Arial"/>
              </a:rPr>
              <a:t>services </a:t>
            </a:r>
            <a:r>
              <a:rPr sz="900" spc="-10" dirty="0">
                <a:solidFill>
                  <a:srgbClr val="EB811B"/>
                </a:solidFill>
                <a:latin typeface="Arial"/>
                <a:cs typeface="Arial"/>
              </a:rPr>
              <a:t>remotely</a:t>
            </a:r>
            <a:r>
              <a:rPr sz="900" dirty="0">
                <a:solidFill>
                  <a:srgbClr val="EB811B"/>
                </a:solidFill>
                <a:latin typeface="Arial"/>
                <a:cs typeface="Arial"/>
              </a:rPr>
              <a:t> from</a:t>
            </a:r>
            <a:r>
              <a:rPr sz="900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EB811B"/>
                </a:solidFill>
                <a:latin typeface="Arial"/>
                <a:cs typeface="Arial"/>
              </a:rPr>
              <a:t>any</a:t>
            </a:r>
            <a:r>
              <a:rPr sz="900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EB811B"/>
                </a:solidFill>
                <a:latin typeface="Arial"/>
                <a:cs typeface="Arial"/>
              </a:rPr>
              <a:t>location</a:t>
            </a:r>
            <a:r>
              <a:rPr sz="900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EB811B"/>
                </a:solidFill>
                <a:latin typeface="Arial"/>
                <a:cs typeface="Arial"/>
              </a:rPr>
              <a:t>with an</a:t>
            </a:r>
            <a:r>
              <a:rPr sz="900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EB811B"/>
                </a:solidFill>
                <a:latin typeface="Arial"/>
                <a:cs typeface="Arial"/>
              </a:rPr>
              <a:t>internet </a:t>
            </a:r>
            <a:r>
              <a:rPr sz="900" spc="-20" dirty="0">
                <a:solidFill>
                  <a:srgbClr val="EB811B"/>
                </a:solidFill>
                <a:latin typeface="Arial"/>
                <a:cs typeface="Arial"/>
              </a:rPr>
              <a:t>connection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Rather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owning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maintaining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or data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centers,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anything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service provider.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88010" cy="5080"/>
            </a:xfrm>
            <a:custGeom>
              <a:avLst/>
              <a:gdLst/>
              <a:ahLst/>
              <a:cxnLst/>
              <a:rect l="l" t="t" r="r" b="b"/>
              <a:pathLst>
                <a:path w="588010" h="5080">
                  <a:moveTo>
                    <a:pt x="0" y="5060"/>
                  </a:moveTo>
                  <a:lnTo>
                    <a:pt x="0" y="0"/>
                  </a:lnTo>
                  <a:lnTo>
                    <a:pt x="587731" y="0"/>
                  </a:lnTo>
                  <a:lnTo>
                    <a:pt x="5877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What</a:t>
            </a:r>
            <a:r>
              <a:rPr spc="20" dirty="0"/>
              <a:t> </a:t>
            </a:r>
            <a:r>
              <a:rPr spc="-25" dirty="0"/>
              <a:t>is</a:t>
            </a:r>
            <a:r>
              <a:rPr spc="25" dirty="0"/>
              <a:t> </a:t>
            </a:r>
            <a:r>
              <a:rPr dirty="0"/>
              <a:t>the</a:t>
            </a:r>
            <a:r>
              <a:rPr spc="25" dirty="0"/>
              <a:t> </a:t>
            </a:r>
            <a:r>
              <a:rPr spc="-10" dirty="0"/>
              <a:t>idea</a:t>
            </a:r>
            <a:r>
              <a:rPr spc="20" dirty="0"/>
              <a:t> </a:t>
            </a:r>
            <a:r>
              <a:rPr spc="-30" dirty="0"/>
              <a:t>behind</a:t>
            </a:r>
            <a:r>
              <a:rPr spc="25" dirty="0"/>
              <a:t> </a:t>
            </a:r>
            <a:r>
              <a:rPr spc="-30" dirty="0"/>
              <a:t>Cloud</a:t>
            </a:r>
            <a:r>
              <a:rPr spc="25" dirty="0"/>
              <a:t> </a:t>
            </a:r>
            <a:r>
              <a:rPr spc="-30" dirty="0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8063" y="700754"/>
            <a:ext cx="2015876" cy="2015876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xfrm>
            <a:off x="227304" y="708025"/>
            <a:ext cx="5208270" cy="2250796"/>
          </a:xfrm>
          <a:prstGeom prst="rect">
            <a:avLst/>
          </a:prstGeom>
        </p:spPr>
        <p:txBody>
          <a:bodyPr vert="horz" wrap="square" lIns="0" tIns="66154" rIns="0" bIns="0" rtlCol="0">
            <a:spAutoFit/>
          </a:bodyPr>
          <a:lstStyle/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b="1" spc="-25" dirty="0">
                <a:latin typeface="Arial"/>
                <a:cs typeface="Arial"/>
              </a:rPr>
              <a:t>Cloud</a:t>
            </a:r>
            <a:r>
              <a:rPr b="1" spc="30" dirty="0">
                <a:latin typeface="Arial"/>
                <a:cs typeface="Arial"/>
              </a:rPr>
              <a:t> </a:t>
            </a:r>
            <a:r>
              <a:rPr b="1" spc="-30" dirty="0">
                <a:latin typeface="Arial"/>
                <a:cs typeface="Arial"/>
              </a:rPr>
              <a:t>computing</a:t>
            </a:r>
            <a:r>
              <a:rPr b="1" spc="15" dirty="0">
                <a:latin typeface="Arial"/>
                <a:cs typeface="Arial"/>
              </a:rPr>
              <a:t> </a:t>
            </a:r>
            <a:endParaRPr lang="es-ES" b="1" spc="15" dirty="0">
              <a:latin typeface="Arial"/>
              <a:cs typeface="Arial"/>
            </a:endParaRP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endParaRPr lang="es-ES" b="1" spc="15" dirty="0">
              <a:latin typeface="Arial"/>
              <a:cs typeface="Arial"/>
            </a:endParaRP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s-ES" spc="-45" dirty="0"/>
              <a:t>E</a:t>
            </a:r>
            <a:r>
              <a:rPr spc="-45" dirty="0" err="1"/>
              <a:t>nables</a:t>
            </a:r>
            <a:r>
              <a:rPr spc="15" dirty="0"/>
              <a:t> </a:t>
            </a:r>
            <a:r>
              <a:rPr spc="-40" dirty="0"/>
              <a:t>companies</a:t>
            </a:r>
            <a:r>
              <a:rPr lang="es-ES" spc="20" dirty="0"/>
              <a:t>/</a:t>
            </a:r>
            <a:r>
              <a:rPr lang="es-ES" spc="20" dirty="0" err="1"/>
              <a:t>users</a:t>
            </a:r>
            <a:r>
              <a:rPr lang="es-ES" spc="20" dirty="0"/>
              <a:t> </a:t>
            </a:r>
            <a:r>
              <a:rPr dirty="0"/>
              <a:t>to</a:t>
            </a:r>
            <a:r>
              <a:rPr spc="15" dirty="0"/>
              <a:t> </a:t>
            </a:r>
            <a:r>
              <a:rPr spc="-45" dirty="0"/>
              <a:t>consume</a:t>
            </a:r>
            <a:r>
              <a:rPr spc="15" dirty="0"/>
              <a:t> </a:t>
            </a:r>
            <a:r>
              <a:rPr spc="-50" dirty="0"/>
              <a:t>a</a:t>
            </a:r>
            <a:r>
              <a:rPr spc="-10" dirty="0"/>
              <a:t> compute</a:t>
            </a:r>
            <a:r>
              <a:rPr spc="-5" dirty="0"/>
              <a:t> </a:t>
            </a:r>
            <a:r>
              <a:rPr spc="-35" dirty="0"/>
              <a:t>resource,</a:t>
            </a:r>
            <a:r>
              <a:rPr spc="-5" dirty="0"/>
              <a:t> </a:t>
            </a:r>
            <a:r>
              <a:rPr spc="-30" dirty="0"/>
              <a:t>such</a:t>
            </a:r>
            <a:r>
              <a:rPr dirty="0"/>
              <a:t> </a:t>
            </a:r>
            <a:r>
              <a:rPr spc="-45" dirty="0"/>
              <a:t>as</a:t>
            </a:r>
            <a:r>
              <a:rPr spc="-5" dirty="0"/>
              <a:t> </a:t>
            </a:r>
            <a:r>
              <a:rPr dirty="0"/>
              <a:t>a virtual</a:t>
            </a:r>
            <a:r>
              <a:rPr spc="-5" dirty="0"/>
              <a:t> </a:t>
            </a:r>
            <a:r>
              <a:rPr spc="-25" dirty="0"/>
              <a:t>machine</a:t>
            </a:r>
            <a:r>
              <a:rPr dirty="0"/>
              <a:t> </a:t>
            </a:r>
            <a:r>
              <a:rPr spc="-10" dirty="0"/>
              <a:t>(VM), </a:t>
            </a:r>
            <a:r>
              <a:rPr spc="-30" dirty="0"/>
              <a:t>storage,</a:t>
            </a:r>
            <a:r>
              <a:rPr spc="30" dirty="0"/>
              <a:t> </a:t>
            </a:r>
            <a:r>
              <a:rPr dirty="0"/>
              <a:t>or</a:t>
            </a:r>
            <a:r>
              <a:rPr spc="35" dirty="0"/>
              <a:t> </a:t>
            </a:r>
            <a:r>
              <a:rPr dirty="0"/>
              <a:t>an</a:t>
            </a:r>
            <a:r>
              <a:rPr spc="35" dirty="0"/>
              <a:t> </a:t>
            </a:r>
            <a:r>
              <a:rPr spc="-10" dirty="0"/>
              <a:t>application,</a:t>
            </a:r>
            <a:r>
              <a:rPr spc="30" dirty="0"/>
              <a:t> </a:t>
            </a:r>
            <a:r>
              <a:rPr spc="-45" dirty="0"/>
              <a:t>as</a:t>
            </a:r>
            <a:r>
              <a:rPr spc="35" dirty="0"/>
              <a:t> </a:t>
            </a:r>
            <a:r>
              <a:rPr dirty="0"/>
              <a:t>a</a:t>
            </a:r>
            <a:r>
              <a:rPr spc="35" dirty="0"/>
              <a:t> </a:t>
            </a:r>
            <a:r>
              <a:rPr dirty="0"/>
              <a:t>utility</a:t>
            </a:r>
            <a:endParaRPr lang="es-ES" dirty="0"/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s-ES" spc="35" dirty="0"/>
              <a:t>                       </a:t>
            </a:r>
            <a:r>
              <a:rPr spc="35" dirty="0"/>
              <a:t> </a:t>
            </a:r>
            <a:r>
              <a:rPr lang="es-ES" sz="4000" spc="315" dirty="0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spc="5" dirty="0"/>
              <a:t> </a:t>
            </a:r>
            <a:r>
              <a:rPr dirty="0"/>
              <a:t>rather</a:t>
            </a:r>
            <a:r>
              <a:rPr spc="5" dirty="0"/>
              <a:t> </a:t>
            </a:r>
            <a:r>
              <a:rPr dirty="0"/>
              <a:t>than</a:t>
            </a:r>
            <a:r>
              <a:rPr spc="5" dirty="0"/>
              <a:t> </a:t>
            </a:r>
            <a:r>
              <a:rPr spc="-20" dirty="0"/>
              <a:t>having</a:t>
            </a:r>
            <a:r>
              <a:rPr dirty="0"/>
              <a:t> to</a:t>
            </a:r>
            <a:r>
              <a:rPr spc="5" dirty="0"/>
              <a:t> </a:t>
            </a:r>
            <a:r>
              <a:rPr dirty="0"/>
              <a:t>build </a:t>
            </a:r>
            <a:r>
              <a:rPr spc="-10" dirty="0"/>
              <a:t>and</a:t>
            </a:r>
            <a:r>
              <a:rPr spc="5" dirty="0"/>
              <a:t> </a:t>
            </a:r>
            <a:r>
              <a:rPr spc="-10" dirty="0"/>
              <a:t>maintain computing</a:t>
            </a:r>
            <a:r>
              <a:rPr spc="10" dirty="0"/>
              <a:t> </a:t>
            </a:r>
            <a:r>
              <a:rPr spc="-10" dirty="0"/>
              <a:t>infrastructures</a:t>
            </a:r>
            <a:r>
              <a:rPr spc="10" dirty="0"/>
              <a:t> </a:t>
            </a:r>
            <a:r>
              <a:rPr spc="-35" dirty="0"/>
              <a:t>in-</a:t>
            </a:r>
            <a:r>
              <a:rPr spc="-10" dirty="0"/>
              <a:t>house.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705485" cy="5080"/>
            </a:xfrm>
            <a:custGeom>
              <a:avLst/>
              <a:gdLst/>
              <a:ahLst/>
              <a:cxnLst/>
              <a:rect l="l" t="t" r="r" b="b"/>
              <a:pathLst>
                <a:path w="705485" h="5080">
                  <a:moveTo>
                    <a:pt x="0" y="5060"/>
                  </a:moveTo>
                  <a:lnTo>
                    <a:pt x="0" y="0"/>
                  </a:lnTo>
                  <a:lnTo>
                    <a:pt x="705331" y="0"/>
                  </a:lnTo>
                  <a:lnTo>
                    <a:pt x="7053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spc="-30" dirty="0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sz="1000" b="1" spc="6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sz="1000" b="1" spc="6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spc="-35" dirty="0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sz="100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66188"/>
            <a:ext cx="5040019" cy="142001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03107" y="2420174"/>
            <a:ext cx="21539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sz="8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b="1" dirty="0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sz="800" b="1" spc="1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spc="-30" dirty="0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watch</a:t>
            </a:r>
            <a:r>
              <a:rPr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spc="-10" dirty="0">
                <a:solidFill>
                  <a:srgbClr val="22373A"/>
                </a:solidFill>
                <a:latin typeface="Arial"/>
                <a:cs typeface="Arial"/>
              </a:rPr>
              <a:t>Netflix?</a:t>
            </a:r>
            <a:endParaRPr sz="80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822960" cy="5080"/>
            </a:xfrm>
            <a:custGeom>
              <a:avLst/>
              <a:gdLst/>
              <a:ahLst/>
              <a:cxnLst/>
              <a:rect l="l" t="t" r="r" b="b"/>
              <a:pathLst>
                <a:path w="822960" h="5080">
                  <a:moveTo>
                    <a:pt x="0" y="5060"/>
                  </a:moveTo>
                  <a:lnTo>
                    <a:pt x="0" y="0"/>
                  </a:lnTo>
                  <a:lnTo>
                    <a:pt x="822842" y="0"/>
                  </a:lnTo>
                  <a:lnTo>
                    <a:pt x="8228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spc="-30" dirty="0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sz="1000" b="1" spc="6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sz="1000" b="1" spc="6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spc="-35" dirty="0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sz="100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5309" y="351408"/>
            <a:ext cx="4509379" cy="25489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793328" y="3034320"/>
            <a:ext cx="2173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sz="8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b="1" dirty="0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sz="800" b="1" spc="1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spc="-30" dirty="0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spc="-25" dirty="0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spc="-10" dirty="0">
                <a:solidFill>
                  <a:srgbClr val="22373A"/>
                </a:solidFill>
                <a:latin typeface="Arial"/>
                <a:cs typeface="Arial"/>
              </a:rPr>
              <a:t>email?</a:t>
            </a:r>
            <a:endParaRPr sz="80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941069" cy="5080"/>
            </a:xfrm>
            <a:custGeom>
              <a:avLst/>
              <a:gdLst/>
              <a:ahLst/>
              <a:cxnLst/>
              <a:rect l="l" t="t" r="r" b="b"/>
              <a:pathLst>
                <a:path w="941069" h="5080">
                  <a:moveTo>
                    <a:pt x="0" y="5060"/>
                  </a:moveTo>
                  <a:lnTo>
                    <a:pt x="0" y="0"/>
                  </a:lnTo>
                  <a:lnTo>
                    <a:pt x="940441" y="0"/>
                  </a:lnTo>
                  <a:lnTo>
                    <a:pt x="9404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Which</a:t>
            </a:r>
            <a:r>
              <a:rPr spc="5" dirty="0"/>
              <a:t> </a:t>
            </a:r>
            <a:r>
              <a:rPr spc="-25" dirty="0"/>
              <a:t>is</a:t>
            </a:r>
            <a:r>
              <a:rPr spc="5" dirty="0"/>
              <a:t> </a:t>
            </a:r>
            <a:r>
              <a:rPr dirty="0"/>
              <a:t>the</a:t>
            </a:r>
            <a:r>
              <a:rPr spc="10" dirty="0"/>
              <a:t> </a:t>
            </a:r>
            <a:r>
              <a:rPr spc="-35" dirty="0"/>
              <a:t>cloud</a:t>
            </a:r>
            <a:r>
              <a:rPr spc="5" dirty="0"/>
              <a:t> </a:t>
            </a:r>
            <a:r>
              <a:rPr spc="-35" dirty="0"/>
              <a:t>computing</a:t>
            </a:r>
            <a:r>
              <a:rPr spc="5" dirty="0"/>
              <a:t> </a:t>
            </a:r>
            <a:r>
              <a:rPr spc="-30" dirty="0"/>
              <a:t>model?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230"/>
            <a:ext cx="5066030" cy="18165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sz="900" b="1" spc="-25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convenient,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30" dirty="0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sz="900" i="1" spc="-35" dirty="0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0" dirty="0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45" dirty="0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pool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of configurable</a:t>
            </a:r>
            <a:r>
              <a:rPr sz="900" i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i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50" dirty="0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sz="900" i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(e.g.,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networks,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services)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EB811B"/>
                </a:solidFill>
                <a:latin typeface="Arial"/>
                <a:cs typeface="Arial"/>
              </a:rPr>
              <a:t>rapidly</a:t>
            </a:r>
            <a:r>
              <a:rPr sz="900" spc="1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EB811B"/>
                </a:solidFill>
                <a:latin typeface="Arial"/>
                <a:cs typeface="Arial"/>
              </a:rPr>
              <a:t>provisioned</a:t>
            </a:r>
            <a:r>
              <a:rPr sz="900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sz="900" spc="1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EB811B"/>
                </a:solidFill>
                <a:latin typeface="Arial"/>
                <a:cs typeface="Arial"/>
              </a:rPr>
              <a:t>released</a:t>
            </a:r>
            <a:r>
              <a:rPr sz="900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minimal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effort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interaction.</a:t>
            </a:r>
            <a:endParaRPr lang="es-ES" sz="900" spc="-10" dirty="0">
              <a:solidFill>
                <a:srgbClr val="22373A"/>
              </a:solidFill>
              <a:latin typeface="Arial"/>
              <a:cs typeface="Arial"/>
            </a:endParaRP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endParaRPr lang="es-ES" sz="900" spc="-10" dirty="0">
              <a:solidFill>
                <a:srgbClr val="22373A"/>
              </a:solidFill>
              <a:latin typeface="Arial"/>
              <a:cs typeface="Arial"/>
            </a:endParaRP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Properties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sz="900" dirty="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Flexible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scalable.</a:t>
            </a:r>
            <a:endParaRPr sz="900" dirty="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sz="900" dirty="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change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and is </a:t>
            </a:r>
            <a:r>
              <a:rPr sz="900" spc="-60" dirty="0">
                <a:solidFill>
                  <a:srgbClr val="22373A"/>
                </a:solidFill>
                <a:latin typeface="Arial"/>
                <a:cs typeface="Arial"/>
              </a:rPr>
              <a:t>easy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upgrade.</a:t>
            </a:r>
            <a:endParaRPr sz="900" dirty="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hardware.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sz="900" b="1" spc="-25" dirty="0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sz="900" b="1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elastic,</a:t>
            </a:r>
            <a:r>
              <a:rPr sz="900" b="1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EB811B"/>
                </a:solidFill>
                <a:latin typeface="Arial"/>
                <a:cs typeface="Arial"/>
              </a:rPr>
              <a:t>allowing</a:t>
            </a:r>
            <a:r>
              <a:rPr sz="900" b="1" spc="-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0" dirty="0">
                <a:solidFill>
                  <a:srgbClr val="EB811B"/>
                </a:solidFill>
                <a:latin typeface="Arial"/>
                <a:cs typeface="Arial"/>
              </a:rPr>
              <a:t>organizations</a:t>
            </a:r>
            <a:r>
              <a:rPr sz="900" b="1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to </a:t>
            </a:r>
            <a:r>
              <a:rPr sz="900" b="1" spc="-45" dirty="0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sz="900" b="1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60" dirty="0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50" dirty="0">
                <a:solidFill>
                  <a:srgbClr val="EB811B"/>
                </a:solidFill>
                <a:latin typeface="Arial"/>
                <a:cs typeface="Arial"/>
              </a:rPr>
              <a:t>based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on</a:t>
            </a:r>
            <a:r>
              <a:rPr sz="900" b="1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0" dirty="0">
                <a:solidFill>
                  <a:srgbClr val="EB811B"/>
                </a:solidFill>
                <a:latin typeface="Arial"/>
                <a:cs typeface="Arial"/>
              </a:rPr>
              <a:t>eﬀiciently.</a:t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058545" cy="5080"/>
            </a:xfrm>
            <a:custGeom>
              <a:avLst/>
              <a:gdLst/>
              <a:ahLst/>
              <a:cxnLst/>
              <a:rect l="l" t="t" r="r" b="b"/>
              <a:pathLst>
                <a:path w="1058545" h="5080">
                  <a:moveTo>
                    <a:pt x="0" y="5060"/>
                  </a:moveTo>
                  <a:lnTo>
                    <a:pt x="0" y="0"/>
                  </a:lnTo>
                  <a:lnTo>
                    <a:pt x="1057952" y="0"/>
                  </a:lnTo>
                  <a:lnTo>
                    <a:pt x="10579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5133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Which</a:t>
            </a:r>
            <a:r>
              <a:rPr spc="5" dirty="0"/>
              <a:t> </a:t>
            </a:r>
            <a:r>
              <a:rPr spc="-25" dirty="0"/>
              <a:t>is</a:t>
            </a:r>
            <a:r>
              <a:rPr spc="10" dirty="0"/>
              <a:t> </a:t>
            </a:r>
            <a:r>
              <a:rPr dirty="0"/>
              <a:t>the</a:t>
            </a:r>
            <a:r>
              <a:rPr spc="10" dirty="0"/>
              <a:t> </a:t>
            </a:r>
            <a:r>
              <a:rPr spc="-10" dirty="0"/>
              <a:t>traditional</a:t>
            </a:r>
            <a:r>
              <a:rPr spc="5" dirty="0"/>
              <a:t> </a:t>
            </a:r>
            <a:r>
              <a:rPr spc="-35" dirty="0"/>
              <a:t>computing</a:t>
            </a:r>
            <a:r>
              <a:rPr spc="10" dirty="0"/>
              <a:t> </a:t>
            </a:r>
            <a:r>
              <a:rPr spc="-25" dirty="0"/>
              <a:t>model?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888994"/>
            <a:ext cx="4032250" cy="674370"/>
            <a:chOff x="863993" y="1888994"/>
            <a:chExt cx="4032250" cy="674370"/>
          </a:xfrm>
        </p:grpSpPr>
        <p:sp>
          <p:nvSpPr>
            <p:cNvPr id="4" name="object 4"/>
            <p:cNvSpPr/>
            <p:nvPr/>
          </p:nvSpPr>
          <p:spPr>
            <a:xfrm>
              <a:off x="863993" y="1888994"/>
              <a:ext cx="4032250" cy="674370"/>
            </a:xfrm>
            <a:custGeom>
              <a:avLst/>
              <a:gdLst/>
              <a:ahLst/>
              <a:cxnLst/>
              <a:rect l="l" t="t" r="r" b="b"/>
              <a:pathLst>
                <a:path w="4032250" h="67436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620284"/>
                  </a:lnTo>
                  <a:lnTo>
                    <a:pt x="4243" y="641303"/>
                  </a:lnTo>
                  <a:lnTo>
                    <a:pt x="15816" y="658468"/>
                  </a:lnTo>
                  <a:lnTo>
                    <a:pt x="32980" y="670040"/>
                  </a:lnTo>
                  <a:lnTo>
                    <a:pt x="54000" y="674284"/>
                  </a:lnTo>
                  <a:lnTo>
                    <a:pt x="3978067" y="674284"/>
                  </a:lnTo>
                  <a:lnTo>
                    <a:pt x="3999086" y="670040"/>
                  </a:lnTo>
                  <a:lnTo>
                    <a:pt x="4016251" y="658468"/>
                  </a:lnTo>
                  <a:lnTo>
                    <a:pt x="4027823" y="641303"/>
                  </a:lnTo>
                  <a:lnTo>
                    <a:pt x="4032067" y="620284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06994"/>
              <a:ext cx="3996690" cy="638810"/>
            </a:xfrm>
            <a:custGeom>
              <a:avLst/>
              <a:gdLst/>
              <a:ahLst/>
              <a:cxnLst/>
              <a:rect l="l" t="t" r="r" b="b"/>
              <a:pathLst>
                <a:path w="3996690" h="638810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02284"/>
                  </a:lnTo>
                  <a:lnTo>
                    <a:pt x="2829" y="616297"/>
                  </a:lnTo>
                  <a:lnTo>
                    <a:pt x="10544" y="627740"/>
                  </a:lnTo>
                  <a:lnTo>
                    <a:pt x="21987" y="635455"/>
                  </a:lnTo>
                  <a:lnTo>
                    <a:pt x="36000" y="638284"/>
                  </a:lnTo>
                  <a:lnTo>
                    <a:pt x="3960067" y="638284"/>
                  </a:lnTo>
                  <a:lnTo>
                    <a:pt x="3974080" y="635455"/>
                  </a:lnTo>
                  <a:lnTo>
                    <a:pt x="3985523" y="627740"/>
                  </a:lnTo>
                  <a:lnTo>
                    <a:pt x="3993238" y="616297"/>
                  </a:lnTo>
                  <a:lnTo>
                    <a:pt x="3996067" y="602284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588483"/>
            <a:ext cx="5026025" cy="220637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r>
              <a:rPr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40" dirty="0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sz="900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them on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computer.</a:t>
            </a:r>
            <a:r>
              <a:rPr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sz="900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EB811B"/>
                </a:solidFill>
                <a:latin typeface="Arial"/>
                <a:cs typeface="Arial"/>
              </a:rPr>
              <a:t>user</a:t>
            </a:r>
            <a:r>
              <a:rPr sz="900" dirty="0">
                <a:solidFill>
                  <a:srgbClr val="EB811B"/>
                </a:solidFill>
                <a:latin typeface="Arial"/>
                <a:cs typeface="Arial"/>
              </a:rPr>
              <a:t> is</a:t>
            </a:r>
            <a:r>
              <a:rPr sz="900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EB811B"/>
                </a:solidFill>
                <a:latin typeface="Arial"/>
                <a:cs typeface="Arial"/>
              </a:rPr>
              <a:t>responsible</a:t>
            </a:r>
            <a:r>
              <a:rPr sz="900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sz="900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sz="900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EB811B"/>
                </a:solidFill>
                <a:latin typeface="Arial"/>
                <a:cs typeface="Arial"/>
              </a:rPr>
              <a:t>maintenance</a:t>
            </a:r>
            <a:r>
              <a:rPr sz="900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sz="900" spc="-20" dirty="0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sz="900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sz="900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sz="900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EB811B"/>
                </a:solidFill>
                <a:latin typeface="Arial"/>
                <a:cs typeface="Arial"/>
              </a:rPr>
              <a:t>software</a:t>
            </a:r>
            <a:r>
              <a:rPr sz="900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sz="900" spc="-10" dirty="0">
                <a:solidFill>
                  <a:srgbClr val="EB811B"/>
                </a:solidFill>
                <a:latin typeface="Arial"/>
                <a:cs typeface="Arial"/>
              </a:rPr>
              <a:t>hardware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sz="900" dirty="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servers.</a:t>
            </a:r>
            <a:endParaRPr sz="900" dirty="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experts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install,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maintain.</a:t>
            </a:r>
            <a:endParaRPr sz="900" dirty="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phisical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policies.</a:t>
            </a:r>
            <a:endParaRPr sz="900" dirty="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procurement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(purchase,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install,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maintain).</a:t>
            </a:r>
            <a:endParaRPr sz="900" dirty="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prediction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theoretical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maximum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5" dirty="0">
                <a:solidFill>
                  <a:srgbClr val="22373A"/>
                </a:solidFill>
                <a:latin typeface="Arial"/>
                <a:cs typeface="Arial"/>
              </a:rPr>
              <a:t>load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peak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system.</a:t>
            </a:r>
            <a:endParaRPr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sz="900" dirty="0">
              <a:latin typeface="Arial"/>
              <a:cs typeface="Arial"/>
            </a:endParaRPr>
          </a:p>
          <a:p>
            <a:pPr marL="946150" marR="882650" algn="ctr">
              <a:lnSpc>
                <a:spcPct val="116199"/>
              </a:lnSpc>
            </a:pPr>
            <a:r>
              <a:rPr sz="900" dirty="0">
                <a:latin typeface="Arial"/>
                <a:cs typeface="Arial"/>
              </a:rPr>
              <a:t>If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the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spc="-30" dirty="0">
                <a:latin typeface="Arial"/>
                <a:cs typeface="Arial"/>
              </a:rPr>
              <a:t>company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spc="-30" dirty="0">
                <a:latin typeface="Arial"/>
                <a:cs typeface="Arial"/>
              </a:rPr>
              <a:t>underestimates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the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spc="-20" dirty="0">
                <a:latin typeface="Arial"/>
                <a:cs typeface="Arial"/>
              </a:rPr>
              <a:t>peak,</a:t>
            </a:r>
            <a:r>
              <a:rPr sz="900" spc="20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the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spc="-35" dirty="0">
                <a:latin typeface="Arial"/>
                <a:cs typeface="Arial"/>
              </a:rPr>
              <a:t>system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will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be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spc="-20" dirty="0">
                <a:latin typeface="Arial"/>
                <a:cs typeface="Arial"/>
              </a:rPr>
              <a:t>slow, </a:t>
            </a:r>
            <a:r>
              <a:rPr sz="900" spc="-10" dirty="0">
                <a:latin typeface="Arial"/>
                <a:cs typeface="Arial"/>
              </a:rPr>
              <a:t>and</a:t>
            </a:r>
            <a:r>
              <a:rPr sz="900" spc="10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the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spc="-60" dirty="0">
                <a:latin typeface="Arial"/>
                <a:cs typeface="Arial"/>
              </a:rPr>
              <a:t>users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will</a:t>
            </a:r>
            <a:r>
              <a:rPr sz="900" spc="10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be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spc="-25" dirty="0">
                <a:latin typeface="Arial"/>
                <a:cs typeface="Arial"/>
              </a:rPr>
              <a:t>unhappy.</a:t>
            </a:r>
            <a:r>
              <a:rPr sz="900" spc="150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If</a:t>
            </a:r>
            <a:r>
              <a:rPr sz="900" spc="10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the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spc="-30" dirty="0">
                <a:latin typeface="Arial"/>
                <a:cs typeface="Arial"/>
              </a:rPr>
              <a:t>company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spc="-35" dirty="0">
                <a:latin typeface="Arial"/>
                <a:cs typeface="Arial"/>
              </a:rPr>
              <a:t>overestimates</a:t>
            </a:r>
            <a:r>
              <a:rPr sz="900" spc="10" dirty="0">
                <a:latin typeface="Arial"/>
                <a:cs typeface="Arial"/>
              </a:rPr>
              <a:t> </a:t>
            </a:r>
            <a:r>
              <a:rPr sz="900" spc="-25" dirty="0">
                <a:latin typeface="Arial"/>
                <a:cs typeface="Arial"/>
              </a:rPr>
              <a:t>the </a:t>
            </a:r>
            <a:r>
              <a:rPr sz="900" spc="-20" dirty="0">
                <a:latin typeface="Arial"/>
                <a:cs typeface="Arial"/>
              </a:rPr>
              <a:t>peak,</a:t>
            </a:r>
            <a:r>
              <a:rPr sz="900" spc="25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it</a:t>
            </a:r>
            <a:r>
              <a:rPr sz="900" spc="25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will</a:t>
            </a:r>
            <a:r>
              <a:rPr sz="900" spc="30" dirty="0">
                <a:latin typeface="Arial"/>
                <a:cs typeface="Arial"/>
              </a:rPr>
              <a:t> </a:t>
            </a:r>
            <a:r>
              <a:rPr sz="900" spc="-45" dirty="0">
                <a:latin typeface="Arial"/>
                <a:cs typeface="Arial"/>
              </a:rPr>
              <a:t>have</a:t>
            </a:r>
            <a:r>
              <a:rPr sz="900" spc="25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a</a:t>
            </a:r>
            <a:r>
              <a:rPr sz="900" spc="25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lot</a:t>
            </a:r>
            <a:r>
              <a:rPr sz="900" spc="30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of</a:t>
            </a:r>
            <a:r>
              <a:rPr sz="900" spc="25" dirty="0">
                <a:latin typeface="Arial"/>
                <a:cs typeface="Arial"/>
              </a:rPr>
              <a:t> </a:t>
            </a:r>
            <a:r>
              <a:rPr sz="900" spc="-40" dirty="0">
                <a:latin typeface="Arial"/>
                <a:cs typeface="Arial"/>
              </a:rPr>
              <a:t>unused</a:t>
            </a:r>
            <a:r>
              <a:rPr sz="900" spc="30" dirty="0">
                <a:latin typeface="Arial"/>
                <a:cs typeface="Arial"/>
              </a:rPr>
              <a:t> </a:t>
            </a:r>
            <a:r>
              <a:rPr sz="900" spc="-50" dirty="0">
                <a:latin typeface="Arial"/>
                <a:cs typeface="Arial"/>
              </a:rPr>
              <a:t>resources</a:t>
            </a:r>
            <a:r>
              <a:rPr sz="900" spc="25" dirty="0">
                <a:latin typeface="Arial"/>
                <a:cs typeface="Arial"/>
              </a:rPr>
              <a:t> </a:t>
            </a:r>
            <a:r>
              <a:rPr sz="900" spc="-10" dirty="0">
                <a:latin typeface="Arial"/>
                <a:cs typeface="Arial"/>
              </a:rPr>
              <a:t>and</a:t>
            </a:r>
            <a:r>
              <a:rPr sz="900" spc="25" dirty="0">
                <a:latin typeface="Arial"/>
                <a:cs typeface="Arial"/>
              </a:rPr>
              <a:t> </a:t>
            </a:r>
            <a:r>
              <a:rPr sz="900" spc="-30" dirty="0">
                <a:latin typeface="Arial"/>
                <a:cs typeface="Arial"/>
              </a:rPr>
              <a:t>waste</a:t>
            </a:r>
            <a:r>
              <a:rPr sz="900" spc="30" dirty="0">
                <a:latin typeface="Arial"/>
                <a:cs typeface="Arial"/>
              </a:rPr>
              <a:t> </a:t>
            </a:r>
            <a:r>
              <a:rPr sz="900" spc="-10" dirty="0">
                <a:latin typeface="Arial"/>
                <a:cs typeface="Arial"/>
              </a:rPr>
              <a:t>money.</a:t>
            </a:r>
            <a:endParaRPr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20"/>
              </a:spcBef>
            </a:pPr>
            <a:endParaRPr sz="900" dirty="0">
              <a:latin typeface="Arial"/>
              <a:cs typeface="Arial"/>
            </a:endParaRPr>
          </a:p>
          <a:p>
            <a:pPr marL="40005" algn="ctr">
              <a:lnSpc>
                <a:spcPct val="100000"/>
              </a:lnSpc>
            </a:pP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5" dirty="0">
                <a:solidFill>
                  <a:srgbClr val="EB811B"/>
                </a:solidFill>
                <a:latin typeface="Arial"/>
                <a:cs typeface="Arial"/>
              </a:rPr>
              <a:t>happens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if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EB811B"/>
                </a:solidFill>
                <a:latin typeface="Arial"/>
                <a:cs typeface="Arial"/>
              </a:rPr>
              <a:t>change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EB811B"/>
                </a:solidFill>
                <a:latin typeface="Arial"/>
                <a:cs typeface="Arial"/>
              </a:rPr>
              <a:t>upgrade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hardware?</a:t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76020" cy="5080"/>
            </a:xfrm>
            <a:custGeom>
              <a:avLst/>
              <a:gdLst/>
              <a:ahLst/>
              <a:cxnLst/>
              <a:rect l="l" t="t" r="r" b="b"/>
              <a:pathLst>
                <a:path w="1176020" h="5080">
                  <a:moveTo>
                    <a:pt x="0" y="5060"/>
                  </a:moveTo>
                  <a:lnTo>
                    <a:pt x="0" y="0"/>
                  </a:lnTo>
                  <a:lnTo>
                    <a:pt x="1175552" y="0"/>
                  </a:lnTo>
                  <a:lnTo>
                    <a:pt x="11755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85991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0" dirty="0"/>
              <a:t>Live</a:t>
            </a:r>
            <a:r>
              <a:rPr dirty="0"/>
              <a:t> in</a:t>
            </a:r>
            <a:r>
              <a:rPr spc="5" dirty="0"/>
              <a:t> </a:t>
            </a:r>
            <a:r>
              <a:rPr dirty="0"/>
              <a:t>a</a:t>
            </a:r>
            <a:r>
              <a:rPr spc="5" dirty="0"/>
              <a:t> </a:t>
            </a:r>
            <a:r>
              <a:rPr dirty="0"/>
              <a:t>hotel</a:t>
            </a:r>
            <a:r>
              <a:rPr spc="5" dirty="0"/>
              <a:t> </a:t>
            </a:r>
            <a:r>
              <a:rPr spc="-20" dirty="0"/>
              <a:t>vs.</a:t>
            </a:r>
            <a:r>
              <a:rPr spc="5" dirty="0"/>
              <a:t> </a:t>
            </a:r>
            <a:r>
              <a:rPr dirty="0"/>
              <a:t>Own</a:t>
            </a:r>
            <a:r>
              <a:rPr spc="5" dirty="0"/>
              <a:t> </a:t>
            </a:r>
            <a:r>
              <a:rPr dirty="0"/>
              <a:t>a</a:t>
            </a:r>
            <a:r>
              <a:rPr spc="5" dirty="0"/>
              <a:t> </a:t>
            </a:r>
            <a:r>
              <a:rPr spc="-45" dirty="0"/>
              <a:t>house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947256"/>
            <a:ext cx="4032250" cy="514984"/>
            <a:chOff x="863993" y="1947256"/>
            <a:chExt cx="4032250" cy="514984"/>
          </a:xfrm>
        </p:grpSpPr>
        <p:sp>
          <p:nvSpPr>
            <p:cNvPr id="4" name="object 4"/>
            <p:cNvSpPr/>
            <p:nvPr/>
          </p:nvSpPr>
          <p:spPr>
            <a:xfrm>
              <a:off x="863993" y="1947256"/>
              <a:ext cx="4032250" cy="514984"/>
            </a:xfrm>
            <a:custGeom>
              <a:avLst/>
              <a:gdLst/>
              <a:ahLst/>
              <a:cxnLst/>
              <a:rect l="l" t="t" r="r" b="b"/>
              <a:pathLst>
                <a:path w="4032250" h="51498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0955"/>
                  </a:lnTo>
                  <a:lnTo>
                    <a:pt x="4243" y="481975"/>
                  </a:lnTo>
                  <a:lnTo>
                    <a:pt x="15816" y="499139"/>
                  </a:lnTo>
                  <a:lnTo>
                    <a:pt x="32980" y="510712"/>
                  </a:lnTo>
                  <a:lnTo>
                    <a:pt x="54000" y="514955"/>
                  </a:lnTo>
                  <a:lnTo>
                    <a:pt x="3978067" y="514955"/>
                  </a:lnTo>
                  <a:lnTo>
                    <a:pt x="3999086" y="510712"/>
                  </a:lnTo>
                  <a:lnTo>
                    <a:pt x="4016251" y="499139"/>
                  </a:lnTo>
                  <a:lnTo>
                    <a:pt x="4027823" y="481975"/>
                  </a:lnTo>
                  <a:lnTo>
                    <a:pt x="4032067" y="460955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65256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2955"/>
                  </a:lnTo>
                  <a:lnTo>
                    <a:pt x="2829" y="456968"/>
                  </a:lnTo>
                  <a:lnTo>
                    <a:pt x="10544" y="468411"/>
                  </a:lnTo>
                  <a:lnTo>
                    <a:pt x="21987" y="476127"/>
                  </a:lnTo>
                  <a:lnTo>
                    <a:pt x="36000" y="478956"/>
                  </a:lnTo>
                  <a:lnTo>
                    <a:pt x="3960067" y="478956"/>
                  </a:lnTo>
                  <a:lnTo>
                    <a:pt x="3974080" y="476127"/>
                  </a:lnTo>
                  <a:lnTo>
                    <a:pt x="3985523" y="468411"/>
                  </a:lnTo>
                  <a:lnTo>
                    <a:pt x="3993238" y="456968"/>
                  </a:lnTo>
                  <a:lnTo>
                    <a:pt x="3996067" y="442955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126" y="908273"/>
            <a:ext cx="4935855" cy="144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21590" algn="ctr">
              <a:lnSpc>
                <a:spcPct val="100000"/>
              </a:lnSpc>
              <a:spcBef>
                <a:spcPts val="95"/>
              </a:spcBef>
            </a:pP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sz="900" b="1" spc="2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sz="900" b="1" spc="2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sz="900" b="1" spc="2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EB811B"/>
                </a:solidFill>
                <a:latin typeface="Arial"/>
                <a:cs typeface="Arial"/>
              </a:rPr>
              <a:t>living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sz="900" b="1" spc="2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hotel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sz="900" b="1" spc="2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0" dirty="0">
                <a:solidFill>
                  <a:srgbClr val="EB811B"/>
                </a:solidFill>
                <a:latin typeface="Arial"/>
                <a:cs typeface="Arial"/>
              </a:rPr>
              <a:t>owning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sz="900" b="1" spc="2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house?</a:t>
            </a:r>
            <a:endParaRPr sz="900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hotel,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spc="-25" dirty="0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sz="900" b="1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b="1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dirty="0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sz="900" b="1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spc="-35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b="1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spc="-3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sz="900" i="1" spc="-35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sz="900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do not</a:t>
            </a:r>
            <a:r>
              <a:rPr sz="900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sz="900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spc="-35" dirty="0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sz="900" b="1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dirty="0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sz="900" b="1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b="1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spc="-30" dirty="0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r>
              <a:rPr sz="900" b="1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building.</a:t>
            </a:r>
            <a:endParaRPr sz="90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160020" algn="l"/>
              </a:tabLst>
            </a:pP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35" dirty="0">
                <a:solidFill>
                  <a:srgbClr val="22373A"/>
                </a:solidFill>
                <a:latin typeface="Arial"/>
                <a:cs typeface="Arial"/>
              </a:rPr>
              <a:t>house,</a:t>
            </a:r>
            <a:r>
              <a:rPr sz="900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spc="-35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b="1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spc="-2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sz="900" b="1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b="1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spc="-25" dirty="0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sz="900" b="1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b="1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spc="-40" dirty="0">
                <a:solidFill>
                  <a:srgbClr val="22373A"/>
                </a:solidFill>
                <a:latin typeface="Arial"/>
                <a:cs typeface="Arial"/>
              </a:rPr>
              <a:t>house</a:t>
            </a:r>
            <a:r>
              <a:rPr sz="900" i="1" spc="-4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sz="900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sz="900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spc="-35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b="1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spc="-2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sz="900" b="1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b="1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spc="-10" dirty="0">
                <a:solidFill>
                  <a:srgbClr val="22373A"/>
                </a:solidFill>
                <a:latin typeface="Arial"/>
                <a:cs typeface="Arial"/>
              </a:rPr>
              <a:t>maintain</a:t>
            </a:r>
            <a:r>
              <a:rPr sz="900" b="1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spc="-25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sz="900">
              <a:latin typeface="Arial"/>
              <a:cs typeface="Arial"/>
            </a:endParaRPr>
          </a:p>
          <a:p>
            <a:pPr marR="21590" algn="ctr">
              <a:lnSpc>
                <a:spcPct val="100000"/>
              </a:lnSpc>
              <a:spcBef>
                <a:spcPts val="805"/>
              </a:spcBef>
            </a:pP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sz="900" b="1" spc="2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sz="9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sz="900">
              <a:latin typeface="Arial"/>
              <a:cs typeface="Arial"/>
            </a:endParaRPr>
          </a:p>
          <a:p>
            <a:pPr marL="931544" marR="953135" indent="-635" algn="ctr">
              <a:lnSpc>
                <a:spcPct val="116199"/>
              </a:lnSpc>
            </a:pPr>
            <a:r>
              <a:rPr sz="900" b="1" dirty="0">
                <a:latin typeface="Arial"/>
                <a:cs typeface="Arial"/>
              </a:rPr>
              <a:t>In</a:t>
            </a:r>
            <a:r>
              <a:rPr sz="900" b="1" spc="-5" dirty="0">
                <a:latin typeface="Arial"/>
                <a:cs typeface="Arial"/>
              </a:rPr>
              <a:t> </a:t>
            </a:r>
            <a:r>
              <a:rPr sz="900" b="1" spc="-35" dirty="0">
                <a:latin typeface="Arial"/>
                <a:cs typeface="Arial"/>
              </a:rPr>
              <a:t>cloud</a:t>
            </a:r>
            <a:r>
              <a:rPr sz="900" b="1" spc="-5" dirty="0">
                <a:latin typeface="Arial"/>
                <a:cs typeface="Arial"/>
              </a:rPr>
              <a:t> </a:t>
            </a:r>
            <a:r>
              <a:rPr sz="900" b="1" spc="-25" dirty="0">
                <a:latin typeface="Arial"/>
                <a:cs typeface="Arial"/>
              </a:rPr>
              <a:t>computing,</a:t>
            </a:r>
            <a:r>
              <a:rPr sz="900" b="1" spc="-5" dirty="0">
                <a:latin typeface="Arial"/>
                <a:cs typeface="Arial"/>
              </a:rPr>
              <a:t> </a:t>
            </a:r>
            <a:r>
              <a:rPr sz="900" b="1" spc="-50" dirty="0">
                <a:latin typeface="Arial"/>
                <a:cs typeface="Arial"/>
              </a:rPr>
              <a:t>you</a:t>
            </a:r>
            <a:r>
              <a:rPr sz="900" b="1" spc="-5" dirty="0">
                <a:latin typeface="Arial"/>
                <a:cs typeface="Arial"/>
              </a:rPr>
              <a:t> </a:t>
            </a:r>
            <a:r>
              <a:rPr sz="900" b="1" spc="-40" dirty="0">
                <a:latin typeface="Arial"/>
                <a:cs typeface="Arial"/>
              </a:rPr>
              <a:t>pay</a:t>
            </a:r>
            <a:r>
              <a:rPr sz="900" b="1" spc="-5" dirty="0">
                <a:latin typeface="Arial"/>
                <a:cs typeface="Arial"/>
              </a:rPr>
              <a:t> </a:t>
            </a:r>
            <a:r>
              <a:rPr sz="900" b="1" spc="-10" dirty="0">
                <a:latin typeface="Arial"/>
                <a:cs typeface="Arial"/>
              </a:rPr>
              <a:t>for</a:t>
            </a:r>
            <a:r>
              <a:rPr sz="900" b="1" spc="-5" dirty="0">
                <a:latin typeface="Arial"/>
                <a:cs typeface="Arial"/>
              </a:rPr>
              <a:t> </a:t>
            </a:r>
            <a:r>
              <a:rPr sz="900" b="1" dirty="0">
                <a:latin typeface="Arial"/>
                <a:cs typeface="Arial"/>
              </a:rPr>
              <a:t>what</a:t>
            </a:r>
            <a:r>
              <a:rPr sz="900" b="1" spc="-5" dirty="0">
                <a:latin typeface="Arial"/>
                <a:cs typeface="Arial"/>
              </a:rPr>
              <a:t> </a:t>
            </a:r>
            <a:r>
              <a:rPr sz="900" b="1" spc="-50" dirty="0">
                <a:latin typeface="Arial"/>
                <a:cs typeface="Arial"/>
              </a:rPr>
              <a:t>you</a:t>
            </a:r>
            <a:r>
              <a:rPr sz="900" b="1" dirty="0">
                <a:latin typeface="Arial"/>
                <a:cs typeface="Arial"/>
              </a:rPr>
              <a:t> </a:t>
            </a:r>
            <a:r>
              <a:rPr sz="900" b="1" spc="-40" dirty="0">
                <a:latin typeface="Arial"/>
                <a:cs typeface="Arial"/>
              </a:rPr>
              <a:t>use,</a:t>
            </a:r>
            <a:r>
              <a:rPr sz="900" b="1" spc="-5" dirty="0">
                <a:latin typeface="Arial"/>
                <a:cs typeface="Arial"/>
              </a:rPr>
              <a:t> </a:t>
            </a:r>
            <a:r>
              <a:rPr sz="900" b="1" spc="-20" dirty="0">
                <a:latin typeface="Arial"/>
                <a:cs typeface="Arial"/>
              </a:rPr>
              <a:t>and</a:t>
            </a:r>
            <a:r>
              <a:rPr sz="900" b="1" spc="-5" dirty="0">
                <a:latin typeface="Arial"/>
                <a:cs typeface="Arial"/>
              </a:rPr>
              <a:t> </a:t>
            </a:r>
            <a:r>
              <a:rPr sz="900" b="1" spc="-50" dirty="0">
                <a:latin typeface="Arial"/>
                <a:cs typeface="Arial"/>
              </a:rPr>
              <a:t>you</a:t>
            </a:r>
            <a:r>
              <a:rPr sz="900" b="1" spc="-5" dirty="0">
                <a:latin typeface="Arial"/>
                <a:cs typeface="Arial"/>
              </a:rPr>
              <a:t> </a:t>
            </a:r>
            <a:r>
              <a:rPr sz="900" b="1" spc="-25" dirty="0">
                <a:latin typeface="Arial"/>
                <a:cs typeface="Arial"/>
              </a:rPr>
              <a:t>do </a:t>
            </a:r>
            <a:r>
              <a:rPr sz="900" b="1" dirty="0">
                <a:latin typeface="Arial"/>
                <a:cs typeface="Arial"/>
              </a:rPr>
              <a:t>not</a:t>
            </a:r>
            <a:r>
              <a:rPr sz="900" b="1" spc="5" dirty="0">
                <a:latin typeface="Arial"/>
                <a:cs typeface="Arial"/>
              </a:rPr>
              <a:t> </a:t>
            </a:r>
            <a:r>
              <a:rPr sz="900" b="1" spc="-30" dirty="0">
                <a:latin typeface="Arial"/>
                <a:cs typeface="Arial"/>
              </a:rPr>
              <a:t>need</a:t>
            </a:r>
            <a:r>
              <a:rPr sz="900" b="1" spc="5" dirty="0">
                <a:latin typeface="Arial"/>
                <a:cs typeface="Arial"/>
              </a:rPr>
              <a:t> </a:t>
            </a:r>
            <a:r>
              <a:rPr sz="900" b="1" dirty="0">
                <a:latin typeface="Arial"/>
                <a:cs typeface="Arial"/>
              </a:rPr>
              <a:t>to</a:t>
            </a:r>
            <a:r>
              <a:rPr sz="900" b="1" spc="5" dirty="0">
                <a:latin typeface="Arial"/>
                <a:cs typeface="Arial"/>
              </a:rPr>
              <a:t> </a:t>
            </a:r>
            <a:r>
              <a:rPr sz="900" b="1" spc="-45" dirty="0">
                <a:latin typeface="Arial"/>
                <a:cs typeface="Arial"/>
              </a:rPr>
              <a:t>worry</a:t>
            </a:r>
            <a:r>
              <a:rPr sz="900" b="1" spc="5" dirty="0">
                <a:latin typeface="Arial"/>
                <a:cs typeface="Arial"/>
              </a:rPr>
              <a:t> </a:t>
            </a:r>
            <a:r>
              <a:rPr sz="900" b="1" dirty="0">
                <a:latin typeface="Arial"/>
                <a:cs typeface="Arial"/>
              </a:rPr>
              <a:t>about</a:t>
            </a:r>
            <a:r>
              <a:rPr sz="900" b="1" spc="5" dirty="0">
                <a:latin typeface="Arial"/>
                <a:cs typeface="Arial"/>
              </a:rPr>
              <a:t> </a:t>
            </a:r>
            <a:r>
              <a:rPr sz="900" b="1" dirty="0">
                <a:latin typeface="Arial"/>
                <a:cs typeface="Arial"/>
              </a:rPr>
              <a:t>the</a:t>
            </a:r>
            <a:r>
              <a:rPr sz="900" b="1" spc="10" dirty="0">
                <a:latin typeface="Arial"/>
                <a:cs typeface="Arial"/>
              </a:rPr>
              <a:t> </a:t>
            </a:r>
            <a:r>
              <a:rPr sz="900" b="1" spc="-30" dirty="0">
                <a:latin typeface="Arial"/>
                <a:cs typeface="Arial"/>
              </a:rPr>
              <a:t>maintenance</a:t>
            </a:r>
            <a:r>
              <a:rPr sz="900" b="1" spc="5" dirty="0">
                <a:latin typeface="Arial"/>
                <a:cs typeface="Arial"/>
              </a:rPr>
              <a:t> </a:t>
            </a:r>
            <a:r>
              <a:rPr sz="900" b="1" dirty="0">
                <a:latin typeface="Arial"/>
                <a:cs typeface="Arial"/>
              </a:rPr>
              <a:t>of</a:t>
            </a:r>
            <a:r>
              <a:rPr sz="900" b="1" spc="5" dirty="0">
                <a:latin typeface="Arial"/>
                <a:cs typeface="Arial"/>
              </a:rPr>
              <a:t> </a:t>
            </a:r>
            <a:r>
              <a:rPr sz="900" b="1" dirty="0">
                <a:latin typeface="Arial"/>
                <a:cs typeface="Arial"/>
              </a:rPr>
              <a:t>the</a:t>
            </a:r>
            <a:r>
              <a:rPr sz="900" b="1" spc="5" dirty="0">
                <a:latin typeface="Arial"/>
                <a:cs typeface="Arial"/>
              </a:rPr>
              <a:t> </a:t>
            </a:r>
            <a:r>
              <a:rPr sz="900" b="1" spc="-35" dirty="0">
                <a:latin typeface="Arial"/>
                <a:cs typeface="Arial"/>
              </a:rPr>
              <a:t>hardware.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293495" cy="5080"/>
            </a:xfrm>
            <a:custGeom>
              <a:avLst/>
              <a:gdLst/>
              <a:ahLst/>
              <a:cxnLst/>
              <a:rect l="l" t="t" r="r" b="b"/>
              <a:pathLst>
                <a:path w="1293495" h="5080">
                  <a:moveTo>
                    <a:pt x="0" y="5060"/>
                  </a:moveTo>
                  <a:lnTo>
                    <a:pt x="0" y="0"/>
                  </a:lnTo>
                  <a:lnTo>
                    <a:pt x="1293063" y="0"/>
                  </a:lnTo>
                  <a:lnTo>
                    <a:pt x="12930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36537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35" dirty="0"/>
              <a:t>Case</a:t>
            </a:r>
            <a:r>
              <a:rPr spc="5" dirty="0"/>
              <a:t> </a:t>
            </a:r>
            <a:r>
              <a:rPr spc="-10" dirty="0"/>
              <a:t>Study:</a:t>
            </a:r>
            <a:r>
              <a:rPr spc="105" dirty="0"/>
              <a:t> </a:t>
            </a:r>
            <a:r>
              <a:rPr spc="-35" dirty="0"/>
              <a:t>Serving</a:t>
            </a:r>
            <a:r>
              <a:rPr spc="10" dirty="0"/>
              <a:t> </a:t>
            </a:r>
            <a:r>
              <a:rPr dirty="0"/>
              <a:t>a</a:t>
            </a:r>
            <a:r>
              <a:rPr spc="10" dirty="0"/>
              <a:t> </a:t>
            </a:r>
            <a:r>
              <a:rPr spc="-35" dirty="0"/>
              <a:t>Personal</a:t>
            </a:r>
            <a:r>
              <a:rPr spc="5" dirty="0"/>
              <a:t> </a:t>
            </a:r>
            <a:r>
              <a:rPr spc="-10" dirty="0"/>
              <a:t>Website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89972"/>
            <a:ext cx="5063490" cy="1198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525" algn="ctr">
              <a:lnSpc>
                <a:spcPct val="100000"/>
              </a:lnSpc>
              <a:spcBef>
                <a:spcPts val="95"/>
              </a:spcBef>
            </a:pP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Which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are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0" dirty="0">
                <a:solidFill>
                  <a:srgbClr val="EB811B"/>
                </a:solidFill>
                <a:latin typeface="Arial"/>
                <a:cs typeface="Arial"/>
              </a:rPr>
              <a:t>steps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0" dirty="0">
                <a:solidFill>
                  <a:srgbClr val="EB811B"/>
                </a:solidFill>
                <a:latin typeface="Arial"/>
                <a:cs typeface="Arial"/>
              </a:rPr>
              <a:t>serve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0" dirty="0">
                <a:solidFill>
                  <a:srgbClr val="EB811B"/>
                </a:solidFill>
                <a:latin typeface="Arial"/>
                <a:cs typeface="Arial"/>
              </a:rPr>
              <a:t>personal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EB811B"/>
                </a:solidFill>
                <a:latin typeface="Arial"/>
                <a:cs typeface="Arial"/>
              </a:rPr>
              <a:t>website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sz="900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sz="900" i="1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 to buy a </a:t>
            </a:r>
            <a:r>
              <a:rPr sz="900" i="1" spc="-30" dirty="0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 install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operating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30" dirty="0">
                <a:solidFill>
                  <a:srgbClr val="22373A"/>
                </a:solidFill>
                <a:latin typeface="Arial"/>
                <a:cs typeface="Arial"/>
              </a:rPr>
              <a:t>system,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 install the </a:t>
            </a:r>
            <a:r>
              <a:rPr sz="900" i="1" spc="-30" dirty="0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30" dirty="0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0" dirty="0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sz="900" i="1" spc="-30" dirty="0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server,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i="1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website.</a:t>
            </a:r>
            <a:endParaRPr sz="900">
              <a:latin typeface="Arial"/>
              <a:cs typeface="Arial"/>
            </a:endParaRPr>
          </a:p>
          <a:p>
            <a:pPr marL="9525" algn="ctr">
              <a:lnSpc>
                <a:spcPct val="100000"/>
              </a:lnSpc>
              <a:spcBef>
                <a:spcPts val="805"/>
              </a:spcBef>
            </a:pP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advantatge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5" dirty="0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sz="900">
              <a:latin typeface="Arial"/>
              <a:cs typeface="Arial"/>
            </a:endParaRPr>
          </a:p>
          <a:p>
            <a:pPr marL="16510" marR="297815" indent="-4445">
              <a:lnSpc>
                <a:spcPct val="116199"/>
              </a:lnSpc>
              <a:spcBef>
                <a:spcPts val="625"/>
              </a:spcBef>
            </a:pP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sz="900" i="1" spc="-35" dirty="0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40" dirty="0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not </a:t>
            </a:r>
            <a:r>
              <a:rPr sz="900" i="1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buy the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35" dirty="0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sz="900" i="1" spc="-35" dirty="0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sz="900" i="1" spc="-35" dirty="0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sz="900" i="1" spc="-30" dirty="0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35" dirty="0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(cloud </a:t>
            </a:r>
            <a:r>
              <a:rPr sz="900" i="1" spc="-20" dirty="0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sz="900" i="1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responsibility),</a:t>
            </a:r>
            <a:r>
              <a:rPr sz="900" i="1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i="1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 upload</a:t>
            </a:r>
            <a:r>
              <a:rPr sz="900" i="1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i="1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30" dirty="0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 (user</a:t>
            </a:r>
            <a:r>
              <a:rPr sz="900" i="1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responsibility).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410970" cy="5080"/>
            </a:xfrm>
            <a:custGeom>
              <a:avLst/>
              <a:gdLst/>
              <a:ahLst/>
              <a:cxnLst/>
              <a:rect l="l" t="t" r="r" b="b"/>
              <a:pathLst>
                <a:path w="1410970" h="5080">
                  <a:moveTo>
                    <a:pt x="0" y="5060"/>
                  </a:moveTo>
                  <a:lnTo>
                    <a:pt x="0" y="0"/>
                  </a:lnTo>
                  <a:lnTo>
                    <a:pt x="1410662" y="0"/>
                  </a:lnTo>
                  <a:lnTo>
                    <a:pt x="14106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1826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Which are the</a:t>
            </a:r>
            <a:r>
              <a:rPr spc="5" dirty="0"/>
              <a:t> </a:t>
            </a:r>
            <a:r>
              <a:rPr spc="-10" dirty="0"/>
              <a:t>main</a:t>
            </a:r>
            <a:r>
              <a:rPr dirty="0"/>
              <a:t> </a:t>
            </a:r>
            <a:r>
              <a:rPr spc="-35" dirty="0"/>
              <a:t>cloud</a:t>
            </a:r>
            <a:r>
              <a:rPr dirty="0"/>
              <a:t> </a:t>
            </a:r>
            <a:r>
              <a:rPr spc="-35" dirty="0"/>
              <a:t>computing</a:t>
            </a:r>
            <a:r>
              <a:rPr spc="5" dirty="0"/>
              <a:t> </a:t>
            </a:r>
            <a:r>
              <a:rPr spc="-55" dirty="0"/>
              <a:t>services</a:t>
            </a:r>
            <a:r>
              <a:rPr dirty="0"/>
              <a:t> </a:t>
            </a:r>
            <a:r>
              <a:rPr spc="-35" dirty="0"/>
              <a:t>models?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78272"/>
            <a:ext cx="4949190" cy="82232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sz="900" b="1" spc="-20" dirty="0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sz="9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sz="9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sz="9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(IaaS)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virtualized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sz="900" dirty="0">
              <a:latin typeface="Arial"/>
              <a:cs typeface="Arial"/>
            </a:endParaRPr>
          </a:p>
          <a:p>
            <a:pPr marL="160020" marR="24384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(PaaS)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allowing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develop,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run,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complexity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building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sz="900" dirty="0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sz="900" b="1" spc="-25" dirty="0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(SaaS)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subscription basis.</a:t>
            </a:r>
            <a:endParaRPr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184" y="1616479"/>
            <a:ext cx="5039641" cy="79573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31910" y="2546183"/>
            <a:ext cx="149669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sz="8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b="1" dirty="0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sz="800" b="1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8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spc="-3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spc="-10" dirty="0">
                <a:solidFill>
                  <a:srgbClr val="22373A"/>
                </a:solidFill>
                <a:latin typeface="Arial"/>
                <a:cs typeface="Arial"/>
              </a:rPr>
              <a:t>Models</a:t>
            </a:r>
            <a:endParaRPr sz="80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528445" cy="5080"/>
            </a:xfrm>
            <a:custGeom>
              <a:avLst/>
              <a:gdLst/>
              <a:ahLst/>
              <a:cxnLst/>
              <a:rect l="l" t="t" r="r" b="b"/>
              <a:pathLst>
                <a:path w="1528445" h="5080">
                  <a:moveTo>
                    <a:pt x="0" y="5060"/>
                  </a:moveTo>
                  <a:lnTo>
                    <a:pt x="0" y="0"/>
                  </a:lnTo>
                  <a:lnTo>
                    <a:pt x="1528173" y="0"/>
                  </a:lnTo>
                  <a:lnTo>
                    <a:pt x="15281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35" dirty="0"/>
              <a:t>Shared</a:t>
            </a:r>
            <a:r>
              <a:rPr spc="20" dirty="0"/>
              <a:t> </a:t>
            </a:r>
            <a:r>
              <a:rPr spc="-45" dirty="0"/>
              <a:t>Responsibility</a:t>
            </a:r>
            <a:r>
              <a:rPr spc="20" dirty="0"/>
              <a:t> </a:t>
            </a:r>
            <a:r>
              <a:rPr spc="-20" dirty="0"/>
              <a:t>Model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04950" y="351412"/>
            <a:ext cx="3750119" cy="239911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40956" y="2840269"/>
            <a:ext cx="48787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36725" marR="5080" indent="-1724660">
              <a:lnSpc>
                <a:spcPct val="116199"/>
              </a:lnSpc>
              <a:spcBef>
                <a:spcPts val="100"/>
              </a:spcBef>
            </a:pP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sz="900" b="1" spc="1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5" dirty="0">
                <a:solidFill>
                  <a:srgbClr val="EB811B"/>
                </a:solidFill>
                <a:latin typeface="Arial"/>
                <a:cs typeface="Arial"/>
              </a:rPr>
              <a:t>shared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0" dirty="0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model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EB811B"/>
                </a:solidFill>
                <a:latin typeface="Arial"/>
                <a:cs typeface="Arial"/>
              </a:rPr>
              <a:t>outlines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where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0" dirty="0">
                <a:solidFill>
                  <a:srgbClr val="EB811B"/>
                </a:solidFill>
                <a:latin typeface="Arial"/>
                <a:cs typeface="Arial"/>
              </a:rPr>
              <a:t>provider’s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role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0" dirty="0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EB811B"/>
                </a:solidFill>
                <a:latin typeface="Arial"/>
                <a:cs typeface="Arial"/>
              </a:rPr>
              <a:t>ends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sz="900" b="1" spc="2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0" dirty="0">
                <a:solidFill>
                  <a:srgbClr val="EB811B"/>
                </a:solidFill>
                <a:latin typeface="Arial"/>
                <a:cs typeface="Arial"/>
              </a:rPr>
              <a:t>customer’s</a:t>
            </a:r>
            <a:r>
              <a:rPr sz="900" b="1" spc="2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begins.</a:t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763395" cy="5080"/>
            </a:xfrm>
            <a:custGeom>
              <a:avLst/>
              <a:gdLst/>
              <a:ahLst/>
              <a:cxnLst/>
              <a:rect l="l" t="t" r="r" b="b"/>
              <a:pathLst>
                <a:path w="1763395" h="5080">
                  <a:moveTo>
                    <a:pt x="0" y="5060"/>
                  </a:moveTo>
                  <a:lnTo>
                    <a:pt x="0" y="0"/>
                  </a:lnTo>
                  <a:lnTo>
                    <a:pt x="1763284" y="0"/>
                  </a:lnTo>
                  <a:lnTo>
                    <a:pt x="176328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35" dirty="0"/>
              <a:t>Shared</a:t>
            </a:r>
            <a:r>
              <a:rPr spc="15" dirty="0"/>
              <a:t> </a:t>
            </a:r>
            <a:r>
              <a:rPr spc="-45" dirty="0"/>
              <a:t>Responsibility</a:t>
            </a:r>
            <a:r>
              <a:rPr spc="20" dirty="0"/>
              <a:t> </a:t>
            </a:r>
            <a:r>
              <a:rPr dirty="0"/>
              <a:t>Model:</a:t>
            </a:r>
            <a:r>
              <a:rPr spc="120" dirty="0"/>
              <a:t> </a:t>
            </a:r>
            <a:r>
              <a:rPr dirty="0"/>
              <a:t>Pizza</a:t>
            </a:r>
            <a:r>
              <a:rPr spc="20" dirty="0"/>
              <a:t> </a:t>
            </a:r>
            <a:r>
              <a:rPr spc="-25" dirty="0"/>
              <a:t>as</a:t>
            </a:r>
            <a:r>
              <a:rPr spc="15" dirty="0"/>
              <a:t> </a:t>
            </a:r>
            <a:r>
              <a:rPr dirty="0"/>
              <a:t>a</a:t>
            </a:r>
            <a:r>
              <a:rPr spc="20" dirty="0"/>
              <a:t> </a:t>
            </a:r>
            <a:r>
              <a:rPr spc="-20" dirty="0"/>
              <a:t>Service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813594"/>
            <a:ext cx="4986020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71755" algn="ctr">
              <a:lnSpc>
                <a:spcPct val="100000"/>
              </a:lnSpc>
              <a:spcBef>
                <a:spcPts val="95"/>
              </a:spcBef>
            </a:pP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sz="900" b="1" spc="2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5" dirty="0">
                <a:solidFill>
                  <a:srgbClr val="EB811B"/>
                </a:solidFill>
                <a:latin typeface="Arial"/>
                <a:cs typeface="Arial"/>
              </a:rPr>
              <a:t>shared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5" dirty="0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model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like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EB811B"/>
                </a:solidFill>
                <a:latin typeface="Arial"/>
                <a:cs typeface="Arial"/>
              </a:rPr>
              <a:t>ordering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pizza.</a:t>
            </a:r>
            <a:endParaRPr sz="900">
              <a:latin typeface="Arial"/>
              <a:cs typeface="Arial"/>
            </a:endParaRPr>
          </a:p>
          <a:p>
            <a:pPr marL="160020" marR="173355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sz="900" b="1" spc="-20" dirty="0">
                <a:solidFill>
                  <a:srgbClr val="22373A"/>
                </a:solidFill>
                <a:latin typeface="Arial"/>
                <a:cs typeface="Arial"/>
              </a:rPr>
              <a:t>SaaS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restaurant.</a:t>
            </a:r>
            <a:r>
              <a:rPr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everything,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just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eat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pizza.</a:t>
            </a:r>
            <a:endParaRPr sz="900">
              <a:latin typeface="Arial"/>
              <a:cs typeface="Arial"/>
            </a:endParaRPr>
          </a:p>
          <a:p>
            <a:pPr marL="160020" marR="173990" indent="-147955">
              <a:lnSpc>
                <a:spcPct val="116199"/>
              </a:lnSpc>
              <a:spcBef>
                <a:spcPts val="630"/>
              </a:spcBef>
              <a:buFont typeface="Arial"/>
              <a:buChar char="•"/>
              <a:tabLst>
                <a:tab pos="160020" algn="l"/>
              </a:tabLst>
            </a:pP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PaaS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delivery.</a:t>
            </a:r>
            <a:r>
              <a:rPr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is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for the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baking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arrives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home.</a:t>
            </a:r>
            <a:r>
              <a:rPr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preparaing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the table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drinks.</a:t>
            </a:r>
            <a:endParaRPr sz="900">
              <a:latin typeface="Arial"/>
              <a:cs typeface="Arial"/>
            </a:endParaRPr>
          </a:p>
          <a:p>
            <a:pPr marL="160020" marR="21590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IaaS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: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bake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yourself.</a:t>
            </a:r>
            <a:r>
              <a:rPr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dinning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table,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electricity,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oven.</a:t>
            </a:r>
            <a:r>
              <a:rPr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box.</a:t>
            </a:r>
            <a:endParaRPr sz="900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spcBef>
                <a:spcPts val="630"/>
              </a:spcBef>
              <a:buFont typeface="Arial"/>
              <a:buChar char="•"/>
              <a:tabLst>
                <a:tab pos="160020" algn="l"/>
              </a:tabLst>
            </a:pPr>
            <a:r>
              <a:rPr sz="900" b="1" spc="-25" dirty="0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sz="900" b="1" spc="-40" dirty="0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scratch.</a:t>
            </a:r>
            <a:r>
              <a:rPr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everything,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ingredients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baking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 for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preparing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drinks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too.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880870" cy="5080"/>
            </a:xfrm>
            <a:custGeom>
              <a:avLst/>
              <a:gdLst/>
              <a:ahLst/>
              <a:cxnLst/>
              <a:rect l="l" t="t" r="r" b="b"/>
              <a:pathLst>
                <a:path w="1880870" h="5080">
                  <a:moveTo>
                    <a:pt x="0" y="5060"/>
                  </a:moveTo>
                  <a:lnTo>
                    <a:pt x="0" y="0"/>
                  </a:lnTo>
                  <a:lnTo>
                    <a:pt x="1880795" y="0"/>
                  </a:lnTo>
                  <a:lnTo>
                    <a:pt x="188079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1849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spc="-25" dirty="0">
                <a:solidFill>
                  <a:srgbClr val="F9F9F9"/>
                </a:solidFill>
                <a:latin typeface="Arial"/>
                <a:cs typeface="Arial"/>
              </a:rPr>
              <a:t>Deployment</a:t>
            </a:r>
            <a:r>
              <a:rPr sz="1000" b="1" spc="4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F9F9F9"/>
                </a:solidFill>
                <a:latin typeface="Arial"/>
                <a:cs typeface="Arial"/>
              </a:rPr>
              <a:t>Models</a:t>
            </a:r>
            <a:endParaRPr sz="100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75791" y="625598"/>
            <a:ext cx="3008420" cy="2099174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998980" cy="5080"/>
            </a:xfrm>
            <a:custGeom>
              <a:avLst/>
              <a:gdLst/>
              <a:ahLst/>
              <a:cxnLst/>
              <a:rect l="l" t="t" r="r" b="b"/>
              <a:pathLst>
                <a:path w="1998980" h="5080">
                  <a:moveTo>
                    <a:pt x="0" y="5060"/>
                  </a:moveTo>
                  <a:lnTo>
                    <a:pt x="0" y="0"/>
                  </a:lnTo>
                  <a:lnTo>
                    <a:pt x="1998394" y="0"/>
                  </a:lnTo>
                  <a:lnTo>
                    <a:pt x="199839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0" dirty="0"/>
              <a:t>Public</a:t>
            </a:r>
            <a:r>
              <a:rPr spc="-35" dirty="0"/>
              <a:t> </a:t>
            </a:r>
            <a:r>
              <a:rPr spc="-40" dirty="0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69800"/>
            <a:ext cx="4794250" cy="1220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sz="900" b="1" spc="-35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defined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0" dirty="0">
                <a:solidFill>
                  <a:srgbClr val="22373A"/>
                </a:solidFill>
                <a:latin typeface="Arial"/>
                <a:cs typeface="Arial"/>
              </a:rPr>
              <a:t>offered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by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third-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party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30" dirty="0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public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Internet,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sz="900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40" dirty="0">
                <a:solidFill>
                  <a:srgbClr val="22373A"/>
                </a:solidFill>
                <a:latin typeface="Arial"/>
                <a:cs typeface="Arial"/>
              </a:rPr>
              <a:t>anyone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who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0" dirty="0">
                <a:solidFill>
                  <a:srgbClr val="22373A"/>
                </a:solidFill>
                <a:latin typeface="Arial"/>
                <a:cs typeface="Arial"/>
              </a:rPr>
              <a:t>wants</a:t>
            </a:r>
            <a:r>
              <a:rPr sz="900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sz="900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40" dirty="0">
                <a:solidFill>
                  <a:srgbClr val="22373A"/>
                </a:solidFill>
                <a:latin typeface="Arial"/>
                <a:cs typeface="Arial"/>
              </a:rPr>
              <a:t>purchase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sz="90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general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sz="90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own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basis.</a:t>
            </a:r>
            <a:endParaRPr sz="90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Highly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flexible,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wide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range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available.</a:t>
            </a:r>
            <a:endParaRPr sz="90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include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AWS,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Azure,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GCP.</a:t>
            </a:r>
            <a:endParaRPr sz="90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affordability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scalability.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116455" cy="5080"/>
            </a:xfrm>
            <a:custGeom>
              <a:avLst/>
              <a:gdLst/>
              <a:ahLst/>
              <a:cxnLst/>
              <a:rect l="l" t="t" r="r" b="b"/>
              <a:pathLst>
                <a:path w="2116455" h="5080">
                  <a:moveTo>
                    <a:pt x="0" y="5060"/>
                  </a:moveTo>
                  <a:lnTo>
                    <a:pt x="0" y="0"/>
                  </a:lnTo>
                  <a:lnTo>
                    <a:pt x="2115905" y="0"/>
                  </a:lnTo>
                  <a:lnTo>
                    <a:pt x="21159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056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Private</a:t>
            </a:r>
            <a:r>
              <a:rPr spc="30" dirty="0"/>
              <a:t> </a:t>
            </a:r>
            <a:r>
              <a:rPr spc="-30" dirty="0"/>
              <a:t>Cloud</a:t>
            </a:r>
            <a:r>
              <a:rPr spc="30" dirty="0"/>
              <a:t> </a:t>
            </a:r>
            <a:r>
              <a:rPr spc="-25" dirty="0"/>
              <a:t>(On-</a:t>
            </a:r>
            <a:r>
              <a:rPr spc="-10" dirty="0"/>
              <a:t>Premises)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69749"/>
            <a:ext cx="4983480" cy="1220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sz="900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30" dirty="0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sz="900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sz="900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30" dirty="0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sz="900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sz="900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infrastructure for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dedicated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organization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5" dirty="0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exclusively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organization.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customization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hosted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or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third-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party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provider.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enhanced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finance,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government,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healthcare.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than public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but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control and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flexibility.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233930" cy="5080"/>
            </a:xfrm>
            <a:custGeom>
              <a:avLst/>
              <a:gdLst/>
              <a:ahLst/>
              <a:cxnLst/>
              <a:rect l="l" t="t" r="r" b="b"/>
              <a:pathLst>
                <a:path w="2233930" h="5080">
                  <a:moveTo>
                    <a:pt x="0" y="5060"/>
                  </a:moveTo>
                  <a:lnTo>
                    <a:pt x="0" y="0"/>
                  </a:lnTo>
                  <a:lnTo>
                    <a:pt x="2233505" y="0"/>
                  </a:lnTo>
                  <a:lnTo>
                    <a:pt x="22335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861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20" dirty="0"/>
              <a:t>Hybrid</a:t>
            </a:r>
            <a:r>
              <a:rPr spc="15" dirty="0"/>
              <a:t> </a:t>
            </a:r>
            <a:r>
              <a:rPr spc="-35" dirty="0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90082"/>
            <a:ext cx="5066030" cy="137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sz="900" b="1" spc="-20" dirty="0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sz="900" i="1" spc="-20" dirty="0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sz="900" i="1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40" dirty="0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 cloud and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 private cloud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 allowing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0" dirty="0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45" dirty="0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35" dirty="0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sz="900">
              <a:latin typeface="Arial"/>
              <a:cs typeface="Arial"/>
            </a:endParaRPr>
          </a:p>
          <a:p>
            <a:pPr marL="240029" marR="3810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cost-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effectiveness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of public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while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control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sensitive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agility,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optimize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costs.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set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manage,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planning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coordination.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Balances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benefits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expertise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manage.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51405" cy="5080"/>
            </a:xfrm>
            <a:custGeom>
              <a:avLst/>
              <a:gdLst/>
              <a:ahLst/>
              <a:cxnLst/>
              <a:rect l="l" t="t" r="r" b="b"/>
              <a:pathLst>
                <a:path w="2351405" h="5080">
                  <a:moveTo>
                    <a:pt x="0" y="5060"/>
                  </a:moveTo>
                  <a:lnTo>
                    <a:pt x="0" y="0"/>
                  </a:lnTo>
                  <a:lnTo>
                    <a:pt x="2351016" y="0"/>
                  </a:lnTo>
                  <a:lnTo>
                    <a:pt x="23510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Which</a:t>
            </a:r>
            <a:r>
              <a:rPr spc="5" dirty="0"/>
              <a:t> </a:t>
            </a:r>
            <a:r>
              <a:rPr spc="-25" dirty="0"/>
              <a:t>is</a:t>
            </a:r>
            <a:r>
              <a:rPr spc="5" dirty="0"/>
              <a:t> </a:t>
            </a:r>
            <a:r>
              <a:rPr dirty="0"/>
              <a:t>the</a:t>
            </a:r>
            <a:r>
              <a:rPr spc="10" dirty="0"/>
              <a:t> </a:t>
            </a:r>
            <a:r>
              <a:rPr spc="-20" dirty="0"/>
              <a:t>current</a:t>
            </a:r>
            <a:r>
              <a:rPr spc="5" dirty="0"/>
              <a:t> </a:t>
            </a:r>
            <a:r>
              <a:rPr spc="-20" dirty="0"/>
              <a:t>situation</a:t>
            </a:r>
            <a:r>
              <a:rPr spc="10" dirty="0"/>
              <a:t> </a:t>
            </a:r>
            <a:r>
              <a:rPr dirty="0"/>
              <a:t>of</a:t>
            </a:r>
            <a:r>
              <a:rPr spc="5" dirty="0"/>
              <a:t> </a:t>
            </a:r>
            <a:r>
              <a:rPr spc="-30" dirty="0"/>
              <a:t>Cloud</a:t>
            </a:r>
            <a:r>
              <a:rPr spc="5" dirty="0"/>
              <a:t> </a:t>
            </a:r>
            <a:r>
              <a:rPr spc="-30" dirty="0"/>
              <a:t>Computing?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8421" y="348847"/>
            <a:ext cx="4903470" cy="3202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00505" marR="5080" indent="-1488440">
              <a:lnSpc>
                <a:spcPct val="116199"/>
              </a:lnSpc>
              <a:spcBef>
                <a:spcPts val="100"/>
              </a:spcBef>
            </a:pP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EB811B"/>
                </a:solidFill>
                <a:latin typeface="Arial"/>
                <a:cs typeface="Arial"/>
              </a:rPr>
              <a:t>global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market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EB811B"/>
                </a:solidFill>
                <a:latin typeface="Arial"/>
                <a:cs typeface="Arial"/>
              </a:rPr>
              <a:t>expected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EB811B"/>
                </a:solidFill>
                <a:latin typeface="Arial"/>
                <a:cs typeface="Arial"/>
              </a:rPr>
              <a:t>reach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$</a:t>
            </a:r>
            <a:r>
              <a:rPr lang="es-ES" sz="900" b="1" dirty="0">
                <a:solidFill>
                  <a:srgbClr val="EB811B"/>
                </a:solidFill>
                <a:latin typeface="Arial"/>
                <a:cs typeface="Arial"/>
              </a:rPr>
              <a:t>1.35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s-ES" sz="900" b="1" spc="-25" dirty="0" err="1">
                <a:solidFill>
                  <a:srgbClr val="EB811B"/>
                </a:solidFill>
                <a:latin typeface="Arial"/>
                <a:cs typeface="Arial"/>
              </a:rPr>
              <a:t>trillion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by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202</a:t>
            </a:r>
            <a:r>
              <a:rPr lang="es-ES" sz="900" b="1" dirty="0">
                <a:solidFill>
                  <a:srgbClr val="EB811B"/>
                </a:solidFill>
                <a:latin typeface="Arial"/>
                <a:cs typeface="Arial"/>
              </a:rPr>
              <a:t>7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,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0" dirty="0">
                <a:solidFill>
                  <a:srgbClr val="EB811B"/>
                </a:solidFill>
                <a:latin typeface="Arial"/>
                <a:cs typeface="Arial"/>
              </a:rPr>
              <a:t>growing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at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50" dirty="0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s-ES" sz="900" b="1" dirty="0">
                <a:solidFill>
                  <a:srgbClr val="EB811B"/>
                </a:solidFill>
                <a:latin typeface="Arial"/>
                <a:cs typeface="Arial"/>
              </a:rPr>
              <a:t>CAGR</a:t>
            </a:r>
            <a:r>
              <a:rPr lang="es-ES"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sz="900" b="1" spc="4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s-ES" sz="900" b="1" dirty="0">
                <a:solidFill>
                  <a:srgbClr val="EB811B"/>
                </a:solidFill>
                <a:latin typeface="Arial"/>
                <a:cs typeface="Arial"/>
              </a:rPr>
              <a:t>17.5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%</a:t>
            </a:r>
            <a:r>
              <a:rPr sz="900" b="1" spc="4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from</a:t>
            </a:r>
            <a:r>
              <a:rPr sz="900" b="1" spc="4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2020</a:t>
            </a:r>
            <a:r>
              <a:rPr sz="900" b="1" spc="4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sz="900" b="1" spc="4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202</a:t>
            </a:r>
            <a:r>
              <a:rPr lang="es-ES" sz="900" b="1" spc="-10" dirty="0">
                <a:solidFill>
                  <a:srgbClr val="EB811B"/>
                </a:solidFill>
                <a:latin typeface="Arial"/>
                <a:cs typeface="Arial"/>
              </a:rPr>
              <a:t>5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.</a:t>
            </a:r>
            <a:endParaRPr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82726" y="756097"/>
            <a:ext cx="3994546" cy="2099217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979726" y="2989299"/>
            <a:ext cx="180086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sz="800" b="1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b="1" dirty="0">
                <a:solidFill>
                  <a:srgbClr val="22373A"/>
                </a:solidFill>
                <a:latin typeface="Arial"/>
                <a:cs typeface="Arial"/>
              </a:rPr>
              <a:t>6:</a:t>
            </a:r>
            <a:r>
              <a:rPr sz="800" b="1" spc="1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Extracted</a:t>
            </a:r>
            <a:r>
              <a:rPr sz="8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sz="8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IoT</a:t>
            </a:r>
            <a:r>
              <a:rPr sz="800" spc="55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sz="800" spc="-10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Analytics</a:t>
            </a:r>
            <a:endParaRPr sz="80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468880" cy="5080"/>
            </a:xfrm>
            <a:custGeom>
              <a:avLst/>
              <a:gdLst/>
              <a:ahLst/>
              <a:cxnLst/>
              <a:rect l="l" t="t" r="r" b="b"/>
              <a:pathLst>
                <a:path w="2468880" h="5080">
                  <a:moveTo>
                    <a:pt x="0" y="5060"/>
                  </a:moveTo>
                  <a:lnTo>
                    <a:pt x="0" y="0"/>
                  </a:lnTo>
                  <a:lnTo>
                    <a:pt x="2468615" y="0"/>
                  </a:lnTo>
                  <a:lnTo>
                    <a:pt x="246861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2088514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b="1" spc="-4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Advantages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of</a:t>
            </a:r>
            <a:r>
              <a:rPr sz="1100" b="1" spc="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1100" b="1" spc="-3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Cloud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1100" b="1" spc="-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Computing</a:t>
            </a:r>
            <a:endParaRPr sz="110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073785" cy="5080"/>
            </a:xfrm>
            <a:custGeom>
              <a:avLst/>
              <a:gdLst/>
              <a:ahLst/>
              <a:cxnLst/>
              <a:rect l="l" t="t" r="r" b="b"/>
              <a:pathLst>
                <a:path w="1073785" h="5080">
                  <a:moveTo>
                    <a:pt x="0" y="5060"/>
                  </a:moveTo>
                  <a:lnTo>
                    <a:pt x="0" y="0"/>
                  </a:lnTo>
                  <a:lnTo>
                    <a:pt x="1073678" y="0"/>
                  </a:lnTo>
                  <a:lnTo>
                    <a:pt x="10736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0" dirty="0"/>
              <a:t>Capital</a:t>
            </a:r>
            <a:r>
              <a:rPr spc="45" dirty="0"/>
              <a:t> </a:t>
            </a:r>
            <a:r>
              <a:rPr spc="-55" dirty="0"/>
              <a:t>expeneses</a:t>
            </a:r>
            <a:r>
              <a:rPr spc="45" dirty="0"/>
              <a:t> </a:t>
            </a:r>
            <a:r>
              <a:rPr dirty="0"/>
              <a:t>to</a:t>
            </a:r>
            <a:r>
              <a:rPr spc="45" dirty="0"/>
              <a:t> </a:t>
            </a:r>
            <a:r>
              <a:rPr spc="-25" dirty="0"/>
              <a:t>operational</a:t>
            </a:r>
            <a:r>
              <a:rPr spc="50" dirty="0"/>
              <a:t> </a:t>
            </a:r>
            <a:r>
              <a:rPr spc="-55" dirty="0"/>
              <a:t>expenses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655844"/>
            <a:ext cx="500507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54940" indent="-4445">
              <a:lnSpc>
                <a:spcPct val="116199"/>
              </a:lnSpc>
              <a:spcBef>
                <a:spcPts val="100"/>
              </a:spcBef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capital </a:t>
            </a:r>
            <a:r>
              <a:rPr sz="900" spc="-60" dirty="0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(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CapEx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 building and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centers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converted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operational </a:t>
            </a:r>
            <a:r>
              <a:rPr sz="900" spc="-60" dirty="0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OpEx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sz="900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sz="900" spc="315" dirty="0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sz="900" spc="-35" dirty="0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shift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reduces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hardware,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predictable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manageable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structure.</a:t>
            </a:r>
            <a:endParaRPr sz="9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7476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sz="900" b="1" spc="-25" dirty="0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sz="900" b="1" spc="135" dirty="0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sz="900" b="1" spc="45" dirty="0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sz="9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39188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buying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r>
              <a:rPr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endParaRPr sz="900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building,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endParaRPr sz="9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207678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aware!</a:t>
            </a:r>
            <a:endParaRPr sz="9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2241206"/>
            <a:ext cx="5039995" cy="17843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term,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endParaRPr sz="9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057831" y="2542052"/>
            <a:ext cx="16446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EB811B"/>
                </a:solidFill>
                <a:latin typeface="Arial"/>
                <a:cs typeface="Arial"/>
              </a:rPr>
              <a:t>only</a:t>
            </a:r>
            <a:r>
              <a:rPr sz="900" b="1" spc="-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EB811B"/>
                </a:solidFill>
                <a:latin typeface="Arial"/>
                <a:cs typeface="Arial"/>
              </a:rPr>
              <a:t>pay</a:t>
            </a:r>
            <a:r>
              <a:rPr sz="900" b="1" spc="-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sz="900" b="1" spc="-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sz="900" b="1" spc="-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use.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2586355" cy="5080"/>
            </a:xfrm>
            <a:custGeom>
              <a:avLst/>
              <a:gdLst/>
              <a:ahLst/>
              <a:cxnLst/>
              <a:rect l="l" t="t" r="r" b="b"/>
              <a:pathLst>
                <a:path w="2586355" h="5080">
                  <a:moveTo>
                    <a:pt x="0" y="5060"/>
                  </a:moveTo>
                  <a:lnTo>
                    <a:pt x="0" y="0"/>
                  </a:lnTo>
                  <a:lnTo>
                    <a:pt x="2586126" y="0"/>
                  </a:lnTo>
                  <a:lnTo>
                    <a:pt x="25861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12268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55" dirty="0"/>
              <a:t>Economies</a:t>
            </a:r>
            <a:r>
              <a:rPr spc="25" dirty="0"/>
              <a:t> </a:t>
            </a:r>
            <a:r>
              <a:rPr dirty="0"/>
              <a:t>of</a:t>
            </a:r>
            <a:r>
              <a:rPr spc="30" dirty="0"/>
              <a:t> </a:t>
            </a:r>
            <a:r>
              <a:rPr spc="-40" dirty="0"/>
              <a:t>scale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07100"/>
            <a:ext cx="4888865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benefit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economies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scale,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offer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lower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prices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individual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r>
              <a:rPr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 larger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scale,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60" dirty="0">
                <a:solidFill>
                  <a:srgbClr val="22373A"/>
                </a:solidFill>
                <a:latin typeface="Arial"/>
                <a:cs typeface="Arial"/>
              </a:rPr>
              <a:t>pass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savings.</a:t>
            </a:r>
            <a:endParaRPr sz="9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58703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sz="900" b="1" spc="-25" dirty="0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sz="900" b="1" spc="135" dirty="0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sz="900" b="1" spc="45" dirty="0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sz="9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751456"/>
            <a:ext cx="5039995" cy="31686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food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cleaning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products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bulk,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obtain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prices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individual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endParaRPr sz="900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endParaRPr sz="9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04609" y="2190681"/>
            <a:ext cx="475107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b="1" spc="-25" dirty="0">
                <a:solidFill>
                  <a:srgbClr val="EB811B"/>
                </a:solidFill>
                <a:latin typeface="Arial"/>
                <a:cs typeface="Arial"/>
              </a:rPr>
              <a:t>Aggregated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 from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multiple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5" dirty="0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create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 a 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more</a:t>
            </a:r>
            <a:r>
              <a:rPr sz="900" b="1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EB811B"/>
                </a:solidFill>
                <a:latin typeface="Arial"/>
                <a:cs typeface="Arial"/>
              </a:rPr>
              <a:t>eﬀicient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0" dirty="0">
                <a:solidFill>
                  <a:srgbClr val="EB811B"/>
                </a:solidFill>
                <a:latin typeface="Arial"/>
                <a:cs typeface="Arial"/>
              </a:rPr>
              <a:t>use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 of </a:t>
            </a:r>
            <a:r>
              <a:rPr sz="900" b="1" spc="-60" dirty="0">
                <a:solidFill>
                  <a:srgbClr val="EB811B"/>
                </a:solidFill>
                <a:latin typeface="Arial"/>
                <a:cs typeface="Arial"/>
              </a:rPr>
              <a:t>resources.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703830" cy="5080"/>
            </a:xfrm>
            <a:custGeom>
              <a:avLst/>
              <a:gdLst/>
              <a:ahLst/>
              <a:cxnLst/>
              <a:rect l="l" t="t" r="r" b="b"/>
              <a:pathLst>
                <a:path w="2703830" h="5080">
                  <a:moveTo>
                    <a:pt x="0" y="5060"/>
                  </a:moveTo>
                  <a:lnTo>
                    <a:pt x="0" y="0"/>
                  </a:lnTo>
                  <a:lnTo>
                    <a:pt x="2703726" y="0"/>
                  </a:lnTo>
                  <a:lnTo>
                    <a:pt x="27037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20" dirty="0"/>
              <a:t>Adaptability</a:t>
            </a:r>
            <a:r>
              <a:rPr dirty="0"/>
              <a:t> </a:t>
            </a:r>
            <a:r>
              <a:rPr spc="-10" dirty="0"/>
              <a:t>and</a:t>
            </a:r>
            <a:r>
              <a:rPr dirty="0"/>
              <a:t> </a:t>
            </a:r>
            <a:r>
              <a:rPr spc="-35" dirty="0"/>
              <a:t>scalability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756"/>
            <a:ext cx="506730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needed.</a:t>
            </a:r>
            <a:r>
              <a:rPr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stop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guessing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65" dirty="0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business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changes.</a:t>
            </a:r>
            <a:endParaRPr sz="9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96377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sz="900" b="1" spc="-25" dirty="0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sz="900" b="1" spc="135" dirty="0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sz="900" b="1" spc="45" dirty="0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sz="9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60804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suite,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suite.</a:t>
            </a:r>
            <a:r>
              <a:rPr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room,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r>
              <a:rPr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sz="900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need.</a:t>
            </a:r>
            <a:r>
              <a:rPr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rooms?</a:t>
            </a:r>
            <a:r>
              <a:rPr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rooms.</a:t>
            </a:r>
            <a:endParaRPr sz="9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534985" y="2122126"/>
            <a:ext cx="26904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sz="900" b="1" spc="-4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5" dirty="0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sz="900" b="1" spc="-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up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sz="900" b="1" spc="-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EB811B"/>
                </a:solidFill>
                <a:latin typeface="Arial"/>
                <a:cs typeface="Arial"/>
              </a:rPr>
              <a:t>down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EB811B"/>
                </a:solidFill>
                <a:latin typeface="Arial"/>
                <a:cs typeface="Arial"/>
              </a:rPr>
              <a:t>as</a:t>
            </a:r>
            <a:r>
              <a:rPr sz="900" b="1" spc="-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yout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65" dirty="0">
                <a:solidFill>
                  <a:srgbClr val="EB811B"/>
                </a:solidFill>
                <a:latin typeface="Arial"/>
                <a:cs typeface="Arial"/>
              </a:rPr>
              <a:t>business</a:t>
            </a:r>
            <a:r>
              <a:rPr sz="900" b="1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needed.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821305" cy="5080"/>
            </a:xfrm>
            <a:custGeom>
              <a:avLst/>
              <a:gdLst/>
              <a:ahLst/>
              <a:cxnLst/>
              <a:rect l="l" t="t" r="r" b="b"/>
              <a:pathLst>
                <a:path w="2821305" h="5080">
                  <a:moveTo>
                    <a:pt x="0" y="5060"/>
                  </a:moveTo>
                  <a:lnTo>
                    <a:pt x="0" y="0"/>
                  </a:lnTo>
                  <a:lnTo>
                    <a:pt x="2821237" y="0"/>
                  </a:lnTo>
                  <a:lnTo>
                    <a:pt x="2821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0947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25" dirty="0"/>
              <a:t>Deployment</a:t>
            </a:r>
            <a:r>
              <a:rPr spc="45" dirty="0"/>
              <a:t> </a:t>
            </a:r>
            <a:r>
              <a:rPr spc="-45" dirty="0"/>
              <a:t>speed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642"/>
            <a:ext cx="4879340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6199"/>
              </a:lnSpc>
              <a:spcBef>
                <a:spcPts val="100"/>
              </a:spcBef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provided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demand,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vast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amounts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computing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gives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60" dirty="0">
                <a:solidFill>
                  <a:srgbClr val="22373A"/>
                </a:solidFill>
                <a:latin typeface="Arial"/>
                <a:cs typeface="Arial"/>
              </a:rPr>
              <a:t>businesses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lot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taking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pressure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off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capacity planning.</a:t>
            </a:r>
            <a:endParaRPr sz="9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5558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sz="900" b="1" spc="-25" dirty="0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sz="900" b="1" spc="135" dirty="0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sz="900" b="1" spc="45" dirty="0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sz="9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20011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rent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 room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long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take to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buy a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house?</a:t>
            </a:r>
            <a:endParaRPr sz="9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982393" y="2122126"/>
            <a:ext cx="179578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sz="900" b="1" spc="-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 get </a:t>
            </a:r>
            <a:r>
              <a:rPr sz="900" b="1" spc="-55" dirty="0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 in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minutes.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939415" cy="5080"/>
            </a:xfrm>
            <a:custGeom>
              <a:avLst/>
              <a:gdLst/>
              <a:ahLst/>
              <a:cxnLst/>
              <a:rect l="l" t="t" r="r" b="b"/>
              <a:pathLst>
                <a:path w="2939415" h="5080">
                  <a:moveTo>
                    <a:pt x="0" y="5060"/>
                  </a:moveTo>
                  <a:lnTo>
                    <a:pt x="0" y="0"/>
                  </a:lnTo>
                  <a:lnTo>
                    <a:pt x="2938836" y="0"/>
                  </a:lnTo>
                  <a:lnTo>
                    <a:pt x="293883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35" dirty="0"/>
              <a:t>Case</a:t>
            </a:r>
            <a:r>
              <a:rPr spc="-5" dirty="0"/>
              <a:t> </a:t>
            </a:r>
            <a:r>
              <a:rPr spc="-10" dirty="0"/>
              <a:t>Study:</a:t>
            </a:r>
            <a:r>
              <a:rPr spc="95" dirty="0"/>
              <a:t> </a:t>
            </a:r>
            <a:r>
              <a:rPr spc="-30" dirty="0"/>
              <a:t>Dropbox</a:t>
            </a:r>
            <a:r>
              <a:rPr dirty="0"/>
              <a:t> </a:t>
            </a:r>
            <a:r>
              <a:rPr spc="-35" dirty="0"/>
              <a:t>Journey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97945"/>
            <a:ext cx="4902200" cy="6629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sz="900" b="1" spc="-10" dirty="0">
                <a:solidFill>
                  <a:srgbClr val="0070C0"/>
                </a:solidFill>
                <a:latin typeface="Arial"/>
                <a:cs typeface="Arial"/>
              </a:rPr>
              <a:t>Dropbox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synchronization,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r>
              <a:rPr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particular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computers,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then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synchronizes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appears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5" dirty="0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(with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5" dirty="0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contents)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regardless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which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device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5" dirty="0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view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sz="9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40004" y="1209878"/>
            <a:ext cx="5081296" cy="132024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sz="900" b="1" spc="-25" dirty="0">
                <a:solidFill>
                  <a:srgbClr val="EB811B"/>
                </a:solidFill>
                <a:latin typeface="Arial"/>
                <a:cs typeface="Arial"/>
              </a:rPr>
              <a:t>Dropbox</a:t>
            </a:r>
            <a:r>
              <a:rPr sz="900" b="1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5" dirty="0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sz="900" b="1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Public</a:t>
            </a:r>
            <a:r>
              <a:rPr sz="900" b="1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endParaRPr sz="9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40004" y="1374305"/>
            <a:ext cx="5081296" cy="727187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508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40"/>
              </a:spcBef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early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stages,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leveraged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AWS’s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endParaRPr sz="900" dirty="0">
              <a:latin typeface="Arial"/>
              <a:cs typeface="Arial"/>
            </a:endParaRPr>
          </a:p>
          <a:p>
            <a:pPr marL="37465" marR="320040">
              <a:lnSpc>
                <a:spcPct val="116199"/>
              </a:lnSpc>
            </a:pP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storage.</a:t>
            </a:r>
            <a:r>
              <a:rPr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offered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to:</a:t>
            </a:r>
            <a:endParaRPr sz="900" dirty="0">
              <a:latin typeface="Arial"/>
              <a:cs typeface="Arial"/>
            </a:endParaRPr>
          </a:p>
          <a:p>
            <a:pPr marL="227329" marR="26034" indent="-147955">
              <a:lnSpc>
                <a:spcPct val="116199"/>
              </a:lnSpc>
              <a:spcBef>
                <a:spcPts val="445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Rapidly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capacity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demand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increased.</a:t>
            </a:r>
            <a:endParaRPr sz="900" dirty="0">
              <a:latin typeface="Arial"/>
              <a:cs typeface="Arial"/>
            </a:endParaRPr>
          </a:p>
          <a:p>
            <a:pPr marL="222885" marR="388620" indent="-143510">
              <a:lnSpc>
                <a:spcPct val="116199"/>
              </a:lnSpc>
              <a:spcBef>
                <a:spcPts val="450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swift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production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deployment,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enhancing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5" dirty="0">
                <a:solidFill>
                  <a:srgbClr val="22373A"/>
                </a:solidFill>
                <a:latin typeface="Arial"/>
                <a:cs typeface="Arial"/>
              </a:rPr>
              <a:t>responsiveness.</a:t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3056890" cy="5080"/>
            </a:xfrm>
            <a:custGeom>
              <a:avLst/>
              <a:gdLst/>
              <a:ahLst/>
              <a:cxnLst/>
              <a:rect l="l" t="t" r="r" b="b"/>
              <a:pathLst>
                <a:path w="3056890" h="5080">
                  <a:moveTo>
                    <a:pt x="0" y="5060"/>
                  </a:moveTo>
                  <a:lnTo>
                    <a:pt x="0" y="0"/>
                  </a:lnTo>
                  <a:lnTo>
                    <a:pt x="3056347" y="0"/>
                  </a:lnTo>
                  <a:lnTo>
                    <a:pt x="30563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14703" y="1257691"/>
            <a:ext cx="1940560" cy="403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2799"/>
              </a:lnSpc>
              <a:spcBef>
                <a:spcPts val="100"/>
              </a:spcBef>
            </a:pPr>
            <a:r>
              <a:rPr sz="1100" spc="-70" dirty="0">
                <a:solidFill>
                  <a:srgbClr val="22373A"/>
                </a:solidFill>
                <a:hlinkClick r:id="rId2" action="ppaction://hlinksldjump"/>
              </a:rPr>
              <a:t>Risks</a:t>
            </a:r>
            <a:r>
              <a:rPr sz="1100" spc="15" dirty="0">
                <a:solidFill>
                  <a:srgbClr val="22373A"/>
                </a:solidFill>
                <a:hlinkClick r:id="rId2" action="ppaction://hlinksldjump"/>
              </a:rPr>
              <a:t> </a:t>
            </a:r>
            <a:r>
              <a:rPr sz="1100" spc="-20" dirty="0">
                <a:solidFill>
                  <a:srgbClr val="22373A"/>
                </a:solidFill>
                <a:hlinkClick r:id="rId2" action="ppaction://hlinksldjump"/>
              </a:rPr>
              <a:t>and</a:t>
            </a:r>
            <a:r>
              <a:rPr sz="1100" spc="20" dirty="0">
                <a:solidFill>
                  <a:srgbClr val="22373A"/>
                </a:solidFill>
                <a:hlinkClick r:id="rId2" action="ppaction://hlinksldjump"/>
              </a:rPr>
              <a:t> </a:t>
            </a:r>
            <a:r>
              <a:rPr sz="1100" spc="-55" dirty="0">
                <a:solidFill>
                  <a:srgbClr val="22373A"/>
                </a:solidFill>
                <a:hlinkClick r:id="rId2" action="ppaction://hlinksldjump"/>
              </a:rPr>
              <a:t>Challenges</a:t>
            </a:r>
            <a:r>
              <a:rPr sz="1100" spc="15" dirty="0">
                <a:solidFill>
                  <a:srgbClr val="22373A"/>
                </a:solidFill>
                <a:hlinkClick r:id="rId2" action="ppaction://hlinksldjump"/>
              </a:rPr>
              <a:t> </a:t>
            </a:r>
            <a:r>
              <a:rPr sz="1100" dirty="0">
                <a:solidFill>
                  <a:srgbClr val="22373A"/>
                </a:solidFill>
                <a:hlinkClick r:id="rId2" action="ppaction://hlinksldjump"/>
              </a:rPr>
              <a:t>of</a:t>
            </a:r>
            <a:r>
              <a:rPr sz="1100" spc="20" dirty="0">
                <a:solidFill>
                  <a:srgbClr val="22373A"/>
                </a:solidFill>
                <a:hlinkClick r:id="rId2" action="ppaction://hlinksldjump"/>
              </a:rPr>
              <a:t> </a:t>
            </a:r>
            <a:r>
              <a:rPr sz="1100" spc="-50" dirty="0">
                <a:solidFill>
                  <a:srgbClr val="22373A"/>
                </a:solidFill>
                <a:hlinkClick r:id="rId2" action="ppaction://hlinksldjump"/>
              </a:rPr>
              <a:t>Cloud</a:t>
            </a:r>
            <a:r>
              <a:rPr sz="1100" spc="-50" dirty="0">
                <a:solidFill>
                  <a:srgbClr val="22373A"/>
                </a:solidFill>
              </a:rPr>
              <a:t> </a:t>
            </a:r>
            <a:r>
              <a:rPr sz="1100" spc="-10" dirty="0">
                <a:solidFill>
                  <a:srgbClr val="22373A"/>
                </a:solidFill>
                <a:hlinkClick r:id="rId2" action="ppaction://hlinksldjump"/>
              </a:rPr>
              <a:t>Computing</a:t>
            </a:r>
            <a:endParaRPr sz="1100"/>
          </a:p>
        </p:txBody>
      </p:sp>
      <p:grpSp>
        <p:nvGrpSpPr>
          <p:cNvPr id="4" name="object 4"/>
          <p:cNvGrpSpPr/>
          <p:nvPr/>
        </p:nvGrpSpPr>
        <p:grpSpPr>
          <a:xfrm>
            <a:off x="1627403" y="1741633"/>
            <a:ext cx="2505710" cy="5080"/>
            <a:chOff x="1627403" y="1741633"/>
            <a:chExt cx="2505710" cy="5080"/>
          </a:xfrm>
        </p:grpSpPr>
        <p:sp>
          <p:nvSpPr>
            <p:cNvPr id="5" name="object 5"/>
            <p:cNvSpPr/>
            <p:nvPr/>
          </p:nvSpPr>
          <p:spPr>
            <a:xfrm>
              <a:off x="1627403" y="1741633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627403" y="1741633"/>
              <a:ext cx="1380490" cy="5080"/>
            </a:xfrm>
            <a:custGeom>
              <a:avLst/>
              <a:gdLst/>
              <a:ahLst/>
              <a:cxnLst/>
              <a:rect l="l" t="t" r="r" b="b"/>
              <a:pathLst>
                <a:path w="1380489" h="5080">
                  <a:moveTo>
                    <a:pt x="0" y="5060"/>
                  </a:moveTo>
                  <a:lnTo>
                    <a:pt x="0" y="0"/>
                  </a:lnTo>
                  <a:lnTo>
                    <a:pt x="1380449" y="0"/>
                  </a:lnTo>
                  <a:lnTo>
                    <a:pt x="13804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Data</a:t>
            </a:r>
            <a:r>
              <a:rPr spc="145" dirty="0"/>
              <a:t> </a:t>
            </a:r>
            <a:r>
              <a:rPr spc="-40" dirty="0"/>
              <a:t>security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306"/>
            <a:ext cx="5005705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06045">
              <a:lnSpc>
                <a:spcPct val="116199"/>
              </a:lnSpc>
              <a:spcBef>
                <a:spcPts val="100"/>
              </a:spcBef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heavily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security,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do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happen.</a:t>
            </a:r>
            <a:r>
              <a:rPr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immune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threats,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carefully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Misconfiguration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Insider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endParaRPr sz="900">
              <a:latin typeface="Arial"/>
              <a:cs typeface="Arial"/>
            </a:endParaRPr>
          </a:p>
          <a:p>
            <a:pPr marL="2185035" marR="5080" indent="-2112645">
              <a:lnSpc>
                <a:spcPct val="116199"/>
              </a:lnSpc>
              <a:spcBef>
                <a:spcPts val="625"/>
              </a:spcBef>
            </a:pP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sz="900" b="1" spc="2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50" dirty="0">
                <a:solidFill>
                  <a:srgbClr val="EB811B"/>
                </a:solidFill>
                <a:latin typeface="Arial"/>
                <a:cs typeface="Arial"/>
              </a:rPr>
              <a:t>measures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sz="900" b="1" spc="2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0" dirty="0">
                <a:solidFill>
                  <a:srgbClr val="EB811B"/>
                </a:solidFill>
                <a:latin typeface="Arial"/>
                <a:cs typeface="Arial"/>
              </a:rPr>
              <a:t>provider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0" dirty="0">
                <a:solidFill>
                  <a:srgbClr val="EB811B"/>
                </a:solidFill>
                <a:latin typeface="Arial"/>
                <a:cs typeface="Arial"/>
              </a:rPr>
              <a:t>yours,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it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sz="900" b="1" spc="2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EB811B"/>
                </a:solidFill>
                <a:latin typeface="Arial"/>
                <a:cs typeface="Arial"/>
              </a:rPr>
              <a:t>shared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responsibility.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91840" cy="5080"/>
            </a:xfrm>
            <a:custGeom>
              <a:avLst/>
              <a:gdLst/>
              <a:ahLst/>
              <a:cxnLst/>
              <a:rect l="l" t="t" r="r" b="b"/>
              <a:pathLst>
                <a:path w="3291840" h="5080">
                  <a:moveTo>
                    <a:pt x="0" y="5060"/>
                  </a:moveTo>
                  <a:lnTo>
                    <a:pt x="0" y="0"/>
                  </a:lnTo>
                  <a:lnTo>
                    <a:pt x="3291458" y="0"/>
                  </a:lnTo>
                  <a:lnTo>
                    <a:pt x="329145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Real </a:t>
            </a:r>
            <a:r>
              <a:rPr spc="-60" dirty="0"/>
              <a:t>Cases</a:t>
            </a:r>
            <a:r>
              <a:rPr spc="5" dirty="0"/>
              <a:t> </a:t>
            </a:r>
            <a:r>
              <a:rPr dirty="0"/>
              <a:t>of </a:t>
            </a:r>
            <a:r>
              <a:rPr spc="-30" dirty="0"/>
              <a:t>Security</a:t>
            </a:r>
            <a:r>
              <a:rPr spc="5" dirty="0"/>
              <a:t> </a:t>
            </a:r>
            <a:r>
              <a:rPr spc="-35" dirty="0"/>
              <a:t>Breaches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306"/>
            <a:ext cx="4930140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3670" marR="5080" indent="-141605">
              <a:lnSpc>
                <a:spcPct val="116199"/>
              </a:lnSpc>
              <a:spcBef>
                <a:spcPts val="100"/>
              </a:spcBef>
              <a:buChar char="•"/>
              <a:tabLst>
                <a:tab pos="160020" algn="l"/>
              </a:tabLst>
            </a:pP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WannaCry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ransomware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2017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200,000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150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countries, 	including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UK’s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National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(NHS).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encrypted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and 	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demanded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ransom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unlock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sz="900">
              <a:latin typeface="Arial"/>
              <a:cs typeface="Arial"/>
            </a:endParaRPr>
          </a:p>
          <a:p>
            <a:pPr marL="160020" marR="23304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2021,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Universitat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Autònoma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de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(UAB)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information of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students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and staff.</a:t>
            </a:r>
            <a:r>
              <a:rPr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hacker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gained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university’s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stole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sz="900">
              <a:latin typeface="Arial"/>
              <a:cs typeface="Arial"/>
            </a:endParaRPr>
          </a:p>
          <a:p>
            <a:pPr marL="160020" marR="35496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2023,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Clinic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Hospital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personal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information of million of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patients.</a:t>
            </a:r>
            <a:r>
              <a:rPr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subcontractor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accidentally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uploaded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proper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409315" cy="5080"/>
            </a:xfrm>
            <a:custGeom>
              <a:avLst/>
              <a:gdLst/>
              <a:ahLst/>
              <a:cxnLst/>
              <a:rect l="l" t="t" r="r" b="b"/>
              <a:pathLst>
                <a:path w="3409315" h="5080">
                  <a:moveTo>
                    <a:pt x="0" y="5060"/>
                  </a:moveTo>
                  <a:lnTo>
                    <a:pt x="0" y="0"/>
                  </a:lnTo>
                  <a:lnTo>
                    <a:pt x="3409057" y="0"/>
                  </a:lnTo>
                  <a:lnTo>
                    <a:pt x="34090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How</a:t>
            </a:r>
            <a:r>
              <a:rPr spc="25" dirty="0"/>
              <a:t> </a:t>
            </a:r>
            <a:r>
              <a:rPr dirty="0"/>
              <a:t>to</a:t>
            </a:r>
            <a:r>
              <a:rPr spc="30" dirty="0"/>
              <a:t> </a:t>
            </a:r>
            <a:r>
              <a:rPr spc="-10" dirty="0"/>
              <a:t>protect</a:t>
            </a:r>
            <a:r>
              <a:rPr spc="25" dirty="0"/>
              <a:t> </a:t>
            </a:r>
            <a:r>
              <a:rPr spc="-35" dirty="0"/>
              <a:t>your</a:t>
            </a:r>
            <a:r>
              <a:rPr spc="30" dirty="0"/>
              <a:t> </a:t>
            </a:r>
            <a:r>
              <a:rPr dirty="0"/>
              <a:t>data</a:t>
            </a:r>
            <a:r>
              <a:rPr spc="25" dirty="0"/>
              <a:t> </a:t>
            </a:r>
            <a:r>
              <a:rPr dirty="0"/>
              <a:t>in</a:t>
            </a:r>
            <a:r>
              <a:rPr spc="30" dirty="0"/>
              <a:t> </a:t>
            </a:r>
            <a:r>
              <a:rPr dirty="0"/>
              <a:t>the</a:t>
            </a:r>
            <a:r>
              <a:rPr spc="25" dirty="0"/>
              <a:t> </a:t>
            </a:r>
            <a:r>
              <a:rPr spc="-45" dirty="0"/>
              <a:t>cloud?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77130" cy="145986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b="1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22373A"/>
                </a:solidFill>
                <a:latin typeface="Arial"/>
                <a:cs typeface="Arial"/>
              </a:rPr>
              <a:t>encryption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1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Encrypt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transit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protect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access.</a:t>
            </a:r>
            <a:endParaRPr sz="900">
              <a:latin typeface="Arial"/>
              <a:cs typeface="Arial"/>
            </a:endParaRPr>
          </a:p>
          <a:p>
            <a:pPr marL="160020" marR="762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sz="900" b="1" spc="-6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Implement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strong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controls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authorized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access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sz="900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22373A"/>
                </a:solidFill>
                <a:latin typeface="Arial"/>
                <a:cs typeface="Arial"/>
              </a:rPr>
              <a:t>backup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Regularly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recovered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event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loss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corruption.</a:t>
            </a:r>
            <a:endParaRPr sz="900">
              <a:latin typeface="Arial"/>
              <a:cs typeface="Arial"/>
            </a:endParaRPr>
          </a:p>
          <a:p>
            <a:pPr marL="160020" marR="952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sz="900" b="1" spc="-25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Monitor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respond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incidents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timely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manner.</a:t>
            </a:r>
            <a:endParaRPr sz="900">
              <a:latin typeface="Arial"/>
              <a:cs typeface="Arial"/>
            </a:endParaRPr>
          </a:p>
          <a:p>
            <a:pPr marL="160020" marR="38544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sz="900" b="1" spc="-30" dirty="0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regulations.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644265" cy="5080"/>
            </a:xfrm>
            <a:custGeom>
              <a:avLst/>
              <a:gdLst/>
              <a:ahLst/>
              <a:cxnLst/>
              <a:rect l="l" t="t" r="r" b="b"/>
              <a:pathLst>
                <a:path w="3644265" h="5080">
                  <a:moveTo>
                    <a:pt x="0" y="5060"/>
                  </a:moveTo>
                  <a:lnTo>
                    <a:pt x="0" y="0"/>
                  </a:lnTo>
                  <a:lnTo>
                    <a:pt x="3644167" y="0"/>
                  </a:lnTo>
                  <a:lnTo>
                    <a:pt x="36441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Data</a:t>
            </a:r>
            <a:r>
              <a:rPr spc="145" dirty="0"/>
              <a:t> </a:t>
            </a:r>
            <a:r>
              <a:rPr spc="-45" dirty="0"/>
              <a:t>compliance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308738"/>
            <a:ext cx="504444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Regulatory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critical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consideration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sz="900" spc="1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security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regulations,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GDPR,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HIPAA,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PCI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DSS.</a:t>
            </a:r>
            <a:endParaRPr sz="900">
              <a:latin typeface="Arial"/>
              <a:cs typeface="Arial"/>
            </a:endParaRPr>
          </a:p>
          <a:p>
            <a:pPr marL="294005">
              <a:lnSpc>
                <a:spcPct val="100000"/>
              </a:lnSpc>
              <a:spcBef>
                <a:spcPts val="800"/>
              </a:spcBef>
            </a:pP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sz="900" b="1" spc="2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data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0" dirty="0">
                <a:solidFill>
                  <a:srgbClr val="EB811B"/>
                </a:solidFill>
                <a:latin typeface="Arial"/>
                <a:cs typeface="Arial"/>
              </a:rPr>
              <a:t>compliance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EB811B"/>
                </a:solidFill>
                <a:latin typeface="Arial"/>
                <a:cs typeface="Arial"/>
              </a:rPr>
              <a:t>regulations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that</a:t>
            </a:r>
            <a:r>
              <a:rPr sz="900" b="1" spc="2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EB811B"/>
                </a:solidFill>
                <a:latin typeface="Arial"/>
                <a:cs typeface="Arial"/>
              </a:rPr>
              <a:t>apply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business.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761740" cy="5080"/>
            </a:xfrm>
            <a:custGeom>
              <a:avLst/>
              <a:gdLst/>
              <a:ahLst/>
              <a:cxnLst/>
              <a:rect l="l" t="t" r="r" b="b"/>
              <a:pathLst>
                <a:path w="3761740" h="5080">
                  <a:moveTo>
                    <a:pt x="0" y="5060"/>
                  </a:moveTo>
                  <a:lnTo>
                    <a:pt x="0" y="0"/>
                  </a:lnTo>
                  <a:lnTo>
                    <a:pt x="3761679" y="0"/>
                  </a:lnTo>
                  <a:lnTo>
                    <a:pt x="37616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40" dirty="0"/>
              <a:t>Lock-</a:t>
            </a:r>
            <a:r>
              <a:rPr spc="-25" dirty="0"/>
              <a:t>in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476774"/>
            <a:ext cx="5042535" cy="225452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EB811B"/>
                </a:solidFill>
                <a:latin typeface="Arial"/>
                <a:cs typeface="Arial"/>
              </a:rPr>
              <a:t>proprietary</a:t>
            </a:r>
            <a:r>
              <a:rPr sz="900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EB811B"/>
                </a:solidFill>
                <a:latin typeface="Arial"/>
                <a:cs typeface="Arial"/>
              </a:rPr>
              <a:t>technology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migrate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r>
              <a:rPr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result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22373A"/>
                </a:solidFill>
                <a:latin typeface="Arial"/>
                <a:cs typeface="Arial"/>
              </a:rPr>
              <a:t>lock-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dependent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needs.</a:t>
            </a:r>
            <a:endParaRPr lang="es-ES" sz="900" spc="-10" dirty="0">
              <a:solidFill>
                <a:srgbClr val="22373A"/>
              </a:solidFill>
              <a:latin typeface="Arial"/>
              <a:cs typeface="Arial"/>
            </a:endParaRPr>
          </a:p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endParaRPr sz="900" dirty="0">
              <a:latin typeface="Arial"/>
              <a:cs typeface="Arial"/>
            </a:endParaRP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	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Limited</a:t>
            </a:r>
            <a:r>
              <a:rPr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22373A"/>
                </a:solidFill>
                <a:latin typeface="Arial"/>
                <a:cs typeface="Arial"/>
              </a:rPr>
              <a:t>choice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limited in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ability to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different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vendors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evolving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65" dirty="0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provide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value.</a:t>
            </a:r>
            <a:endParaRPr lang="es-ES" sz="900" spc="-10" dirty="0">
              <a:solidFill>
                <a:srgbClr val="22373A"/>
              </a:solidFill>
              <a:latin typeface="Arial"/>
              <a:cs typeface="Arial"/>
            </a:endParaRP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endParaRPr sz="900" dirty="0">
              <a:latin typeface="Arial"/>
              <a:cs typeface="Arial"/>
            </a:endParaRP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Higher </a:t>
            </a:r>
            <a:r>
              <a:rPr sz="900" b="1" spc="-35" dirty="0">
                <a:solidFill>
                  <a:srgbClr val="22373A"/>
                </a:solidFill>
                <a:latin typeface="Arial"/>
                <a:cs typeface="Arial"/>
              </a:rPr>
              <a:t>switching</a:t>
            </a:r>
            <a:r>
              <a:rPr sz="9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 may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face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 costs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complexity when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migrating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applications,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endParaRPr lang="es-ES" sz="900" spc="-10" dirty="0">
              <a:solidFill>
                <a:srgbClr val="22373A"/>
              </a:solidFill>
              <a:latin typeface="Arial"/>
              <a:cs typeface="Arial"/>
            </a:endParaRP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endParaRPr sz="900" dirty="0">
              <a:latin typeface="Arial"/>
              <a:cs typeface="Arial"/>
            </a:endParaRPr>
          </a:p>
          <a:p>
            <a:pPr marL="243840" marR="270510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face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challenges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portability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platforms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environments,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hinder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5" dirty="0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systems.</a:t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879215" cy="5080"/>
            </a:xfrm>
            <a:custGeom>
              <a:avLst/>
              <a:gdLst/>
              <a:ahLst/>
              <a:cxnLst/>
              <a:rect l="l" t="t" r="r" b="b"/>
              <a:pathLst>
                <a:path w="3879215" h="5080">
                  <a:moveTo>
                    <a:pt x="0" y="5060"/>
                  </a:moveTo>
                  <a:lnTo>
                    <a:pt x="0" y="0"/>
                  </a:lnTo>
                  <a:lnTo>
                    <a:pt x="3879190" y="0"/>
                  </a:lnTo>
                  <a:lnTo>
                    <a:pt x="38791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Other</a:t>
            </a:r>
            <a:r>
              <a:rPr spc="30" dirty="0"/>
              <a:t> </a:t>
            </a:r>
            <a:r>
              <a:rPr spc="-50" dirty="0"/>
              <a:t>challenges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91747"/>
            <a:ext cx="4988560" cy="21767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241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sz="900" b="1" spc="-25" dirty="0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factors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latency,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bandwidth,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centers.</a:t>
            </a:r>
            <a:endParaRPr sz="900">
              <a:latin typeface="Arial"/>
              <a:cs typeface="Arial"/>
            </a:endParaRPr>
          </a:p>
          <a:p>
            <a:pPr marL="160020" marR="240029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spiral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out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properly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managed,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unexpected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expenses.</a:t>
            </a:r>
            <a:endParaRPr sz="900">
              <a:latin typeface="Arial"/>
              <a:cs typeface="Arial"/>
            </a:endParaRPr>
          </a:p>
          <a:p>
            <a:pPr marL="160020" marR="46609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sz="900" b="1" spc="-30" dirty="0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22373A"/>
                </a:solidFill>
                <a:latin typeface="Arial"/>
                <a:cs typeface="Arial"/>
              </a:rPr>
              <a:t>level</a:t>
            </a:r>
            <a:r>
              <a:rPr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22373A"/>
                </a:solidFill>
                <a:latin typeface="Arial"/>
                <a:cs typeface="Arial"/>
              </a:rPr>
              <a:t>agreements</a:t>
            </a:r>
            <a:r>
              <a:rPr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(SLAs)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not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their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SLAs,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downtime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issues.</a:t>
            </a:r>
            <a:endParaRPr sz="900">
              <a:latin typeface="Arial"/>
              <a:cs typeface="Arial"/>
            </a:endParaRPr>
          </a:p>
          <a:p>
            <a:pPr marL="160020" marR="23558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protecting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against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tampering.</a:t>
            </a:r>
            <a:endParaRPr sz="900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sz="900" b="1" spc="-20" dirty="0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50" dirty="0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optimized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analysis,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impact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require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low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latency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throughput.</a:t>
            </a:r>
            <a:endParaRPr sz="900">
              <a:latin typeface="Arial"/>
              <a:cs typeface="Arial"/>
            </a:endParaRPr>
          </a:p>
          <a:p>
            <a:pPr marL="1007744" marR="203200" indent="-879475">
              <a:lnSpc>
                <a:spcPct val="116199"/>
              </a:lnSpc>
              <a:spcBef>
                <a:spcPts val="625"/>
              </a:spcBef>
            </a:pPr>
            <a:r>
              <a:rPr sz="900" b="1" spc="-25" dirty="0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sz="900" b="1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sz="900" b="1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not</a:t>
            </a:r>
            <a:r>
              <a:rPr sz="900" b="1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without</a:t>
            </a:r>
            <a:r>
              <a:rPr sz="900" b="1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its</a:t>
            </a:r>
            <a:r>
              <a:rPr sz="900" b="1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50" dirty="0">
                <a:solidFill>
                  <a:srgbClr val="EB811B"/>
                </a:solidFill>
                <a:latin typeface="Arial"/>
                <a:cs typeface="Arial"/>
              </a:rPr>
              <a:t>risks</a:t>
            </a:r>
            <a:r>
              <a:rPr sz="900" b="1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sz="900" b="1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0" dirty="0">
                <a:solidFill>
                  <a:srgbClr val="EB811B"/>
                </a:solidFill>
                <a:latin typeface="Arial"/>
                <a:cs typeface="Arial"/>
              </a:rPr>
              <a:t>challenges,</a:t>
            </a:r>
            <a:r>
              <a:rPr sz="900" b="1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sz="900" b="1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5" dirty="0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sz="900" b="1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 to</a:t>
            </a:r>
            <a:r>
              <a:rPr sz="900" b="1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EB811B"/>
                </a:solidFill>
                <a:latin typeface="Arial"/>
                <a:cs typeface="Arial"/>
              </a:rPr>
              <a:t>carefully </a:t>
            </a:r>
            <a:r>
              <a:rPr sz="900" b="1" spc="-30" dirty="0">
                <a:solidFill>
                  <a:srgbClr val="EB811B"/>
                </a:solidFill>
                <a:latin typeface="Arial"/>
                <a:cs typeface="Arial"/>
              </a:rPr>
              <a:t>manage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5" dirty="0">
                <a:solidFill>
                  <a:srgbClr val="EB811B"/>
                </a:solidFill>
                <a:latin typeface="Arial"/>
                <a:cs typeface="Arial"/>
              </a:rPr>
              <a:t>ensure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60" dirty="0">
                <a:solidFill>
                  <a:srgbClr val="EB811B"/>
                </a:solidFill>
                <a:latin typeface="Arial"/>
                <a:cs typeface="Arial"/>
              </a:rPr>
              <a:t>successful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deployment.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997325" cy="5080"/>
            </a:xfrm>
            <a:custGeom>
              <a:avLst/>
              <a:gdLst/>
              <a:ahLst/>
              <a:cxnLst/>
              <a:rect l="l" t="t" r="r" b="b"/>
              <a:pathLst>
                <a:path w="3997325" h="5080">
                  <a:moveTo>
                    <a:pt x="0" y="5060"/>
                  </a:moveTo>
                  <a:lnTo>
                    <a:pt x="0" y="0"/>
                  </a:lnTo>
                  <a:lnTo>
                    <a:pt x="3996789" y="0"/>
                  </a:lnTo>
                  <a:lnTo>
                    <a:pt x="399678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35" dirty="0"/>
              <a:t>Homework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33590" y="1507874"/>
            <a:ext cx="4893310" cy="34417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75"/>
              </a:spcBef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 want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GitHub</a:t>
            </a:r>
            <a:r>
              <a:rPr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account.</a:t>
            </a:r>
            <a:r>
              <a:rPr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week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endParaRPr sz="900" dirty="0">
              <a:latin typeface="Arial"/>
              <a:cs typeface="Arial"/>
            </a:endParaRPr>
          </a:p>
          <a:p>
            <a:pPr marL="22860" algn="ctr">
              <a:lnSpc>
                <a:spcPct val="100000"/>
              </a:lnSpc>
              <a:spcBef>
                <a:spcPts val="175"/>
              </a:spcBef>
            </a:pPr>
            <a:r>
              <a:rPr sz="900" b="1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GitHub</a:t>
            </a:r>
            <a:r>
              <a:rPr sz="900" b="1" spc="20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sz="900" b="1" spc="-20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Pages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look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the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lab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sz="900" b="1" spc="-40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descripton</a:t>
            </a:r>
            <a:r>
              <a:rPr sz="900" b="1" spc="5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want.</a:t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114800" cy="5080"/>
            </a:xfrm>
            <a:custGeom>
              <a:avLst/>
              <a:gdLst/>
              <a:ahLst/>
              <a:cxnLst/>
              <a:rect l="l" t="t" r="r" b="b"/>
              <a:pathLst>
                <a:path w="4114800" h="5080">
                  <a:moveTo>
                    <a:pt x="0" y="5060"/>
                  </a:moveTo>
                  <a:lnTo>
                    <a:pt x="0" y="0"/>
                  </a:lnTo>
                  <a:lnTo>
                    <a:pt x="4114300" y="0"/>
                  </a:lnTo>
                  <a:lnTo>
                    <a:pt x="411430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35" dirty="0"/>
              <a:t>Case</a:t>
            </a:r>
            <a:r>
              <a:rPr spc="-5" dirty="0"/>
              <a:t> </a:t>
            </a:r>
            <a:r>
              <a:rPr spc="-10" dirty="0"/>
              <a:t>Study:</a:t>
            </a:r>
            <a:r>
              <a:rPr spc="90" dirty="0"/>
              <a:t> </a:t>
            </a:r>
            <a:r>
              <a:rPr dirty="0"/>
              <a:t>Is</a:t>
            </a:r>
            <a:r>
              <a:rPr spc="-5" dirty="0"/>
              <a:t> </a:t>
            </a:r>
            <a:r>
              <a:rPr spc="-30" dirty="0"/>
              <a:t>Cloud</a:t>
            </a:r>
            <a:r>
              <a:rPr dirty="0"/>
              <a:t> </a:t>
            </a:r>
            <a:r>
              <a:rPr spc="-30" dirty="0"/>
              <a:t>Computing</a:t>
            </a:r>
            <a:r>
              <a:rPr spc="-5" dirty="0"/>
              <a:t> </a:t>
            </a:r>
            <a:r>
              <a:rPr dirty="0"/>
              <a:t>Right for</a:t>
            </a:r>
            <a:r>
              <a:rPr spc="-5" dirty="0"/>
              <a:t> </a:t>
            </a:r>
            <a:r>
              <a:rPr spc="-20" dirty="0"/>
              <a:t>Your</a:t>
            </a:r>
            <a:r>
              <a:rPr dirty="0"/>
              <a:t> </a:t>
            </a:r>
            <a:r>
              <a:rPr spc="-40" dirty="0"/>
              <a:t>Company?</a:t>
            </a:r>
            <a:r>
              <a:rPr spc="85" dirty="0"/>
              <a:t> </a:t>
            </a:r>
            <a:r>
              <a:rPr spc="50" dirty="0"/>
              <a:t>(I)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149391"/>
            <a:ext cx="5066030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16199"/>
              </a:lnSpc>
              <a:spcBef>
                <a:spcPts val="100"/>
              </a:spcBef>
            </a:pP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Consider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startup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competitive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65" dirty="0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market.</a:t>
            </a:r>
            <a:r>
              <a:rPr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50" dirty="0">
                <a:solidFill>
                  <a:srgbClr val="22373A"/>
                </a:solidFill>
                <a:latin typeface="Arial"/>
                <a:cs typeface="Arial"/>
              </a:rPr>
              <a:t>considering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whether</a:t>
            </a:r>
            <a:r>
              <a:rPr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traditional infrastructure?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232275" cy="5080"/>
            </a:xfrm>
            <a:custGeom>
              <a:avLst/>
              <a:gdLst/>
              <a:ahLst/>
              <a:cxnLst/>
              <a:rect l="l" t="t" r="r" b="b"/>
              <a:pathLst>
                <a:path w="4232275" h="5080">
                  <a:moveTo>
                    <a:pt x="0" y="5060"/>
                  </a:moveTo>
                  <a:lnTo>
                    <a:pt x="0" y="0"/>
                  </a:lnTo>
                  <a:lnTo>
                    <a:pt x="4231899" y="0"/>
                  </a:lnTo>
                  <a:lnTo>
                    <a:pt x="423189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35" dirty="0"/>
              <a:t>Case</a:t>
            </a:r>
            <a:r>
              <a:rPr spc="-5" dirty="0"/>
              <a:t> </a:t>
            </a:r>
            <a:r>
              <a:rPr spc="-10" dirty="0"/>
              <a:t>Study:</a:t>
            </a:r>
            <a:r>
              <a:rPr spc="90" dirty="0"/>
              <a:t> </a:t>
            </a:r>
            <a:r>
              <a:rPr dirty="0"/>
              <a:t>Is</a:t>
            </a:r>
            <a:r>
              <a:rPr spc="-5" dirty="0"/>
              <a:t> </a:t>
            </a:r>
            <a:r>
              <a:rPr spc="-30" dirty="0"/>
              <a:t>Cloud</a:t>
            </a:r>
            <a:r>
              <a:rPr dirty="0"/>
              <a:t> </a:t>
            </a:r>
            <a:r>
              <a:rPr spc="-30" dirty="0"/>
              <a:t>Computing</a:t>
            </a:r>
            <a:r>
              <a:rPr spc="-5" dirty="0"/>
              <a:t> </a:t>
            </a:r>
            <a:r>
              <a:rPr dirty="0"/>
              <a:t>Right for</a:t>
            </a:r>
            <a:r>
              <a:rPr spc="-5" dirty="0"/>
              <a:t> </a:t>
            </a:r>
            <a:r>
              <a:rPr spc="-20" dirty="0"/>
              <a:t>Your</a:t>
            </a:r>
            <a:r>
              <a:rPr dirty="0"/>
              <a:t> </a:t>
            </a:r>
            <a:r>
              <a:rPr spc="-40" dirty="0"/>
              <a:t>Company?</a:t>
            </a:r>
            <a:r>
              <a:rPr spc="85" dirty="0"/>
              <a:t> </a:t>
            </a:r>
            <a:r>
              <a:rPr spc="50" dirty="0"/>
              <a:t>(I)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49391"/>
            <a:ext cx="5069840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algn="ctr">
              <a:lnSpc>
                <a:spcPct val="116199"/>
              </a:lnSpc>
              <a:spcBef>
                <a:spcPts val="100"/>
              </a:spcBef>
            </a:pP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Consider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startup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competitive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65" dirty="0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market.</a:t>
            </a:r>
            <a:r>
              <a:rPr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50" dirty="0">
                <a:solidFill>
                  <a:srgbClr val="22373A"/>
                </a:solidFill>
                <a:latin typeface="Arial"/>
                <a:cs typeface="Arial"/>
              </a:rPr>
              <a:t>considering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whether</a:t>
            </a:r>
            <a:r>
              <a:rPr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traditional infrastructure?</a:t>
            </a:r>
            <a:endParaRPr sz="900">
              <a:latin typeface="Arial"/>
              <a:cs typeface="Arial"/>
            </a:endParaRPr>
          </a:p>
          <a:p>
            <a:pPr marL="16510" marR="65405" indent="-4445">
              <a:lnSpc>
                <a:spcPct val="116199"/>
              </a:lnSpc>
              <a:spcBef>
                <a:spcPts val="625"/>
              </a:spcBef>
            </a:pP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30" dirty="0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40" dirty="0">
                <a:solidFill>
                  <a:srgbClr val="22373A"/>
                </a:solidFill>
                <a:latin typeface="Arial"/>
                <a:cs typeface="Arial"/>
              </a:rPr>
              <a:t>leverage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sz="900" i="1" spc="-35" dirty="0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30" dirty="0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and time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market,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 while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benefiting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sz="900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40" dirty="0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r>
              <a:rPr sz="900" i="1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instance,</a:t>
            </a:r>
            <a:r>
              <a:rPr sz="900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spc="-20" dirty="0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sz="900" b="1" i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dirty="0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sz="900" b="1" i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sz="900" b="1" i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spc="-10" dirty="0">
                <a:solidFill>
                  <a:srgbClr val="22373A"/>
                </a:solidFill>
                <a:latin typeface="Arial"/>
                <a:cs typeface="Arial"/>
              </a:rPr>
              <a:t>(AWS) </a:t>
            </a:r>
            <a:r>
              <a:rPr sz="900" i="1" spc="-20" dirty="0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sz="900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45" dirty="0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sz="900" i="1" spc="-40" dirty="0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sz="900" i="1" spc="-45" dirty="0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sz="900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sz="900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startups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sz="900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0" dirty="0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0" dirty="0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232275" cy="5080"/>
            </a:xfrm>
            <a:custGeom>
              <a:avLst/>
              <a:gdLst/>
              <a:ahLst/>
              <a:cxnLst/>
              <a:rect l="l" t="t" r="r" b="b"/>
              <a:pathLst>
                <a:path w="4232275" h="5080">
                  <a:moveTo>
                    <a:pt x="0" y="5060"/>
                  </a:moveTo>
                  <a:lnTo>
                    <a:pt x="0" y="0"/>
                  </a:lnTo>
                  <a:lnTo>
                    <a:pt x="4231899" y="0"/>
                  </a:lnTo>
                  <a:lnTo>
                    <a:pt x="423189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35" dirty="0"/>
              <a:t>Case</a:t>
            </a:r>
            <a:r>
              <a:rPr spc="-5" dirty="0"/>
              <a:t> </a:t>
            </a:r>
            <a:r>
              <a:rPr spc="-10" dirty="0"/>
              <a:t>Study:</a:t>
            </a:r>
            <a:r>
              <a:rPr spc="90" dirty="0"/>
              <a:t> </a:t>
            </a:r>
            <a:r>
              <a:rPr dirty="0"/>
              <a:t>Is</a:t>
            </a:r>
            <a:r>
              <a:rPr spc="-5" dirty="0"/>
              <a:t> </a:t>
            </a:r>
            <a:r>
              <a:rPr spc="-30" dirty="0"/>
              <a:t>Cloud</a:t>
            </a:r>
            <a:r>
              <a:rPr dirty="0"/>
              <a:t> </a:t>
            </a:r>
            <a:r>
              <a:rPr spc="-30" dirty="0"/>
              <a:t>Computing</a:t>
            </a:r>
            <a:r>
              <a:rPr spc="-5" dirty="0"/>
              <a:t> </a:t>
            </a:r>
            <a:r>
              <a:rPr dirty="0"/>
              <a:t>Right for</a:t>
            </a:r>
            <a:r>
              <a:rPr spc="-5" dirty="0"/>
              <a:t> </a:t>
            </a:r>
            <a:r>
              <a:rPr spc="-20" dirty="0"/>
              <a:t>Your</a:t>
            </a:r>
            <a:r>
              <a:rPr dirty="0"/>
              <a:t> </a:t>
            </a:r>
            <a:r>
              <a:rPr spc="-40" dirty="0"/>
              <a:t>Company?</a:t>
            </a:r>
            <a:r>
              <a:rPr spc="85" dirty="0"/>
              <a:t> </a:t>
            </a:r>
            <a:r>
              <a:rPr spc="55" dirty="0"/>
              <a:t>(II)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227304" y="630854"/>
            <a:ext cx="5208270" cy="1643831"/>
          </a:xfrm>
          <a:prstGeom prst="rect">
            <a:avLst/>
          </a:prstGeom>
        </p:spPr>
        <p:txBody>
          <a:bodyPr vert="horz" wrap="square" lIns="0" tIns="451595" rIns="0" bIns="0" rtlCol="0">
            <a:spAutoFit/>
          </a:bodyPr>
          <a:lstStyle/>
          <a:p>
            <a:pPr marL="109855" marR="5080" algn="ctr">
              <a:lnSpc>
                <a:spcPct val="116199"/>
              </a:lnSpc>
              <a:spcBef>
                <a:spcPts val="100"/>
              </a:spcBef>
            </a:pPr>
            <a:r>
              <a:rPr dirty="0"/>
              <a:t>Now,</a:t>
            </a:r>
            <a:r>
              <a:rPr spc="10" dirty="0"/>
              <a:t> </a:t>
            </a:r>
            <a:r>
              <a:rPr spc="-30" dirty="0"/>
              <a:t>consider</a:t>
            </a:r>
            <a:r>
              <a:rPr spc="15" dirty="0"/>
              <a:t> </a:t>
            </a:r>
            <a:r>
              <a:rPr dirty="0"/>
              <a:t>a</a:t>
            </a:r>
            <a:r>
              <a:rPr spc="15" dirty="0"/>
              <a:t> </a:t>
            </a:r>
            <a:r>
              <a:rPr spc="-10" dirty="0"/>
              <a:t>small</a:t>
            </a:r>
            <a:r>
              <a:rPr spc="10" dirty="0"/>
              <a:t> </a:t>
            </a:r>
            <a:r>
              <a:rPr spc="-30" dirty="0"/>
              <a:t>company</a:t>
            </a:r>
            <a:r>
              <a:rPr spc="15" dirty="0"/>
              <a:t> </a:t>
            </a:r>
            <a:r>
              <a:rPr b="1" spc="50" dirty="0">
                <a:latin typeface="Arial"/>
                <a:cs typeface="Arial"/>
              </a:rPr>
              <a:t>Y</a:t>
            </a:r>
            <a:r>
              <a:rPr b="1" spc="15" dirty="0">
                <a:latin typeface="Arial"/>
                <a:cs typeface="Arial"/>
              </a:rPr>
              <a:t> </a:t>
            </a:r>
            <a:r>
              <a:rPr dirty="0"/>
              <a:t>that</a:t>
            </a:r>
            <a:r>
              <a:rPr spc="10" dirty="0"/>
              <a:t> </a:t>
            </a:r>
            <a:r>
              <a:rPr spc="-55" dirty="0"/>
              <a:t>needs</a:t>
            </a:r>
            <a:r>
              <a:rPr spc="15" dirty="0"/>
              <a:t> </a:t>
            </a:r>
            <a:r>
              <a:rPr dirty="0"/>
              <a:t>to</a:t>
            </a:r>
            <a:r>
              <a:rPr spc="15" dirty="0"/>
              <a:t> </a:t>
            </a:r>
            <a:r>
              <a:rPr dirty="0"/>
              <a:t>digitalize</a:t>
            </a:r>
            <a:r>
              <a:rPr spc="15" dirty="0"/>
              <a:t> </a:t>
            </a:r>
            <a:r>
              <a:rPr dirty="0"/>
              <a:t>its</a:t>
            </a:r>
            <a:r>
              <a:rPr spc="10" dirty="0"/>
              <a:t> </a:t>
            </a:r>
            <a:r>
              <a:rPr spc="-50" dirty="0"/>
              <a:t>business</a:t>
            </a:r>
            <a:r>
              <a:rPr spc="15" dirty="0"/>
              <a:t> </a:t>
            </a:r>
            <a:r>
              <a:rPr dirty="0"/>
              <a:t>and</a:t>
            </a:r>
            <a:r>
              <a:rPr spc="15" dirty="0"/>
              <a:t> </a:t>
            </a:r>
            <a:r>
              <a:rPr spc="-35" dirty="0"/>
              <a:t>reduce</a:t>
            </a:r>
            <a:r>
              <a:rPr spc="10" dirty="0"/>
              <a:t> </a:t>
            </a:r>
            <a:r>
              <a:rPr spc="-30" dirty="0"/>
              <a:t>costs</a:t>
            </a:r>
            <a:r>
              <a:rPr spc="15" dirty="0"/>
              <a:t> </a:t>
            </a:r>
            <a:r>
              <a:rPr dirty="0"/>
              <a:t>to</a:t>
            </a:r>
            <a:r>
              <a:rPr spc="15" dirty="0"/>
              <a:t> </a:t>
            </a:r>
            <a:r>
              <a:rPr spc="-10" dirty="0"/>
              <a:t>compete </a:t>
            </a:r>
            <a:r>
              <a:rPr spc="-20" dirty="0"/>
              <a:t>effectively</a:t>
            </a:r>
            <a:r>
              <a:rPr spc="5" dirty="0"/>
              <a:t> </a:t>
            </a:r>
            <a:r>
              <a:rPr dirty="0"/>
              <a:t>in</a:t>
            </a:r>
            <a:r>
              <a:rPr spc="10" dirty="0"/>
              <a:t> </a:t>
            </a:r>
            <a:r>
              <a:rPr dirty="0"/>
              <a:t>the</a:t>
            </a:r>
            <a:r>
              <a:rPr spc="10" dirty="0"/>
              <a:t> </a:t>
            </a:r>
            <a:r>
              <a:rPr spc="-10" dirty="0"/>
              <a:t>market.</a:t>
            </a:r>
            <a:r>
              <a:rPr spc="95" dirty="0"/>
              <a:t> </a:t>
            </a:r>
            <a:r>
              <a:rPr dirty="0"/>
              <a:t>The</a:t>
            </a:r>
            <a:r>
              <a:rPr spc="10" dirty="0"/>
              <a:t> </a:t>
            </a:r>
            <a:r>
              <a:rPr spc="-30" dirty="0"/>
              <a:t>company</a:t>
            </a:r>
            <a:r>
              <a:rPr spc="10" dirty="0"/>
              <a:t> </a:t>
            </a:r>
            <a:r>
              <a:rPr dirty="0"/>
              <a:t>is</a:t>
            </a:r>
            <a:r>
              <a:rPr spc="10" dirty="0"/>
              <a:t> </a:t>
            </a:r>
            <a:r>
              <a:rPr spc="-25" dirty="0"/>
              <a:t>also</a:t>
            </a:r>
            <a:r>
              <a:rPr spc="10" dirty="0"/>
              <a:t> </a:t>
            </a:r>
            <a:r>
              <a:rPr spc="-30" dirty="0"/>
              <a:t>considering</a:t>
            </a:r>
            <a:r>
              <a:rPr spc="10" dirty="0"/>
              <a:t> </a:t>
            </a:r>
            <a:r>
              <a:rPr spc="-10" dirty="0"/>
              <a:t>whether</a:t>
            </a:r>
            <a:r>
              <a:rPr spc="10" dirty="0"/>
              <a:t> </a:t>
            </a:r>
            <a:r>
              <a:rPr dirty="0"/>
              <a:t>to</a:t>
            </a:r>
            <a:r>
              <a:rPr spc="10" dirty="0"/>
              <a:t> </a:t>
            </a:r>
            <a:r>
              <a:rPr dirty="0"/>
              <a:t>adopt</a:t>
            </a:r>
            <a:r>
              <a:rPr spc="10" dirty="0"/>
              <a:t> </a:t>
            </a:r>
            <a:r>
              <a:rPr spc="-10" dirty="0"/>
              <a:t>cloud</a:t>
            </a:r>
            <a:r>
              <a:rPr spc="10" dirty="0"/>
              <a:t> </a:t>
            </a:r>
            <a:r>
              <a:rPr spc="-10" dirty="0"/>
              <a:t>computing</a:t>
            </a:r>
            <a:r>
              <a:rPr spc="10" dirty="0"/>
              <a:t> </a:t>
            </a:r>
            <a:r>
              <a:rPr spc="-25" dirty="0"/>
              <a:t>or </a:t>
            </a:r>
            <a:r>
              <a:rPr dirty="0"/>
              <a:t>traditional</a:t>
            </a:r>
            <a:r>
              <a:rPr spc="55" dirty="0"/>
              <a:t> </a:t>
            </a:r>
            <a:r>
              <a:rPr spc="-10" dirty="0"/>
              <a:t>infrastructure.</a:t>
            </a:r>
          </a:p>
          <a:p>
            <a:pPr marL="132080" marR="76200" indent="-4445">
              <a:lnSpc>
                <a:spcPct val="116199"/>
              </a:lnSpc>
              <a:spcBef>
                <a:spcPts val="625"/>
              </a:spcBef>
            </a:pPr>
            <a:r>
              <a:rPr i="1" dirty="0">
                <a:latin typeface="Arial"/>
                <a:cs typeface="Arial"/>
              </a:rPr>
              <a:t>The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spc="-30" dirty="0">
                <a:latin typeface="Arial"/>
                <a:cs typeface="Arial"/>
              </a:rPr>
              <a:t>decision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spc="-45" dirty="0">
                <a:latin typeface="Arial"/>
                <a:cs typeface="Arial"/>
              </a:rPr>
              <a:t>depends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on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the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spc="-20" dirty="0">
                <a:latin typeface="Arial"/>
                <a:cs typeface="Arial"/>
              </a:rPr>
              <a:t>specific</a:t>
            </a:r>
            <a:r>
              <a:rPr i="1" spc="15" dirty="0">
                <a:latin typeface="Arial"/>
                <a:cs typeface="Arial"/>
              </a:rPr>
              <a:t> </a:t>
            </a:r>
            <a:r>
              <a:rPr i="1" spc="-65" dirty="0">
                <a:latin typeface="Arial"/>
                <a:cs typeface="Arial"/>
              </a:rPr>
              <a:t>needs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and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spc="-50" dirty="0">
                <a:latin typeface="Arial"/>
                <a:cs typeface="Arial"/>
              </a:rPr>
              <a:t>resources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of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the</a:t>
            </a:r>
            <a:r>
              <a:rPr i="1" spc="15" dirty="0">
                <a:latin typeface="Arial"/>
                <a:cs typeface="Arial"/>
              </a:rPr>
              <a:t> </a:t>
            </a:r>
            <a:r>
              <a:rPr i="1" spc="-30" dirty="0">
                <a:latin typeface="Arial"/>
                <a:cs typeface="Arial"/>
              </a:rPr>
              <a:t>company.</a:t>
            </a:r>
            <a:r>
              <a:rPr i="1" spc="95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If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the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spc="-30" dirty="0">
                <a:latin typeface="Arial"/>
                <a:cs typeface="Arial"/>
              </a:rPr>
              <a:t>company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spc="-45" dirty="0">
                <a:latin typeface="Arial"/>
                <a:cs typeface="Arial"/>
              </a:rPr>
              <a:t>has</a:t>
            </a:r>
            <a:r>
              <a:rPr i="1" spc="15" dirty="0">
                <a:latin typeface="Arial"/>
                <a:cs typeface="Arial"/>
              </a:rPr>
              <a:t> </a:t>
            </a:r>
            <a:r>
              <a:rPr i="1" spc="-50" dirty="0">
                <a:latin typeface="Arial"/>
                <a:cs typeface="Arial"/>
              </a:rPr>
              <a:t>a</a:t>
            </a:r>
            <a:r>
              <a:rPr i="1" spc="-10" dirty="0">
                <a:latin typeface="Arial"/>
                <a:cs typeface="Arial"/>
              </a:rPr>
              <a:t> significant</a:t>
            </a:r>
            <a:r>
              <a:rPr i="1" dirty="0">
                <a:latin typeface="Arial"/>
                <a:cs typeface="Arial"/>
              </a:rPr>
              <a:t> amount</a:t>
            </a:r>
            <a:r>
              <a:rPr i="1" spc="5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of</a:t>
            </a:r>
            <a:r>
              <a:rPr i="1" spc="5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data,</a:t>
            </a:r>
            <a:r>
              <a:rPr i="1" spc="5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a</a:t>
            </a:r>
            <a:r>
              <a:rPr i="1" spc="5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traditional infrastructure</a:t>
            </a:r>
            <a:r>
              <a:rPr i="1" spc="5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might</a:t>
            </a:r>
            <a:r>
              <a:rPr i="1" spc="5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be</a:t>
            </a:r>
            <a:r>
              <a:rPr i="1" spc="5" dirty="0">
                <a:latin typeface="Arial"/>
                <a:cs typeface="Arial"/>
              </a:rPr>
              <a:t> </a:t>
            </a:r>
            <a:r>
              <a:rPr i="1" spc="-25" dirty="0">
                <a:latin typeface="Arial"/>
                <a:cs typeface="Arial"/>
              </a:rPr>
              <a:t>more</a:t>
            </a:r>
            <a:r>
              <a:rPr i="1" spc="5" dirty="0">
                <a:latin typeface="Arial"/>
                <a:cs typeface="Arial"/>
              </a:rPr>
              <a:t> </a:t>
            </a:r>
            <a:r>
              <a:rPr i="1" spc="-10" dirty="0">
                <a:latin typeface="Arial"/>
                <a:cs typeface="Arial"/>
              </a:rPr>
              <a:t>suitable</a:t>
            </a:r>
            <a:r>
              <a:rPr i="1" spc="5" dirty="0">
                <a:latin typeface="Arial"/>
                <a:cs typeface="Arial"/>
              </a:rPr>
              <a:t> </a:t>
            </a:r>
            <a:r>
              <a:rPr i="1" spc="-20" dirty="0">
                <a:latin typeface="Arial"/>
                <a:cs typeface="Arial"/>
              </a:rPr>
              <a:t>due</a:t>
            </a:r>
            <a:r>
              <a:rPr i="1" dirty="0">
                <a:latin typeface="Arial"/>
                <a:cs typeface="Arial"/>
              </a:rPr>
              <a:t> to</a:t>
            </a:r>
            <a:r>
              <a:rPr i="1" spc="5" dirty="0">
                <a:latin typeface="Arial"/>
                <a:cs typeface="Arial"/>
              </a:rPr>
              <a:t> </a:t>
            </a:r>
            <a:r>
              <a:rPr i="1" spc="-25" dirty="0">
                <a:latin typeface="Arial"/>
                <a:cs typeface="Arial"/>
              </a:rPr>
              <a:t>the </a:t>
            </a:r>
            <a:r>
              <a:rPr i="1" spc="-40" dirty="0">
                <a:latin typeface="Arial"/>
                <a:cs typeface="Arial"/>
              </a:rPr>
              <a:t>increased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control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spc="-10" dirty="0">
                <a:latin typeface="Arial"/>
                <a:cs typeface="Arial"/>
              </a:rPr>
              <a:t>over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data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spc="-25" dirty="0">
                <a:latin typeface="Arial"/>
                <a:cs typeface="Arial"/>
              </a:rPr>
              <a:t>security.</a:t>
            </a:r>
            <a:r>
              <a:rPr i="1" spc="100" dirty="0">
                <a:latin typeface="Arial"/>
                <a:cs typeface="Arial"/>
              </a:rPr>
              <a:t> </a:t>
            </a:r>
            <a:r>
              <a:rPr i="1" spc="-35" dirty="0">
                <a:latin typeface="Arial"/>
                <a:cs typeface="Arial"/>
              </a:rPr>
              <a:t>However,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if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the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spc="-30" dirty="0">
                <a:latin typeface="Arial"/>
                <a:cs typeface="Arial"/>
              </a:rPr>
              <a:t>company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spc="-35" dirty="0">
                <a:latin typeface="Arial"/>
                <a:cs typeface="Arial"/>
              </a:rPr>
              <a:t>values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flexibility</a:t>
            </a:r>
            <a:r>
              <a:rPr i="1" spc="15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and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spc="-20" dirty="0">
                <a:latin typeface="Arial"/>
                <a:cs typeface="Arial"/>
              </a:rPr>
              <a:t>scalability,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spc="-10" dirty="0">
                <a:latin typeface="Arial"/>
                <a:cs typeface="Arial"/>
              </a:rPr>
              <a:t>cloud computing</a:t>
            </a:r>
            <a:r>
              <a:rPr i="1" dirty="0">
                <a:latin typeface="Arial"/>
                <a:cs typeface="Arial"/>
              </a:rPr>
              <a:t> </a:t>
            </a:r>
            <a:r>
              <a:rPr i="1" spc="-10" dirty="0">
                <a:latin typeface="Arial"/>
                <a:cs typeface="Arial"/>
              </a:rPr>
              <a:t>could</a:t>
            </a:r>
            <a:r>
              <a:rPr i="1" dirty="0">
                <a:latin typeface="Arial"/>
                <a:cs typeface="Arial"/>
              </a:rPr>
              <a:t> be</a:t>
            </a:r>
            <a:r>
              <a:rPr i="1" spc="5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a better</a:t>
            </a:r>
            <a:r>
              <a:rPr i="1" spc="5" dirty="0">
                <a:latin typeface="Arial"/>
                <a:cs typeface="Arial"/>
              </a:rPr>
              <a:t> </a:t>
            </a:r>
            <a:r>
              <a:rPr i="1" spc="-10" dirty="0">
                <a:latin typeface="Arial"/>
                <a:cs typeface="Arial"/>
              </a:rPr>
              <a:t>choice.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349750" cy="5080"/>
            </a:xfrm>
            <a:custGeom>
              <a:avLst/>
              <a:gdLst/>
              <a:ahLst/>
              <a:cxnLst/>
              <a:rect l="l" t="t" r="r" b="b"/>
              <a:pathLst>
                <a:path w="4349750" h="5080">
                  <a:moveTo>
                    <a:pt x="0" y="5060"/>
                  </a:moveTo>
                  <a:lnTo>
                    <a:pt x="0" y="0"/>
                  </a:lnTo>
                  <a:lnTo>
                    <a:pt x="4349411" y="0"/>
                  </a:lnTo>
                  <a:lnTo>
                    <a:pt x="43494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35" dirty="0"/>
              <a:t>Case</a:t>
            </a:r>
            <a:r>
              <a:rPr spc="-5" dirty="0"/>
              <a:t> </a:t>
            </a:r>
            <a:r>
              <a:rPr spc="-10" dirty="0"/>
              <a:t>Study:</a:t>
            </a:r>
            <a:r>
              <a:rPr spc="90" dirty="0"/>
              <a:t> </a:t>
            </a:r>
            <a:r>
              <a:rPr dirty="0"/>
              <a:t>Is</a:t>
            </a:r>
            <a:r>
              <a:rPr spc="-5" dirty="0"/>
              <a:t> </a:t>
            </a:r>
            <a:r>
              <a:rPr spc="-30" dirty="0"/>
              <a:t>Cloud</a:t>
            </a:r>
            <a:r>
              <a:rPr dirty="0"/>
              <a:t> </a:t>
            </a:r>
            <a:r>
              <a:rPr spc="-30" dirty="0"/>
              <a:t>Computing</a:t>
            </a:r>
            <a:r>
              <a:rPr spc="-5" dirty="0"/>
              <a:t> </a:t>
            </a:r>
            <a:r>
              <a:rPr dirty="0"/>
              <a:t>Right for</a:t>
            </a:r>
            <a:r>
              <a:rPr spc="-5" dirty="0"/>
              <a:t> </a:t>
            </a:r>
            <a:r>
              <a:rPr spc="-20" dirty="0"/>
              <a:t>Your</a:t>
            </a:r>
            <a:r>
              <a:rPr dirty="0"/>
              <a:t> </a:t>
            </a:r>
            <a:r>
              <a:rPr spc="-40" dirty="0"/>
              <a:t>Company?</a:t>
            </a:r>
            <a:r>
              <a:rPr spc="85" dirty="0"/>
              <a:t> </a:t>
            </a:r>
            <a:r>
              <a:rPr spc="65" dirty="0"/>
              <a:t>(III)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580685"/>
            <a:ext cx="5017135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74165" marR="5080" indent="-1505585">
              <a:lnSpc>
                <a:spcPct val="116199"/>
              </a:lnSpc>
              <a:spcBef>
                <a:spcPts val="100"/>
              </a:spcBef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Fast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forward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a few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years,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50" dirty="0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achieved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remarkable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success.</a:t>
            </a:r>
            <a:r>
              <a:rPr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grown significantly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65" dirty="0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evolved.</a:t>
            </a:r>
            <a:endParaRPr sz="900">
              <a:latin typeface="Arial"/>
              <a:cs typeface="Arial"/>
            </a:endParaRPr>
          </a:p>
          <a:p>
            <a:pPr marL="16510" marR="40640" indent="-4445">
              <a:lnSpc>
                <a:spcPct val="116199"/>
              </a:lnSpc>
              <a:spcBef>
                <a:spcPts val="625"/>
              </a:spcBef>
            </a:pP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 cost of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 public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45" dirty="0">
                <a:solidFill>
                  <a:srgbClr val="22373A"/>
                </a:solidFill>
                <a:latin typeface="Arial"/>
                <a:cs typeface="Arial"/>
              </a:rPr>
              <a:t>increases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4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sz="900" i="1" spc="-30" dirty="0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grows,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sz="900" i="1" spc="-30" dirty="0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afford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i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sz="900" i="1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sz="900" i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point,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sz="900" i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sz="900" i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35" dirty="0">
                <a:solidFill>
                  <a:srgbClr val="22373A"/>
                </a:solidFill>
                <a:latin typeface="Arial"/>
                <a:cs typeface="Arial"/>
              </a:rPr>
              <a:t>balance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0" dirty="0">
                <a:solidFill>
                  <a:srgbClr val="22373A"/>
                </a:solidFill>
                <a:latin typeface="Arial"/>
                <a:cs typeface="Arial"/>
              </a:rPr>
              <a:t>between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40" dirty="0">
                <a:solidFill>
                  <a:srgbClr val="22373A"/>
                </a:solidFill>
                <a:latin typeface="Arial"/>
                <a:cs typeface="Arial"/>
              </a:rPr>
              <a:t>advantages</a:t>
            </a:r>
            <a:r>
              <a:rPr sz="900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sz="900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 private</a:t>
            </a:r>
            <a:r>
              <a:rPr sz="900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clouds.</a:t>
            </a:r>
            <a:r>
              <a:rPr sz="900" i="1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sz="900" i="1" spc="-30" dirty="0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sz="900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spc="-10" dirty="0">
                <a:solidFill>
                  <a:srgbClr val="22373A"/>
                </a:solidFill>
                <a:latin typeface="Arial"/>
                <a:cs typeface="Arial"/>
              </a:rPr>
              <a:t>Microsoft</a:t>
            </a:r>
            <a:r>
              <a:rPr sz="900" b="1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spc="-10" dirty="0">
                <a:solidFill>
                  <a:srgbClr val="22373A"/>
                </a:solidFill>
                <a:latin typeface="Arial"/>
                <a:cs typeface="Arial"/>
              </a:rPr>
              <a:t>Azure </a:t>
            </a:r>
            <a:r>
              <a:rPr sz="900" i="1" spc="-20" dirty="0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sz="900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hybrid cloud </a:t>
            </a:r>
            <a:r>
              <a:rPr sz="900" i="1" spc="-20" dirty="0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sz="900" i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sz="900" i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combine</a:t>
            </a:r>
            <a:r>
              <a:rPr sz="900" i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i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best</a:t>
            </a:r>
            <a:r>
              <a:rPr sz="900" i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i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both</a:t>
            </a:r>
            <a:r>
              <a:rPr sz="900" i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worlds.</a:t>
            </a:r>
            <a:endParaRPr sz="9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96046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Take</a:t>
            </a:r>
            <a:r>
              <a:rPr sz="900" b="1" spc="-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Home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Message</a:t>
            </a:r>
            <a:endParaRPr sz="9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60473"/>
            <a:ext cx="5039995" cy="65786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There’s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one-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size-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fits-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answer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comes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choosing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sz="900">
              <a:latin typeface="Arial"/>
              <a:cs typeface="Arial"/>
            </a:endParaRPr>
          </a:p>
          <a:p>
            <a:pPr marL="37465" marR="113030">
              <a:lnSpc>
                <a:spcPct val="116199"/>
              </a:lnSpc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r>
              <a:rPr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optimal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hinges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specific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65" dirty="0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 the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company.</a:t>
            </a:r>
            <a:r>
              <a:rPr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thorough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costs,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benefits,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potential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risks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associated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informed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decision.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467225" cy="5080"/>
            </a:xfrm>
            <a:custGeom>
              <a:avLst/>
              <a:gdLst/>
              <a:ahLst/>
              <a:cxnLst/>
              <a:rect l="l" t="t" r="r" b="b"/>
              <a:pathLst>
                <a:path w="4467225" h="5080">
                  <a:moveTo>
                    <a:pt x="0" y="5060"/>
                  </a:moveTo>
                  <a:lnTo>
                    <a:pt x="0" y="0"/>
                  </a:lnTo>
                  <a:lnTo>
                    <a:pt x="4467010" y="0"/>
                  </a:lnTo>
                  <a:lnTo>
                    <a:pt x="44670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17729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b="1" spc="-3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Cloud</a:t>
            </a:r>
            <a:r>
              <a:rPr sz="1100" b="1" spc="-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1100" b="1" spc="-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Computing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in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Health</a:t>
            </a:r>
            <a:endParaRPr sz="110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943100" cy="5080"/>
            </a:xfrm>
            <a:custGeom>
              <a:avLst/>
              <a:gdLst/>
              <a:ahLst/>
              <a:cxnLst/>
              <a:rect l="l" t="t" r="r" b="b"/>
              <a:pathLst>
                <a:path w="1943100" h="5080">
                  <a:moveTo>
                    <a:pt x="0" y="5060"/>
                  </a:moveTo>
                  <a:lnTo>
                    <a:pt x="0" y="0"/>
                  </a:lnTo>
                  <a:lnTo>
                    <a:pt x="1942843" y="0"/>
                  </a:lnTo>
                  <a:lnTo>
                    <a:pt x="19428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Why</a:t>
            </a:r>
            <a:r>
              <a:rPr spc="25" dirty="0"/>
              <a:t> </a:t>
            </a:r>
            <a:r>
              <a:rPr spc="-30" dirty="0"/>
              <a:t>Cloud</a:t>
            </a:r>
            <a:r>
              <a:rPr spc="30" dirty="0"/>
              <a:t> </a:t>
            </a:r>
            <a:r>
              <a:rPr spc="-30" dirty="0"/>
              <a:t>Computing</a:t>
            </a:r>
            <a:r>
              <a:rPr spc="30" dirty="0"/>
              <a:t> </a:t>
            </a:r>
            <a:r>
              <a:rPr dirty="0"/>
              <a:t>in</a:t>
            </a:r>
            <a:r>
              <a:rPr spc="25" dirty="0"/>
              <a:t> </a:t>
            </a:r>
            <a:r>
              <a:rPr spc="-10" dirty="0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830735"/>
            <a:ext cx="4892040" cy="1698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marR="508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records,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medical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images,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information.</a:t>
            </a:r>
            <a:endParaRPr sz="900">
              <a:latin typeface="Arial"/>
              <a:cs typeface="Arial"/>
            </a:endParaRPr>
          </a:p>
          <a:p>
            <a:pPr marL="240029" marR="1016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sz="900" b="1" spc="-20" dirty="0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data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different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platforms,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communication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endParaRPr sz="900">
              <a:latin typeface="Arial"/>
              <a:cs typeface="Arial"/>
            </a:endParaRPr>
          </a:p>
          <a:p>
            <a:pPr marL="240029" marR="1193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22373A"/>
                </a:solidFill>
                <a:latin typeface="Arial"/>
                <a:cs typeface="Arial"/>
              </a:rPr>
              <a:t>Transformation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technologies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telemedicine,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remote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monitoring,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mobile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apps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records.</a:t>
            </a:r>
            <a:endParaRPr sz="900">
              <a:latin typeface="Arial"/>
              <a:cs typeface="Arial"/>
            </a:endParaRPr>
          </a:p>
          <a:p>
            <a:pPr marL="12700" marR="15875">
              <a:lnSpc>
                <a:spcPct val="116199"/>
              </a:lnSpc>
              <a:spcBef>
                <a:spcPts val="625"/>
              </a:spcBef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 his PhD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thesis,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45" dirty="0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eHealth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Vilaplana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Mayoral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et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al.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2015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conducts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adoption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healthcare sector.</a:t>
            </a:r>
            <a:r>
              <a:rPr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implemented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cloud-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tools for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monitoring,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highlighting their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transformative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impact on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delivery.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584700" cy="5080"/>
            </a:xfrm>
            <a:custGeom>
              <a:avLst/>
              <a:gdLst/>
              <a:ahLst/>
              <a:cxnLst/>
              <a:rect l="l" t="t" r="r" b="b"/>
              <a:pathLst>
                <a:path w="4584700" h="5080">
                  <a:moveTo>
                    <a:pt x="0" y="5060"/>
                  </a:moveTo>
                  <a:lnTo>
                    <a:pt x="0" y="0"/>
                  </a:lnTo>
                  <a:lnTo>
                    <a:pt x="4584521" y="0"/>
                  </a:lnTo>
                  <a:lnTo>
                    <a:pt x="458452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Which</a:t>
            </a:r>
            <a:r>
              <a:rPr spc="10" dirty="0"/>
              <a:t> </a:t>
            </a:r>
            <a:r>
              <a:rPr dirty="0"/>
              <a:t>are</a:t>
            </a:r>
            <a:r>
              <a:rPr spc="10" dirty="0"/>
              <a:t> </a:t>
            </a:r>
            <a:r>
              <a:rPr dirty="0"/>
              <a:t>the</a:t>
            </a:r>
            <a:r>
              <a:rPr spc="15" dirty="0"/>
              <a:t> </a:t>
            </a:r>
            <a:r>
              <a:rPr spc="-35" dirty="0"/>
              <a:t>opportunities</a:t>
            </a:r>
            <a:r>
              <a:rPr spc="10" dirty="0"/>
              <a:t> </a:t>
            </a:r>
            <a:r>
              <a:rPr dirty="0"/>
              <a:t>of</a:t>
            </a:r>
            <a:r>
              <a:rPr spc="10" dirty="0"/>
              <a:t> </a:t>
            </a:r>
            <a:r>
              <a:rPr spc="-30" dirty="0"/>
              <a:t>Cloud</a:t>
            </a:r>
            <a:r>
              <a:rPr spc="15" dirty="0"/>
              <a:t> </a:t>
            </a:r>
            <a:r>
              <a:rPr spc="-30" dirty="0"/>
              <a:t>Computing</a:t>
            </a:r>
            <a:r>
              <a:rPr spc="10" dirty="0"/>
              <a:t> </a:t>
            </a:r>
            <a:r>
              <a:rPr dirty="0"/>
              <a:t>in</a:t>
            </a:r>
            <a:r>
              <a:rPr spc="10" dirty="0"/>
              <a:t> </a:t>
            </a:r>
            <a:r>
              <a:rPr spc="-10" dirty="0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994" y="761263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Capital</a:t>
            </a:r>
            <a:r>
              <a:rPr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55" dirty="0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savings</a:t>
            </a:r>
            <a:endParaRPr sz="9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25677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organitzation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basis,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reducing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endParaRPr sz="900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upfront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endParaRPr sz="9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36202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sz="900" b="1" spc="-30" dirty="0">
                <a:solidFill>
                  <a:srgbClr val="22373A"/>
                </a:solidFill>
                <a:latin typeface="Arial"/>
                <a:cs typeface="Arial"/>
              </a:rPr>
              <a:t>Improved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 patient</a:t>
            </a:r>
            <a:r>
              <a:rPr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50" dirty="0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endParaRPr sz="9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26451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 build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predictive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endParaRPr sz="900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prescriptive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models,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making.</a:t>
            </a:r>
            <a:endParaRPr sz="9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96404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sz="900" b="1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22373A"/>
                </a:solidFill>
                <a:latin typeface="Arial"/>
                <a:cs typeface="Arial"/>
              </a:rPr>
              <a:t>coordination</a:t>
            </a:r>
            <a:r>
              <a:rPr sz="900" b="1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sz="900" b="1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stakeholders</a:t>
            </a:r>
            <a:endParaRPr sz="9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28469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sz="900" spc="-55" dirty="0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easily.</a:t>
            </a:r>
            <a:endParaRPr sz="9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90028" y="2430457"/>
            <a:ext cx="380301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sz="900" i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opportunities</a:t>
            </a:r>
            <a:r>
              <a:rPr sz="900" i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i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i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30" dirty="0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sz="900" i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sector</a:t>
            </a:r>
            <a:r>
              <a:rPr sz="900" i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sz="900" i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50" dirty="0">
                <a:solidFill>
                  <a:srgbClr val="22373A"/>
                </a:solidFill>
                <a:latin typeface="Arial"/>
                <a:cs typeface="Arial"/>
              </a:rPr>
              <a:t>discussed</a:t>
            </a:r>
            <a:r>
              <a:rPr sz="900" i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i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Ali</a:t>
            </a:r>
            <a:r>
              <a:rPr sz="900" i="1" spc="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et</a:t>
            </a:r>
            <a:r>
              <a:rPr sz="900" i="1" spc="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al.</a:t>
            </a:r>
            <a:r>
              <a:rPr sz="900" i="1" spc="12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2018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702175" cy="5080"/>
            </a:xfrm>
            <a:custGeom>
              <a:avLst/>
              <a:gdLst/>
              <a:ahLst/>
              <a:cxnLst/>
              <a:rect l="l" t="t" r="r" b="b"/>
              <a:pathLst>
                <a:path w="4702175" h="5080">
                  <a:moveTo>
                    <a:pt x="0" y="5060"/>
                  </a:moveTo>
                  <a:lnTo>
                    <a:pt x="0" y="0"/>
                  </a:lnTo>
                  <a:lnTo>
                    <a:pt x="4702120" y="0"/>
                  </a:lnTo>
                  <a:lnTo>
                    <a:pt x="47021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134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0" dirty="0"/>
              <a:t>Use</a:t>
            </a:r>
            <a:r>
              <a:rPr spc="-35" dirty="0"/>
              <a:t> </a:t>
            </a:r>
            <a:r>
              <a:rPr spc="-65" dirty="0"/>
              <a:t>Cases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711241"/>
            <a:ext cx="4968875" cy="1937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8509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sz="900" b="1" spc="-40" dirty="0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Lambda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5" dirty="0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60" dirty="0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BLAST.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compare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DNA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65" dirty="0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known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65" dirty="0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genetic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mutations.</a:t>
            </a:r>
            <a:endParaRPr sz="900">
              <a:latin typeface="Arial"/>
              <a:cs typeface="Arial"/>
            </a:endParaRPr>
          </a:p>
          <a:p>
            <a:pPr marL="160020" marR="117475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sz="900" b="1" spc="-30" dirty="0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Platform (GCP)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storing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genomic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BigQuery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sz="900">
              <a:latin typeface="Arial"/>
              <a:cs typeface="Arial"/>
            </a:endParaRPr>
          </a:p>
          <a:p>
            <a:pPr marL="160020" marR="96520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sz="900" b="1" spc="-20" dirty="0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Microsoft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Communication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that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applications.</a:t>
            </a:r>
            <a:r>
              <a:rPr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capabilities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video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calling,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chat,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SMS,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consult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remotely.</a:t>
            </a:r>
            <a:endParaRPr sz="900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sz="9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IBM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Watson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monitoring.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70" dirty="0">
                <a:solidFill>
                  <a:srgbClr val="22373A"/>
                </a:solidFill>
                <a:latin typeface="Arial"/>
                <a:cs typeface="Arial"/>
              </a:rPr>
              <a:t>uses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AI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sources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records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wearable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devices,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providing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insights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819650" cy="5080"/>
            </a:xfrm>
            <a:custGeom>
              <a:avLst/>
              <a:gdLst/>
              <a:ahLst/>
              <a:cxnLst/>
              <a:rect l="l" t="t" r="r" b="b"/>
              <a:pathLst>
                <a:path w="4819650" h="5080">
                  <a:moveTo>
                    <a:pt x="0" y="5060"/>
                  </a:moveTo>
                  <a:lnTo>
                    <a:pt x="0" y="0"/>
                  </a:lnTo>
                  <a:lnTo>
                    <a:pt x="4819632" y="0"/>
                  </a:lnTo>
                  <a:lnTo>
                    <a:pt x="48196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45" dirty="0"/>
              <a:t>Challenges</a:t>
            </a:r>
            <a:r>
              <a:rPr spc="30" dirty="0"/>
              <a:t> </a:t>
            </a:r>
            <a:r>
              <a:rPr dirty="0"/>
              <a:t>in</a:t>
            </a:r>
            <a:r>
              <a:rPr spc="30" dirty="0"/>
              <a:t> </a:t>
            </a:r>
            <a:r>
              <a:rPr spc="-10" dirty="0"/>
              <a:t>Health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86020" cy="196560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r>
              <a:rPr lang="es-ES" sz="900" b="1" spc="-25" dirty="0" err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s-ES" sz="900" b="1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b="1" spc="-25" dirty="0" err="1">
                <a:solidFill>
                  <a:srgbClr val="22373A"/>
                </a:solidFill>
                <a:latin typeface="Arial"/>
                <a:cs typeface="Arial"/>
              </a:rPr>
              <a:t>others</a:t>
            </a:r>
            <a:r>
              <a:rPr lang="es-ES" sz="900" b="1" spc="-25" dirty="0">
                <a:solidFill>
                  <a:srgbClr val="22373A"/>
                </a:solidFill>
                <a:latin typeface="Arial"/>
                <a:cs typeface="Arial"/>
              </a:rPr>
              <a:t>….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s-ES" sz="900" b="1" spc="-25" dirty="0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sz="900" b="1" spc="-25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Privacy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obligated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adhere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 stringent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regulations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safeguard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LOPD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Spain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HIPAA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United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States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mandate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 protection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guarantees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rights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sz="900" dirty="0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diverse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sources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deliver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r>
              <a:rPr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transforming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isolated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units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unified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system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knowledge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action.</a:t>
            </a:r>
            <a:r>
              <a:rPr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However,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achieving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seamless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significant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challenge.</a:t>
            </a:r>
            <a:r>
              <a:rPr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instance,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Electronic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Records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(EHRs)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platforms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clinicians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patient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consultations,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process.</a:t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937760" cy="5080"/>
            </a:xfrm>
            <a:custGeom>
              <a:avLst/>
              <a:gdLst/>
              <a:ahLst/>
              <a:cxnLst/>
              <a:rect l="l" t="t" r="r" b="b"/>
              <a:pathLst>
                <a:path w="4937760" h="5080">
                  <a:moveTo>
                    <a:pt x="0" y="5060"/>
                  </a:moveTo>
                  <a:lnTo>
                    <a:pt x="0" y="0"/>
                  </a:lnTo>
                  <a:lnTo>
                    <a:pt x="4937231" y="0"/>
                  </a:lnTo>
                  <a:lnTo>
                    <a:pt x="49372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Is</a:t>
            </a:r>
            <a:r>
              <a:rPr spc="10" dirty="0"/>
              <a:t> </a:t>
            </a:r>
            <a:r>
              <a:rPr spc="-35" dirty="0"/>
              <a:t>cloud</a:t>
            </a:r>
            <a:r>
              <a:rPr spc="10" dirty="0"/>
              <a:t> </a:t>
            </a:r>
            <a:r>
              <a:rPr spc="-35" dirty="0"/>
              <a:t>computing</a:t>
            </a:r>
            <a:r>
              <a:rPr spc="15" dirty="0"/>
              <a:t> </a:t>
            </a:r>
            <a:r>
              <a:rPr dirty="0"/>
              <a:t>the</a:t>
            </a:r>
            <a:r>
              <a:rPr spc="10" dirty="0"/>
              <a:t> </a:t>
            </a:r>
            <a:r>
              <a:rPr dirty="0"/>
              <a:t>future</a:t>
            </a:r>
            <a:r>
              <a:rPr spc="15" dirty="0"/>
              <a:t> </a:t>
            </a:r>
            <a:r>
              <a:rPr dirty="0"/>
              <a:t>of</a:t>
            </a:r>
            <a:r>
              <a:rPr spc="10" dirty="0"/>
              <a:t> </a:t>
            </a:r>
            <a:r>
              <a:rPr spc="-10" dirty="0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630854"/>
            <a:ext cx="508825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No,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is not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 future of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health,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it is the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present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it is an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essential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part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 the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future.</a:t>
            </a:r>
            <a:endParaRPr sz="9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27304" y="897497"/>
            <a:ext cx="2545715" cy="18446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900" b="1" spc="-25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s-E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b="1" spc="30" dirty="0" err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s-E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b="1" spc="30" dirty="0" err="1">
                <a:solidFill>
                  <a:srgbClr val="22373A"/>
                </a:solidFill>
                <a:latin typeface="Arial"/>
                <a:cs typeface="Arial"/>
              </a:rPr>
              <a:t>evolving</a:t>
            </a:r>
            <a:r>
              <a:rPr lang="es-E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b="1" spc="30" dirty="0" err="1">
                <a:solidFill>
                  <a:srgbClr val="22373A"/>
                </a:solidFill>
                <a:latin typeface="Arial"/>
                <a:cs typeface="Arial"/>
              </a:rPr>
              <a:t>continously</a:t>
            </a:r>
            <a:endParaRPr lang="es-ES" sz="900" dirty="0">
              <a:latin typeface="Arial"/>
              <a:cs typeface="Arial"/>
            </a:endParaRPr>
          </a:p>
          <a:p>
            <a:pPr marL="240029" marR="178435" indent="-147955">
              <a:lnSpc>
                <a:spcPct val="116199"/>
              </a:lnSpc>
              <a:spcBef>
                <a:spcPts val="675"/>
              </a:spcBef>
              <a:buFont typeface="Arial"/>
              <a:buChar char="•"/>
              <a:tabLst>
                <a:tab pos="240029" algn="l"/>
              </a:tabLst>
            </a:pPr>
            <a:r>
              <a:rPr lang="es-ES" sz="900" b="1" dirty="0" err="1">
                <a:solidFill>
                  <a:srgbClr val="22373A"/>
                </a:solidFill>
                <a:latin typeface="Arial"/>
                <a:cs typeface="Arial"/>
              </a:rPr>
              <a:t>IoT</a:t>
            </a:r>
            <a:r>
              <a:rPr lang="es-ES" sz="9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b="1" spc="-40" dirty="0" err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s-ES" sz="900" spc="-4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s-ES" sz="900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55" dirty="0" err="1">
                <a:solidFill>
                  <a:srgbClr val="22373A"/>
                </a:solidFill>
                <a:latin typeface="Arial"/>
                <a:cs typeface="Arial"/>
              </a:rPr>
              <a:t>Sensors</a:t>
            </a:r>
            <a:r>
              <a:rPr lang="es-ES" sz="900" spc="-55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s-E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45" dirty="0">
                <a:solidFill>
                  <a:srgbClr val="22373A"/>
                </a:solidFill>
                <a:latin typeface="Arial"/>
                <a:cs typeface="Arial"/>
              </a:rPr>
              <a:t>wearables,</a:t>
            </a:r>
            <a:r>
              <a:rPr lang="es-E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s-E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45" dirty="0" err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s-E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dirty="0" err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s-E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dirty="0" err="1">
                <a:solidFill>
                  <a:srgbClr val="22373A"/>
                </a:solidFill>
                <a:latin typeface="Arial"/>
                <a:cs typeface="Arial"/>
              </a:rPr>
              <a:t>collect</a:t>
            </a:r>
            <a:r>
              <a:rPr lang="es-E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s-E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dirty="0" err="1">
                <a:solidFill>
                  <a:srgbClr val="22373A"/>
                </a:solidFill>
                <a:latin typeface="Arial"/>
                <a:cs typeface="Arial"/>
              </a:rPr>
              <a:t>transmit</a:t>
            </a:r>
            <a:r>
              <a:rPr lang="es-E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s-ES" sz="900" dirty="0">
              <a:latin typeface="Arial"/>
              <a:cs typeface="Arial"/>
            </a:endParaRPr>
          </a:p>
          <a:p>
            <a:pPr marL="240029" marR="50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Mobile </a:t>
            </a:r>
            <a:r>
              <a:rPr sz="900" b="1" spc="-40" dirty="0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Smartphones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tablets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5" dirty="0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5" dirty="0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sz="900" dirty="0">
              <a:latin typeface="Arial"/>
              <a:cs typeface="Arial"/>
            </a:endParaRPr>
          </a:p>
          <a:p>
            <a:pPr marL="240029" marR="103505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sz="900" b="1" spc="-25" dirty="0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Facilitates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source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generation.</a:t>
            </a:r>
            <a:endParaRPr sz="900" dirty="0">
              <a:latin typeface="Arial"/>
              <a:cs typeface="Arial"/>
            </a:endParaRPr>
          </a:p>
          <a:p>
            <a:pPr marL="240029" marR="57785" indent="-147955" algn="just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Fog</a:t>
            </a:r>
            <a:r>
              <a:rPr sz="900" b="1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Extends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5" dirty="0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eﬀiciency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 reduce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latency.</a:t>
            </a:r>
            <a:endParaRPr sz="900" dirty="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3318" y="897497"/>
            <a:ext cx="2531110" cy="152590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120"/>
              </a:spcBef>
            </a:pP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sz="9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b="1" spc="40" dirty="0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sz="900" spc="315" dirty="0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sz="900" spc="-10" dirty="0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endParaRPr sz="900" dirty="0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75"/>
              </a:spcBef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is a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growing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high-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quality data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in healthcare.</a:t>
            </a:r>
            <a:r>
              <a:rPr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 computing can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help healthcare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outcomes.</a:t>
            </a:r>
            <a:r>
              <a:rPr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quantity</a:t>
            </a:r>
            <a:r>
              <a:rPr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about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r>
              <a:rPr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Artificial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Intelligence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identify patterns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trends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real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time.</a:t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055235" cy="5080"/>
            </a:xfrm>
            <a:custGeom>
              <a:avLst/>
              <a:gdLst/>
              <a:ahLst/>
              <a:cxnLst/>
              <a:rect l="l" t="t" r="r" b="b"/>
              <a:pathLst>
                <a:path w="5055235" h="5080">
                  <a:moveTo>
                    <a:pt x="0" y="5060"/>
                  </a:moveTo>
                  <a:lnTo>
                    <a:pt x="0" y="0"/>
                  </a:lnTo>
                  <a:lnTo>
                    <a:pt x="5054742" y="0"/>
                  </a:lnTo>
                  <a:lnTo>
                    <a:pt x="50547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7061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b="1" spc="-6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Conclusion</a:t>
            </a:r>
            <a:endParaRPr sz="110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2199005" cy="5080"/>
            </a:xfrm>
            <a:custGeom>
              <a:avLst/>
              <a:gdLst/>
              <a:ahLst/>
              <a:cxnLst/>
              <a:rect l="l" t="t" r="r" b="b"/>
              <a:pathLst>
                <a:path w="2199004" h="5080">
                  <a:moveTo>
                    <a:pt x="0" y="5060"/>
                  </a:moveTo>
                  <a:lnTo>
                    <a:pt x="0" y="0"/>
                  </a:lnTo>
                  <a:lnTo>
                    <a:pt x="2198466" y="0"/>
                  </a:lnTo>
                  <a:lnTo>
                    <a:pt x="219846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25" dirty="0"/>
              <a:t>Recap:</a:t>
            </a:r>
            <a:r>
              <a:rPr spc="110" dirty="0"/>
              <a:t> </a:t>
            </a:r>
            <a:r>
              <a:rPr spc="-30" dirty="0"/>
              <a:t>Cloud</a:t>
            </a:r>
            <a:r>
              <a:rPr spc="15" dirty="0"/>
              <a:t> </a:t>
            </a:r>
            <a:r>
              <a:rPr spc="-30" dirty="0"/>
              <a:t>Computing</a:t>
            </a:r>
            <a:r>
              <a:rPr spc="15" dirty="0"/>
              <a:t> </a:t>
            </a:r>
            <a:r>
              <a:rPr spc="-40" dirty="0"/>
              <a:t>vs</a:t>
            </a:r>
            <a:r>
              <a:rPr spc="15" dirty="0"/>
              <a:t> </a:t>
            </a:r>
            <a:r>
              <a:rPr spc="-20" dirty="0"/>
              <a:t>Traditional</a:t>
            </a:r>
            <a:r>
              <a:rPr spc="10" dirty="0"/>
              <a:t> </a:t>
            </a:r>
            <a:r>
              <a:rPr spc="-20" dirty="0"/>
              <a:t>Computing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702406"/>
            <a:ext cx="2524125" cy="2000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b="1" spc="-25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endParaRPr sz="900">
              <a:latin typeface="Arial"/>
              <a:cs typeface="Arial"/>
            </a:endParaRPr>
          </a:p>
          <a:p>
            <a:pPr marL="240029" marR="40132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expertes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Disaster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recovery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sz="900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Automated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updates</a:t>
            </a:r>
            <a:endParaRPr sz="900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Teams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collaborate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locations</a:t>
            </a:r>
            <a:endParaRPr sz="900">
              <a:latin typeface="Arial"/>
              <a:cs typeface="Arial"/>
            </a:endParaRPr>
          </a:p>
          <a:p>
            <a:pPr marL="240029" marR="387985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65" dirty="0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Rapid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sz="9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702406"/>
            <a:ext cx="2470785" cy="15220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Costly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60" dirty="0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spc="-55" dirty="0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servers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spc="-60" dirty="0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automated updates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spc="-60" dirty="0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cannot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65" dirty="0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remotely</a:t>
            </a:r>
            <a:endParaRPr sz="900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long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172710" cy="5080"/>
            </a:xfrm>
            <a:custGeom>
              <a:avLst/>
              <a:gdLst/>
              <a:ahLst/>
              <a:cxnLst/>
              <a:rect l="l" t="t" r="r" b="b"/>
              <a:pathLst>
                <a:path w="5172710" h="5080">
                  <a:moveTo>
                    <a:pt x="0" y="5060"/>
                  </a:moveTo>
                  <a:lnTo>
                    <a:pt x="0" y="0"/>
                  </a:lnTo>
                  <a:lnTo>
                    <a:pt x="5172341" y="0"/>
                  </a:lnTo>
                  <a:lnTo>
                    <a:pt x="51723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37782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b="1" spc="-7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Tasks</a:t>
            </a:r>
            <a:endParaRPr sz="110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249805" cy="5080"/>
            </a:xfrm>
            <a:custGeom>
              <a:avLst/>
              <a:gdLst/>
              <a:ahLst/>
              <a:cxnLst/>
              <a:rect l="l" t="t" r="r" b="b"/>
              <a:pathLst>
                <a:path w="2249804" h="5080">
                  <a:moveTo>
                    <a:pt x="0" y="5060"/>
                  </a:moveTo>
                  <a:lnTo>
                    <a:pt x="0" y="0"/>
                  </a:lnTo>
                  <a:lnTo>
                    <a:pt x="2249614" y="0"/>
                  </a:lnTo>
                  <a:lnTo>
                    <a:pt x="224961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20" dirty="0"/>
              <a:t>Homework</a:t>
            </a:r>
            <a:r>
              <a:rPr spc="-5" dirty="0"/>
              <a:t> </a:t>
            </a:r>
            <a:r>
              <a:rPr dirty="0"/>
              <a:t>-</a:t>
            </a:r>
            <a:r>
              <a:rPr spc="-5" dirty="0"/>
              <a:t> </a:t>
            </a:r>
            <a:r>
              <a:rPr spc="-10" dirty="0"/>
              <a:t>Creating</a:t>
            </a:r>
            <a:r>
              <a:rPr dirty="0"/>
              <a:t> </a:t>
            </a:r>
            <a:r>
              <a:rPr spc="-10" dirty="0"/>
              <a:t>our</a:t>
            </a:r>
            <a:r>
              <a:rPr spc="-5" dirty="0"/>
              <a:t> </a:t>
            </a:r>
            <a:r>
              <a:rPr spc="-30" dirty="0"/>
              <a:t>own</a:t>
            </a:r>
            <a:r>
              <a:rPr spc="-5" dirty="0"/>
              <a:t> </a:t>
            </a:r>
            <a:r>
              <a:rPr spc="-25" dirty="0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148029" y="1008730"/>
            <a:ext cx="3464560" cy="9671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40" dirty="0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sz="900" dirty="0">
              <a:latin typeface="Arial"/>
              <a:cs typeface="Arial"/>
            </a:endParaRPr>
          </a:p>
          <a:p>
            <a:pPr marL="467995" marR="437515" indent="59690">
              <a:lnSpc>
                <a:spcPct val="116199"/>
              </a:lnSpc>
            </a:pPr>
            <a:r>
              <a:rPr sz="900" dirty="0">
                <a:latin typeface="Arial"/>
                <a:cs typeface="Arial"/>
              </a:rPr>
              <a:t>The </a:t>
            </a:r>
            <a:r>
              <a:rPr sz="900" spc="-10" dirty="0">
                <a:latin typeface="Arial"/>
                <a:cs typeface="Arial"/>
              </a:rPr>
              <a:t>goal</a:t>
            </a:r>
            <a:r>
              <a:rPr sz="900" dirty="0">
                <a:latin typeface="Arial"/>
                <a:cs typeface="Arial"/>
              </a:rPr>
              <a:t> of this </a:t>
            </a:r>
            <a:r>
              <a:rPr sz="900" spc="-45" dirty="0">
                <a:latin typeface="Arial"/>
                <a:cs typeface="Arial"/>
              </a:rPr>
              <a:t>hands-</a:t>
            </a:r>
            <a:r>
              <a:rPr sz="900" dirty="0">
                <a:latin typeface="Arial"/>
                <a:cs typeface="Arial"/>
              </a:rPr>
              <a:t>on</a:t>
            </a:r>
            <a:r>
              <a:rPr sz="900" spc="5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lab is to </a:t>
            </a:r>
            <a:r>
              <a:rPr sz="900" spc="-50" dirty="0">
                <a:latin typeface="Arial"/>
                <a:cs typeface="Arial"/>
              </a:rPr>
              <a:t>show</a:t>
            </a:r>
            <a:r>
              <a:rPr sz="900" spc="5" dirty="0">
                <a:latin typeface="Arial"/>
                <a:cs typeface="Arial"/>
              </a:rPr>
              <a:t> </a:t>
            </a:r>
            <a:r>
              <a:rPr sz="900" spc="-10" dirty="0">
                <a:latin typeface="Arial"/>
                <a:cs typeface="Arial"/>
              </a:rPr>
              <a:t>you</a:t>
            </a:r>
            <a:r>
              <a:rPr sz="900" dirty="0">
                <a:latin typeface="Arial"/>
                <a:cs typeface="Arial"/>
              </a:rPr>
              <a:t> </a:t>
            </a:r>
            <a:r>
              <a:rPr sz="900" spc="-25" dirty="0">
                <a:latin typeface="Arial"/>
                <a:cs typeface="Arial"/>
              </a:rPr>
              <a:t>how</a:t>
            </a:r>
            <a:r>
              <a:rPr sz="900" dirty="0">
                <a:latin typeface="Arial"/>
                <a:cs typeface="Arial"/>
              </a:rPr>
              <a:t> to</a:t>
            </a:r>
            <a:r>
              <a:rPr sz="900" spc="-5" dirty="0">
                <a:latin typeface="Arial"/>
                <a:cs typeface="Arial"/>
              </a:rPr>
              <a:t> </a:t>
            </a:r>
            <a:r>
              <a:rPr sz="900" spc="-30" dirty="0">
                <a:latin typeface="Arial"/>
                <a:cs typeface="Arial"/>
              </a:rPr>
              <a:t>deploy</a:t>
            </a:r>
            <a:r>
              <a:rPr sz="900" dirty="0">
                <a:latin typeface="Arial"/>
                <a:cs typeface="Arial"/>
              </a:rPr>
              <a:t> a </a:t>
            </a:r>
            <a:r>
              <a:rPr sz="900" spc="-30" dirty="0">
                <a:latin typeface="Arial"/>
                <a:cs typeface="Arial"/>
              </a:rPr>
              <a:t>personal</a:t>
            </a:r>
            <a:r>
              <a:rPr sz="900" dirty="0">
                <a:latin typeface="Arial"/>
                <a:cs typeface="Arial"/>
              </a:rPr>
              <a:t> </a:t>
            </a:r>
            <a:r>
              <a:rPr sz="900" spc="-30" dirty="0">
                <a:latin typeface="Arial"/>
                <a:cs typeface="Arial"/>
              </a:rPr>
              <a:t>website</a:t>
            </a:r>
            <a:r>
              <a:rPr sz="900" dirty="0">
                <a:latin typeface="Arial"/>
                <a:cs typeface="Arial"/>
              </a:rPr>
              <a:t> </a:t>
            </a:r>
            <a:r>
              <a:rPr sz="900" spc="-20" dirty="0">
                <a:latin typeface="Arial"/>
                <a:cs typeface="Arial"/>
              </a:rPr>
              <a:t>using</a:t>
            </a:r>
            <a:r>
              <a:rPr sz="900" spc="-5" dirty="0">
                <a:latin typeface="Arial"/>
                <a:cs typeface="Arial"/>
              </a:rPr>
              <a:t> </a:t>
            </a:r>
            <a:r>
              <a:rPr sz="900" spc="-10" dirty="0">
                <a:latin typeface="Arial"/>
                <a:cs typeface="Arial"/>
              </a:rPr>
              <a:t>cloud</a:t>
            </a:r>
            <a:r>
              <a:rPr sz="900" dirty="0">
                <a:latin typeface="Arial"/>
                <a:cs typeface="Arial"/>
              </a:rPr>
              <a:t> </a:t>
            </a:r>
            <a:r>
              <a:rPr sz="900" spc="-10" dirty="0">
                <a:latin typeface="Arial"/>
                <a:cs typeface="Arial"/>
              </a:rPr>
              <a:t>computing.</a:t>
            </a:r>
            <a:endParaRPr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sz="900" dirty="0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sz="9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HOL01</a:t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20" dirty="0"/>
              <a:t>Homework</a:t>
            </a:r>
            <a:r>
              <a:rPr spc="-5" dirty="0"/>
              <a:t> </a:t>
            </a:r>
            <a:r>
              <a:rPr dirty="0"/>
              <a:t>-</a:t>
            </a:r>
            <a:r>
              <a:rPr spc="-5" dirty="0"/>
              <a:t> </a:t>
            </a:r>
            <a:r>
              <a:rPr spc="-10" dirty="0"/>
              <a:t>Creating</a:t>
            </a:r>
            <a:r>
              <a:rPr dirty="0"/>
              <a:t> </a:t>
            </a:r>
            <a:r>
              <a:rPr spc="-10" dirty="0"/>
              <a:t>our</a:t>
            </a:r>
            <a:r>
              <a:rPr spc="-5" dirty="0"/>
              <a:t> </a:t>
            </a:r>
            <a:r>
              <a:rPr spc="-30" dirty="0"/>
              <a:t>own</a:t>
            </a:r>
            <a:r>
              <a:rPr spc="-5" dirty="0"/>
              <a:t> </a:t>
            </a:r>
            <a:r>
              <a:rPr spc="-25" dirty="0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38137" y="1008730"/>
            <a:ext cx="4883785" cy="1365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40" dirty="0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sz="900" dirty="0">
              <a:latin typeface="Arial"/>
              <a:cs typeface="Arial"/>
            </a:endParaRPr>
          </a:p>
          <a:p>
            <a:pPr marL="1177925" marR="1147445" indent="59690">
              <a:lnSpc>
                <a:spcPct val="116199"/>
              </a:lnSpc>
            </a:pPr>
            <a:r>
              <a:rPr sz="900" dirty="0">
                <a:latin typeface="Arial"/>
                <a:cs typeface="Arial"/>
              </a:rPr>
              <a:t>The </a:t>
            </a:r>
            <a:r>
              <a:rPr sz="900" spc="-10" dirty="0">
                <a:latin typeface="Arial"/>
                <a:cs typeface="Arial"/>
              </a:rPr>
              <a:t>goal</a:t>
            </a:r>
            <a:r>
              <a:rPr sz="900" dirty="0">
                <a:latin typeface="Arial"/>
                <a:cs typeface="Arial"/>
              </a:rPr>
              <a:t> of this </a:t>
            </a:r>
            <a:r>
              <a:rPr sz="900" spc="-45" dirty="0">
                <a:latin typeface="Arial"/>
                <a:cs typeface="Arial"/>
              </a:rPr>
              <a:t>hands-</a:t>
            </a:r>
            <a:r>
              <a:rPr sz="900" dirty="0">
                <a:latin typeface="Arial"/>
                <a:cs typeface="Arial"/>
              </a:rPr>
              <a:t>on</a:t>
            </a:r>
            <a:r>
              <a:rPr sz="900" spc="5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lab is to </a:t>
            </a:r>
            <a:r>
              <a:rPr sz="900" spc="-50" dirty="0">
                <a:latin typeface="Arial"/>
                <a:cs typeface="Arial"/>
              </a:rPr>
              <a:t>show</a:t>
            </a:r>
            <a:r>
              <a:rPr sz="900" spc="5" dirty="0">
                <a:latin typeface="Arial"/>
                <a:cs typeface="Arial"/>
              </a:rPr>
              <a:t> </a:t>
            </a:r>
            <a:r>
              <a:rPr sz="900" spc="-10" dirty="0">
                <a:latin typeface="Arial"/>
                <a:cs typeface="Arial"/>
              </a:rPr>
              <a:t>you</a:t>
            </a:r>
            <a:r>
              <a:rPr sz="900" dirty="0">
                <a:latin typeface="Arial"/>
                <a:cs typeface="Arial"/>
              </a:rPr>
              <a:t> </a:t>
            </a:r>
            <a:r>
              <a:rPr sz="900" spc="-25" dirty="0">
                <a:latin typeface="Arial"/>
                <a:cs typeface="Arial"/>
              </a:rPr>
              <a:t>how</a:t>
            </a:r>
            <a:r>
              <a:rPr sz="900" dirty="0">
                <a:latin typeface="Arial"/>
                <a:cs typeface="Arial"/>
              </a:rPr>
              <a:t> to</a:t>
            </a:r>
            <a:r>
              <a:rPr sz="900" spc="-5" dirty="0">
                <a:latin typeface="Arial"/>
                <a:cs typeface="Arial"/>
              </a:rPr>
              <a:t> </a:t>
            </a:r>
            <a:r>
              <a:rPr sz="900" spc="-30" dirty="0">
                <a:latin typeface="Arial"/>
                <a:cs typeface="Arial"/>
              </a:rPr>
              <a:t>deploy</a:t>
            </a:r>
            <a:r>
              <a:rPr sz="900" dirty="0">
                <a:latin typeface="Arial"/>
                <a:cs typeface="Arial"/>
              </a:rPr>
              <a:t> a </a:t>
            </a:r>
            <a:r>
              <a:rPr sz="900" spc="-30" dirty="0">
                <a:latin typeface="Arial"/>
                <a:cs typeface="Arial"/>
              </a:rPr>
              <a:t>personal</a:t>
            </a:r>
            <a:r>
              <a:rPr sz="900" dirty="0">
                <a:latin typeface="Arial"/>
                <a:cs typeface="Arial"/>
              </a:rPr>
              <a:t> </a:t>
            </a:r>
            <a:r>
              <a:rPr sz="900" spc="-30" dirty="0">
                <a:latin typeface="Arial"/>
                <a:cs typeface="Arial"/>
              </a:rPr>
              <a:t>website</a:t>
            </a:r>
            <a:r>
              <a:rPr sz="900" dirty="0">
                <a:latin typeface="Arial"/>
                <a:cs typeface="Arial"/>
              </a:rPr>
              <a:t> </a:t>
            </a:r>
            <a:r>
              <a:rPr sz="900" spc="-20" dirty="0">
                <a:latin typeface="Arial"/>
                <a:cs typeface="Arial"/>
              </a:rPr>
              <a:t>using</a:t>
            </a:r>
            <a:r>
              <a:rPr sz="900" spc="-5" dirty="0">
                <a:latin typeface="Arial"/>
                <a:cs typeface="Arial"/>
              </a:rPr>
              <a:t> </a:t>
            </a:r>
            <a:r>
              <a:rPr sz="900" spc="-10" dirty="0">
                <a:latin typeface="Arial"/>
                <a:cs typeface="Arial"/>
              </a:rPr>
              <a:t>cloud</a:t>
            </a:r>
            <a:r>
              <a:rPr sz="900" dirty="0">
                <a:latin typeface="Arial"/>
                <a:cs typeface="Arial"/>
              </a:rPr>
              <a:t> </a:t>
            </a:r>
            <a:r>
              <a:rPr sz="900" spc="-10" dirty="0">
                <a:latin typeface="Arial"/>
                <a:cs typeface="Arial"/>
              </a:rPr>
              <a:t>computing.</a:t>
            </a:r>
            <a:endParaRPr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sz="900" dirty="0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sz="9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HOL01</a:t>
            </a:r>
            <a:endParaRPr sz="900" dirty="0">
              <a:latin typeface="Arial"/>
              <a:cs typeface="Arial"/>
            </a:endParaRPr>
          </a:p>
          <a:p>
            <a:pPr marL="12700" marR="5080" algn="ctr">
              <a:lnSpc>
                <a:spcPct val="116199"/>
              </a:lnSpc>
              <a:spcBef>
                <a:spcPts val="630"/>
              </a:spcBef>
            </a:pPr>
            <a:r>
              <a:rPr sz="900" b="1" spc="-25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40" dirty="0">
                <a:solidFill>
                  <a:srgbClr val="22373A"/>
                </a:solidFill>
                <a:latin typeface="Arial"/>
                <a:cs typeface="Arial"/>
              </a:rPr>
              <a:t>Fundamentals</a:t>
            </a:r>
            <a:r>
              <a:rPr sz="9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Quiz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quiz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understanding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fundamental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concepts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computing.</a:t>
            </a:r>
            <a:r>
              <a:rPr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Quiz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dirty="0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spc="-30" dirty="0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sz="100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68591" y="351405"/>
            <a:ext cx="4822818" cy="254903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sz="8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b="1" dirty="0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sz="800" b="1" spc="1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spc="-25" dirty="0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spc="-3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spc="-10" dirty="0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sz="80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10F2D-C814-6121-D19E-D94942893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424BB76-C4AB-FBF4-EC3C-3DA754A5D3E5}"/>
              </a:ext>
            </a:extLst>
          </p:cNvPr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DA150C7-A5BD-7213-983B-07407F786CDF}"/>
              </a:ext>
            </a:extLst>
          </p:cNvPr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dirty="0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spc="-30" dirty="0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sz="1000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1DE97240-2AF5-7990-6E72-F37701AF85C8}"/>
              </a:ext>
            </a:extLst>
          </p:cNvPr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sz="8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b="1" dirty="0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sz="800" b="1" spc="1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spc="-25" dirty="0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spc="-3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spc="-10" dirty="0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sz="800">
              <a:latin typeface="Arial"/>
              <a:cs typeface="Arial"/>
            </a:endParaRPr>
          </a:p>
        </p:txBody>
      </p:sp>
      <p:grpSp>
        <p:nvGrpSpPr>
          <p:cNvPr id="6" name="object 6">
            <a:extLst>
              <a:ext uri="{FF2B5EF4-FFF2-40B4-BE49-F238E27FC236}">
                <a16:creationId xmlns:a16="http://schemas.microsoft.com/office/drawing/2014/main" id="{54E2A0DC-882B-C89D-8BF8-20610D6CD4C3}"/>
              </a:ext>
            </a:extLst>
          </p:cNvPr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4C978F6C-5E49-6CB1-46C4-05EB6ED71D63}"/>
                </a:ext>
              </a:extLst>
            </p:cNvPr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D30C8828-9D70-3EF0-02B9-C7A53409DB85}"/>
                </a:ext>
              </a:extLst>
            </p:cNvPr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E61DD0E2-A632-8D11-9694-972616C337A6}"/>
                </a:ext>
              </a:extLst>
            </p:cNvPr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3">
            <a:extLst>
              <a:ext uri="{FF2B5EF4-FFF2-40B4-BE49-F238E27FC236}">
                <a16:creationId xmlns:a16="http://schemas.microsoft.com/office/drawing/2014/main" id="{D9996C46-94A3-3ED9-5DC9-7721B600A142}"/>
              </a:ext>
            </a:extLst>
          </p:cNvPr>
          <p:cNvSpPr txBox="1"/>
          <p:nvPr/>
        </p:nvSpPr>
        <p:spPr>
          <a:xfrm>
            <a:off x="427126" y="631825"/>
            <a:ext cx="4986020" cy="2004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s-ES" sz="900" b="1" spc="-25" dirty="0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s-ES" sz="900" b="1" spc="-25" dirty="0" err="1">
                <a:solidFill>
                  <a:srgbClr val="22373A"/>
                </a:solidFill>
                <a:latin typeface="Arial"/>
                <a:cs typeface="Arial"/>
              </a:rPr>
              <a:t>GitHup</a:t>
            </a:r>
            <a:r>
              <a:rPr lang="es-ES" sz="900" b="1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b="1" spc="-25" dirty="0" err="1">
                <a:solidFill>
                  <a:srgbClr val="22373A"/>
                </a:solidFill>
                <a:latin typeface="Arial"/>
                <a:cs typeface="Arial"/>
              </a:rPr>
              <a:t>Repositoris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: A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GitHup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repository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(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often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a repo)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basically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GitHup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keep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files and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history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project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s-ES" sz="900" b="1" spc="-25" dirty="0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s-ES" sz="900" b="1" spc="-25" dirty="0" err="1">
                <a:solidFill>
                  <a:srgbClr val="22373A"/>
                </a:solidFill>
                <a:latin typeface="Arial"/>
                <a:cs typeface="Arial"/>
              </a:rPr>
              <a:t>GitHup</a:t>
            </a:r>
            <a:r>
              <a:rPr lang="es-ES" sz="900" b="1" spc="-25" dirty="0">
                <a:solidFill>
                  <a:srgbClr val="22373A"/>
                </a:solidFill>
                <a:latin typeface="Arial"/>
                <a:cs typeface="Arial"/>
              </a:rPr>
              <a:t> Pages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GitHup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static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hosting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.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put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HTML, CSS, JavaScript, Python … files in a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GitHup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repo.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can use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personal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websites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,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project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documentation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, portfolios, blogs,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class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notes /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course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materials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, simple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static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web apps.</a:t>
            </a:r>
          </a:p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endParaRPr lang="es-ES" sz="900" spc="-10" dirty="0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s-ES" sz="900" b="1" spc="-25" dirty="0" err="1">
                <a:solidFill>
                  <a:srgbClr val="22373A"/>
                </a:solidFill>
                <a:latin typeface="Arial"/>
                <a:cs typeface="Arial"/>
              </a:rPr>
              <a:t>GitHup</a:t>
            </a:r>
            <a:r>
              <a:rPr lang="es-ES" sz="900" b="1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b="1" spc="-25" dirty="0" err="1">
                <a:solidFill>
                  <a:srgbClr val="22373A"/>
                </a:solidFill>
                <a:latin typeface="Arial"/>
                <a:cs typeface="Arial"/>
              </a:rPr>
              <a:t>Copilot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: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GitHup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Copilot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AI-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powered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coding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assistant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GitHup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+ Microsoft +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OpenAI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.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helps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programmers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code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faster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fewere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mistakes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suggesting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code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in real time.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s-ES" sz="900" spc="-10" dirty="0">
              <a:solidFill>
                <a:srgbClr val="22373A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27014884"/>
      </p:ext>
    </p:extLst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2542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dirty="0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sz="1000" b="1" spc="5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spc="-45" dirty="0">
                <a:solidFill>
                  <a:srgbClr val="F9F9F9"/>
                </a:solidFill>
                <a:latin typeface="Arial"/>
                <a:cs typeface="Arial"/>
              </a:rPr>
              <a:t>does</a:t>
            </a:r>
            <a:r>
              <a:rPr sz="1000" b="1" spc="5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F9F9F9"/>
                </a:solidFill>
                <a:latin typeface="Arial"/>
                <a:cs typeface="Arial"/>
              </a:rPr>
              <a:t>it</a:t>
            </a:r>
            <a:r>
              <a:rPr sz="1000" b="1" spc="5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F9F9F9"/>
                </a:solidFill>
                <a:latin typeface="Arial"/>
                <a:cs typeface="Arial"/>
              </a:rPr>
              <a:t>mean</a:t>
            </a:r>
            <a:r>
              <a:rPr sz="1000" b="1" spc="5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sz="1000" b="1" spc="5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spc="-25" dirty="0">
                <a:solidFill>
                  <a:srgbClr val="F9F9F9"/>
                </a:solidFill>
                <a:latin typeface="Arial"/>
                <a:cs typeface="Arial"/>
              </a:rPr>
              <a:t>host</a:t>
            </a:r>
            <a:r>
              <a:rPr sz="1000" b="1" spc="5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sz="1000" b="1" spc="5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spc="-35" dirty="0">
                <a:solidFill>
                  <a:srgbClr val="F9F9F9"/>
                </a:solidFill>
                <a:latin typeface="Arial"/>
                <a:cs typeface="Arial"/>
              </a:rPr>
              <a:t>website?</a:t>
            </a:r>
            <a:endParaRPr sz="100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70" y="351409"/>
            <a:ext cx="5039866" cy="236101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594738" y="2846398"/>
            <a:ext cx="257111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sz="800" b="1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b="1" dirty="0">
                <a:solidFill>
                  <a:srgbClr val="22373A"/>
                </a:solidFill>
                <a:latin typeface="Arial"/>
                <a:cs typeface="Arial"/>
              </a:rPr>
              <a:t>8:</a:t>
            </a:r>
            <a:r>
              <a:rPr sz="800" b="1" spc="1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sz="8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spc="-30" dirty="0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sz="8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sz="8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sz="8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sz="8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8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sz="8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8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spc="-20" dirty="0">
                <a:solidFill>
                  <a:srgbClr val="22373A"/>
                </a:solidFill>
                <a:latin typeface="Arial"/>
                <a:cs typeface="Arial"/>
              </a:rPr>
              <a:t>website?</a:t>
            </a:r>
            <a:endParaRPr sz="80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525135" cy="5080"/>
            </a:xfrm>
            <a:custGeom>
              <a:avLst/>
              <a:gdLst/>
              <a:ahLst/>
              <a:cxnLst/>
              <a:rect l="l" t="t" r="r" b="b"/>
              <a:pathLst>
                <a:path w="5525135" h="5080">
                  <a:moveTo>
                    <a:pt x="0" y="5060"/>
                  </a:moveTo>
                  <a:lnTo>
                    <a:pt x="0" y="0"/>
                  </a:lnTo>
                  <a:lnTo>
                    <a:pt x="5524963" y="0"/>
                  </a:lnTo>
                  <a:lnTo>
                    <a:pt x="55249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6484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Let’s</a:t>
            </a:r>
            <a:r>
              <a:rPr spc="-35" dirty="0"/>
              <a:t> recap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912248"/>
            <a:ext cx="2463800" cy="1579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repository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sz="900">
              <a:latin typeface="Arial"/>
              <a:cs typeface="Arial"/>
            </a:endParaRPr>
          </a:p>
          <a:p>
            <a:pPr marL="12700" marR="305435">
              <a:lnSpc>
                <a:spcPct val="116199"/>
              </a:lnSpc>
              <a:spcBef>
                <a:spcPts val="450"/>
              </a:spcBef>
            </a:pP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my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endParaRPr sz="9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912248"/>
            <a:ext cx="2398395" cy="11010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sz="900" b="1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sz="900" b="1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Fork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repository</a:t>
            </a:r>
            <a:endParaRPr sz="900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Tweak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5" dirty="0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settings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Commit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25"/>
              </a:spcBef>
            </a:pP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free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642610" cy="5080"/>
            </a:xfrm>
            <a:custGeom>
              <a:avLst/>
              <a:gdLst/>
              <a:ahLst/>
              <a:cxnLst/>
              <a:rect l="l" t="t" r="r" b="b"/>
              <a:pathLst>
                <a:path w="5642610" h="5080">
                  <a:moveTo>
                    <a:pt x="0" y="5060"/>
                  </a:moveTo>
                  <a:lnTo>
                    <a:pt x="0" y="0"/>
                  </a:lnTo>
                  <a:lnTo>
                    <a:pt x="5642474" y="0"/>
                  </a:lnTo>
                  <a:lnTo>
                    <a:pt x="564247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50" dirty="0"/>
              <a:t>References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164796"/>
            <a:ext cx="5051425" cy="1076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2880" marR="5080" indent="-170815" algn="just">
              <a:lnSpc>
                <a:spcPct val="116199"/>
              </a:lnSpc>
              <a:spcBef>
                <a:spcPts val="100"/>
              </a:spcBef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Ali,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Omar,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Anup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Shrestha,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Jeffrey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Soar,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Samuel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60" dirty="0">
                <a:solidFill>
                  <a:srgbClr val="22373A"/>
                </a:solidFill>
                <a:latin typeface="Arial"/>
                <a:cs typeface="Arial"/>
              </a:rPr>
              <a:t>Fosso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Wamba.</a:t>
            </a:r>
            <a:r>
              <a:rPr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2018.</a:t>
            </a:r>
            <a:r>
              <a:rPr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“Cloud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Computing-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Enabled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Opportunities,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Issues,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Applications:</a:t>
            </a:r>
            <a:r>
              <a:rPr sz="9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Systematic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Review.”</a:t>
            </a:r>
            <a:r>
              <a:rPr sz="9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International</a:t>
            </a:r>
            <a:r>
              <a:rPr sz="900" i="1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Journal</a:t>
            </a:r>
            <a:r>
              <a:rPr sz="900" i="1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Information 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43:</a:t>
            </a:r>
            <a:r>
              <a:rPr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146–58.</a:t>
            </a:r>
            <a:endParaRPr sz="900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  <a:spcBef>
                <a:spcPts val="550"/>
              </a:spcBef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Mell,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Peter,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Tim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Grance,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et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sz="900" spc="1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2011.</a:t>
            </a:r>
            <a:r>
              <a:rPr sz="900" spc="1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“The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NIST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Computing.”</a:t>
            </a:r>
            <a:endParaRPr sz="900">
              <a:latin typeface="Arial"/>
              <a:cs typeface="Arial"/>
            </a:endParaRPr>
          </a:p>
          <a:p>
            <a:pPr marL="182880" marR="88900" indent="-170815" algn="just">
              <a:lnSpc>
                <a:spcPct val="116199"/>
              </a:lnSpc>
              <a:spcBef>
                <a:spcPts val="370"/>
              </a:spcBef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Vilaplana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Mayoral,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Jordi et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2015.</a:t>
            </a:r>
            <a:r>
              <a:rPr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0" dirty="0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sz="900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40" dirty="0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sz="900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to eHealth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Universitat de</a:t>
            </a:r>
            <a:r>
              <a:rPr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Lleida.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2546</TotalTime>
  <Words>4234</Words>
  <Application>Microsoft Macintosh PowerPoint</Application>
  <PresentationFormat>Personalizado</PresentationFormat>
  <Paragraphs>311</Paragraphs>
  <Slides>57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57</vt:i4>
      </vt:variant>
    </vt:vector>
  </HeadingPairs>
  <TitlesOfParts>
    <vt:vector size="61" baseType="lpstr">
      <vt:lpstr>Apple Symbols</vt:lpstr>
      <vt:lpstr>Aptos</vt:lpstr>
      <vt:lpstr>Arial</vt:lpstr>
      <vt:lpstr>Office Theme</vt:lpstr>
      <vt:lpstr>Presentación de PowerPoint</vt:lpstr>
      <vt:lpstr>High Performance and Distributed Computing for Big Data</vt:lpstr>
      <vt:lpstr>What is this course about?</vt:lpstr>
      <vt:lpstr>Who are you?</vt:lpstr>
      <vt:lpstr>Pre-Course Survey: Who are you?</vt:lpstr>
      <vt:lpstr>Pre-Course Survey: Who are you?</vt:lpstr>
      <vt:lpstr>Presentación de PowerPoint</vt:lpstr>
      <vt:lpstr>What is Cloud Computing?</vt:lpstr>
      <vt:lpstr>What is the idea behind Cloud Computing?</vt:lpstr>
      <vt:lpstr>Presentación de PowerPoint</vt:lpstr>
      <vt:lpstr>Presentación de PowerPoint</vt:lpstr>
      <vt:lpstr>Which is the cloud computing model?</vt:lpstr>
      <vt:lpstr>Which is the traditional computing model?</vt:lpstr>
      <vt:lpstr>Live in a hotel vs. Own a house</vt:lpstr>
      <vt:lpstr>Case Study: Serving a Personal Website</vt:lpstr>
      <vt:lpstr>Which are the main cloud computing services models?</vt:lpstr>
      <vt:lpstr>Shared Responsibility Model</vt:lpstr>
      <vt:lpstr>Shared Responsibility Model: Pizza as a Service</vt:lpstr>
      <vt:lpstr>Presentación de PowerPoint</vt:lpstr>
      <vt:lpstr>Public Cloud</vt:lpstr>
      <vt:lpstr>Private Cloud (On-Premises)</vt:lpstr>
      <vt:lpstr>Hybrid Cloud</vt:lpstr>
      <vt:lpstr>Which is the current situation of Cloud Computing?</vt:lpstr>
      <vt:lpstr>Presentación de PowerPoint</vt:lpstr>
      <vt:lpstr>Capital expeneses to operational expenses</vt:lpstr>
      <vt:lpstr>Economies of scale</vt:lpstr>
      <vt:lpstr>Adaptability and scalability</vt:lpstr>
      <vt:lpstr>Deployment speed</vt:lpstr>
      <vt:lpstr>Case Study: Dropbox Journey</vt:lpstr>
      <vt:lpstr>Risks and Challenges of Cloud Computing</vt:lpstr>
      <vt:lpstr>Data security</vt:lpstr>
      <vt:lpstr>Real Cases of Security Breaches</vt:lpstr>
      <vt:lpstr>How to protect your data in the cloud?</vt:lpstr>
      <vt:lpstr>Data compliance</vt:lpstr>
      <vt:lpstr>Lock-in</vt:lpstr>
      <vt:lpstr>Other challenges</vt:lpstr>
      <vt:lpstr>Homework</vt:lpstr>
      <vt:lpstr>Case Study: Is Cloud Computing Right for Your Company? (I)</vt:lpstr>
      <vt:lpstr>Case Study: Is Cloud Computing Right for Your Company? (I)</vt:lpstr>
      <vt:lpstr>Case Study: Is Cloud Computing Right for Your Company? (II)</vt:lpstr>
      <vt:lpstr>Case Study: Is Cloud Computing Right for Your Company? (III)</vt:lpstr>
      <vt:lpstr>Presentación de PowerPoint</vt:lpstr>
      <vt:lpstr>Why Cloud Computing in Health?</vt:lpstr>
      <vt:lpstr>Which are the opportunities of Cloud Computing in Health?</vt:lpstr>
      <vt:lpstr>Use Cases</vt:lpstr>
      <vt:lpstr>Challenges in Health</vt:lpstr>
      <vt:lpstr>Is cloud computing the future of Health?</vt:lpstr>
      <vt:lpstr>Presentación de PowerPoint</vt:lpstr>
      <vt:lpstr>Recap: Cloud Computing vs Traditional Computing</vt:lpstr>
      <vt:lpstr>Presentación de PowerPoint</vt:lpstr>
      <vt:lpstr>Homework - Creating our own website</vt:lpstr>
      <vt:lpstr>Homework - Creating our own website</vt:lpstr>
      <vt:lpstr>Presentación de PowerPoint</vt:lpstr>
      <vt:lpstr>Presentación de PowerPoint</vt:lpstr>
      <vt:lpstr>Presentación de PowerPoint</vt:lpstr>
      <vt:lpstr>Let’s recap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Cloud Computing</dc:title>
  <dc:creator>Ferran Aran Domingo ` `%%%`#`&amp;12_`__~~~ౡ氀猀攀</dc:creator>
  <cp:keywords>Cloud Computing, AWS, Healtcare, Cloud Computing in Healthcare</cp:keywords>
  <cp:lastModifiedBy>Francesc Xavier Solsona Tehas</cp:lastModifiedBy>
  <cp:revision>1</cp:revision>
  <dcterms:created xsi:type="dcterms:W3CDTF">2025-05-19T16:07:57Z</dcterms:created>
  <dcterms:modified xsi:type="dcterms:W3CDTF">2026-02-16T11:35:49Z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2025-02-19T00:00:00Z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2025-02-19T00:00:00Z</vt:filetime>
  </property>
</Properties>
</file>