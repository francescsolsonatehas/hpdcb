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4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333" r:id="rId20"/>
    <p:sldId id="334" r:id="rId21"/>
    <p:sldId id="339" r:id="rId22"/>
    <p:sldId id="342" r:id="rId23"/>
    <p:sldId id="345" r:id="rId24"/>
    <p:sldId id="348" r:id="rId25"/>
    <p:sldId id="351" r:id="rId26"/>
    <p:sldId id="353" r:id="rId27"/>
    <p:sldId id="359" r:id="rId28"/>
    <p:sldId id="362" r:id="rId29"/>
    <p:sldId id="369" r:id="rId30"/>
    <p:sldId id="371" r:id="rId31"/>
    <p:sldId id="376" r:id="rId32"/>
    <p:sldId id="382" r:id="rId33"/>
    <p:sldId id="383" r:id="rId34"/>
    <p:sldId id="385" r:id="rId35"/>
    <p:sldId id="387" r:id="rId36"/>
    <p:sldId id="390" r:id="rId37"/>
    <p:sldId id="391" r:id="rId38"/>
    <p:sldId id="395" r:id="rId39"/>
    <p:sldId id="399" r:id="rId40"/>
    <p:sldId id="403" r:id="rId41"/>
    <p:sldId id="405" r:id="rId42"/>
    <p:sldId id="413" r:id="rId43"/>
    <p:sldId id="414" r:id="rId44"/>
    <p:sldId id="415" r:id="rId45"/>
    <p:sldId id="416" r:id="rId46"/>
    <p:sldId id="417" r:id="rId47"/>
    <p:sldId id="418" r:id="rId48"/>
    <p:sldId id="419" r:id="rId49"/>
    <p:sldId id="423" r:id="rId50"/>
    <p:sldId id="420" r:id="rId51"/>
    <p:sldId id="421" r:id="rId52"/>
    <p:sldId id="422" r:id="rId53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57"/>
    <p:restoredTop sz="91540"/>
  </p:normalViewPr>
  <p:slideViewPr>
    <p:cSldViewPr>
      <p:cViewPr varScale="1">
        <p:scale>
          <a:sx n="195" d="100"/>
          <a:sy n="195" d="100"/>
        </p:scale>
        <p:origin x="920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13/3/26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 err="1">
                <a:solidFill>
                  <a:srgbClr val="0070C0"/>
                </a:solidFill>
              </a:rPr>
              <a:t>Runtime</a:t>
            </a:r>
            <a:r>
              <a:rPr lang="es-ES" dirty="0"/>
              <a:t>: </a:t>
            </a:r>
            <a:r>
              <a:rPr lang="es-ES" dirty="0" err="1"/>
              <a:t>environtment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 dirty="0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office.com/e/ZTY3MEiPJb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iot-analytics.com/global-cloud-projects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github.com/" TargetMode="External"/><Relationship Id="rId2" Type="http://schemas.openxmlformats.org/officeDocument/2006/relationships/hyperlink" Target="https://github.com/signup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hdbc-17705110-mdbs.github.io/HandsOnLabs/hol1.html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5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5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hdbc-17705110-mdbs.github.io/HandsOnLabs/hol1.html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quiz1.html" TargetMode="External"/><Relationship Id="rId2" Type="http://schemas.openxmlformats.org/officeDocument/2006/relationships/hyperlink" Target="https://hdbc-17705110-mdbs.github.io/HandsOnLabs/hol1.html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sz="11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242941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sz="10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sz="10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10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sz="10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s-ES" sz="800" spc="-10" dirty="0"/>
              <a:t>Francesc Solsona Tehas </a:t>
            </a:r>
            <a:r>
              <a:rPr lang="es-ES" sz="800" spc="-20" dirty="0">
                <a:hlinkClick r:id="rId2"/>
              </a:rPr>
              <a:t>francesc.solsona</a:t>
            </a:r>
            <a:r>
              <a:rPr sz="800" spc="-20" dirty="0">
                <a:hlinkClick r:id="rId2"/>
              </a:rPr>
              <a:t>@udl.cat</a:t>
            </a:r>
            <a:endParaRPr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800" dirty="0"/>
          </a:p>
          <a:p>
            <a:pPr marL="12700">
              <a:lnSpc>
                <a:spcPct val="100000"/>
              </a:lnSpc>
            </a:pPr>
            <a:r>
              <a:rPr sz="600" dirty="0"/>
              <a:t>Universitat</a:t>
            </a:r>
            <a:r>
              <a:rPr sz="600" spc="20" dirty="0"/>
              <a:t> </a:t>
            </a:r>
            <a:r>
              <a:rPr sz="600" dirty="0"/>
              <a:t>Rovira</a:t>
            </a:r>
            <a:r>
              <a:rPr sz="600" spc="25" dirty="0"/>
              <a:t> </a:t>
            </a:r>
            <a:r>
              <a:rPr sz="600" dirty="0"/>
              <a:t>i</a:t>
            </a:r>
            <a:r>
              <a:rPr sz="600" spc="25" dirty="0"/>
              <a:t> </a:t>
            </a:r>
            <a:r>
              <a:rPr sz="600" dirty="0"/>
              <a:t>Virgili</a:t>
            </a:r>
            <a:r>
              <a:rPr sz="600" spc="25" dirty="0"/>
              <a:t> </a:t>
            </a:r>
            <a:r>
              <a:rPr sz="600" dirty="0"/>
              <a:t>and</a:t>
            </a:r>
            <a:r>
              <a:rPr sz="600" spc="25" dirty="0"/>
              <a:t> </a:t>
            </a:r>
            <a:r>
              <a:rPr sz="600" dirty="0"/>
              <a:t>Universitat</a:t>
            </a:r>
            <a:r>
              <a:rPr sz="600" spc="20" dirty="0"/>
              <a:t> </a:t>
            </a:r>
            <a:r>
              <a:rPr sz="600" dirty="0"/>
              <a:t>de</a:t>
            </a:r>
            <a:r>
              <a:rPr sz="600" spc="25" dirty="0"/>
              <a:t> </a:t>
            </a:r>
            <a:r>
              <a:rPr sz="600" spc="-10" dirty="0"/>
              <a:t>Lleida</a:t>
            </a:r>
            <a:endParaRPr sz="600" dirty="0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What</a:t>
            </a:r>
            <a:r>
              <a:rPr spc="20" dirty="0"/>
              <a:t> </a:t>
            </a:r>
            <a:r>
              <a:rPr spc="-25" dirty="0"/>
              <a:t>is</a:t>
            </a:r>
            <a:r>
              <a:rPr spc="20" dirty="0"/>
              <a:t> </a:t>
            </a:r>
            <a:r>
              <a:rPr spc="-10" dirty="0"/>
              <a:t>this</a:t>
            </a:r>
            <a:r>
              <a:rPr spc="25" dirty="0"/>
              <a:t> </a:t>
            </a:r>
            <a:r>
              <a:rPr spc="-50" dirty="0"/>
              <a:t>course</a:t>
            </a:r>
            <a:r>
              <a:rPr spc="20" dirty="0"/>
              <a:t> </a:t>
            </a:r>
            <a:r>
              <a:rPr spc="-20" dirty="0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sz="900" b="1" spc="-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sz="900" b="1" spc="-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sz="9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sz="9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sz="9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sz="900" dirty="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s-ES" sz="900" dirty="0" err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s-ES"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Pre-</a:t>
            </a:r>
            <a:r>
              <a:rPr spc="-20" dirty="0"/>
              <a:t>Course</a:t>
            </a:r>
            <a:r>
              <a:rPr dirty="0"/>
              <a:t> </a:t>
            </a:r>
            <a:r>
              <a:rPr spc="-30" dirty="0"/>
              <a:t>Survey:</a:t>
            </a:r>
            <a:r>
              <a:rPr spc="100" dirty="0"/>
              <a:t> </a:t>
            </a:r>
            <a:r>
              <a:rPr dirty="0"/>
              <a:t>Who</a:t>
            </a:r>
            <a:r>
              <a:rPr spc="5" dirty="0"/>
              <a:t> </a:t>
            </a:r>
            <a:r>
              <a:rPr dirty="0"/>
              <a:t>are</a:t>
            </a:r>
            <a:r>
              <a:rPr spc="5" dirty="0"/>
              <a:t> </a:t>
            </a:r>
            <a:r>
              <a:rPr spc="-50" dirty="0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sz="900" dirty="0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sz="900" dirty="0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sz="900" dirty="0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sz="900" spc="-4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Pre-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Course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Survey: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Who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you?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What</a:t>
            </a:r>
            <a:r>
              <a:rPr spc="40" dirty="0"/>
              <a:t> </a:t>
            </a:r>
            <a:r>
              <a:rPr spc="-25" dirty="0"/>
              <a:t>is</a:t>
            </a:r>
            <a:r>
              <a:rPr spc="40" dirty="0"/>
              <a:t> </a:t>
            </a:r>
            <a:r>
              <a:rPr spc="-30" dirty="0"/>
              <a:t>Cloud</a:t>
            </a:r>
            <a:r>
              <a:rPr spc="40" dirty="0"/>
              <a:t> </a:t>
            </a:r>
            <a:r>
              <a:rPr spc="-35" dirty="0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sz="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sz="900" dirty="0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-50" dirty="0" err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s-ES" sz="900" b="1" spc="-50">
                <a:solidFill>
                  <a:srgbClr val="22373A"/>
                </a:solidFill>
                <a:latin typeface="Arial"/>
                <a:cs typeface="Arial"/>
              </a:rPr>
              <a:t>-per-use</a:t>
            </a:r>
            <a:r>
              <a:rPr sz="900" b="1" spc="5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Mell,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Grance,</a:t>
            </a:r>
            <a:r>
              <a:rPr sz="900" spc="45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sz="900" spc="45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sz="900" spc="145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2011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sz="900" dirty="0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sz="900" dirty="0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sz="900" spc="1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sz="900" spc="1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sz="900" spc="-10" dirty="0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sz="900" spc="-20" dirty="0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What</a:t>
            </a:r>
            <a:r>
              <a:rPr spc="20" dirty="0"/>
              <a:t> </a:t>
            </a:r>
            <a:r>
              <a:rPr spc="-25" dirty="0"/>
              <a:t>is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10" dirty="0"/>
              <a:t>idea</a:t>
            </a:r>
            <a:r>
              <a:rPr spc="20" dirty="0"/>
              <a:t> </a:t>
            </a:r>
            <a:r>
              <a:rPr spc="-30" dirty="0"/>
              <a:t>behind</a:t>
            </a:r>
            <a:r>
              <a:rPr spc="25" dirty="0"/>
              <a:t> </a:t>
            </a:r>
            <a:r>
              <a:rPr spc="-30" dirty="0"/>
              <a:t>Cloud</a:t>
            </a:r>
            <a:r>
              <a:rPr spc="25" dirty="0"/>
              <a:t> </a:t>
            </a:r>
            <a:r>
              <a:rPr spc="-30" dirty="0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b="1" spc="-25" dirty="0">
                <a:latin typeface="Arial"/>
                <a:cs typeface="Arial"/>
              </a:rPr>
              <a:t>Cloud</a:t>
            </a:r>
            <a:r>
              <a:rPr b="1" spc="30" dirty="0">
                <a:latin typeface="Arial"/>
                <a:cs typeface="Arial"/>
              </a:rPr>
              <a:t> </a:t>
            </a:r>
            <a:r>
              <a:rPr b="1" spc="-30" dirty="0">
                <a:latin typeface="Arial"/>
                <a:cs typeface="Arial"/>
              </a:rPr>
              <a:t>computing</a:t>
            </a:r>
            <a:r>
              <a:rPr b="1" spc="15" dirty="0">
                <a:latin typeface="Arial"/>
                <a:cs typeface="Arial"/>
              </a:rPr>
              <a:t> </a:t>
            </a:r>
            <a:endParaRPr lang="es-ES" b="1" spc="15" dirty="0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s-ES" b="1" spc="15" dirty="0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s-ES" spc="-45" dirty="0"/>
              <a:t>E</a:t>
            </a:r>
            <a:r>
              <a:rPr spc="-45" dirty="0" err="1"/>
              <a:t>nables</a:t>
            </a:r>
            <a:r>
              <a:rPr spc="15" dirty="0"/>
              <a:t> </a:t>
            </a:r>
            <a:r>
              <a:rPr spc="-40" dirty="0"/>
              <a:t>companies</a:t>
            </a:r>
            <a:r>
              <a:rPr lang="es-ES" spc="20" dirty="0"/>
              <a:t>/</a:t>
            </a:r>
            <a:r>
              <a:rPr lang="es-ES" spc="20" dirty="0" err="1"/>
              <a:t>users</a:t>
            </a:r>
            <a:r>
              <a:rPr lang="es-ES" spc="20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45" dirty="0"/>
              <a:t>consume</a:t>
            </a:r>
            <a:r>
              <a:rPr spc="15" dirty="0"/>
              <a:t> </a:t>
            </a:r>
            <a:r>
              <a:rPr spc="-50" dirty="0"/>
              <a:t>a</a:t>
            </a:r>
            <a:r>
              <a:rPr spc="-10" dirty="0"/>
              <a:t> compute</a:t>
            </a:r>
            <a:r>
              <a:rPr spc="-5" dirty="0"/>
              <a:t> </a:t>
            </a:r>
            <a:r>
              <a:rPr spc="-35" dirty="0"/>
              <a:t>resource,</a:t>
            </a:r>
            <a:r>
              <a:rPr spc="-5" dirty="0"/>
              <a:t> </a:t>
            </a:r>
            <a:r>
              <a:rPr spc="-30" dirty="0"/>
              <a:t>such</a:t>
            </a:r>
            <a:r>
              <a:rPr dirty="0"/>
              <a:t> </a:t>
            </a:r>
            <a:r>
              <a:rPr spc="-45" dirty="0"/>
              <a:t>as</a:t>
            </a:r>
            <a:r>
              <a:rPr spc="-5" dirty="0"/>
              <a:t> </a:t>
            </a:r>
            <a:r>
              <a:rPr dirty="0"/>
              <a:t>a virtual</a:t>
            </a:r>
            <a:r>
              <a:rPr spc="-5" dirty="0"/>
              <a:t> </a:t>
            </a:r>
            <a:r>
              <a:rPr spc="-25" dirty="0"/>
              <a:t>machine</a:t>
            </a:r>
            <a:r>
              <a:rPr dirty="0"/>
              <a:t> </a:t>
            </a:r>
            <a:r>
              <a:rPr spc="-10" dirty="0"/>
              <a:t>(VM), </a:t>
            </a:r>
            <a:r>
              <a:rPr spc="-30" dirty="0"/>
              <a:t>storage,</a:t>
            </a:r>
            <a:r>
              <a:rPr spc="30" dirty="0"/>
              <a:t> </a:t>
            </a:r>
            <a:r>
              <a:rPr dirty="0"/>
              <a:t>or</a:t>
            </a:r>
            <a:r>
              <a:rPr spc="35" dirty="0"/>
              <a:t> </a:t>
            </a:r>
            <a:r>
              <a:rPr dirty="0"/>
              <a:t>an</a:t>
            </a:r>
            <a:r>
              <a:rPr spc="35" dirty="0"/>
              <a:t> </a:t>
            </a:r>
            <a:r>
              <a:rPr spc="-10" dirty="0"/>
              <a:t>application,</a:t>
            </a:r>
            <a:r>
              <a:rPr spc="30" dirty="0"/>
              <a:t> </a:t>
            </a:r>
            <a:r>
              <a:rPr spc="-45" dirty="0"/>
              <a:t>as</a:t>
            </a:r>
            <a:r>
              <a:rPr spc="35" dirty="0"/>
              <a:t> </a:t>
            </a:r>
            <a:r>
              <a:rPr dirty="0"/>
              <a:t>a</a:t>
            </a:r>
            <a:r>
              <a:rPr spc="35" dirty="0"/>
              <a:t> </a:t>
            </a:r>
            <a:r>
              <a:rPr dirty="0"/>
              <a:t>utility</a:t>
            </a:r>
            <a:endParaRPr lang="es-ES" dirty="0"/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s-ES" spc="35" dirty="0"/>
              <a:t>                       </a:t>
            </a:r>
            <a:r>
              <a:rPr spc="35" dirty="0"/>
              <a:t> </a:t>
            </a:r>
            <a:r>
              <a:rPr lang="es-ES" sz="4000" spc="315" dirty="0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spc="5" dirty="0"/>
              <a:t> </a:t>
            </a:r>
            <a:r>
              <a:rPr dirty="0"/>
              <a:t>rather</a:t>
            </a:r>
            <a:r>
              <a:rPr spc="5" dirty="0"/>
              <a:t> </a:t>
            </a:r>
            <a:r>
              <a:rPr dirty="0"/>
              <a:t>than</a:t>
            </a:r>
            <a:r>
              <a:rPr spc="5" dirty="0"/>
              <a:t> </a:t>
            </a:r>
            <a:r>
              <a:rPr spc="-20" dirty="0"/>
              <a:t>having</a:t>
            </a:r>
            <a:r>
              <a:rPr dirty="0"/>
              <a:t> to</a:t>
            </a:r>
            <a:r>
              <a:rPr spc="5" dirty="0"/>
              <a:t> </a:t>
            </a:r>
            <a:r>
              <a:rPr dirty="0"/>
              <a:t>build </a:t>
            </a:r>
            <a:r>
              <a:rPr spc="-10" dirty="0"/>
              <a:t>and</a:t>
            </a:r>
            <a:r>
              <a:rPr spc="5" dirty="0"/>
              <a:t> </a:t>
            </a:r>
            <a:r>
              <a:rPr spc="-10" dirty="0"/>
              <a:t>maintain computing</a:t>
            </a:r>
            <a:r>
              <a:rPr spc="10" dirty="0"/>
              <a:t> </a:t>
            </a:r>
            <a:r>
              <a:rPr spc="-10" dirty="0"/>
              <a:t>infrastructures</a:t>
            </a:r>
            <a:r>
              <a:rPr spc="10" dirty="0"/>
              <a:t> </a:t>
            </a:r>
            <a:r>
              <a:rPr spc="-35" dirty="0"/>
              <a:t>in-</a:t>
            </a:r>
            <a:r>
              <a:rPr spc="-10" dirty="0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30" dirty="0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sz="1000" b="1" spc="6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sz="1000" b="1" spc="6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35" dirty="0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30" dirty="0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sz="1000" b="1" spc="6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sz="1000" b="1" spc="6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35" dirty="0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5" dirty="0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Which</a:t>
            </a:r>
            <a:r>
              <a:rPr spc="5" dirty="0"/>
              <a:t> </a:t>
            </a:r>
            <a:r>
              <a:rPr spc="-25" dirty="0"/>
              <a:t>is</a:t>
            </a:r>
            <a:r>
              <a:rPr spc="5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35" dirty="0"/>
              <a:t>cloud</a:t>
            </a:r>
            <a:r>
              <a:rPr spc="5" dirty="0"/>
              <a:t> </a:t>
            </a:r>
            <a:r>
              <a:rPr spc="-35" dirty="0"/>
              <a:t>computing</a:t>
            </a:r>
            <a:r>
              <a:rPr spc="5" dirty="0"/>
              <a:t> </a:t>
            </a:r>
            <a:r>
              <a:rPr spc="-30" dirty="0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sz="900" spc="1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Properties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sz="900" b="1" spc="-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60" dirty="0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Which</a:t>
            </a:r>
            <a:r>
              <a:rPr spc="5" dirty="0"/>
              <a:t> </a:t>
            </a:r>
            <a:r>
              <a:rPr spc="-25" dirty="0"/>
              <a:t>is</a:t>
            </a:r>
            <a:r>
              <a:rPr spc="10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10" dirty="0"/>
              <a:t>traditional</a:t>
            </a:r>
            <a:r>
              <a:rPr spc="5" dirty="0"/>
              <a:t> </a:t>
            </a:r>
            <a:r>
              <a:rPr spc="-35" dirty="0"/>
              <a:t>computing</a:t>
            </a:r>
            <a:r>
              <a:rPr spc="10" dirty="0"/>
              <a:t> </a:t>
            </a:r>
            <a:r>
              <a:rPr spc="-25" dirty="0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sz="900" spc="-20" dirty="0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sz="900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sz="900" spc="-10" dirty="0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5" dirty="0">
                <a:solidFill>
                  <a:srgbClr val="22373A"/>
                </a:solidFill>
                <a:latin typeface="Arial"/>
                <a:cs typeface="Arial"/>
              </a:rPr>
              <a:t>load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900" dirty="0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sz="900" dirty="0">
                <a:latin typeface="Arial"/>
                <a:cs typeface="Arial"/>
              </a:rPr>
              <a:t>If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company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underestimates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peak,</a:t>
            </a:r>
            <a:r>
              <a:rPr sz="900" spc="2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5" dirty="0">
                <a:latin typeface="Arial"/>
                <a:cs typeface="Arial"/>
              </a:rPr>
              <a:t>system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will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be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slow, </a:t>
            </a:r>
            <a:r>
              <a:rPr sz="900" spc="-10" dirty="0">
                <a:latin typeface="Arial"/>
                <a:cs typeface="Arial"/>
              </a:rPr>
              <a:t>and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60" dirty="0">
                <a:latin typeface="Arial"/>
                <a:cs typeface="Arial"/>
              </a:rPr>
              <a:t>users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will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be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unhappy.</a:t>
            </a:r>
            <a:r>
              <a:rPr sz="900" spc="15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If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company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5" dirty="0">
                <a:latin typeface="Arial"/>
                <a:cs typeface="Arial"/>
              </a:rPr>
              <a:t>overestimates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the </a:t>
            </a:r>
            <a:r>
              <a:rPr sz="900" spc="-20" dirty="0">
                <a:latin typeface="Arial"/>
                <a:cs typeface="Arial"/>
              </a:rPr>
              <a:t>peak,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it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will</a:t>
            </a:r>
            <a:r>
              <a:rPr sz="900" spc="30" dirty="0">
                <a:latin typeface="Arial"/>
                <a:cs typeface="Arial"/>
              </a:rPr>
              <a:t> </a:t>
            </a:r>
            <a:r>
              <a:rPr sz="900" spc="-45" dirty="0">
                <a:latin typeface="Arial"/>
                <a:cs typeface="Arial"/>
              </a:rPr>
              <a:t>have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a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lot</a:t>
            </a:r>
            <a:r>
              <a:rPr sz="900" spc="3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of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spc="-40" dirty="0">
                <a:latin typeface="Arial"/>
                <a:cs typeface="Arial"/>
              </a:rPr>
              <a:t>unused</a:t>
            </a:r>
            <a:r>
              <a:rPr sz="900" spc="30" dirty="0">
                <a:latin typeface="Arial"/>
                <a:cs typeface="Arial"/>
              </a:rPr>
              <a:t> </a:t>
            </a:r>
            <a:r>
              <a:rPr sz="900" spc="-50" dirty="0">
                <a:latin typeface="Arial"/>
                <a:cs typeface="Arial"/>
              </a:rPr>
              <a:t>resources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and</a:t>
            </a:r>
            <a:r>
              <a:rPr sz="900" spc="2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waste</a:t>
            </a:r>
            <a:r>
              <a:rPr sz="900" spc="3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money.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sz="900" dirty="0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Live</a:t>
            </a:r>
            <a:r>
              <a:rPr dirty="0"/>
              <a:t> in</a:t>
            </a:r>
            <a:r>
              <a:rPr spc="5" dirty="0"/>
              <a:t> </a:t>
            </a:r>
            <a:r>
              <a:rPr dirty="0"/>
              <a:t>a</a:t>
            </a:r>
            <a:r>
              <a:rPr spc="5" dirty="0"/>
              <a:t> </a:t>
            </a:r>
            <a:r>
              <a:rPr dirty="0"/>
              <a:t>hotel</a:t>
            </a:r>
            <a:r>
              <a:rPr spc="5" dirty="0"/>
              <a:t> </a:t>
            </a:r>
            <a:r>
              <a:rPr spc="-20" dirty="0"/>
              <a:t>vs.</a:t>
            </a:r>
            <a:r>
              <a:rPr spc="5" dirty="0"/>
              <a:t> </a:t>
            </a:r>
            <a:r>
              <a:rPr dirty="0"/>
              <a:t>Own</a:t>
            </a:r>
            <a:r>
              <a:rPr spc="5" dirty="0"/>
              <a:t> </a:t>
            </a:r>
            <a:r>
              <a:rPr dirty="0"/>
              <a:t>a</a:t>
            </a:r>
            <a:r>
              <a:rPr spc="5" dirty="0"/>
              <a:t> </a:t>
            </a:r>
            <a:r>
              <a:rPr spc="-45" dirty="0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sz="90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5" dirty="0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sz="900" b="1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900" b="1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5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sz="900" b="1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b="1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0" dirty="0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sz="900" b="1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sz="90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b="1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5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40" dirty="0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3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b="1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10" dirty="0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sz="9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900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sz="900" b="1" dirty="0">
                <a:latin typeface="Arial"/>
                <a:cs typeface="Arial"/>
              </a:rPr>
              <a:t>In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35" dirty="0">
                <a:latin typeface="Arial"/>
                <a:cs typeface="Arial"/>
              </a:rPr>
              <a:t>cloud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25" dirty="0">
                <a:latin typeface="Arial"/>
                <a:cs typeface="Arial"/>
              </a:rPr>
              <a:t>computing,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50" dirty="0">
                <a:latin typeface="Arial"/>
                <a:cs typeface="Arial"/>
              </a:rPr>
              <a:t>you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40" dirty="0">
                <a:latin typeface="Arial"/>
                <a:cs typeface="Arial"/>
              </a:rPr>
              <a:t>pay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10" dirty="0">
                <a:latin typeface="Arial"/>
                <a:cs typeface="Arial"/>
              </a:rPr>
              <a:t>for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what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50" dirty="0">
                <a:latin typeface="Arial"/>
                <a:cs typeface="Arial"/>
              </a:rPr>
              <a:t>you</a:t>
            </a:r>
            <a:r>
              <a:rPr sz="900" b="1" dirty="0">
                <a:latin typeface="Arial"/>
                <a:cs typeface="Arial"/>
              </a:rPr>
              <a:t> </a:t>
            </a:r>
            <a:r>
              <a:rPr sz="900" b="1" spc="-40" dirty="0">
                <a:latin typeface="Arial"/>
                <a:cs typeface="Arial"/>
              </a:rPr>
              <a:t>use,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20" dirty="0">
                <a:latin typeface="Arial"/>
                <a:cs typeface="Arial"/>
              </a:rPr>
              <a:t>and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50" dirty="0">
                <a:latin typeface="Arial"/>
                <a:cs typeface="Arial"/>
              </a:rPr>
              <a:t>you</a:t>
            </a:r>
            <a:r>
              <a:rPr sz="900" b="1" spc="-5" dirty="0">
                <a:latin typeface="Arial"/>
                <a:cs typeface="Arial"/>
              </a:rPr>
              <a:t> </a:t>
            </a:r>
            <a:r>
              <a:rPr sz="900" b="1" spc="-25" dirty="0">
                <a:latin typeface="Arial"/>
                <a:cs typeface="Arial"/>
              </a:rPr>
              <a:t>do </a:t>
            </a:r>
            <a:r>
              <a:rPr sz="900" b="1" dirty="0">
                <a:latin typeface="Arial"/>
                <a:cs typeface="Arial"/>
              </a:rPr>
              <a:t>not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spc="-30" dirty="0">
                <a:latin typeface="Arial"/>
                <a:cs typeface="Arial"/>
              </a:rPr>
              <a:t>need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to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spc="-45" dirty="0">
                <a:latin typeface="Arial"/>
                <a:cs typeface="Arial"/>
              </a:rPr>
              <a:t>worry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about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the</a:t>
            </a:r>
            <a:r>
              <a:rPr sz="900" b="1" spc="10" dirty="0">
                <a:latin typeface="Arial"/>
                <a:cs typeface="Arial"/>
              </a:rPr>
              <a:t> </a:t>
            </a:r>
            <a:r>
              <a:rPr sz="900" b="1" spc="-30" dirty="0">
                <a:latin typeface="Arial"/>
                <a:cs typeface="Arial"/>
              </a:rPr>
              <a:t>maintenance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of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dirty="0">
                <a:latin typeface="Arial"/>
                <a:cs typeface="Arial"/>
              </a:rPr>
              <a:t>the</a:t>
            </a:r>
            <a:r>
              <a:rPr sz="900" b="1" spc="5" dirty="0">
                <a:latin typeface="Arial"/>
                <a:cs typeface="Arial"/>
              </a:rPr>
              <a:t> </a:t>
            </a:r>
            <a:r>
              <a:rPr sz="900" b="1" spc="-35" dirty="0">
                <a:latin typeface="Arial"/>
                <a:cs typeface="Arial"/>
              </a:rPr>
              <a:t>hardware.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5" dirty="0"/>
              <a:t> </a:t>
            </a:r>
            <a:r>
              <a:rPr spc="-10" dirty="0"/>
              <a:t>Study:</a:t>
            </a:r>
            <a:r>
              <a:rPr spc="105" dirty="0"/>
              <a:t> </a:t>
            </a:r>
            <a:r>
              <a:rPr spc="-35" dirty="0"/>
              <a:t>Serving</a:t>
            </a:r>
            <a:r>
              <a:rPr spc="10" dirty="0"/>
              <a:t> </a:t>
            </a:r>
            <a:r>
              <a:rPr dirty="0"/>
              <a:t>a</a:t>
            </a:r>
            <a:r>
              <a:rPr spc="10" dirty="0"/>
              <a:t> </a:t>
            </a:r>
            <a:r>
              <a:rPr spc="-35" dirty="0"/>
              <a:t>Personal</a:t>
            </a:r>
            <a:r>
              <a:rPr spc="5" dirty="0"/>
              <a:t> </a:t>
            </a:r>
            <a:r>
              <a:rPr spc="-10" dirty="0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sz="900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sz="900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sz="900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Which are the</a:t>
            </a:r>
            <a:r>
              <a:rPr spc="5" dirty="0"/>
              <a:t> </a:t>
            </a:r>
            <a:r>
              <a:rPr spc="-10" dirty="0"/>
              <a:t>main</a:t>
            </a:r>
            <a:r>
              <a:rPr dirty="0"/>
              <a:t> </a:t>
            </a:r>
            <a:r>
              <a:rPr spc="-35" dirty="0"/>
              <a:t>cloud</a:t>
            </a:r>
            <a:r>
              <a:rPr dirty="0"/>
              <a:t> </a:t>
            </a:r>
            <a:r>
              <a:rPr spc="-35" dirty="0"/>
              <a:t>computing</a:t>
            </a:r>
            <a:r>
              <a:rPr spc="5" dirty="0"/>
              <a:t> </a:t>
            </a:r>
            <a:r>
              <a:rPr spc="-55" dirty="0"/>
              <a:t>services</a:t>
            </a:r>
            <a:r>
              <a:rPr dirty="0"/>
              <a:t> </a:t>
            </a:r>
            <a:r>
              <a:rPr spc="-35" dirty="0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82232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sz="900" dirty="0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sz="900" dirty="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  <a:endParaRPr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184" y="1616479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546183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sz="8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Shared</a:t>
            </a:r>
            <a:r>
              <a:rPr spc="20" dirty="0"/>
              <a:t> </a:t>
            </a:r>
            <a:r>
              <a:rPr spc="-45" dirty="0"/>
              <a:t>Responsibility</a:t>
            </a:r>
            <a:r>
              <a:rPr spc="20" dirty="0"/>
              <a:t> </a:t>
            </a:r>
            <a:r>
              <a:rPr spc="-20" dirty="0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1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Shared</a:t>
            </a:r>
            <a:r>
              <a:rPr spc="15" dirty="0"/>
              <a:t> </a:t>
            </a:r>
            <a:r>
              <a:rPr spc="-45" dirty="0"/>
              <a:t>Responsibility</a:t>
            </a:r>
            <a:r>
              <a:rPr spc="20" dirty="0"/>
              <a:t> </a:t>
            </a:r>
            <a:r>
              <a:rPr dirty="0"/>
              <a:t>Model:</a:t>
            </a:r>
            <a:r>
              <a:rPr spc="120" dirty="0"/>
              <a:t> </a:t>
            </a:r>
            <a:r>
              <a:rPr dirty="0"/>
              <a:t>Pizza</a:t>
            </a:r>
            <a:r>
              <a:rPr spc="20" dirty="0"/>
              <a:t> </a:t>
            </a:r>
            <a:r>
              <a:rPr spc="-25" dirty="0"/>
              <a:t>as</a:t>
            </a:r>
            <a:r>
              <a:rPr spc="15" dirty="0"/>
              <a:t> </a:t>
            </a:r>
            <a:r>
              <a:rPr dirty="0"/>
              <a:t>a</a:t>
            </a:r>
            <a:r>
              <a:rPr spc="20" dirty="0"/>
              <a:t> </a:t>
            </a:r>
            <a:r>
              <a:rPr spc="-20" dirty="0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sz="900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sz="900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sz="900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sz="90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Public</a:t>
            </a:r>
            <a:r>
              <a:rPr spc="-35" dirty="0"/>
              <a:t> </a:t>
            </a:r>
            <a:r>
              <a:rPr spc="-40" dirty="0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187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GB" sz="900" dirty="0"/>
              <a:t>A </a:t>
            </a:r>
            <a:r>
              <a:rPr lang="en-GB" sz="900" b="1" dirty="0"/>
              <a:t>public cloud </a:t>
            </a:r>
            <a:r>
              <a:rPr lang="en-GB" sz="900" dirty="0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GB" sz="900" dirty="0"/>
              <a:t>pay‑per‑use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GCP.</a:t>
            </a:r>
            <a:endParaRPr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Private</a:t>
            </a:r>
            <a:r>
              <a:rPr spc="30" dirty="0"/>
              <a:t> </a:t>
            </a:r>
            <a:r>
              <a:rPr spc="-30" dirty="0"/>
              <a:t>Cloud</a:t>
            </a:r>
            <a:r>
              <a:rPr spc="30" dirty="0"/>
              <a:t> </a:t>
            </a:r>
            <a:r>
              <a:rPr spc="-25" dirty="0"/>
              <a:t>(On-</a:t>
            </a:r>
            <a:r>
              <a:rPr spc="-10" dirty="0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Hybrid</a:t>
            </a:r>
            <a:r>
              <a:rPr spc="15" dirty="0"/>
              <a:t> </a:t>
            </a:r>
            <a:r>
              <a:rPr spc="-35" dirty="0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sz="900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Which</a:t>
            </a:r>
            <a:r>
              <a:rPr spc="5" dirty="0"/>
              <a:t> </a:t>
            </a:r>
            <a:r>
              <a:rPr spc="-25" dirty="0"/>
              <a:t>is</a:t>
            </a:r>
            <a:r>
              <a:rPr spc="5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20" dirty="0"/>
              <a:t>current</a:t>
            </a:r>
            <a:r>
              <a:rPr spc="5" dirty="0"/>
              <a:t> </a:t>
            </a:r>
            <a:r>
              <a:rPr spc="-20" dirty="0"/>
              <a:t>situation</a:t>
            </a:r>
            <a:r>
              <a:rPr spc="10" dirty="0"/>
              <a:t> </a:t>
            </a:r>
            <a:r>
              <a:rPr dirty="0"/>
              <a:t>of</a:t>
            </a:r>
            <a:r>
              <a:rPr spc="5" dirty="0"/>
              <a:t> </a:t>
            </a:r>
            <a:r>
              <a:rPr spc="-30" dirty="0"/>
              <a:t>Cloud</a:t>
            </a:r>
            <a:r>
              <a:rPr spc="5" dirty="0"/>
              <a:t> </a:t>
            </a:r>
            <a:r>
              <a:rPr spc="-30" dirty="0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8421" y="348847"/>
            <a:ext cx="4903470" cy="320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0505" marR="5080" indent="-1488440">
              <a:lnSpc>
                <a:spcPct val="116199"/>
              </a:lnSpc>
              <a:spcBef>
                <a:spcPts val="100"/>
              </a:spcBef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$</a:t>
            </a:r>
            <a:r>
              <a:rPr lang="es-ES" sz="900" b="1" dirty="0">
                <a:solidFill>
                  <a:srgbClr val="EB811B"/>
                </a:solidFill>
                <a:latin typeface="Arial"/>
                <a:cs typeface="Arial"/>
              </a:rPr>
              <a:t>1.35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s-ES" sz="900" b="1" spc="-25" dirty="0" err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202</a:t>
            </a:r>
            <a:r>
              <a:rPr lang="es-ES" sz="900" b="1" dirty="0">
                <a:solidFill>
                  <a:srgbClr val="EB811B"/>
                </a:solidFill>
                <a:latin typeface="Arial"/>
                <a:cs typeface="Arial"/>
              </a:rPr>
              <a:t>7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,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growing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s-ES" sz="900" b="1" dirty="0">
                <a:solidFill>
                  <a:srgbClr val="EB811B"/>
                </a:solidFill>
                <a:latin typeface="Arial"/>
                <a:cs typeface="Arial"/>
              </a:rPr>
              <a:t>CAGR</a:t>
            </a:r>
            <a:r>
              <a:rPr lang="es-ES"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b="1" spc="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s-ES" sz="900" b="1" dirty="0">
                <a:solidFill>
                  <a:srgbClr val="EB811B"/>
                </a:solidFill>
                <a:latin typeface="Arial"/>
                <a:cs typeface="Arial"/>
              </a:rPr>
              <a:t>17.5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%</a:t>
            </a:r>
            <a:r>
              <a:rPr sz="900" b="1" spc="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sz="900" b="1" spc="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sz="900" b="1" spc="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202</a:t>
            </a:r>
            <a:r>
              <a:rPr lang="es-ES" sz="900" b="1" spc="-10" dirty="0">
                <a:solidFill>
                  <a:srgbClr val="EB811B"/>
                </a:solidFill>
                <a:latin typeface="Arial"/>
                <a:cs typeface="Arial"/>
              </a:rPr>
              <a:t>5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.</a:t>
            </a:r>
            <a:endParaRPr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82726" y="756097"/>
            <a:ext cx="3994546" cy="209921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979726" y="2989299"/>
            <a:ext cx="18008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6:</a:t>
            </a:r>
            <a:r>
              <a:rPr sz="800" b="1" spc="1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Extracted</a:t>
            </a:r>
            <a:r>
              <a:rPr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IoT</a:t>
            </a:r>
            <a:r>
              <a:rPr sz="800" spc="5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Analytics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sz="1100" b="1" spc="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Capital</a:t>
            </a:r>
            <a:r>
              <a:rPr spc="45" dirty="0"/>
              <a:t> </a:t>
            </a:r>
            <a:r>
              <a:rPr spc="-55" dirty="0"/>
              <a:t>expeneses</a:t>
            </a:r>
            <a:r>
              <a:rPr spc="45" dirty="0"/>
              <a:t> </a:t>
            </a:r>
            <a:r>
              <a:rPr dirty="0"/>
              <a:t>to</a:t>
            </a:r>
            <a:r>
              <a:rPr spc="45" dirty="0"/>
              <a:t> </a:t>
            </a:r>
            <a:r>
              <a:rPr spc="-25" dirty="0"/>
              <a:t>operational</a:t>
            </a:r>
            <a:r>
              <a:rPr spc="50" dirty="0"/>
              <a:t> </a:t>
            </a:r>
            <a:r>
              <a:rPr spc="-55" dirty="0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sz="90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sz="900" spc="315" dirty="0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sz="900" spc="-35" dirty="0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25" dirty="0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sz="900" b="1" spc="13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sz="900" b="1" spc="4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sz="9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sz="9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5" dirty="0"/>
              <a:t>Economies</a:t>
            </a:r>
            <a:r>
              <a:rPr spc="25" dirty="0"/>
              <a:t> </a:t>
            </a:r>
            <a:r>
              <a:rPr dirty="0"/>
              <a:t>of</a:t>
            </a:r>
            <a:r>
              <a:rPr spc="30" dirty="0"/>
              <a:t> </a:t>
            </a:r>
            <a:r>
              <a:rPr spc="-40" dirty="0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25" dirty="0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sz="900" b="1" spc="13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sz="900" b="1" spc="4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sz="900" b="1" spc="-60" dirty="0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Adaptability</a:t>
            </a:r>
            <a:r>
              <a:rPr dirty="0"/>
              <a:t> </a:t>
            </a:r>
            <a:r>
              <a:rPr spc="-10" dirty="0"/>
              <a:t>and</a:t>
            </a:r>
            <a:r>
              <a:rPr dirty="0"/>
              <a:t> </a:t>
            </a:r>
            <a:r>
              <a:rPr spc="-35" dirty="0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25" dirty="0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sz="900" b="1" spc="13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sz="900" b="1" spc="4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sz="900" b="1" spc="-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yout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65" dirty="0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5" dirty="0"/>
              <a:t>Deployment</a:t>
            </a:r>
            <a:r>
              <a:rPr spc="45" dirty="0"/>
              <a:t> </a:t>
            </a:r>
            <a:r>
              <a:rPr spc="-45" dirty="0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25" dirty="0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sz="900" b="1" spc="13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sz="900" b="1" spc="45" dirty="0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-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sz="900" b="1" spc="-55" dirty="0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-5" dirty="0"/>
              <a:t> </a:t>
            </a:r>
            <a:r>
              <a:rPr spc="-10" dirty="0"/>
              <a:t>Study:</a:t>
            </a:r>
            <a:r>
              <a:rPr spc="95" dirty="0"/>
              <a:t> </a:t>
            </a:r>
            <a:r>
              <a:rPr spc="-30" dirty="0"/>
              <a:t>Dropbox</a:t>
            </a:r>
            <a:endParaRPr spc="-35" dirty="0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b="1" spc="-10" dirty="0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sz="900" dirty="0">
              <a:latin typeface="Arial"/>
              <a:cs typeface="Arial"/>
            </a:endParaRPr>
          </a:p>
          <a:p>
            <a:pPr marL="37465" marR="320040">
              <a:lnSpc>
                <a:spcPct val="116199"/>
              </a:lnSpc>
            </a:pP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sz="900" dirty="0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sz="900" dirty="0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sz="1100" spc="-70" dirty="0">
                <a:solidFill>
                  <a:srgbClr val="22373A"/>
                </a:solidFill>
                <a:hlinkClick r:id="rId2" action="ppaction://hlinksldjump"/>
              </a:rPr>
              <a:t>Risks</a:t>
            </a:r>
            <a:r>
              <a:rPr sz="1100" spc="15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sz="1100" spc="-20" dirty="0">
                <a:solidFill>
                  <a:srgbClr val="22373A"/>
                </a:solidFill>
                <a:hlinkClick r:id="rId2" action="ppaction://hlinksldjump"/>
              </a:rPr>
              <a:t>and</a:t>
            </a:r>
            <a:r>
              <a:rPr sz="1100" spc="2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sz="1100" spc="-55" dirty="0">
                <a:solidFill>
                  <a:srgbClr val="22373A"/>
                </a:solidFill>
                <a:hlinkClick r:id="rId2" action="ppaction://hlinksldjump"/>
              </a:rPr>
              <a:t>Challenges</a:t>
            </a:r>
            <a:r>
              <a:rPr sz="1100" spc="15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sz="1100" dirty="0">
                <a:solidFill>
                  <a:srgbClr val="22373A"/>
                </a:solidFill>
                <a:hlinkClick r:id="rId2" action="ppaction://hlinksldjump"/>
              </a:rPr>
              <a:t>of</a:t>
            </a:r>
            <a:r>
              <a:rPr sz="1100" spc="2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sz="1100" spc="-50" dirty="0">
                <a:solidFill>
                  <a:srgbClr val="22373A"/>
                </a:solidFill>
                <a:hlinkClick r:id="rId2" action="ppaction://hlinksldjump"/>
              </a:rPr>
              <a:t>Cloud</a:t>
            </a:r>
            <a:r>
              <a:rPr sz="1100" spc="-50" dirty="0">
                <a:solidFill>
                  <a:srgbClr val="22373A"/>
                </a:solidFill>
              </a:rPr>
              <a:t> </a:t>
            </a:r>
            <a:r>
              <a:rPr sz="1100" spc="-10" dirty="0">
                <a:solidFill>
                  <a:srgbClr val="22373A"/>
                </a:solidFill>
                <a:hlinkClick r:id="rId2" action="ppaction://hlinksldjump"/>
              </a:rPr>
              <a:t>Computing</a:t>
            </a:r>
            <a:endParaRPr sz="1100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Data</a:t>
            </a:r>
            <a:r>
              <a:rPr spc="145" dirty="0"/>
              <a:t> </a:t>
            </a:r>
            <a:r>
              <a:rPr spc="-40" dirty="0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sz="900" dirty="0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provider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yours,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Real </a:t>
            </a:r>
            <a:r>
              <a:rPr spc="-60" dirty="0"/>
              <a:t>Cases</a:t>
            </a:r>
            <a:r>
              <a:rPr spc="5" dirty="0"/>
              <a:t> </a:t>
            </a:r>
            <a:r>
              <a:rPr dirty="0"/>
              <a:t>of </a:t>
            </a:r>
            <a:r>
              <a:rPr spc="-30" dirty="0"/>
              <a:t>Security</a:t>
            </a:r>
            <a:r>
              <a:rPr spc="5" dirty="0"/>
              <a:t> </a:t>
            </a:r>
            <a:r>
              <a:rPr spc="-35" dirty="0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sz="900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sz="900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How</a:t>
            </a:r>
            <a:r>
              <a:rPr spc="25" dirty="0"/>
              <a:t> </a:t>
            </a:r>
            <a:r>
              <a:rPr dirty="0"/>
              <a:t>to</a:t>
            </a:r>
            <a:r>
              <a:rPr spc="30" dirty="0"/>
              <a:t> </a:t>
            </a:r>
            <a:r>
              <a:rPr spc="-10" dirty="0"/>
              <a:t>protect</a:t>
            </a:r>
            <a:r>
              <a:rPr spc="25" dirty="0"/>
              <a:t> </a:t>
            </a:r>
            <a:r>
              <a:rPr spc="-35" dirty="0"/>
              <a:t>your</a:t>
            </a:r>
            <a:r>
              <a:rPr spc="30" dirty="0"/>
              <a:t> </a:t>
            </a:r>
            <a:r>
              <a:rPr dirty="0"/>
              <a:t>data</a:t>
            </a:r>
            <a:r>
              <a:rPr spc="25" dirty="0"/>
              <a:t> </a:t>
            </a:r>
            <a:r>
              <a:rPr dirty="0"/>
              <a:t>in</a:t>
            </a:r>
            <a:r>
              <a:rPr spc="30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45" dirty="0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sz="900" dirty="0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6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sz="900" dirty="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sz="900" dirty="0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sz="900" dirty="0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Data</a:t>
            </a:r>
            <a:r>
              <a:rPr spc="145" dirty="0"/>
              <a:t> </a:t>
            </a:r>
            <a:r>
              <a:rPr spc="-45" dirty="0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sz="900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sz="900" b="1" spc="2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0" dirty="0"/>
              <a:t>Lock-</a:t>
            </a:r>
            <a:r>
              <a:rPr spc="-25" dirty="0"/>
              <a:t>in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sz="900" spc="1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lock-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needs.</a:t>
            </a: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sz="900" dirty="0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value.</a:t>
            </a: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sz="900" dirty="0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sz="900" dirty="0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Other</a:t>
            </a:r>
            <a:r>
              <a:rPr spc="30" dirty="0"/>
              <a:t> </a:t>
            </a:r>
            <a:r>
              <a:rPr spc="-50" dirty="0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sz="900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sz="900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sz="900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sz="90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sz="900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sz="900" b="1" spc="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sz="900" b="1" spc="-30" dirty="0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60" dirty="0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sz="900" b="1" spc="30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GitHub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sz="900" dirty="0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Pages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the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descripton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-5" dirty="0"/>
              <a:t> </a:t>
            </a:r>
            <a:r>
              <a:rPr spc="-10" dirty="0"/>
              <a:t>Study:</a:t>
            </a:r>
            <a:r>
              <a:rPr spc="90" dirty="0"/>
              <a:t> </a:t>
            </a:r>
            <a:r>
              <a:rPr dirty="0"/>
              <a:t>Is</a:t>
            </a:r>
            <a:r>
              <a:rPr spc="-5" dirty="0"/>
              <a:t> </a:t>
            </a:r>
            <a:r>
              <a:rPr spc="-30" dirty="0"/>
              <a:t>Cloud</a:t>
            </a:r>
            <a:r>
              <a:rPr dirty="0"/>
              <a:t> </a:t>
            </a:r>
            <a:r>
              <a:rPr spc="-30" dirty="0"/>
              <a:t>Computing</a:t>
            </a:r>
            <a:r>
              <a:rPr spc="-5" dirty="0"/>
              <a:t> </a:t>
            </a:r>
            <a:r>
              <a:rPr dirty="0"/>
              <a:t>Right for</a:t>
            </a:r>
            <a:r>
              <a:rPr spc="-5" dirty="0"/>
              <a:t> </a:t>
            </a:r>
            <a:r>
              <a:rPr spc="-20" dirty="0"/>
              <a:t>Your</a:t>
            </a:r>
            <a:r>
              <a:rPr dirty="0"/>
              <a:t> </a:t>
            </a:r>
            <a:r>
              <a:rPr spc="-40" dirty="0"/>
              <a:t>Company?</a:t>
            </a:r>
            <a:r>
              <a:rPr spc="85" dirty="0"/>
              <a:t> </a:t>
            </a:r>
            <a:r>
              <a:rPr spc="50" dirty="0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sz="900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sz="900" i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2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sz="900" b="1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sz="900" b="1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b="1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10" dirty="0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-5" dirty="0"/>
              <a:t> </a:t>
            </a:r>
            <a:r>
              <a:rPr spc="-10" dirty="0"/>
              <a:t>Study:</a:t>
            </a:r>
            <a:r>
              <a:rPr spc="90" dirty="0"/>
              <a:t> </a:t>
            </a:r>
            <a:r>
              <a:rPr dirty="0"/>
              <a:t>Is</a:t>
            </a:r>
            <a:r>
              <a:rPr spc="-5" dirty="0"/>
              <a:t> </a:t>
            </a:r>
            <a:r>
              <a:rPr spc="-30" dirty="0"/>
              <a:t>Cloud</a:t>
            </a:r>
            <a:r>
              <a:rPr dirty="0"/>
              <a:t> </a:t>
            </a:r>
            <a:r>
              <a:rPr spc="-30" dirty="0"/>
              <a:t>Computing</a:t>
            </a:r>
            <a:r>
              <a:rPr spc="-5" dirty="0"/>
              <a:t> </a:t>
            </a:r>
            <a:r>
              <a:rPr dirty="0"/>
              <a:t>Right for</a:t>
            </a:r>
            <a:r>
              <a:rPr spc="-5" dirty="0"/>
              <a:t> </a:t>
            </a:r>
            <a:r>
              <a:rPr spc="-20" dirty="0"/>
              <a:t>Your</a:t>
            </a:r>
            <a:r>
              <a:rPr dirty="0"/>
              <a:t> </a:t>
            </a:r>
            <a:r>
              <a:rPr spc="-40" dirty="0"/>
              <a:t>Company?</a:t>
            </a:r>
            <a:r>
              <a:rPr spc="85" dirty="0"/>
              <a:t> </a:t>
            </a:r>
            <a:r>
              <a:rPr spc="55" dirty="0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dirty="0"/>
              <a:t>Now,</a:t>
            </a:r>
            <a:r>
              <a:rPr spc="10" dirty="0"/>
              <a:t> </a:t>
            </a:r>
            <a:r>
              <a:rPr spc="-30" dirty="0"/>
              <a:t>consider</a:t>
            </a:r>
            <a:r>
              <a:rPr spc="15" dirty="0"/>
              <a:t> </a:t>
            </a:r>
            <a:r>
              <a:rPr dirty="0"/>
              <a:t>a</a:t>
            </a:r>
            <a:r>
              <a:rPr spc="15" dirty="0"/>
              <a:t> </a:t>
            </a:r>
            <a:r>
              <a:rPr spc="-10" dirty="0"/>
              <a:t>small</a:t>
            </a:r>
            <a:r>
              <a:rPr spc="10" dirty="0"/>
              <a:t> </a:t>
            </a:r>
            <a:r>
              <a:rPr spc="-30" dirty="0"/>
              <a:t>company</a:t>
            </a:r>
            <a:r>
              <a:rPr spc="15" dirty="0"/>
              <a:t> </a:t>
            </a:r>
            <a:r>
              <a:rPr b="1" spc="50" dirty="0">
                <a:latin typeface="Arial"/>
                <a:cs typeface="Arial"/>
              </a:rPr>
              <a:t>Y</a:t>
            </a:r>
            <a:r>
              <a:rPr b="1" spc="15" dirty="0">
                <a:latin typeface="Arial"/>
                <a:cs typeface="Arial"/>
              </a:rPr>
              <a:t> </a:t>
            </a:r>
            <a:r>
              <a:rPr dirty="0"/>
              <a:t>that</a:t>
            </a:r>
            <a:r>
              <a:rPr spc="10" dirty="0"/>
              <a:t> </a:t>
            </a:r>
            <a:r>
              <a:rPr spc="-55" dirty="0"/>
              <a:t>needs</a:t>
            </a:r>
            <a:r>
              <a:rPr spc="15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dirty="0"/>
              <a:t>digitalize</a:t>
            </a:r>
            <a:r>
              <a:rPr spc="15" dirty="0"/>
              <a:t> </a:t>
            </a:r>
            <a:r>
              <a:rPr dirty="0"/>
              <a:t>its</a:t>
            </a:r>
            <a:r>
              <a:rPr spc="10" dirty="0"/>
              <a:t> </a:t>
            </a:r>
            <a:r>
              <a:rPr spc="-50" dirty="0"/>
              <a:t>business</a:t>
            </a:r>
            <a:r>
              <a:rPr spc="15" dirty="0"/>
              <a:t> </a:t>
            </a:r>
            <a:r>
              <a:rPr dirty="0"/>
              <a:t>and</a:t>
            </a:r>
            <a:r>
              <a:rPr spc="15" dirty="0"/>
              <a:t> </a:t>
            </a:r>
            <a:r>
              <a:rPr spc="-35" dirty="0"/>
              <a:t>reduce</a:t>
            </a:r>
            <a:r>
              <a:rPr spc="10" dirty="0"/>
              <a:t> </a:t>
            </a:r>
            <a:r>
              <a:rPr spc="-30" dirty="0"/>
              <a:t>costs</a:t>
            </a:r>
            <a:r>
              <a:rPr spc="15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10" dirty="0"/>
              <a:t>compete </a:t>
            </a:r>
            <a:r>
              <a:rPr spc="-20" dirty="0"/>
              <a:t>effectively</a:t>
            </a:r>
            <a:r>
              <a:rPr spc="5" dirty="0"/>
              <a:t> </a:t>
            </a:r>
            <a:r>
              <a:rPr dirty="0"/>
              <a:t>in</a:t>
            </a:r>
            <a:r>
              <a:rPr spc="10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10" dirty="0"/>
              <a:t>market.</a:t>
            </a:r>
            <a:r>
              <a:rPr spc="95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30" dirty="0"/>
              <a:t>company</a:t>
            </a:r>
            <a:r>
              <a:rPr spc="10" dirty="0"/>
              <a:t> </a:t>
            </a:r>
            <a:r>
              <a:rPr dirty="0"/>
              <a:t>is</a:t>
            </a:r>
            <a:r>
              <a:rPr spc="10" dirty="0"/>
              <a:t> </a:t>
            </a:r>
            <a:r>
              <a:rPr spc="-25" dirty="0"/>
              <a:t>also</a:t>
            </a:r>
            <a:r>
              <a:rPr spc="10" dirty="0"/>
              <a:t> </a:t>
            </a:r>
            <a:r>
              <a:rPr spc="-30" dirty="0"/>
              <a:t>considering</a:t>
            </a:r>
            <a:r>
              <a:rPr spc="10" dirty="0"/>
              <a:t> </a:t>
            </a:r>
            <a:r>
              <a:rPr spc="-10" dirty="0"/>
              <a:t>whether</a:t>
            </a:r>
            <a:r>
              <a:rPr spc="10" dirty="0"/>
              <a:t> </a:t>
            </a:r>
            <a:r>
              <a:rPr dirty="0"/>
              <a:t>to</a:t>
            </a:r>
            <a:r>
              <a:rPr spc="10" dirty="0"/>
              <a:t> </a:t>
            </a:r>
            <a:r>
              <a:rPr dirty="0"/>
              <a:t>adopt</a:t>
            </a:r>
            <a:r>
              <a:rPr spc="10" dirty="0"/>
              <a:t> </a:t>
            </a:r>
            <a:r>
              <a:rPr spc="-10" dirty="0"/>
              <a:t>cloud</a:t>
            </a:r>
            <a:r>
              <a:rPr spc="10" dirty="0"/>
              <a:t> </a:t>
            </a:r>
            <a:r>
              <a:rPr spc="-10" dirty="0"/>
              <a:t>computing</a:t>
            </a:r>
            <a:r>
              <a:rPr spc="10" dirty="0"/>
              <a:t> </a:t>
            </a:r>
            <a:r>
              <a:rPr spc="-25" dirty="0"/>
              <a:t>or </a:t>
            </a:r>
            <a:r>
              <a:rPr dirty="0"/>
              <a:t>traditional</a:t>
            </a:r>
            <a:r>
              <a:rPr spc="55" dirty="0"/>
              <a:t> </a:t>
            </a:r>
            <a:r>
              <a:rPr spc="-10" dirty="0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i="1" dirty="0">
                <a:latin typeface="Arial"/>
                <a:cs typeface="Arial"/>
              </a:rPr>
              <a:t>The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30" dirty="0">
                <a:latin typeface="Arial"/>
                <a:cs typeface="Arial"/>
              </a:rPr>
              <a:t>decision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45" dirty="0">
                <a:latin typeface="Arial"/>
                <a:cs typeface="Arial"/>
              </a:rPr>
              <a:t>depends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on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the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20" dirty="0">
                <a:latin typeface="Arial"/>
                <a:cs typeface="Arial"/>
              </a:rPr>
              <a:t>specific</a:t>
            </a:r>
            <a:r>
              <a:rPr i="1" spc="15" dirty="0">
                <a:latin typeface="Arial"/>
                <a:cs typeface="Arial"/>
              </a:rPr>
              <a:t> </a:t>
            </a:r>
            <a:r>
              <a:rPr i="1" spc="-65" dirty="0">
                <a:latin typeface="Arial"/>
                <a:cs typeface="Arial"/>
              </a:rPr>
              <a:t>needs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and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50" dirty="0">
                <a:latin typeface="Arial"/>
                <a:cs typeface="Arial"/>
              </a:rPr>
              <a:t>resources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of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the</a:t>
            </a:r>
            <a:r>
              <a:rPr i="1" spc="15" dirty="0">
                <a:latin typeface="Arial"/>
                <a:cs typeface="Arial"/>
              </a:rPr>
              <a:t> </a:t>
            </a:r>
            <a:r>
              <a:rPr i="1" spc="-30" dirty="0">
                <a:latin typeface="Arial"/>
                <a:cs typeface="Arial"/>
              </a:rPr>
              <a:t>company.</a:t>
            </a:r>
            <a:r>
              <a:rPr i="1" spc="9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If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the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30" dirty="0">
                <a:latin typeface="Arial"/>
                <a:cs typeface="Arial"/>
              </a:rPr>
              <a:t>company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45" dirty="0">
                <a:latin typeface="Arial"/>
                <a:cs typeface="Arial"/>
              </a:rPr>
              <a:t>has</a:t>
            </a:r>
            <a:r>
              <a:rPr i="1" spc="15" dirty="0">
                <a:latin typeface="Arial"/>
                <a:cs typeface="Arial"/>
              </a:rPr>
              <a:t> </a:t>
            </a:r>
            <a:r>
              <a:rPr i="1" spc="-50" dirty="0">
                <a:latin typeface="Arial"/>
                <a:cs typeface="Arial"/>
              </a:rPr>
              <a:t>a</a:t>
            </a:r>
            <a:r>
              <a:rPr i="1" spc="-10" dirty="0">
                <a:latin typeface="Arial"/>
                <a:cs typeface="Arial"/>
              </a:rPr>
              <a:t> significant</a:t>
            </a:r>
            <a:r>
              <a:rPr i="1" dirty="0">
                <a:latin typeface="Arial"/>
                <a:cs typeface="Arial"/>
              </a:rPr>
              <a:t> amount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of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data,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a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traditional infrastructure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might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be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-25" dirty="0">
                <a:latin typeface="Arial"/>
                <a:cs typeface="Arial"/>
              </a:rPr>
              <a:t>more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-10" dirty="0">
                <a:latin typeface="Arial"/>
                <a:cs typeface="Arial"/>
              </a:rPr>
              <a:t>suitable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-20" dirty="0">
                <a:latin typeface="Arial"/>
                <a:cs typeface="Arial"/>
              </a:rPr>
              <a:t>due</a:t>
            </a:r>
            <a:r>
              <a:rPr i="1" dirty="0">
                <a:latin typeface="Arial"/>
                <a:cs typeface="Arial"/>
              </a:rPr>
              <a:t> to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-25" dirty="0">
                <a:latin typeface="Arial"/>
                <a:cs typeface="Arial"/>
              </a:rPr>
              <a:t>the </a:t>
            </a:r>
            <a:r>
              <a:rPr i="1" spc="-40" dirty="0">
                <a:latin typeface="Arial"/>
                <a:cs typeface="Arial"/>
              </a:rPr>
              <a:t>increased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control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10" dirty="0">
                <a:latin typeface="Arial"/>
                <a:cs typeface="Arial"/>
              </a:rPr>
              <a:t>over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data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25" dirty="0">
                <a:latin typeface="Arial"/>
                <a:cs typeface="Arial"/>
              </a:rPr>
              <a:t>security.</a:t>
            </a:r>
            <a:r>
              <a:rPr i="1" spc="100" dirty="0">
                <a:latin typeface="Arial"/>
                <a:cs typeface="Arial"/>
              </a:rPr>
              <a:t> </a:t>
            </a:r>
            <a:r>
              <a:rPr i="1" spc="-35" dirty="0">
                <a:latin typeface="Arial"/>
                <a:cs typeface="Arial"/>
              </a:rPr>
              <a:t>However,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if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the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30" dirty="0">
                <a:latin typeface="Arial"/>
                <a:cs typeface="Arial"/>
              </a:rPr>
              <a:t>company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35" dirty="0">
                <a:latin typeface="Arial"/>
                <a:cs typeface="Arial"/>
              </a:rPr>
              <a:t>values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flexibility</a:t>
            </a:r>
            <a:r>
              <a:rPr i="1" spc="1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and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20" dirty="0">
                <a:latin typeface="Arial"/>
                <a:cs typeface="Arial"/>
              </a:rPr>
              <a:t>scalability,</a:t>
            </a:r>
            <a:r>
              <a:rPr i="1" spc="10" dirty="0">
                <a:latin typeface="Arial"/>
                <a:cs typeface="Arial"/>
              </a:rPr>
              <a:t> </a:t>
            </a:r>
            <a:r>
              <a:rPr i="1" spc="-10" dirty="0">
                <a:latin typeface="Arial"/>
                <a:cs typeface="Arial"/>
              </a:rPr>
              <a:t>cloud computing</a:t>
            </a:r>
            <a:r>
              <a:rPr i="1" dirty="0">
                <a:latin typeface="Arial"/>
                <a:cs typeface="Arial"/>
              </a:rPr>
              <a:t> </a:t>
            </a:r>
            <a:r>
              <a:rPr i="1" spc="-10" dirty="0">
                <a:latin typeface="Arial"/>
                <a:cs typeface="Arial"/>
              </a:rPr>
              <a:t>could</a:t>
            </a:r>
            <a:r>
              <a:rPr i="1" dirty="0">
                <a:latin typeface="Arial"/>
                <a:cs typeface="Arial"/>
              </a:rPr>
              <a:t> be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dirty="0">
                <a:latin typeface="Arial"/>
                <a:cs typeface="Arial"/>
              </a:rPr>
              <a:t>a better</a:t>
            </a:r>
            <a:r>
              <a:rPr i="1" spc="5" dirty="0">
                <a:latin typeface="Arial"/>
                <a:cs typeface="Arial"/>
              </a:rPr>
              <a:t> </a:t>
            </a:r>
            <a:r>
              <a:rPr i="1" spc="-10" dirty="0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35" dirty="0"/>
              <a:t>Case</a:t>
            </a:r>
            <a:r>
              <a:rPr spc="-5" dirty="0"/>
              <a:t> </a:t>
            </a:r>
            <a:r>
              <a:rPr spc="-10" dirty="0"/>
              <a:t>Study:</a:t>
            </a:r>
            <a:r>
              <a:rPr spc="90" dirty="0"/>
              <a:t> </a:t>
            </a:r>
            <a:r>
              <a:rPr dirty="0"/>
              <a:t>Is</a:t>
            </a:r>
            <a:r>
              <a:rPr spc="-5" dirty="0"/>
              <a:t> </a:t>
            </a:r>
            <a:r>
              <a:rPr spc="-30" dirty="0"/>
              <a:t>Cloud</a:t>
            </a:r>
            <a:r>
              <a:rPr dirty="0"/>
              <a:t> </a:t>
            </a:r>
            <a:r>
              <a:rPr spc="-30" dirty="0"/>
              <a:t>Computing</a:t>
            </a:r>
            <a:r>
              <a:rPr spc="-5" dirty="0"/>
              <a:t> </a:t>
            </a:r>
            <a:r>
              <a:rPr dirty="0"/>
              <a:t>Right for</a:t>
            </a:r>
            <a:r>
              <a:rPr spc="-5" dirty="0"/>
              <a:t> </a:t>
            </a:r>
            <a:r>
              <a:rPr spc="-20" dirty="0"/>
              <a:t>Your</a:t>
            </a:r>
            <a:r>
              <a:rPr dirty="0"/>
              <a:t> </a:t>
            </a:r>
            <a:r>
              <a:rPr spc="-40" dirty="0"/>
              <a:t>Company?</a:t>
            </a:r>
            <a:r>
              <a:rPr spc="85" dirty="0"/>
              <a:t> </a:t>
            </a:r>
            <a:r>
              <a:rPr spc="65" dirty="0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50" dirty="0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sz="900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i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sz="900" i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i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sz="900" i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sz="900" i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5" dirty="0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sz="900" i="1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10" dirty="0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sz="900" b="1" i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i="1" spc="-10" dirty="0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sz="900" i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i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sz="900" i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sz="900" i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i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sz="900" i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sz="900" b="1" spc="-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sz="900" b="1" spc="-10" dirty="0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sz="900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r>
              <a:rPr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in </a:t>
            </a:r>
            <a:r>
              <a:rPr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Health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Why</a:t>
            </a:r>
            <a:r>
              <a:rPr spc="25" dirty="0"/>
              <a:t> </a:t>
            </a:r>
            <a:r>
              <a:rPr spc="-30" dirty="0"/>
              <a:t>Cloud</a:t>
            </a:r>
            <a:r>
              <a:rPr spc="30" dirty="0"/>
              <a:t> </a:t>
            </a:r>
            <a:r>
              <a:rPr spc="-30" dirty="0"/>
              <a:t>Computing</a:t>
            </a:r>
            <a:r>
              <a:rPr spc="30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spc="-10" dirty="0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sz="900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sz="900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sz="900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45" dirty="0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Vilaplana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Mayoral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et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al.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2015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Which</a:t>
            </a:r>
            <a:r>
              <a:rPr spc="10" dirty="0"/>
              <a:t> </a:t>
            </a:r>
            <a:r>
              <a:rPr dirty="0"/>
              <a:t>are</a:t>
            </a:r>
            <a:r>
              <a:rPr spc="10" dirty="0"/>
              <a:t> </a:t>
            </a:r>
            <a:r>
              <a:rPr dirty="0"/>
              <a:t>the</a:t>
            </a:r>
            <a:r>
              <a:rPr spc="15" dirty="0"/>
              <a:t> </a:t>
            </a:r>
            <a:r>
              <a:rPr spc="-35" dirty="0"/>
              <a:t>opportunities</a:t>
            </a:r>
            <a:r>
              <a:rPr spc="10" dirty="0"/>
              <a:t> </a:t>
            </a:r>
            <a:r>
              <a:rPr dirty="0"/>
              <a:t>of</a:t>
            </a:r>
            <a:r>
              <a:rPr spc="10" dirty="0"/>
              <a:t> </a:t>
            </a:r>
            <a:r>
              <a:rPr spc="-30" dirty="0"/>
              <a:t>Cloud</a:t>
            </a:r>
            <a:r>
              <a:rPr spc="15" dirty="0"/>
              <a:t> </a:t>
            </a:r>
            <a:r>
              <a:rPr spc="-30" dirty="0"/>
              <a:t>Computing</a:t>
            </a:r>
            <a:r>
              <a:rPr spc="10" dirty="0"/>
              <a:t> </a:t>
            </a:r>
            <a:r>
              <a:rPr dirty="0"/>
              <a:t>in</a:t>
            </a:r>
            <a:r>
              <a:rPr spc="10" dirty="0"/>
              <a:t> </a:t>
            </a:r>
            <a:r>
              <a:rPr spc="-10" dirty="0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5" dirty="0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sz="9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50" dirty="0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sz="9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sz="9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sz="9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sz="9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sz="900" b="1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sz="9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sz="9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50" dirty="0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i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Ali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et</a:t>
            </a:r>
            <a:r>
              <a:rPr sz="900" i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al.</a:t>
            </a:r>
            <a:r>
              <a:rPr sz="900" i="1" spc="1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2018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Use</a:t>
            </a:r>
            <a:r>
              <a:rPr spc="-35" dirty="0"/>
              <a:t> </a:t>
            </a:r>
            <a:r>
              <a:rPr spc="-65" dirty="0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sz="900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30" dirty="0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sz="900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sz="90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0" dirty="0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5" dirty="0"/>
              <a:t>Challenges</a:t>
            </a:r>
            <a:r>
              <a:rPr spc="30" dirty="0"/>
              <a:t> </a:t>
            </a:r>
            <a:r>
              <a:rPr dirty="0"/>
              <a:t>in</a:t>
            </a:r>
            <a:r>
              <a:rPr spc="30" dirty="0"/>
              <a:t> </a:t>
            </a:r>
            <a:r>
              <a:rPr spc="-10" dirty="0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9656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s-ES" sz="900" b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others</a:t>
            </a:r>
            <a:r>
              <a:rPr lang="es-ES" sz="900" b="1" spc="-25" dirty="0">
                <a:solidFill>
                  <a:srgbClr val="22373A"/>
                </a:solidFill>
                <a:latin typeface="Arial"/>
                <a:cs typeface="Arial"/>
              </a:rPr>
              <a:t>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s-ES" sz="900" b="1" spc="-25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rights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sz="900" dirty="0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achieving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seamless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significant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challenge.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Electronic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(EHRs)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clinicians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patient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consultations,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Is</a:t>
            </a:r>
            <a:r>
              <a:rPr spc="10" dirty="0"/>
              <a:t> </a:t>
            </a:r>
            <a:r>
              <a:rPr spc="-35" dirty="0"/>
              <a:t>cloud</a:t>
            </a:r>
            <a:r>
              <a:rPr spc="10" dirty="0"/>
              <a:t> </a:t>
            </a:r>
            <a:r>
              <a:rPr spc="-35" dirty="0"/>
              <a:t>computing</a:t>
            </a:r>
            <a:r>
              <a:rPr spc="15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dirty="0"/>
              <a:t>future</a:t>
            </a:r>
            <a:r>
              <a:rPr spc="15" dirty="0"/>
              <a:t> </a:t>
            </a:r>
            <a:r>
              <a:rPr dirty="0"/>
              <a:t>of</a:t>
            </a:r>
            <a:r>
              <a:rPr spc="10" dirty="0"/>
              <a:t> </a:t>
            </a:r>
            <a:r>
              <a:rPr spc="-10" dirty="0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s-E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30" dirty="0" err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s-E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30" dirty="0" err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s-E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30" dirty="0" err="1">
                <a:solidFill>
                  <a:srgbClr val="22373A"/>
                </a:solidFill>
                <a:latin typeface="Arial"/>
                <a:cs typeface="Arial"/>
              </a:rPr>
              <a:t>continously</a:t>
            </a:r>
            <a:endParaRPr lang="es-ES" sz="900" dirty="0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s-ES" sz="900" b="1" dirty="0" err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s-E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-40" dirty="0" err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s-E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s-E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55" dirty="0" err="1">
                <a:solidFill>
                  <a:srgbClr val="22373A"/>
                </a:solidFill>
                <a:latin typeface="Arial"/>
                <a:cs typeface="Arial"/>
              </a:rPr>
              <a:t>Sensors</a:t>
            </a:r>
            <a:r>
              <a:rPr lang="es-ES" sz="900" spc="-5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s-E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45" dirty="0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s-E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s-E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45" dirty="0" err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s-E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dirty="0" err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s-E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dirty="0" err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s-E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s-E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dirty="0" err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s-E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s-ES" sz="900" dirty="0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sz="900" dirty="0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sz="900" dirty="0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sz="900" b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sz="9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4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315" dirty="0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sz="900" spc="-10" dirty="0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sz="900" dirty="0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0" dirty="0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6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5" dirty="0"/>
              <a:t>Recap:</a:t>
            </a:r>
            <a:r>
              <a:rPr spc="110" dirty="0"/>
              <a:t> </a:t>
            </a:r>
            <a:r>
              <a:rPr spc="-30" dirty="0"/>
              <a:t>Cloud</a:t>
            </a:r>
            <a:r>
              <a:rPr spc="15" dirty="0"/>
              <a:t> </a:t>
            </a:r>
            <a:r>
              <a:rPr spc="-30" dirty="0"/>
              <a:t>Computing</a:t>
            </a:r>
            <a:r>
              <a:rPr spc="15" dirty="0"/>
              <a:t> </a:t>
            </a:r>
            <a:r>
              <a:rPr spc="-40" dirty="0"/>
              <a:t>vs</a:t>
            </a:r>
            <a:r>
              <a:rPr spc="15" dirty="0"/>
              <a:t> </a:t>
            </a:r>
            <a:r>
              <a:rPr spc="-20" dirty="0"/>
              <a:t>Traditional</a:t>
            </a:r>
            <a:r>
              <a:rPr spc="10" dirty="0"/>
              <a:t> </a:t>
            </a:r>
            <a:r>
              <a:rPr spc="-20" dirty="0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sz="900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sz="900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sz="900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sz="900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5" dirty="0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sz="900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7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Homework</a:t>
            </a:r>
            <a:r>
              <a:rPr spc="-5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spc="-10" dirty="0"/>
              <a:t>Creating</a:t>
            </a:r>
            <a:r>
              <a:rPr dirty="0"/>
              <a:t> </a:t>
            </a:r>
            <a:r>
              <a:rPr spc="-10" dirty="0"/>
              <a:t>our</a:t>
            </a:r>
            <a:r>
              <a:rPr spc="-5" dirty="0"/>
              <a:t> </a:t>
            </a:r>
            <a:r>
              <a:rPr spc="-30" dirty="0"/>
              <a:t>own</a:t>
            </a:r>
            <a:r>
              <a:rPr spc="-5" dirty="0"/>
              <a:t> </a:t>
            </a:r>
            <a:r>
              <a:rPr spc="-25" dirty="0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900" dirty="0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sz="900" dirty="0">
                <a:latin typeface="Arial"/>
                <a:cs typeface="Arial"/>
              </a:rPr>
              <a:t>The </a:t>
            </a:r>
            <a:r>
              <a:rPr sz="900" spc="-10" dirty="0">
                <a:latin typeface="Arial"/>
                <a:cs typeface="Arial"/>
              </a:rPr>
              <a:t>goal</a:t>
            </a:r>
            <a:r>
              <a:rPr sz="900" dirty="0">
                <a:latin typeface="Arial"/>
                <a:cs typeface="Arial"/>
              </a:rPr>
              <a:t> of this </a:t>
            </a:r>
            <a:r>
              <a:rPr sz="900" spc="-45" dirty="0">
                <a:latin typeface="Arial"/>
                <a:cs typeface="Arial"/>
              </a:rPr>
              <a:t>hands-</a:t>
            </a:r>
            <a:r>
              <a:rPr sz="900" dirty="0">
                <a:latin typeface="Arial"/>
                <a:cs typeface="Arial"/>
              </a:rPr>
              <a:t>on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lab is to </a:t>
            </a:r>
            <a:r>
              <a:rPr sz="900" spc="-50" dirty="0">
                <a:latin typeface="Arial"/>
                <a:cs typeface="Arial"/>
              </a:rPr>
              <a:t>show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you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how</a:t>
            </a:r>
            <a:r>
              <a:rPr sz="900" dirty="0">
                <a:latin typeface="Arial"/>
                <a:cs typeface="Arial"/>
              </a:rPr>
              <a:t> to</a:t>
            </a:r>
            <a:r>
              <a:rPr sz="900" spc="-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deploy</a:t>
            </a:r>
            <a:r>
              <a:rPr sz="900" dirty="0">
                <a:latin typeface="Arial"/>
                <a:cs typeface="Arial"/>
              </a:rPr>
              <a:t> a </a:t>
            </a:r>
            <a:r>
              <a:rPr sz="900" spc="-30" dirty="0">
                <a:latin typeface="Arial"/>
                <a:cs typeface="Arial"/>
              </a:rPr>
              <a:t>personal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website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using</a:t>
            </a:r>
            <a:r>
              <a:rPr sz="900" spc="-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cloud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computing.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sz="9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HOL01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Homework</a:t>
            </a:r>
            <a:r>
              <a:rPr spc="-5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spc="-10" dirty="0"/>
              <a:t>Creating</a:t>
            </a:r>
            <a:r>
              <a:rPr dirty="0"/>
              <a:t> </a:t>
            </a:r>
            <a:r>
              <a:rPr spc="-10" dirty="0"/>
              <a:t>our</a:t>
            </a:r>
            <a:r>
              <a:rPr spc="-5" dirty="0"/>
              <a:t> </a:t>
            </a:r>
            <a:r>
              <a:rPr spc="-30" dirty="0"/>
              <a:t>own</a:t>
            </a:r>
            <a:r>
              <a:rPr spc="-5" dirty="0"/>
              <a:t> </a:t>
            </a:r>
            <a:r>
              <a:rPr spc="-25" dirty="0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35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900" dirty="0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sz="900" dirty="0">
                <a:latin typeface="Arial"/>
                <a:cs typeface="Arial"/>
              </a:rPr>
              <a:t>The </a:t>
            </a:r>
            <a:r>
              <a:rPr sz="900" spc="-10" dirty="0">
                <a:latin typeface="Arial"/>
                <a:cs typeface="Arial"/>
              </a:rPr>
              <a:t>goal</a:t>
            </a:r>
            <a:r>
              <a:rPr sz="900" dirty="0">
                <a:latin typeface="Arial"/>
                <a:cs typeface="Arial"/>
              </a:rPr>
              <a:t> of this </a:t>
            </a:r>
            <a:r>
              <a:rPr sz="900" spc="-45" dirty="0">
                <a:latin typeface="Arial"/>
                <a:cs typeface="Arial"/>
              </a:rPr>
              <a:t>hands-</a:t>
            </a:r>
            <a:r>
              <a:rPr sz="900" dirty="0">
                <a:latin typeface="Arial"/>
                <a:cs typeface="Arial"/>
              </a:rPr>
              <a:t>on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lab is to </a:t>
            </a:r>
            <a:r>
              <a:rPr sz="900" spc="-50" dirty="0">
                <a:latin typeface="Arial"/>
                <a:cs typeface="Arial"/>
              </a:rPr>
              <a:t>show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you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how</a:t>
            </a:r>
            <a:r>
              <a:rPr sz="900" dirty="0">
                <a:latin typeface="Arial"/>
                <a:cs typeface="Arial"/>
              </a:rPr>
              <a:t> to</a:t>
            </a:r>
            <a:r>
              <a:rPr sz="900" spc="-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deploy</a:t>
            </a:r>
            <a:r>
              <a:rPr sz="900" dirty="0">
                <a:latin typeface="Arial"/>
                <a:cs typeface="Arial"/>
              </a:rPr>
              <a:t> a </a:t>
            </a:r>
            <a:r>
              <a:rPr sz="900" spc="-30" dirty="0">
                <a:latin typeface="Arial"/>
                <a:cs typeface="Arial"/>
              </a:rPr>
              <a:t>personal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website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using</a:t>
            </a:r>
            <a:r>
              <a:rPr sz="900" spc="-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cloud</a:t>
            </a:r>
            <a:r>
              <a:rPr sz="90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computing.</a:t>
            </a:r>
            <a:endParaRPr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sz="9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HOL01</a:t>
            </a:r>
            <a:endParaRPr sz="900" dirty="0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25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40" dirty="0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Quiz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30" dirty="0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sz="800" b="1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30" dirty="0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sz="100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sz="800" b="1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s-ES" sz="900" b="1" spc="-25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b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Repositoris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: A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often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 repo)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basically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keep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files and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history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s-ES" sz="900" b="1" spc="-25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b="1" spc="-25" dirty="0">
                <a:solidFill>
                  <a:srgbClr val="22373A"/>
                </a:solidFill>
                <a:latin typeface="Arial"/>
                <a:cs typeface="Arial"/>
              </a:rPr>
              <a:t> Pages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static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hosting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put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HTML, CSS, JavaScript, Python … files in a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repo.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can use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personal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websites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documentation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, portfolios, blogs,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notes /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materials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, simple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static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b="1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b="1" spc="-25" dirty="0" err="1">
                <a:solidFill>
                  <a:srgbClr val="22373A"/>
                </a:solidFill>
                <a:latin typeface="Arial"/>
                <a:cs typeface="Arial"/>
              </a:rPr>
              <a:t>Copilot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Copilot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AI-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powered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coding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assistant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GitHup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+ Microsoft +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OpenAI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helps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programmers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faster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fewere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mistakes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suggesting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s-ES" sz="900" spc="-10" dirty="0" err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s-ES" sz="900" spc="-10" dirty="0">
                <a:solidFill>
                  <a:srgbClr val="22373A"/>
                </a:solidFill>
                <a:latin typeface="Arial"/>
                <a:cs typeface="Arial"/>
              </a:rPr>
              <a:t>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s-ES" sz="900" spc="-10" dirty="0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45" dirty="0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sz="1000" b="1" spc="5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sz="1000" b="1" spc="5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25" dirty="0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sz="1000" b="1" spc="-35" dirty="0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sz="8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b="1" dirty="0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sz="800" b="1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30" dirty="0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Let’s</a:t>
            </a:r>
            <a:r>
              <a:rPr spc="-35" dirty="0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sz="900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sz="900" b="1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b="1" spc="-10" dirty="0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sz="900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sz="90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0" dirty="0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60" dirty="0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0" dirty="0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sz="900" spc="-25" dirty="0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sz="900" i="1" spc="-25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sz="9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35" dirty="0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sz="900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20" dirty="0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20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40" dirty="0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spc="-10" dirty="0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sz="900" i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i="1" dirty="0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sz="90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2602</TotalTime>
  <Words>4132</Words>
  <Application>Microsoft Macintosh PowerPoint</Application>
  <PresentationFormat>Custom</PresentationFormat>
  <Paragraphs>300</Paragraphs>
  <Slides>52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6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Which is the current situation of Cloud Computing?</vt:lpstr>
      <vt:lpstr>PowerPoint Presentation</vt:lpstr>
      <vt:lpstr>Capital expeneses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Lock-in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9</cp:revision>
  <dcterms:created xsi:type="dcterms:W3CDTF">2025-05-19T16:07:57Z</dcterms:created>
  <dcterms:modified xsi:type="dcterms:W3CDTF">2026-03-13T17:11:20Z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