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59E8B-818E-5141-A4D1-302A56EDA28F}" v="27" dt="2026-02-27T18:03:08.7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/>
    <p:restoredTop sz="94755"/>
  </p:normalViewPr>
  <p:slideViewPr>
    <p:cSldViewPr>
      <p:cViewPr>
        <p:scale>
          <a:sx n="194" d="100"/>
          <a:sy n="194" d="100"/>
        </p:scale>
        <p:origin x="456" y="2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modSld">
      <pc:chgData name="Francesc Xavier Solsona Tehas" userId="1f95e2c3-a25c-4efc-a37b-de93ab79e53c" providerId="ADAL" clId="{C51773D9-DD29-5A84-A509-762D3F3EA38B}" dt="2026-02-27T18:03:46.786" v="426" actId="14100"/>
      <pc:docMkLst>
        <pc:docMk/>
      </pc:docMkLst>
      <pc:sldChg chg="modSp mod">
        <pc:chgData name="Francesc Xavier Solsona Tehas" userId="1f95e2c3-a25c-4efc-a37b-de93ab79e53c" providerId="ADAL" clId="{C51773D9-DD29-5A84-A509-762D3F3EA38B}" dt="2026-02-27T17:28:15.654" v="355" actId="20577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27T17:28:15.654" v="355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Francesc Xavier Solsona Tehas" userId="1f95e2c3-a25c-4efc-a37b-de93ab79e53c" providerId="ADAL" clId="{C51773D9-DD29-5A84-A509-762D3F3EA38B}" dt="2026-02-25T17:31:07.196" v="278" actId="20577"/>
        <pc:sldMkLst>
          <pc:docMk/>
          <pc:sldMk cId="0" sldId="288"/>
        </pc:sldMkLst>
        <pc:spChg chg="mod">
          <ac:chgData name="Francesc Xavier Solsona Tehas" userId="1f95e2c3-a25c-4efc-a37b-de93ab79e53c" providerId="ADAL" clId="{C51773D9-DD29-5A84-A509-762D3F3EA38B}" dt="2026-02-25T17:22:58.782" v="67" actId="20577"/>
          <ac:spMkLst>
            <pc:docMk/>
            <pc:sldMk cId="0" sldId="288"/>
            <ac:spMk id="2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25T17:31:07.196" v="278" actId="20577"/>
          <ac:spMkLst>
            <pc:docMk/>
            <pc:sldMk cId="0" sldId="288"/>
            <ac:spMk id="6" creationId="{00000000-0000-0000-0000-000000000000}"/>
          </ac:spMkLst>
        </pc:spChg>
        <pc:spChg chg="add mod">
          <ac:chgData name="Francesc Xavier Solsona Tehas" userId="1f95e2c3-a25c-4efc-a37b-de93ab79e53c" providerId="ADAL" clId="{C51773D9-DD29-5A84-A509-762D3F3EA38B}" dt="2026-02-25T17:28:34.407" v="222"/>
          <ac:spMkLst>
            <pc:docMk/>
            <pc:sldMk cId="0" sldId="288"/>
            <ac:spMk id="11" creationId="{3D3B9152-8B31-2A5B-394E-4D54985509B5}"/>
          </ac:spMkLst>
        </pc:spChg>
      </pc:sldChg>
      <pc:sldChg chg="addSp delSp modSp mod modNotesTx">
        <pc:chgData name="Francesc Xavier Solsona Tehas" userId="1f95e2c3-a25c-4efc-a37b-de93ab79e53c" providerId="ADAL" clId="{C51773D9-DD29-5A84-A509-762D3F3EA38B}" dt="2026-02-25T17:29:46.780" v="241" actId="1036"/>
        <pc:sldMkLst>
          <pc:docMk/>
          <pc:sldMk cId="0" sldId="290"/>
        </pc:sldMkLst>
        <pc:spChg chg="mod">
          <ac:chgData name="Francesc Xavier Solsona Tehas" userId="1f95e2c3-a25c-4efc-a37b-de93ab79e53c" providerId="ADAL" clId="{C51773D9-DD29-5A84-A509-762D3F3EA38B}" dt="2026-02-25T17:29:46.780" v="241" actId="1036"/>
          <ac:spMkLst>
            <pc:docMk/>
            <pc:sldMk cId="0" sldId="290"/>
            <ac:spMk id="17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25T17:41:45.980" v="280" actId="20577"/>
        <pc:sldMkLst>
          <pc:docMk/>
          <pc:sldMk cId="0" sldId="297"/>
        </pc:sldMkLst>
        <pc:spChg chg="mod">
          <ac:chgData name="Francesc Xavier Solsona Tehas" userId="1f95e2c3-a25c-4efc-a37b-de93ab79e53c" providerId="ADAL" clId="{C51773D9-DD29-5A84-A509-762D3F3EA38B}" dt="2026-02-25T17:41:45.980" v="280" actId="20577"/>
          <ac:spMkLst>
            <pc:docMk/>
            <pc:sldMk cId="0" sldId="297"/>
            <ac:spMk id="3" creationId="{00000000-0000-0000-0000-000000000000}"/>
          </ac:spMkLst>
        </pc:spChg>
      </pc:sldChg>
      <pc:sldChg chg="addSp delSp modSp mod modNotesTx">
        <pc:chgData name="Francesc Xavier Solsona Tehas" userId="1f95e2c3-a25c-4efc-a37b-de93ab79e53c" providerId="ADAL" clId="{C51773D9-DD29-5A84-A509-762D3F3EA38B}" dt="2026-02-27T17:39:44.207" v="360" actId="1076"/>
        <pc:sldMkLst>
          <pc:docMk/>
          <pc:sldMk cId="0" sldId="309"/>
        </pc:sldMkLst>
        <pc:spChg chg="mod">
          <ac:chgData name="Francesc Xavier Solsona Tehas" userId="1f95e2c3-a25c-4efc-a37b-de93ab79e53c" providerId="ADAL" clId="{C51773D9-DD29-5A84-A509-762D3F3EA38B}" dt="2026-02-27T17:39:29.804" v="359" actId="20577"/>
          <ac:spMkLst>
            <pc:docMk/>
            <pc:sldMk cId="0" sldId="309"/>
            <ac:spMk id="12" creationId="{00000000-0000-0000-0000-000000000000}"/>
          </ac:spMkLst>
        </pc:spChg>
        <pc:grpChg chg="mod">
          <ac:chgData name="Francesc Xavier Solsona Tehas" userId="1f95e2c3-a25c-4efc-a37b-de93ab79e53c" providerId="ADAL" clId="{C51773D9-DD29-5A84-A509-762D3F3EA38B}" dt="2026-02-27T17:39:44.207" v="360" actId="1076"/>
          <ac:grpSpMkLst>
            <pc:docMk/>
            <pc:sldMk cId="0" sldId="309"/>
            <ac:grpSpMk id="9" creationId="{00000000-0000-0000-0000-000000000000}"/>
          </ac:grpSpMkLst>
        </pc:grpChg>
      </pc:sldChg>
      <pc:sldChg chg="modSp mod">
        <pc:chgData name="Francesc Xavier Solsona Tehas" userId="1f95e2c3-a25c-4efc-a37b-de93ab79e53c" providerId="ADAL" clId="{C51773D9-DD29-5A84-A509-762D3F3EA38B}" dt="2026-02-25T18:24:42.332" v="332" actId="20577"/>
        <pc:sldMkLst>
          <pc:docMk/>
          <pc:sldMk cId="0" sldId="317"/>
        </pc:sldMkLst>
        <pc:spChg chg="mod">
          <ac:chgData name="Francesc Xavier Solsona Tehas" userId="1f95e2c3-a25c-4efc-a37b-de93ab79e53c" providerId="ADAL" clId="{C51773D9-DD29-5A84-A509-762D3F3EA38B}" dt="2026-02-25T18:24:42.332" v="332" actId="20577"/>
          <ac:spMkLst>
            <pc:docMk/>
            <pc:sldMk cId="0" sldId="317"/>
            <ac:spMk id="10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27T18:03:46.786" v="426" actId="14100"/>
        <pc:sldMkLst>
          <pc:docMk/>
          <pc:sldMk cId="0" sldId="318"/>
        </pc:sldMkLst>
        <pc:spChg chg="mod">
          <ac:chgData name="Francesc Xavier Solsona Tehas" userId="1f95e2c3-a25c-4efc-a37b-de93ab79e53c" providerId="ADAL" clId="{C51773D9-DD29-5A84-A509-762D3F3EA38B}" dt="2026-02-27T18:03:36.935" v="424" actId="1076"/>
          <ac:spMkLst>
            <pc:docMk/>
            <pc:sldMk cId="0" sldId="318"/>
            <ac:spMk id="6" creationId="{00000000-0000-0000-0000-000000000000}"/>
          </ac:spMkLst>
        </pc:spChg>
        <pc:grpChg chg="mod">
          <ac:chgData name="Francesc Xavier Solsona Tehas" userId="1f95e2c3-a25c-4efc-a37b-de93ab79e53c" providerId="ADAL" clId="{C51773D9-DD29-5A84-A509-762D3F3EA38B}" dt="2026-02-27T18:03:46.786" v="426" actId="14100"/>
          <ac:grpSpMkLst>
            <pc:docMk/>
            <pc:sldMk cId="0" sldId="318"/>
            <ac:grpSpMk id="3" creationId="{00000000-0000-0000-0000-000000000000}"/>
          </ac:grpSpMkLst>
        </pc:grpChg>
      </pc:sldChg>
      <pc:sldChg chg="modSp mod">
        <pc:chgData name="Francesc Xavier Solsona Tehas" userId="1f95e2c3-a25c-4efc-a37b-de93ab79e53c" providerId="ADAL" clId="{C51773D9-DD29-5A84-A509-762D3F3EA38B}" dt="2026-02-25T17:51:20.860" v="290" actId="12"/>
        <pc:sldMkLst>
          <pc:docMk/>
          <pc:sldMk cId="0" sldId="324"/>
        </pc:sldMkLst>
        <pc:spChg chg="mod">
          <ac:chgData name="Francesc Xavier Solsona Tehas" userId="1f95e2c3-a25c-4efc-a37b-de93ab79e53c" providerId="ADAL" clId="{C51773D9-DD29-5A84-A509-762D3F3EA38B}" dt="2026-02-25T17:51:20.860" v="290" actId="12"/>
          <ac:spMkLst>
            <pc:docMk/>
            <pc:sldMk cId="0" sldId="324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4E720-A3C4-334A-A6E2-ECDE84EDBA49}" type="datetimeFigureOut">
              <a:rPr lang="es-ES" smtClean="0"/>
              <a:t>27/2/26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15D25-6C48-DB4D-ADA2-CDADC6B20D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09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REPASSAR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569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3528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boto3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AWS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as: S3, EC2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397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788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060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126" y="1145470"/>
            <a:ext cx="3063875" cy="1084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3/pricin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docs.aws.amazon.com/cli/latest/userguide/getting-started-install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2.html" TargetMode="External"/><Relationship Id="rId2" Type="http://schemas.openxmlformats.org/officeDocument/2006/relationships/hyperlink" Target="https://hdbc-17705110-mdbs.github.io/HandsOnLabs/guide1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hyperlink" Target="https://hdbc-17705110-mdbs.github.io/HandsOnLab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2.html" TargetMode="External"/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boto3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session3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1.html" TargetMode="External"/><Relationship Id="rId2" Type="http://schemas.openxmlformats.org/officeDocument/2006/relationships/hyperlink" Target="https://hdbc-17705110-mdbs.github.io/HandsOnLab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dbc-17705110-mdbs.github.io/HandsOnLabs/guide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242941"/>
            <a:ext cx="970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24594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800" spc="-10" dirty="0"/>
              <a:t>Francesc Solsona Tehas </a:t>
            </a:r>
            <a:r>
              <a:rPr lang="es-ES" sz="800" spc="-20" dirty="0">
                <a:hlinkClick r:id="rId2"/>
              </a:rPr>
              <a:t>francesc.solsona@udl.cat</a:t>
            </a:r>
            <a:endParaRPr sz="800" dirty="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 dirty="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 dirty="0"/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15570" cy="5080"/>
            </a:xfrm>
            <a:custGeom>
              <a:avLst/>
              <a:gdLst/>
              <a:ahLst/>
              <a:cxnLst/>
              <a:rect l="l" t="t" r="r" b="b"/>
              <a:pathLst>
                <a:path w="115570" h="5080">
                  <a:moveTo>
                    <a:pt x="0" y="5060"/>
                  </a:moveTo>
                  <a:lnTo>
                    <a:pt x="0" y="0"/>
                  </a:lnTo>
                  <a:lnTo>
                    <a:pt x="115225" y="0"/>
                  </a:lnTo>
                  <a:lnTo>
                    <a:pt x="1152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8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Today’s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lecture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126" y="1153294"/>
            <a:ext cx="185356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8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Today’s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lecture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126" y="1145470"/>
            <a:ext cx="1853564" cy="29845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45470"/>
            <a:ext cx="1853564" cy="42925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45470"/>
            <a:ext cx="1853564" cy="5607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45470"/>
            <a:ext cx="2513965" cy="69151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pc="-25" dirty="0"/>
              <a:t>AWS</a:t>
            </a:r>
            <a:r>
              <a:rPr spc="-5" dirty="0"/>
              <a:t> </a:t>
            </a:r>
            <a:r>
              <a:rPr dirty="0"/>
              <a:t>S3:</a:t>
            </a:r>
            <a:r>
              <a:rPr spc="75" dirty="0"/>
              <a:t> </a:t>
            </a:r>
            <a:r>
              <a:rPr spc="-10" dirty="0"/>
              <a:t>Storing</a:t>
            </a:r>
            <a:r>
              <a:rPr spc="-5" dirty="0"/>
              <a:t> </a:t>
            </a:r>
            <a:r>
              <a:rPr spc="-10" dirty="0"/>
              <a:t>files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pc="-25" dirty="0"/>
              <a:t>AWS</a:t>
            </a:r>
            <a:r>
              <a:rPr spc="-5" dirty="0"/>
              <a:t> </a:t>
            </a:r>
            <a:r>
              <a:rPr dirty="0"/>
              <a:t>S3:</a:t>
            </a:r>
            <a:r>
              <a:rPr spc="75" dirty="0"/>
              <a:t> </a:t>
            </a:r>
            <a:r>
              <a:rPr spc="-10" dirty="0"/>
              <a:t>Storing</a:t>
            </a:r>
            <a:r>
              <a:rPr spc="-5" dirty="0"/>
              <a:t> </a:t>
            </a:r>
            <a:r>
              <a:rPr spc="-10" dirty="0"/>
              <a:t>files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  <a:p>
            <a:pPr marL="382905" lvl="1" indent="-135255">
              <a:lnSpc>
                <a:spcPct val="100000"/>
              </a:lnSpc>
              <a:spcBef>
                <a:spcPts val="75"/>
              </a:spcBef>
              <a:buChar char="•"/>
              <a:tabLst>
                <a:tab pos="38290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pc="-25" dirty="0"/>
              <a:t>AWS</a:t>
            </a:r>
            <a:r>
              <a:rPr spc="-5" dirty="0"/>
              <a:t> </a:t>
            </a:r>
            <a:r>
              <a:rPr dirty="0"/>
              <a:t>S3:</a:t>
            </a:r>
            <a:r>
              <a:rPr spc="75" dirty="0"/>
              <a:t> </a:t>
            </a:r>
            <a:r>
              <a:rPr spc="-10" dirty="0"/>
              <a:t>Storing</a:t>
            </a:r>
            <a:r>
              <a:rPr spc="-5" dirty="0"/>
              <a:t> </a:t>
            </a:r>
            <a:r>
              <a:rPr spc="-10" dirty="0"/>
              <a:t>files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  <a:p>
            <a:pPr marL="382905" lvl="1" indent="-135255">
              <a:lnSpc>
                <a:spcPct val="100000"/>
              </a:lnSpc>
              <a:spcBef>
                <a:spcPts val="75"/>
              </a:spcBef>
              <a:buChar char="•"/>
              <a:tabLst>
                <a:tab pos="38290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894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-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Storing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files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00330" cy="5080"/>
            </a:xfrm>
            <a:custGeom>
              <a:avLst/>
              <a:gdLst/>
              <a:ahLst/>
              <a:cxnLst/>
              <a:rect l="l" t="t" r="r" b="b"/>
              <a:pathLst>
                <a:path w="100330" h="5080">
                  <a:moveTo>
                    <a:pt x="0" y="5060"/>
                  </a:moveTo>
                  <a:lnTo>
                    <a:pt x="0" y="0"/>
                  </a:lnTo>
                  <a:lnTo>
                    <a:pt x="100192" y="0"/>
                  </a:lnTo>
                  <a:lnTo>
                    <a:pt x="1001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3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55" dirty="0"/>
              <a:t> </a:t>
            </a:r>
            <a:r>
              <a:rPr spc="-25" dirty="0"/>
              <a:t>is</a:t>
            </a:r>
            <a:r>
              <a:rPr spc="55" dirty="0"/>
              <a:t> </a:t>
            </a:r>
            <a:r>
              <a:rPr spc="-30" dirty="0"/>
              <a:t>S3?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31803"/>
            <a:ext cx="507682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(Simple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an object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industry-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availability,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performance.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designed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retrieve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web.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1015375"/>
            <a:ext cx="5039847" cy="19006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46075" cy="5080"/>
            </a:xfrm>
            <a:custGeom>
              <a:avLst/>
              <a:gdLst/>
              <a:ahLst/>
              <a:cxnLst/>
              <a:rect l="l" t="t" r="r" b="b"/>
              <a:pathLst>
                <a:path w="346075" h="5080">
                  <a:moveTo>
                    <a:pt x="0" y="5060"/>
                  </a:moveTo>
                  <a:lnTo>
                    <a:pt x="0" y="0"/>
                  </a:lnTo>
                  <a:lnTo>
                    <a:pt x="345590" y="0"/>
                  </a:lnTo>
                  <a:lnTo>
                    <a:pt x="3455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S3</a:t>
            </a:r>
            <a:r>
              <a:rPr spc="25" dirty="0"/>
              <a:t> </a:t>
            </a:r>
            <a:r>
              <a:rPr dirty="0"/>
              <a:t>-</a:t>
            </a:r>
            <a:r>
              <a:rPr spc="30" dirty="0"/>
              <a:t> </a:t>
            </a:r>
            <a:r>
              <a:rPr spc="-30" dirty="0"/>
              <a:t>Buckets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30" dirty="0"/>
              <a:t> </a:t>
            </a:r>
            <a:r>
              <a:rPr spc="-20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7769"/>
            <a:ext cx="5067935" cy="171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325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Buckets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S3,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container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objects.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within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464184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464184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 bucket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globally unique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existing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800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467359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Buckets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 store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organize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objects.</a:t>
            </a:r>
            <a:endParaRPr sz="800">
              <a:latin typeface="Arial"/>
              <a:cs typeface="Arial"/>
            </a:endParaRPr>
          </a:p>
          <a:p>
            <a:pPr marL="240029" marR="461009" indent="-147955">
              <a:lnSpc>
                <a:spcPct val="116199"/>
              </a:lnSpc>
              <a:spcBef>
                <a:spcPts val="2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fundamental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entities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bucket.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consist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metadata.</a:t>
            </a:r>
            <a:endParaRPr sz="900">
              <a:latin typeface="Arial"/>
              <a:cs typeface="Arial"/>
            </a:endParaRPr>
          </a:p>
          <a:p>
            <a:pPr marL="464184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464184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45" dirty="0">
                <a:solidFill>
                  <a:srgbClr val="22373A"/>
                </a:solidFill>
                <a:latin typeface="Arial"/>
                <a:cs typeface="Arial"/>
              </a:rPr>
              <a:t>key-</a:t>
            </a: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sz="800">
              <a:latin typeface="Arial"/>
              <a:cs typeface="Arial"/>
            </a:endParaRPr>
          </a:p>
          <a:p>
            <a:pPr marL="464184" marR="388620" lvl="1" indent="-137160">
              <a:lnSpc>
                <a:spcPct val="107400"/>
              </a:lnSpc>
              <a:buChar char="•"/>
              <a:tabLst>
                <a:tab pos="46799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key,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identifier,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organize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sz="8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often 	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formatted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name.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5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called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hdcb-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{your-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name}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store objects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organized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criteria.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657" y="2335545"/>
            <a:ext cx="2494915" cy="582295"/>
            <a:chOff x="252657" y="2335545"/>
            <a:chExt cx="2494915" cy="582295"/>
          </a:xfrm>
        </p:grpSpPr>
        <p:sp>
          <p:nvSpPr>
            <p:cNvPr id="5" name="object 5"/>
            <p:cNvSpPr/>
            <p:nvPr/>
          </p:nvSpPr>
          <p:spPr>
            <a:xfrm>
              <a:off x="258004" y="2340892"/>
              <a:ext cx="2484120" cy="571500"/>
            </a:xfrm>
            <a:custGeom>
              <a:avLst/>
              <a:gdLst/>
              <a:ahLst/>
              <a:cxnLst/>
              <a:rect l="l" t="t" r="r" b="b"/>
              <a:pathLst>
                <a:path w="2484120" h="57150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5136"/>
                  </a:lnTo>
                  <a:lnTo>
                    <a:pt x="2829" y="549149"/>
                  </a:lnTo>
                  <a:lnTo>
                    <a:pt x="10544" y="560592"/>
                  </a:lnTo>
                  <a:lnTo>
                    <a:pt x="21987" y="568307"/>
                  </a:lnTo>
                  <a:lnTo>
                    <a:pt x="36000" y="571136"/>
                  </a:lnTo>
                  <a:lnTo>
                    <a:pt x="2448032" y="571136"/>
                  </a:lnTo>
                  <a:lnTo>
                    <a:pt x="2462045" y="568307"/>
                  </a:lnTo>
                  <a:lnTo>
                    <a:pt x="2473488" y="560592"/>
                  </a:lnTo>
                  <a:lnTo>
                    <a:pt x="2481203" y="549149"/>
                  </a:lnTo>
                  <a:lnTo>
                    <a:pt x="2484032" y="535136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983" y="2341871"/>
              <a:ext cx="2482215" cy="569595"/>
            </a:xfrm>
            <a:custGeom>
              <a:avLst/>
              <a:gdLst/>
              <a:ahLst/>
              <a:cxnLst/>
              <a:rect l="l" t="t" r="r" b="b"/>
              <a:pathLst>
                <a:path w="2482215" h="569594">
                  <a:moveTo>
                    <a:pt x="0" y="53415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534157"/>
                  </a:lnTo>
                  <a:lnTo>
                    <a:pt x="2479321" y="547789"/>
                  </a:lnTo>
                  <a:lnTo>
                    <a:pt x="2471816" y="558921"/>
                  </a:lnTo>
                  <a:lnTo>
                    <a:pt x="2460684" y="566426"/>
                  </a:lnTo>
                  <a:lnTo>
                    <a:pt x="2447052" y="569178"/>
                  </a:lnTo>
                  <a:lnTo>
                    <a:pt x="35021" y="569178"/>
                  </a:lnTo>
                  <a:lnTo>
                    <a:pt x="21389" y="566426"/>
                  </a:lnTo>
                  <a:lnTo>
                    <a:pt x="10257" y="558921"/>
                  </a:lnTo>
                  <a:lnTo>
                    <a:pt x="2752" y="547789"/>
                  </a:lnTo>
                  <a:lnTo>
                    <a:pt x="0" y="53415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5310" y="2395728"/>
            <a:ext cx="1154430" cy="418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7400"/>
              </a:lnSpc>
              <a:spcBef>
                <a:spcPts val="100"/>
              </a:spcBef>
            </a:pPr>
            <a:r>
              <a:rPr sz="800" spc="-60" dirty="0">
                <a:latin typeface="Courier New"/>
                <a:cs typeface="Courier New"/>
              </a:rPr>
              <a:t>data-{your-</a:t>
            </a:r>
            <a:r>
              <a:rPr sz="800" spc="-10" dirty="0">
                <a:latin typeface="Courier New"/>
                <a:cs typeface="Courier New"/>
              </a:rPr>
              <a:t>name}/ </a:t>
            </a:r>
            <a:r>
              <a:rPr sz="800" spc="-60" dirty="0">
                <a:latin typeface="Courier New"/>
                <a:cs typeface="Courier New"/>
              </a:rPr>
              <a:t>project1/data.csv project2/data.csv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7294" y="2241608"/>
            <a:ext cx="1875789" cy="66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Terms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467359" algn="l"/>
              </a:tabLst>
            </a:pPr>
            <a:r>
              <a:rPr sz="800" b="1" spc="-25" dirty="0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sz="8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8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project1/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8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project2/</a:t>
            </a:r>
            <a:endParaRPr sz="800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sz="800" b="1" spc="-1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8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data.csv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461009" cy="5080"/>
            </a:xfrm>
            <a:custGeom>
              <a:avLst/>
              <a:gdLst/>
              <a:ahLst/>
              <a:cxnLst/>
              <a:rect l="l" t="t" r="r" b="b"/>
              <a:pathLst>
                <a:path w="461009" h="5080">
                  <a:moveTo>
                    <a:pt x="0" y="5060"/>
                  </a:moveTo>
                  <a:lnTo>
                    <a:pt x="0" y="0"/>
                  </a:lnTo>
                  <a:lnTo>
                    <a:pt x="460816" y="0"/>
                  </a:lnTo>
                  <a:lnTo>
                    <a:pt x="4608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223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S3</a:t>
            </a:r>
            <a:r>
              <a:rPr spc="20" dirty="0"/>
              <a:t> </a:t>
            </a:r>
            <a:r>
              <a:rPr spc="-25" dirty="0"/>
              <a:t>Pricing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813594"/>
            <a:ext cx="5040630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pricing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five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factors:</a:t>
            </a:r>
            <a:endParaRPr sz="900">
              <a:latin typeface="Arial"/>
              <a:cs typeface="Arial"/>
            </a:endParaRPr>
          </a:p>
          <a:p>
            <a:pPr marL="242570" marR="139700" indent="-147320">
              <a:lnSpc>
                <a:spcPct val="116199"/>
              </a:lnSpc>
              <a:spcBef>
                <a:spcPts val="625"/>
              </a:spcBef>
              <a:buFont typeface="Arial"/>
              <a:buAutoNum type="arabicPeriod"/>
              <a:tabLst>
                <a:tab pos="24384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cost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depends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(Standard,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Intelligent-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Tiering,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 	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Zone-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IA,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etc.).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243204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total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volume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month.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243204" algn="l"/>
              </a:tabLst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Requests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number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requests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made.</a:t>
            </a:r>
            <a:endParaRPr sz="900">
              <a:latin typeface="Arial"/>
              <a:cs typeface="Arial"/>
            </a:endParaRPr>
          </a:p>
          <a:p>
            <a:pPr marL="242570" marR="77470" indent="-147320">
              <a:lnSpc>
                <a:spcPct val="116199"/>
              </a:lnSpc>
              <a:buFont typeface="Arial"/>
              <a:buAutoNum type="arabicPeriod"/>
              <a:tabLst>
                <a:tab pos="24384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Transfer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transferring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vary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region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whether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transferred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out.</a:t>
            </a:r>
            <a:endParaRPr sz="900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Font typeface="Arial"/>
              <a:buAutoNum type="arabicPeriod"/>
              <a:tabLst>
                <a:tab pos="24384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90" dirty="0">
                <a:solidFill>
                  <a:srgbClr val="22373A"/>
                </a:solidFill>
                <a:latin typeface="Arial"/>
                <a:cs typeface="Arial"/>
              </a:rPr>
              <a:t>&amp;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Replication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Additional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features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replication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operations 	can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also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affect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detailed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refer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Amazon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S3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Pricing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Page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580" cy="5080"/>
            </a:xfrm>
            <a:custGeom>
              <a:avLst/>
              <a:gdLst/>
              <a:ahLst/>
              <a:cxnLst/>
              <a:rect l="l" t="t" r="r" b="b"/>
              <a:pathLst>
                <a:path w="576580" h="5080">
                  <a:moveTo>
                    <a:pt x="0" y="5060"/>
                  </a:moveTo>
                  <a:lnTo>
                    <a:pt x="0" y="0"/>
                  </a:lnTo>
                  <a:lnTo>
                    <a:pt x="576042" y="0"/>
                  </a:lnTo>
                  <a:lnTo>
                    <a:pt x="5760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613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CLI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250825" cy="5080"/>
            </a:xfrm>
            <a:custGeom>
              <a:avLst/>
              <a:gdLst/>
              <a:ahLst/>
              <a:cxnLst/>
              <a:rect l="l" t="t" r="r" b="b"/>
              <a:pathLst>
                <a:path w="250825" h="5080">
                  <a:moveTo>
                    <a:pt x="0" y="5060"/>
                  </a:moveTo>
                  <a:lnTo>
                    <a:pt x="0" y="0"/>
                  </a:lnTo>
                  <a:lnTo>
                    <a:pt x="250538" y="0"/>
                  </a:lnTo>
                  <a:lnTo>
                    <a:pt x="2505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35" dirty="0"/>
              <a:t> </a:t>
            </a:r>
            <a:r>
              <a:rPr spc="-25" dirty="0"/>
              <a:t>is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AWS</a:t>
            </a:r>
            <a:r>
              <a:rPr spc="35" dirty="0"/>
              <a:t> </a:t>
            </a:r>
            <a:r>
              <a:rPr spc="-20" dirty="0"/>
              <a:t>CLI?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774806"/>
            <a:ext cx="5015230" cy="1760220"/>
            <a:chOff x="372646" y="774806"/>
            <a:chExt cx="5015230" cy="1760220"/>
          </a:xfrm>
        </p:grpSpPr>
        <p:sp>
          <p:nvSpPr>
            <p:cNvPr id="4" name="object 4"/>
            <p:cNvSpPr/>
            <p:nvPr/>
          </p:nvSpPr>
          <p:spPr>
            <a:xfrm>
              <a:off x="377994" y="780153"/>
              <a:ext cx="5004435" cy="1749425"/>
            </a:xfrm>
            <a:custGeom>
              <a:avLst/>
              <a:gdLst/>
              <a:ahLst/>
              <a:cxnLst/>
              <a:rect l="l" t="t" r="r" b="b"/>
              <a:pathLst>
                <a:path w="5004435" h="17494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713224"/>
                  </a:lnTo>
                  <a:lnTo>
                    <a:pt x="2829" y="1727237"/>
                  </a:lnTo>
                  <a:lnTo>
                    <a:pt x="10544" y="1738681"/>
                  </a:lnTo>
                  <a:lnTo>
                    <a:pt x="21987" y="1746396"/>
                  </a:lnTo>
                  <a:lnTo>
                    <a:pt x="36000" y="1749225"/>
                  </a:lnTo>
                  <a:lnTo>
                    <a:pt x="4968064" y="1749225"/>
                  </a:lnTo>
                  <a:lnTo>
                    <a:pt x="4982077" y="1746396"/>
                  </a:lnTo>
                  <a:lnTo>
                    <a:pt x="4993521" y="1738681"/>
                  </a:lnTo>
                  <a:lnTo>
                    <a:pt x="5001236" y="1727237"/>
                  </a:lnTo>
                  <a:lnTo>
                    <a:pt x="5004065" y="171322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781132"/>
              <a:ext cx="5002530" cy="1747520"/>
            </a:xfrm>
            <a:custGeom>
              <a:avLst/>
              <a:gdLst/>
              <a:ahLst/>
              <a:cxnLst/>
              <a:rect l="l" t="t" r="r" b="b"/>
              <a:pathLst>
                <a:path w="5002530" h="1747520">
                  <a:moveTo>
                    <a:pt x="0" y="171224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712245"/>
                  </a:lnTo>
                  <a:lnTo>
                    <a:pt x="4999354" y="1725877"/>
                  </a:lnTo>
                  <a:lnTo>
                    <a:pt x="4991849" y="1737009"/>
                  </a:lnTo>
                  <a:lnTo>
                    <a:pt x="4980717" y="1744514"/>
                  </a:lnTo>
                  <a:lnTo>
                    <a:pt x="4967085" y="1747266"/>
                  </a:lnTo>
                  <a:lnTo>
                    <a:pt x="35021" y="1747266"/>
                  </a:lnTo>
                  <a:lnTo>
                    <a:pt x="21389" y="1744514"/>
                  </a:lnTo>
                  <a:lnTo>
                    <a:pt x="10257" y="1737009"/>
                  </a:lnTo>
                  <a:lnTo>
                    <a:pt x="2752" y="1725877"/>
                  </a:lnTo>
                  <a:lnTo>
                    <a:pt x="0" y="171224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348847"/>
            <a:ext cx="505587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0033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interact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line.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powerful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automate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[ec2-user@ip-172-31-86-</a:t>
            </a:r>
            <a:r>
              <a:rPr sz="800" spc="-50" dirty="0">
                <a:latin typeface="Courier New"/>
                <a:cs typeface="Courier New"/>
              </a:rPr>
              <a:t>82</a:t>
            </a:r>
            <a:r>
              <a:rPr sz="800" spc="2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~]$</a:t>
            </a:r>
            <a:r>
              <a:rPr sz="800" spc="25" dirty="0"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aws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214629" marR="802005">
              <a:lnSpc>
                <a:spcPct val="107400"/>
              </a:lnSpc>
            </a:pPr>
            <a:r>
              <a:rPr sz="800" spc="-60" dirty="0">
                <a:latin typeface="Courier New"/>
                <a:cs typeface="Courier New"/>
              </a:rPr>
              <a:t>usage: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[options]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&lt;command&gt;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&lt;subcommand&gt;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[&lt;subcommand&gt;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...]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[parameters]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see</a:t>
            </a:r>
            <a:r>
              <a:rPr sz="800" spc="-55" dirty="0">
                <a:latin typeface="Courier New"/>
                <a:cs typeface="Courier New"/>
              </a:rPr>
              <a:t> help </a:t>
            </a:r>
            <a:r>
              <a:rPr sz="800" spc="-60" dirty="0">
                <a:latin typeface="Courier New"/>
                <a:cs typeface="Courier New"/>
              </a:rPr>
              <a:t>text,</a:t>
            </a:r>
            <a:r>
              <a:rPr sz="800" spc="-5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you</a:t>
            </a:r>
            <a:r>
              <a:rPr sz="800" spc="-5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can</a:t>
            </a:r>
            <a:r>
              <a:rPr sz="800" spc="-55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run: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help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55" dirty="0">
                <a:latin typeface="Courier New"/>
                <a:cs typeface="Courier New"/>
              </a:rPr>
              <a:t> &lt;command&gt;</a:t>
            </a:r>
            <a:r>
              <a:rPr sz="800" spc="-50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help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&lt;command&gt;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&lt;subcommand&gt;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help</a:t>
            </a:r>
            <a:endParaRPr sz="800">
              <a:latin typeface="Courier New"/>
              <a:cs typeface="Courier New"/>
            </a:endParaRPr>
          </a:p>
          <a:p>
            <a:pPr marL="214629" marR="1769745">
              <a:lnSpc>
                <a:spcPct val="214800"/>
              </a:lnSpc>
            </a:pPr>
            <a:r>
              <a:rPr sz="800" spc="-55" dirty="0">
                <a:latin typeface="Courier New"/>
                <a:cs typeface="Courier New"/>
              </a:rPr>
              <a:t>aws: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error: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the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following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arguments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are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required: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command </a:t>
            </a:r>
            <a:r>
              <a:rPr sz="800" spc="-60" dirty="0">
                <a:latin typeface="Courier New"/>
                <a:cs typeface="Courier New"/>
              </a:rPr>
              <a:t>[ec2-user@ip-172-31-86-</a:t>
            </a:r>
            <a:r>
              <a:rPr sz="800" spc="-50" dirty="0">
                <a:latin typeface="Courier New"/>
                <a:cs typeface="Courier New"/>
              </a:rPr>
              <a:t>82</a:t>
            </a:r>
            <a:r>
              <a:rPr sz="800" spc="110" dirty="0"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~]$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base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 itself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anything.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691515" cy="5080"/>
            </a:xfrm>
            <a:custGeom>
              <a:avLst/>
              <a:gdLst/>
              <a:ahLst/>
              <a:cxnLst/>
              <a:rect l="l" t="t" r="r" b="b"/>
              <a:pathLst>
                <a:path w="691515" h="5080">
                  <a:moveTo>
                    <a:pt x="0" y="5060"/>
                  </a:moveTo>
                  <a:lnTo>
                    <a:pt x="0" y="0"/>
                  </a:lnTo>
                  <a:lnTo>
                    <a:pt x="691180" y="0"/>
                  </a:lnTo>
                  <a:lnTo>
                    <a:pt x="6911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AWS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71520"/>
            <a:ext cx="3832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installation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guide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64" y="613852"/>
            <a:ext cx="3657882" cy="239910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806450" cy="5080"/>
            </a:xfrm>
            <a:custGeom>
              <a:avLst/>
              <a:gdLst/>
              <a:ahLst/>
              <a:cxnLst/>
              <a:rect l="l" t="t" r="r" b="b"/>
              <a:pathLst>
                <a:path w="806450" h="5080">
                  <a:moveTo>
                    <a:pt x="0" y="5060"/>
                  </a:moveTo>
                  <a:lnTo>
                    <a:pt x="0" y="0"/>
                  </a:lnTo>
                  <a:lnTo>
                    <a:pt x="806406" y="0"/>
                  </a:lnTo>
                  <a:lnTo>
                    <a:pt x="8064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AWS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1520"/>
            <a:ext cx="3833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complete.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406" y="612492"/>
            <a:ext cx="3827194" cy="23991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922019" cy="5080"/>
            </a:xfrm>
            <a:custGeom>
              <a:avLst/>
              <a:gdLst/>
              <a:ahLst/>
              <a:cxnLst/>
              <a:rect l="l" t="t" r="r" b="b"/>
              <a:pathLst>
                <a:path w="922019" h="5080">
                  <a:moveTo>
                    <a:pt x="0" y="5060"/>
                  </a:moveTo>
                  <a:lnTo>
                    <a:pt x="0" y="0"/>
                  </a:lnTo>
                  <a:lnTo>
                    <a:pt x="921632" y="0"/>
                  </a:lnTo>
                  <a:lnTo>
                    <a:pt x="921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AWS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8847"/>
            <a:ext cx="48679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if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MacOS,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go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MacOS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corresponding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74" y="773069"/>
            <a:ext cx="4083658" cy="2399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36955" cy="5080"/>
            </a:xfrm>
            <a:custGeom>
              <a:avLst/>
              <a:gdLst/>
              <a:ahLst/>
              <a:cxnLst/>
              <a:rect l="l" t="t" r="r" b="b"/>
              <a:pathLst>
                <a:path w="1036955" h="5080">
                  <a:moveTo>
                    <a:pt x="0" y="5060"/>
                  </a:moveTo>
                  <a:lnTo>
                    <a:pt x="0" y="0"/>
                  </a:lnTo>
                  <a:lnTo>
                    <a:pt x="1036770" y="0"/>
                  </a:lnTo>
                  <a:lnTo>
                    <a:pt x="10367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48847"/>
            <a:ext cx="506222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visit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page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get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this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guide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this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guide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website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setting up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until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loads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page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932508"/>
            <a:ext cx="5760085" cy="2307590"/>
            <a:chOff x="0" y="932508"/>
            <a:chExt cx="5760085" cy="2307590"/>
          </a:xfrm>
        </p:grpSpPr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129" y="932508"/>
              <a:ext cx="4811763" cy="23075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80">
                  <a:moveTo>
                    <a:pt x="0" y="5060"/>
                  </a:moveTo>
                  <a:lnTo>
                    <a:pt x="0" y="0"/>
                  </a:lnTo>
                  <a:lnTo>
                    <a:pt x="1151997" y="0"/>
                  </a:lnTo>
                  <a:lnTo>
                    <a:pt x="11519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163" y="815647"/>
            <a:ext cx="683260" cy="123189"/>
            <a:chOff x="1031163" y="815647"/>
            <a:chExt cx="683260" cy="123189"/>
          </a:xfrm>
        </p:grpSpPr>
        <p:sp>
          <p:nvSpPr>
            <p:cNvPr id="4" name="object 4"/>
            <p:cNvSpPr/>
            <p:nvPr/>
          </p:nvSpPr>
          <p:spPr>
            <a:xfrm>
              <a:off x="1031163" y="815647"/>
              <a:ext cx="683260" cy="123189"/>
            </a:xfrm>
            <a:custGeom>
              <a:avLst/>
              <a:gdLst/>
              <a:ahLst/>
              <a:cxnLst/>
              <a:rect l="l" t="t" r="r" b="b"/>
              <a:pathLst>
                <a:path w="683260" h="12319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646930" y="123034"/>
                  </a:lnTo>
                  <a:lnTo>
                    <a:pt x="660943" y="120205"/>
                  </a:lnTo>
                  <a:lnTo>
                    <a:pt x="672386" y="112490"/>
                  </a:lnTo>
                  <a:lnTo>
                    <a:pt x="680101" y="101047"/>
                  </a:lnTo>
                  <a:lnTo>
                    <a:pt x="682930" y="87034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1163" y="815647"/>
              <a:ext cx="683260" cy="123189"/>
            </a:xfrm>
            <a:custGeom>
              <a:avLst/>
              <a:gdLst/>
              <a:ahLst/>
              <a:cxnLst/>
              <a:rect l="l" t="t" r="r" b="b"/>
              <a:pathLst>
                <a:path w="683260" h="12319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646930" y="123034"/>
                  </a:lnTo>
                  <a:lnTo>
                    <a:pt x="660943" y="120205"/>
                  </a:lnTo>
                  <a:lnTo>
                    <a:pt x="672386" y="112490"/>
                  </a:lnTo>
                  <a:lnTo>
                    <a:pt x="680101" y="101047"/>
                  </a:lnTo>
                  <a:lnTo>
                    <a:pt x="682930" y="87034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381732" y="815989"/>
            <a:ext cx="264795" cy="123189"/>
            <a:chOff x="2381732" y="815989"/>
            <a:chExt cx="264795" cy="123189"/>
          </a:xfrm>
        </p:grpSpPr>
        <p:sp>
          <p:nvSpPr>
            <p:cNvPr id="7" name="object 7"/>
            <p:cNvSpPr/>
            <p:nvPr/>
          </p:nvSpPr>
          <p:spPr>
            <a:xfrm>
              <a:off x="2381732" y="815989"/>
              <a:ext cx="264795" cy="123189"/>
            </a:xfrm>
            <a:custGeom>
              <a:avLst/>
              <a:gdLst/>
              <a:ahLst/>
              <a:cxnLst/>
              <a:rect l="l" t="t" r="r" b="b"/>
              <a:pathLst>
                <a:path w="264794" h="12319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28441" y="122693"/>
                  </a:lnTo>
                  <a:lnTo>
                    <a:pt x="242454" y="119864"/>
                  </a:lnTo>
                  <a:lnTo>
                    <a:pt x="253897" y="112148"/>
                  </a:lnTo>
                  <a:lnTo>
                    <a:pt x="261612" y="100705"/>
                  </a:lnTo>
                  <a:lnTo>
                    <a:pt x="264441" y="86692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1732" y="815989"/>
              <a:ext cx="264795" cy="123189"/>
            </a:xfrm>
            <a:custGeom>
              <a:avLst/>
              <a:gdLst/>
              <a:ahLst/>
              <a:cxnLst/>
              <a:rect l="l" t="t" r="r" b="b"/>
              <a:pathLst>
                <a:path w="264794" h="12319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28441" y="122693"/>
                  </a:lnTo>
                  <a:lnTo>
                    <a:pt x="242454" y="119864"/>
                  </a:lnTo>
                  <a:lnTo>
                    <a:pt x="253897" y="112148"/>
                  </a:lnTo>
                  <a:lnTo>
                    <a:pt x="261612" y="100705"/>
                  </a:lnTo>
                  <a:lnTo>
                    <a:pt x="264441" y="86692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785553"/>
            <a:ext cx="3609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AWS </a:t>
            </a:r>
            <a:r>
              <a:rPr sz="900" spc="-75" dirty="0">
                <a:latin typeface="Courier New"/>
                <a:cs typeface="Courier New"/>
              </a:rPr>
              <a:t>Details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Show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reveal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163766"/>
            <a:ext cx="5040057" cy="142116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1267460" cy="5080"/>
            </a:xfrm>
            <a:custGeom>
              <a:avLst/>
              <a:gdLst/>
              <a:ahLst/>
              <a:cxnLst/>
              <a:rect l="l" t="t" r="r" b="b"/>
              <a:pathLst>
                <a:path w="1267460" h="5080">
                  <a:moveTo>
                    <a:pt x="0" y="5060"/>
                  </a:moveTo>
                  <a:lnTo>
                    <a:pt x="0" y="0"/>
                  </a:lnTo>
                  <a:lnTo>
                    <a:pt x="1267223" y="0"/>
                  </a:lnTo>
                  <a:lnTo>
                    <a:pt x="12672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32075" cy="47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23" y="613857"/>
            <a:ext cx="4621952" cy="23991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383030" cy="5080"/>
            </a:xfrm>
            <a:custGeom>
              <a:avLst/>
              <a:gdLst/>
              <a:ahLst/>
              <a:cxnLst/>
              <a:rect l="l" t="t" r="r" b="b"/>
              <a:pathLst>
                <a:path w="1383030" h="5080">
                  <a:moveTo>
                    <a:pt x="0" y="5060"/>
                  </a:moveTo>
                  <a:lnTo>
                    <a:pt x="0" y="0"/>
                  </a:lnTo>
                  <a:lnTo>
                    <a:pt x="1382449" y="0"/>
                  </a:lnTo>
                  <a:lnTo>
                    <a:pt x="13824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99067" y="648494"/>
            <a:ext cx="683260" cy="121285"/>
            <a:chOff x="2699067" y="648494"/>
            <a:chExt cx="683260" cy="121285"/>
          </a:xfrm>
        </p:grpSpPr>
        <p:sp>
          <p:nvSpPr>
            <p:cNvPr id="4" name="object 4"/>
            <p:cNvSpPr/>
            <p:nvPr/>
          </p:nvSpPr>
          <p:spPr>
            <a:xfrm>
              <a:off x="2699067" y="648494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067" y="648494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927551" y="668080"/>
            <a:ext cx="264795" cy="101600"/>
            <a:chOff x="3927551" y="668080"/>
            <a:chExt cx="264795" cy="101600"/>
          </a:xfrm>
        </p:grpSpPr>
        <p:sp>
          <p:nvSpPr>
            <p:cNvPr id="7" name="object 7"/>
            <p:cNvSpPr/>
            <p:nvPr/>
          </p:nvSpPr>
          <p:spPr>
            <a:xfrm>
              <a:off x="3927551" y="668080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7551" y="668080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93685" y="1066391"/>
            <a:ext cx="264795" cy="101600"/>
            <a:chOff x="1093685" y="1066391"/>
            <a:chExt cx="264795" cy="101600"/>
          </a:xfrm>
        </p:grpSpPr>
        <p:sp>
          <p:nvSpPr>
            <p:cNvPr id="10" name="object 10"/>
            <p:cNvSpPr/>
            <p:nvPr/>
          </p:nvSpPr>
          <p:spPr>
            <a:xfrm>
              <a:off x="1093685" y="106639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85" y="106639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686251" y="1046804"/>
            <a:ext cx="623570" cy="121285"/>
            <a:chOff x="3686251" y="1046804"/>
            <a:chExt cx="623570" cy="121285"/>
          </a:xfrm>
        </p:grpSpPr>
        <p:sp>
          <p:nvSpPr>
            <p:cNvPr id="13" name="object 13"/>
            <p:cNvSpPr/>
            <p:nvPr/>
          </p:nvSpPr>
          <p:spPr>
            <a:xfrm>
              <a:off x="3686251" y="1046804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6251" y="1046804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14335" y="1365460"/>
            <a:ext cx="683260" cy="121285"/>
            <a:chOff x="1514335" y="1365460"/>
            <a:chExt cx="683260" cy="121285"/>
          </a:xfrm>
        </p:grpSpPr>
        <p:sp>
          <p:nvSpPr>
            <p:cNvPr id="16" name="object 16"/>
            <p:cNvSpPr/>
            <p:nvPr/>
          </p:nvSpPr>
          <p:spPr>
            <a:xfrm>
              <a:off x="1514335" y="1365460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14335" y="1365460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924555" y="1385046"/>
            <a:ext cx="264795" cy="101600"/>
            <a:chOff x="2924555" y="1385046"/>
            <a:chExt cx="264795" cy="101600"/>
          </a:xfrm>
        </p:grpSpPr>
        <p:sp>
          <p:nvSpPr>
            <p:cNvPr id="19" name="object 19"/>
            <p:cNvSpPr/>
            <p:nvPr/>
          </p:nvSpPr>
          <p:spPr>
            <a:xfrm>
              <a:off x="2924555" y="1385046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24555" y="1385046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72646" y="1577757"/>
            <a:ext cx="5015230" cy="320040"/>
            <a:chOff x="372646" y="1577757"/>
            <a:chExt cx="5015230" cy="320040"/>
          </a:xfrm>
        </p:grpSpPr>
        <p:sp>
          <p:nvSpPr>
            <p:cNvPr id="22" name="object 22"/>
            <p:cNvSpPr/>
            <p:nvPr/>
          </p:nvSpPr>
          <p:spPr>
            <a:xfrm>
              <a:off x="377994" y="158310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8973" y="158408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72646" y="2212757"/>
            <a:ext cx="5015230" cy="320040"/>
            <a:chOff x="372646" y="2212757"/>
            <a:chExt cx="5015230" cy="320040"/>
          </a:xfrm>
        </p:grpSpPr>
        <p:sp>
          <p:nvSpPr>
            <p:cNvPr id="25" name="object 25"/>
            <p:cNvSpPr/>
            <p:nvPr/>
          </p:nvSpPr>
          <p:spPr>
            <a:xfrm>
              <a:off x="377994" y="221810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8973" y="221908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3319" y="594134"/>
            <a:ext cx="5062220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26289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home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(remember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throws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nothing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exists).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notepad</a:t>
            </a:r>
            <a:r>
              <a:rPr sz="800" spc="-10" dirty="0">
                <a:latin typeface="Courier New"/>
                <a:cs typeface="Courier New"/>
              </a:rPr>
              <a:t> .aws/credentials.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MacOS users: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open</a:t>
            </a:r>
            <a:r>
              <a:rPr sz="800" spc="-5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.aws/credentials.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63"/>
              <a:ext cx="1497965" cy="5080"/>
            </a:xfrm>
            <a:custGeom>
              <a:avLst/>
              <a:gdLst/>
              <a:ahLst/>
              <a:cxnLst/>
              <a:rect l="l" t="t" r="r" b="b"/>
              <a:pathLst>
                <a:path w="1497965" h="5080">
                  <a:moveTo>
                    <a:pt x="0" y="5060"/>
                  </a:moveTo>
                  <a:lnTo>
                    <a:pt x="0" y="0"/>
                  </a:lnTo>
                  <a:lnTo>
                    <a:pt x="1497587" y="0"/>
                  </a:lnTo>
                  <a:lnTo>
                    <a:pt x="149758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1520"/>
            <a:ext cx="41986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text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770" y="613852"/>
            <a:ext cx="2328459" cy="239919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12900" cy="5080"/>
            </a:xfrm>
            <a:custGeom>
              <a:avLst/>
              <a:gdLst/>
              <a:ahLst/>
              <a:cxnLst/>
              <a:rect l="l" t="t" r="r" b="b"/>
              <a:pathLst>
                <a:path w="1612900" h="5080">
                  <a:moveTo>
                    <a:pt x="0" y="5060"/>
                  </a:moveTo>
                  <a:lnTo>
                    <a:pt x="0" y="0"/>
                  </a:lnTo>
                  <a:lnTo>
                    <a:pt x="1612813" y="0"/>
                  </a:lnTo>
                  <a:lnTo>
                    <a:pt x="16128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8847"/>
            <a:ext cx="48367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exit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text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083" y="750976"/>
            <a:ext cx="4569847" cy="23991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28470" cy="5080"/>
            </a:xfrm>
            <a:custGeom>
              <a:avLst/>
              <a:gdLst/>
              <a:ahLst/>
              <a:cxnLst/>
              <a:rect l="l" t="t" r="r" b="b"/>
              <a:pathLst>
                <a:path w="1728470" h="5080">
                  <a:moveTo>
                    <a:pt x="0" y="5060"/>
                  </a:moveTo>
                  <a:lnTo>
                    <a:pt x="0" y="0"/>
                  </a:lnTo>
                  <a:lnTo>
                    <a:pt x="1728039" y="0"/>
                  </a:lnTo>
                  <a:lnTo>
                    <a:pt x="17280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489" y="1122141"/>
            <a:ext cx="204657" cy="11426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2646" y="1327933"/>
            <a:ext cx="5015230" cy="960119"/>
            <a:chOff x="372646" y="1327933"/>
            <a:chExt cx="5015230" cy="960119"/>
          </a:xfrm>
        </p:grpSpPr>
        <p:sp>
          <p:nvSpPr>
            <p:cNvPr id="5" name="object 5"/>
            <p:cNvSpPr/>
            <p:nvPr/>
          </p:nvSpPr>
          <p:spPr>
            <a:xfrm>
              <a:off x="377994" y="1333280"/>
              <a:ext cx="5004435" cy="949960"/>
            </a:xfrm>
            <a:custGeom>
              <a:avLst/>
              <a:gdLst/>
              <a:ahLst/>
              <a:cxnLst/>
              <a:rect l="l" t="t" r="r" b="b"/>
              <a:pathLst>
                <a:path w="5004435" h="9499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13425"/>
                  </a:lnTo>
                  <a:lnTo>
                    <a:pt x="2829" y="927438"/>
                  </a:lnTo>
                  <a:lnTo>
                    <a:pt x="10544" y="938881"/>
                  </a:lnTo>
                  <a:lnTo>
                    <a:pt x="21987" y="946596"/>
                  </a:lnTo>
                  <a:lnTo>
                    <a:pt x="36000" y="949425"/>
                  </a:lnTo>
                  <a:lnTo>
                    <a:pt x="4968064" y="949425"/>
                  </a:lnTo>
                  <a:lnTo>
                    <a:pt x="4982077" y="946596"/>
                  </a:lnTo>
                  <a:lnTo>
                    <a:pt x="4993521" y="938881"/>
                  </a:lnTo>
                  <a:lnTo>
                    <a:pt x="5001236" y="927438"/>
                  </a:lnTo>
                  <a:lnTo>
                    <a:pt x="5004065" y="9134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973" y="1334260"/>
              <a:ext cx="5002530" cy="948055"/>
            </a:xfrm>
            <a:custGeom>
              <a:avLst/>
              <a:gdLst/>
              <a:ahLst/>
              <a:cxnLst/>
              <a:rect l="l" t="t" r="r" b="b"/>
              <a:pathLst>
                <a:path w="5002530" h="948055">
                  <a:moveTo>
                    <a:pt x="0" y="9124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912446"/>
                  </a:lnTo>
                  <a:lnTo>
                    <a:pt x="4999354" y="926078"/>
                  </a:lnTo>
                  <a:lnTo>
                    <a:pt x="4991849" y="937209"/>
                  </a:lnTo>
                  <a:lnTo>
                    <a:pt x="4980717" y="944715"/>
                  </a:lnTo>
                  <a:lnTo>
                    <a:pt x="4967085" y="947467"/>
                  </a:lnTo>
                  <a:lnTo>
                    <a:pt x="35021" y="947467"/>
                  </a:lnTo>
                  <a:lnTo>
                    <a:pt x="21389" y="944715"/>
                  </a:lnTo>
                  <a:lnTo>
                    <a:pt x="10257" y="937209"/>
                  </a:lnTo>
                  <a:lnTo>
                    <a:pt x="2752" y="926078"/>
                  </a:lnTo>
                  <a:lnTo>
                    <a:pt x="0" y="9124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1718" y="1083965"/>
            <a:ext cx="3561715" cy="1115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 can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contents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Courier New"/>
                <a:cs typeface="Courier New"/>
              </a:rPr>
              <a:t>cat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215900" marR="1294765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55" dirty="0">
                <a:latin typeface="Courier New"/>
                <a:cs typeface="Courier New"/>
              </a:rPr>
              <a:t> 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cat </a:t>
            </a:r>
            <a:r>
              <a:rPr sz="800" spc="-60" dirty="0">
                <a:latin typeface="Courier New"/>
                <a:cs typeface="Courier New"/>
              </a:rPr>
              <a:t>.aws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sz="800" spc="-60" dirty="0">
                <a:latin typeface="Courier New"/>
                <a:cs typeface="Courier New"/>
              </a:rPr>
              <a:t>redentials </a:t>
            </a:r>
            <a:r>
              <a:rPr sz="800" spc="-10" dirty="0">
                <a:latin typeface="Courier New"/>
                <a:cs typeface="Courier New"/>
              </a:rPr>
              <a:t>[default] </a:t>
            </a:r>
            <a:r>
              <a:rPr sz="800" spc="-60" dirty="0">
                <a:solidFill>
                  <a:srgbClr val="19167C"/>
                </a:solidFill>
                <a:latin typeface="Courier New"/>
                <a:cs typeface="Courier New"/>
              </a:rPr>
              <a:t>aws_access_key_id</a:t>
            </a:r>
            <a:r>
              <a:rPr sz="800" spc="-6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60" dirty="0">
                <a:latin typeface="Courier New"/>
                <a:cs typeface="Courier New"/>
              </a:rPr>
              <a:t>ASIA2CKYVHJAOXR6P57M</a:t>
            </a:r>
            <a:endParaRPr sz="800">
              <a:latin typeface="Courier New"/>
              <a:cs typeface="Courier New"/>
            </a:endParaRPr>
          </a:p>
          <a:p>
            <a:pPr marL="215900" marR="5080">
              <a:lnSpc>
                <a:spcPct val="107400"/>
              </a:lnSpc>
            </a:pPr>
            <a:r>
              <a:rPr sz="800" spc="-60" dirty="0">
                <a:solidFill>
                  <a:srgbClr val="19167C"/>
                </a:solidFill>
                <a:latin typeface="Courier New"/>
                <a:cs typeface="Courier New"/>
              </a:rPr>
              <a:t>aws_secret_access_key</a:t>
            </a:r>
            <a:r>
              <a:rPr sz="800" spc="-6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60" dirty="0">
                <a:latin typeface="Courier New"/>
                <a:cs typeface="Courier New"/>
              </a:rPr>
              <a:t>lu/KjIjBylX60GTfsqHvRyAqcqhsEVHsdzWDPlrT </a:t>
            </a:r>
            <a:r>
              <a:rPr sz="800" spc="-30" dirty="0">
                <a:solidFill>
                  <a:srgbClr val="19167C"/>
                </a:solidFill>
                <a:latin typeface="Courier New"/>
                <a:cs typeface="Courier New"/>
              </a:rPr>
              <a:t>aws_session_token</a:t>
            </a:r>
            <a:r>
              <a:rPr sz="800" spc="-3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30" dirty="0">
                <a:latin typeface="Courier New"/>
                <a:cs typeface="Courier New"/>
              </a:rPr>
              <a:t>IQoJb3JpZ2...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C: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10" dirty="0">
                <a:latin typeface="Courier New"/>
                <a:cs typeface="Courier New"/>
              </a:rPr>
              <a:t>sers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10" dirty="0">
                <a:latin typeface="Courier New"/>
                <a:cs typeface="Courier New"/>
              </a:rPr>
              <a:t>nao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1843405" cy="5080"/>
            </a:xfrm>
            <a:custGeom>
              <a:avLst/>
              <a:gdLst/>
              <a:ahLst/>
              <a:cxnLst/>
              <a:rect l="l" t="t" r="r" b="b"/>
              <a:pathLst>
                <a:path w="1843405" h="5080">
                  <a:moveTo>
                    <a:pt x="0" y="5060"/>
                  </a:moveTo>
                  <a:lnTo>
                    <a:pt x="0" y="0"/>
                  </a:lnTo>
                  <a:lnTo>
                    <a:pt x="1843265" y="0"/>
                  </a:lnTo>
                  <a:lnTo>
                    <a:pt x="184326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81643" y="714476"/>
            <a:ext cx="1639570" cy="146685"/>
            <a:chOff x="2681643" y="714476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2681643" y="714476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81643" y="714476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086090"/>
            <a:ext cx="5015230" cy="1222375"/>
            <a:chOff x="372646" y="1086090"/>
            <a:chExt cx="5015230" cy="1222375"/>
          </a:xfrm>
        </p:grpSpPr>
        <p:sp>
          <p:nvSpPr>
            <p:cNvPr id="7" name="object 7"/>
            <p:cNvSpPr/>
            <p:nvPr/>
          </p:nvSpPr>
          <p:spPr>
            <a:xfrm>
              <a:off x="377994" y="1091436"/>
              <a:ext cx="5004435" cy="1211580"/>
            </a:xfrm>
            <a:custGeom>
              <a:avLst/>
              <a:gdLst/>
              <a:ahLst/>
              <a:cxnLst/>
              <a:rect l="l" t="t" r="r" b="b"/>
              <a:pathLst>
                <a:path w="5004435" h="121158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75335"/>
                  </a:lnTo>
                  <a:lnTo>
                    <a:pt x="2829" y="1189348"/>
                  </a:lnTo>
                  <a:lnTo>
                    <a:pt x="10544" y="1200791"/>
                  </a:lnTo>
                  <a:lnTo>
                    <a:pt x="21987" y="1208506"/>
                  </a:lnTo>
                  <a:lnTo>
                    <a:pt x="36000" y="1211335"/>
                  </a:lnTo>
                  <a:lnTo>
                    <a:pt x="4968064" y="1211335"/>
                  </a:lnTo>
                  <a:lnTo>
                    <a:pt x="4982077" y="1208506"/>
                  </a:lnTo>
                  <a:lnTo>
                    <a:pt x="4993521" y="1200791"/>
                  </a:lnTo>
                  <a:lnTo>
                    <a:pt x="5001236" y="1189348"/>
                  </a:lnTo>
                  <a:lnTo>
                    <a:pt x="5004065" y="117533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092416"/>
              <a:ext cx="5002530" cy="1209675"/>
            </a:xfrm>
            <a:custGeom>
              <a:avLst/>
              <a:gdLst/>
              <a:ahLst/>
              <a:cxnLst/>
              <a:rect l="l" t="t" r="r" b="b"/>
              <a:pathLst>
                <a:path w="5002530" h="1209675">
                  <a:moveTo>
                    <a:pt x="0" y="117435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174356"/>
                  </a:lnTo>
                  <a:lnTo>
                    <a:pt x="4999354" y="1187987"/>
                  </a:lnTo>
                  <a:lnTo>
                    <a:pt x="4991849" y="1199119"/>
                  </a:lnTo>
                  <a:lnTo>
                    <a:pt x="4980717" y="1206624"/>
                  </a:lnTo>
                  <a:lnTo>
                    <a:pt x="4967085" y="1209377"/>
                  </a:lnTo>
                  <a:lnTo>
                    <a:pt x="35021" y="1209377"/>
                  </a:lnTo>
                  <a:lnTo>
                    <a:pt x="21389" y="1206624"/>
                  </a:lnTo>
                  <a:lnTo>
                    <a:pt x="10257" y="1199119"/>
                  </a:lnTo>
                  <a:lnTo>
                    <a:pt x="2752" y="1187987"/>
                  </a:lnTo>
                  <a:lnTo>
                    <a:pt x="0" y="117435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660111"/>
            <a:ext cx="5060315" cy="204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0922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successful,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aws sts </a:t>
            </a:r>
            <a:r>
              <a:rPr sz="900" spc="-75" dirty="0">
                <a:latin typeface="Courier New"/>
                <a:cs typeface="Courier New"/>
              </a:rPr>
              <a:t>get-caller-identity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sts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get-caller-</a:t>
            </a:r>
            <a:r>
              <a:rPr sz="800" spc="-10" dirty="0">
                <a:latin typeface="Courier New"/>
                <a:cs typeface="Courier New"/>
              </a:rPr>
              <a:t>identity</a:t>
            </a: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429259" marR="1236345">
              <a:lnSpc>
                <a:spcPct val="107400"/>
              </a:lnSpc>
            </a:pP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"UserId"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"AROA2CKYVHJALK46ZMHVM:user3869188=Ferran_Aran_Test"</a:t>
            </a:r>
            <a:r>
              <a:rPr sz="800" spc="-60" dirty="0">
                <a:latin typeface="Courier New"/>
                <a:cs typeface="Courier New"/>
              </a:rPr>
              <a:t>,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"Account"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"692212546112"</a:t>
            </a:r>
            <a:r>
              <a:rPr sz="800" spc="-10" dirty="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"Arn"</a:t>
            </a:r>
            <a:r>
              <a:rPr sz="800" spc="-60" dirty="0">
                <a:latin typeface="Courier New"/>
                <a:cs typeface="Courier New"/>
              </a:rPr>
              <a:t>:</a:t>
            </a:r>
            <a:r>
              <a:rPr sz="800" spc="254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"arn:aws:sts::692212546112:assumed-</a:t>
            </a:r>
            <a:r>
              <a:rPr sz="800" spc="-40" dirty="0">
                <a:solidFill>
                  <a:srgbClr val="3F70A0"/>
                </a:solidFill>
                <a:latin typeface="Courier New"/>
                <a:cs typeface="Courier New"/>
              </a:rPr>
              <a:t>role/voclabs/user3869188=Ferran_Aran_Test"</a:t>
            </a: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C: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10" dirty="0">
                <a:latin typeface="Courier New"/>
                <a:cs typeface="Courier New"/>
              </a:rPr>
              <a:t>sers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10" dirty="0">
                <a:latin typeface="Courier New"/>
                <a:cs typeface="Courier New"/>
              </a:rPr>
              <a:t>nao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800">
              <a:latin typeface="Courier New"/>
              <a:cs typeface="Courier New"/>
            </a:endParaRPr>
          </a:p>
          <a:p>
            <a:pPr marL="16510" marR="508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Great!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 files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958975" cy="5080"/>
            </a:xfrm>
            <a:custGeom>
              <a:avLst/>
              <a:gdLst/>
              <a:ahLst/>
              <a:cxnLst/>
              <a:rect l="l" t="t" r="r" b="b"/>
              <a:pathLst>
                <a:path w="1958975" h="5080">
                  <a:moveTo>
                    <a:pt x="0" y="5060"/>
                  </a:moveTo>
                  <a:lnTo>
                    <a:pt x="0" y="0"/>
                  </a:lnTo>
                  <a:lnTo>
                    <a:pt x="1958403" y="0"/>
                  </a:lnTo>
                  <a:lnTo>
                    <a:pt x="19584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739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852169" cy="5080"/>
            </a:xfrm>
            <a:custGeom>
              <a:avLst/>
              <a:gdLst/>
              <a:ahLst/>
              <a:cxnLst/>
              <a:rect l="l" t="t" r="r" b="b"/>
              <a:pathLst>
                <a:path w="852169" h="5080">
                  <a:moveTo>
                    <a:pt x="0" y="5060"/>
                  </a:moveTo>
                  <a:lnTo>
                    <a:pt x="0" y="0"/>
                  </a:lnTo>
                  <a:lnTo>
                    <a:pt x="851771" y="0"/>
                  </a:lnTo>
                  <a:lnTo>
                    <a:pt x="85177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52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535045"/>
            <a:ext cx="2190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searchbar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756443"/>
            <a:ext cx="5039992" cy="207899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073910" cy="5080"/>
            </a:xfrm>
            <a:custGeom>
              <a:avLst/>
              <a:gdLst/>
              <a:ahLst/>
              <a:cxnLst/>
              <a:rect l="l" t="t" r="r" b="b"/>
              <a:pathLst>
                <a:path w="2073910" h="5080">
                  <a:moveTo>
                    <a:pt x="0" y="5060"/>
                  </a:moveTo>
                  <a:lnTo>
                    <a:pt x="0" y="0"/>
                  </a:lnTo>
                  <a:lnTo>
                    <a:pt x="2073629" y="0"/>
                  </a:lnTo>
                  <a:lnTo>
                    <a:pt x="20736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52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925" y="682613"/>
            <a:ext cx="802640" cy="123189"/>
            <a:chOff x="796925" y="682613"/>
            <a:chExt cx="802640" cy="123189"/>
          </a:xfrm>
        </p:grpSpPr>
        <p:sp>
          <p:nvSpPr>
            <p:cNvPr id="5" name="object 5"/>
            <p:cNvSpPr/>
            <p:nvPr/>
          </p:nvSpPr>
          <p:spPr>
            <a:xfrm>
              <a:off x="796925" y="682613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40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6925" y="682613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40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52178"/>
            <a:ext cx="1297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Create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bucket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897610"/>
            <a:ext cx="5039992" cy="182069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2189480" cy="5080"/>
            </a:xfrm>
            <a:custGeom>
              <a:avLst/>
              <a:gdLst/>
              <a:ahLst/>
              <a:cxnLst/>
              <a:rect l="l" t="t" r="r" b="b"/>
              <a:pathLst>
                <a:path w="2189480" h="5080">
                  <a:moveTo>
                    <a:pt x="0" y="5060"/>
                  </a:moveTo>
                  <a:lnTo>
                    <a:pt x="0" y="0"/>
                  </a:lnTo>
                  <a:lnTo>
                    <a:pt x="2188856" y="0"/>
                  </a:lnTo>
                  <a:lnTo>
                    <a:pt x="21888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S3</a:t>
            </a:r>
            <a:r>
              <a:rPr spc="15" dirty="0"/>
              <a:t> </a:t>
            </a:r>
            <a:r>
              <a:rPr spc="-25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7056" y="393760"/>
            <a:ext cx="982344" cy="155575"/>
            <a:chOff x="1237056" y="393760"/>
            <a:chExt cx="982344" cy="155575"/>
          </a:xfrm>
        </p:grpSpPr>
        <p:sp>
          <p:nvSpPr>
            <p:cNvPr id="4" name="object 4"/>
            <p:cNvSpPr/>
            <p:nvPr/>
          </p:nvSpPr>
          <p:spPr>
            <a:xfrm>
              <a:off x="1237056" y="393760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7056" y="393760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70312" y="402637"/>
            <a:ext cx="982344" cy="121920"/>
            <a:chOff x="3870312" y="402637"/>
            <a:chExt cx="982344" cy="121920"/>
          </a:xfrm>
        </p:grpSpPr>
        <p:sp>
          <p:nvSpPr>
            <p:cNvPr id="7" name="object 7"/>
            <p:cNvSpPr/>
            <p:nvPr/>
          </p:nvSpPr>
          <p:spPr>
            <a:xfrm>
              <a:off x="3870312" y="402637"/>
              <a:ext cx="982344" cy="121920"/>
            </a:xfrm>
            <a:custGeom>
              <a:avLst/>
              <a:gdLst/>
              <a:ahLst/>
              <a:cxnLst/>
              <a:rect l="l" t="t" r="r" b="b"/>
              <a:pathLst>
                <a:path w="982345" h="12192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5326"/>
                  </a:lnTo>
                  <a:lnTo>
                    <a:pt x="2829" y="99339"/>
                  </a:lnTo>
                  <a:lnTo>
                    <a:pt x="10544" y="110782"/>
                  </a:lnTo>
                  <a:lnTo>
                    <a:pt x="21987" y="118497"/>
                  </a:lnTo>
                  <a:lnTo>
                    <a:pt x="36000" y="121326"/>
                  </a:lnTo>
                  <a:lnTo>
                    <a:pt x="945850" y="121326"/>
                  </a:lnTo>
                  <a:lnTo>
                    <a:pt x="959863" y="118497"/>
                  </a:lnTo>
                  <a:lnTo>
                    <a:pt x="971306" y="110782"/>
                  </a:lnTo>
                  <a:lnTo>
                    <a:pt x="979021" y="99339"/>
                  </a:lnTo>
                  <a:lnTo>
                    <a:pt x="981850" y="85326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0312" y="402637"/>
              <a:ext cx="982344" cy="121920"/>
            </a:xfrm>
            <a:custGeom>
              <a:avLst/>
              <a:gdLst/>
              <a:ahLst/>
              <a:cxnLst/>
              <a:rect l="l" t="t" r="r" b="b"/>
              <a:pathLst>
                <a:path w="982345" h="12192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5326"/>
                  </a:lnTo>
                  <a:lnTo>
                    <a:pt x="2829" y="99339"/>
                  </a:lnTo>
                  <a:lnTo>
                    <a:pt x="10544" y="110782"/>
                  </a:lnTo>
                  <a:lnTo>
                    <a:pt x="21987" y="118497"/>
                  </a:lnTo>
                  <a:lnTo>
                    <a:pt x="36000" y="121326"/>
                  </a:lnTo>
                  <a:lnTo>
                    <a:pt x="945850" y="121326"/>
                  </a:lnTo>
                  <a:lnTo>
                    <a:pt x="959863" y="118497"/>
                  </a:lnTo>
                  <a:lnTo>
                    <a:pt x="971306" y="110782"/>
                  </a:lnTo>
                  <a:lnTo>
                    <a:pt x="979021" y="99339"/>
                  </a:lnTo>
                  <a:lnTo>
                    <a:pt x="981850" y="85326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348847"/>
            <a:ext cx="496697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data-{your-</a:t>
            </a:r>
            <a:r>
              <a:rPr sz="900" spc="-25" dirty="0">
                <a:latin typeface="Courier New"/>
                <a:cs typeface="Courier New"/>
              </a:rPr>
              <a:t>name}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naming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data-ferran-</a:t>
            </a:r>
            <a:r>
              <a:rPr sz="900" spc="-10" dirty="0">
                <a:latin typeface="Courier New"/>
                <a:cs typeface="Courier New"/>
              </a:rPr>
              <a:t>aran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Bucket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771813"/>
            <a:ext cx="5039992" cy="225854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2304415" cy="5080"/>
            </a:xfrm>
            <a:custGeom>
              <a:avLst/>
              <a:gdLst/>
              <a:ahLst/>
              <a:cxnLst/>
              <a:rect l="l" t="t" r="r" b="b"/>
              <a:pathLst>
                <a:path w="2304415" h="5080">
                  <a:moveTo>
                    <a:pt x="0" y="5060"/>
                  </a:moveTo>
                  <a:lnTo>
                    <a:pt x="0" y="0"/>
                  </a:lnTo>
                  <a:lnTo>
                    <a:pt x="2303994" y="0"/>
                  </a:lnTo>
                  <a:lnTo>
                    <a:pt x="23039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S3</a:t>
            </a:r>
            <a:r>
              <a:rPr spc="15" dirty="0"/>
              <a:t> </a:t>
            </a:r>
            <a:r>
              <a:rPr spc="-25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64000" y="433757"/>
            <a:ext cx="802640" cy="123189"/>
            <a:chOff x="3764000" y="433757"/>
            <a:chExt cx="802640" cy="123189"/>
          </a:xfrm>
        </p:grpSpPr>
        <p:sp>
          <p:nvSpPr>
            <p:cNvPr id="4" name="object 4"/>
            <p:cNvSpPr/>
            <p:nvPr/>
          </p:nvSpPr>
          <p:spPr>
            <a:xfrm>
              <a:off x="3764000" y="43375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4000" y="43375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403321"/>
            <a:ext cx="42646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else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 on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Create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20" dirty="0">
                <a:latin typeface="Courier New"/>
                <a:cs typeface="Courier New"/>
              </a:rPr>
              <a:t>bucket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648767"/>
            <a:ext cx="5039992" cy="231839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419350" cy="5080"/>
            </a:xfrm>
            <a:custGeom>
              <a:avLst/>
              <a:gdLst/>
              <a:ahLst/>
              <a:cxnLst/>
              <a:rect l="l" t="t" r="r" b="b"/>
              <a:pathLst>
                <a:path w="2419350" h="5080">
                  <a:moveTo>
                    <a:pt x="0" y="5060"/>
                  </a:moveTo>
                  <a:lnTo>
                    <a:pt x="0" y="0"/>
                  </a:lnTo>
                  <a:lnTo>
                    <a:pt x="2419220" y="0"/>
                  </a:lnTo>
                  <a:lnTo>
                    <a:pt x="2419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S3</a:t>
            </a:r>
            <a:r>
              <a:rPr spc="15" dirty="0"/>
              <a:t> </a:t>
            </a:r>
            <a:r>
              <a:rPr spc="-25" dirty="0"/>
              <a:t>bucket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543551"/>
            <a:ext cx="49364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headed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dashboard.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Arial"/>
                <a:cs typeface="Arial"/>
              </a:rPr>
              <a:t>success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967801"/>
            <a:ext cx="5039992" cy="18364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34920" cy="5080"/>
            </a:xfrm>
            <a:custGeom>
              <a:avLst/>
              <a:gdLst/>
              <a:ahLst/>
              <a:cxnLst/>
              <a:rect l="l" t="t" r="r" b="b"/>
              <a:pathLst>
                <a:path w="2534920" h="5080">
                  <a:moveTo>
                    <a:pt x="0" y="5060"/>
                  </a:moveTo>
                  <a:lnTo>
                    <a:pt x="0" y="0"/>
                  </a:lnTo>
                  <a:lnTo>
                    <a:pt x="2534446" y="0"/>
                  </a:lnTo>
                  <a:lnTo>
                    <a:pt x="25344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65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Uploading</a:t>
            </a:r>
            <a:r>
              <a:rPr spc="3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file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bucket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8300" y="631825"/>
            <a:ext cx="4976495" cy="15558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From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S3 </a:t>
            </a: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dashboard</a:t>
            </a:r>
            <a:endParaRPr lang="es-ES" sz="900" b="1" dirty="0">
              <a:solidFill>
                <a:srgbClr val="0070C0"/>
              </a:solidFill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bucket.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chemeClr val="accent3">
                    <a:lumMod val="50000"/>
                  </a:schemeClr>
                </a:solidFill>
                <a:latin typeface="Courier New"/>
                <a:cs typeface="Courier New"/>
              </a:rPr>
              <a:t>test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folder.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sz="900" dirty="0">
              <a:latin typeface="Arial"/>
              <a:cs typeface="Arial"/>
            </a:endParaRPr>
          </a:p>
          <a:p>
            <a:pPr marL="12700" marR="5080" indent="3810">
              <a:lnSpc>
                <a:spcPct val="116199"/>
              </a:lnSpc>
              <a:spcBef>
                <a:spcPts val="6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data-{your-name}/</a:t>
            </a:r>
            <a:r>
              <a:rPr sz="9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contains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sz="900" spc="1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s3://data-{your-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name}/test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by default.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owner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649855" cy="5080"/>
            </a:xfrm>
            <a:custGeom>
              <a:avLst/>
              <a:gdLst/>
              <a:ahLst/>
              <a:cxnLst/>
              <a:rect l="l" t="t" r="r" b="b"/>
              <a:pathLst>
                <a:path w="2649855" h="5080">
                  <a:moveTo>
                    <a:pt x="0" y="5060"/>
                  </a:moveTo>
                  <a:lnTo>
                    <a:pt x="0" y="0"/>
                  </a:lnTo>
                  <a:lnTo>
                    <a:pt x="2649672" y="0"/>
                  </a:lnTo>
                  <a:lnTo>
                    <a:pt x="26496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6">
            <a:extLst>
              <a:ext uri="{FF2B5EF4-FFF2-40B4-BE49-F238E27FC236}">
                <a16:creationId xmlns:a16="http://schemas.microsoft.com/office/drawing/2014/main" id="{3D3B9152-8B31-2A5B-394E-4D54985509B5}"/>
              </a:ext>
            </a:extLst>
          </p:cNvPr>
          <p:cNvSpPr txBox="1"/>
          <p:nvPr/>
        </p:nvSpPr>
        <p:spPr>
          <a:xfrm>
            <a:off x="520700" y="2308225"/>
            <a:ext cx="4976495" cy="88165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From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AWS CLI</a:t>
            </a:r>
          </a:p>
          <a:p>
            <a:pPr marL="267334" indent="-171450">
              <a:lnSpc>
                <a:spcPct val="10000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243204" algn="l"/>
              </a:tabLst>
            </a:pPr>
            <a:r>
              <a:rPr lang="es-ES" sz="900" dirty="0" err="1"/>
              <a:t>aws</a:t>
            </a:r>
            <a:r>
              <a:rPr lang="es-ES" sz="900" dirty="0"/>
              <a:t> s3 </a:t>
            </a:r>
            <a:r>
              <a:rPr lang="es-ES" sz="900" dirty="0" err="1"/>
              <a:t>cp</a:t>
            </a:r>
            <a:r>
              <a:rPr lang="es-ES" sz="900" dirty="0"/>
              <a:t> &lt;local-file-</a:t>
            </a:r>
            <a:r>
              <a:rPr lang="es-ES" sz="900" dirty="0" err="1"/>
              <a:t>path</a:t>
            </a:r>
            <a:r>
              <a:rPr lang="es-ES" sz="900" dirty="0"/>
              <a:t>&gt; s3://&lt;</a:t>
            </a:r>
            <a:r>
              <a:rPr lang="es-ES" sz="900" dirty="0" err="1"/>
              <a:t>bucket-name</a:t>
            </a:r>
            <a:r>
              <a:rPr lang="es-ES" sz="900" dirty="0"/>
              <a:t>&gt;/&lt;</a:t>
            </a:r>
            <a:r>
              <a:rPr lang="es-ES" sz="900" dirty="0" err="1"/>
              <a:t>optional</a:t>
            </a:r>
            <a:r>
              <a:rPr lang="es-ES" sz="900" dirty="0"/>
              <a:t>-target-</a:t>
            </a:r>
            <a:r>
              <a:rPr lang="es-ES" sz="900" dirty="0" err="1"/>
              <a:t>name</a:t>
            </a:r>
            <a:r>
              <a:rPr lang="es-ES" sz="900" dirty="0"/>
              <a:t>&gt;</a:t>
            </a:r>
          </a:p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Example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upload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photo.jpg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bucket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named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chemeClr val="tx1"/>
                </a:solidFill>
                <a:latin typeface="Arial"/>
                <a:cs typeface="Arial"/>
              </a:rPr>
              <a:t>my-bucket</a:t>
            </a:r>
            <a:r>
              <a:rPr lang="es-ES" sz="900" b="1" dirty="0">
                <a:solidFill>
                  <a:schemeClr val="tx1"/>
                </a:solidFill>
                <a:latin typeface="Arial"/>
                <a:cs typeface="Arial"/>
              </a:rPr>
              <a:t>):</a:t>
            </a:r>
          </a:p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s-ES" sz="900" dirty="0" err="1"/>
              <a:t>aws</a:t>
            </a:r>
            <a:r>
              <a:rPr lang="es-ES" sz="900" dirty="0"/>
              <a:t> s3 </a:t>
            </a:r>
            <a:r>
              <a:rPr lang="es-ES" sz="900" dirty="0" err="1"/>
              <a:t>cp</a:t>
            </a:r>
            <a:r>
              <a:rPr lang="es-ES" sz="900" dirty="0"/>
              <a:t> </a:t>
            </a:r>
            <a:r>
              <a:rPr lang="es-ES" sz="900" dirty="0" err="1"/>
              <a:t>photo.jpg</a:t>
            </a:r>
            <a:r>
              <a:rPr lang="es-ES" sz="900" dirty="0"/>
              <a:t> s3://</a:t>
            </a:r>
            <a:r>
              <a:rPr lang="es-ES" sz="900" dirty="0" err="1"/>
              <a:t>my-bucket</a:t>
            </a:r>
            <a:r>
              <a:rPr lang="es-ES" sz="900" dirty="0"/>
              <a:t>/</a:t>
            </a:r>
            <a:endParaRPr lang="es-ES" sz="9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endParaRPr lang="es-ES" sz="9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42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Sync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80">
                  <a:moveTo>
                    <a:pt x="0" y="5060"/>
                  </a:moveTo>
                  <a:lnTo>
                    <a:pt x="0" y="0"/>
                  </a:lnTo>
                  <a:lnTo>
                    <a:pt x="1152426" y="0"/>
                  </a:lnTo>
                  <a:lnTo>
                    <a:pt x="11524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52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Syncing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spc="-10" dirty="0"/>
              <a:t>local</a:t>
            </a:r>
            <a:r>
              <a:rPr spc="35" dirty="0"/>
              <a:t> </a:t>
            </a:r>
            <a:r>
              <a:rPr spc="-25" dirty="0"/>
              <a:t>directory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35" dirty="0"/>
              <a:t>upload</a:t>
            </a:r>
            <a:r>
              <a:rPr spc="35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10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86836" y="940721"/>
            <a:ext cx="264795" cy="121285"/>
            <a:chOff x="2886836" y="940721"/>
            <a:chExt cx="264795" cy="121285"/>
          </a:xfrm>
        </p:grpSpPr>
        <p:sp>
          <p:nvSpPr>
            <p:cNvPr id="4" name="object 4"/>
            <p:cNvSpPr/>
            <p:nvPr/>
          </p:nvSpPr>
          <p:spPr>
            <a:xfrm>
              <a:off x="2886836" y="940721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6836" y="940721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82432" y="1100048"/>
            <a:ext cx="862330" cy="146050"/>
            <a:chOff x="1582432" y="1100048"/>
            <a:chExt cx="862330" cy="146050"/>
          </a:xfrm>
        </p:grpSpPr>
        <p:sp>
          <p:nvSpPr>
            <p:cNvPr id="7" name="object 7"/>
            <p:cNvSpPr/>
            <p:nvPr/>
          </p:nvSpPr>
          <p:spPr>
            <a:xfrm>
              <a:off x="1582432" y="1100048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2432" y="1100048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20280" y="1259367"/>
            <a:ext cx="2799080" cy="305435"/>
            <a:chOff x="820280" y="1259367"/>
            <a:chExt cx="2799080" cy="305435"/>
          </a:xfrm>
        </p:grpSpPr>
        <p:sp>
          <p:nvSpPr>
            <p:cNvPr id="10" name="object 10"/>
            <p:cNvSpPr/>
            <p:nvPr/>
          </p:nvSpPr>
          <p:spPr>
            <a:xfrm>
              <a:off x="2995968" y="1259367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5968" y="1259367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0280" y="1409252"/>
              <a:ext cx="2297430" cy="155575"/>
            </a:xfrm>
            <a:custGeom>
              <a:avLst/>
              <a:gdLst/>
              <a:ahLst/>
              <a:cxnLst/>
              <a:rect l="l" t="t" r="r" b="b"/>
              <a:pathLst>
                <a:path w="2297430" h="155575">
                  <a:moveTo>
                    <a:pt x="226110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261100" y="155489"/>
                  </a:lnTo>
                  <a:lnTo>
                    <a:pt x="2275113" y="152659"/>
                  </a:lnTo>
                  <a:lnTo>
                    <a:pt x="2286556" y="144944"/>
                  </a:lnTo>
                  <a:lnTo>
                    <a:pt x="2294271" y="133501"/>
                  </a:lnTo>
                  <a:lnTo>
                    <a:pt x="2297100" y="119488"/>
                  </a:lnTo>
                  <a:lnTo>
                    <a:pt x="2297100" y="36000"/>
                  </a:lnTo>
                  <a:lnTo>
                    <a:pt x="2294271" y="21987"/>
                  </a:lnTo>
                  <a:lnTo>
                    <a:pt x="2286556" y="10544"/>
                  </a:lnTo>
                  <a:lnTo>
                    <a:pt x="2275113" y="2829"/>
                  </a:lnTo>
                  <a:lnTo>
                    <a:pt x="226110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280" y="1409252"/>
              <a:ext cx="2297430" cy="155575"/>
            </a:xfrm>
            <a:custGeom>
              <a:avLst/>
              <a:gdLst/>
              <a:ahLst/>
              <a:cxnLst/>
              <a:rect l="l" t="t" r="r" b="b"/>
              <a:pathLst>
                <a:path w="2297430" h="155575">
                  <a:moveTo>
                    <a:pt x="226110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261100" y="155489"/>
                  </a:lnTo>
                  <a:lnTo>
                    <a:pt x="2275113" y="152659"/>
                  </a:lnTo>
                  <a:lnTo>
                    <a:pt x="2286556" y="144944"/>
                  </a:lnTo>
                  <a:lnTo>
                    <a:pt x="2294271" y="133501"/>
                  </a:lnTo>
                  <a:lnTo>
                    <a:pt x="2297100" y="119488"/>
                  </a:lnTo>
                  <a:lnTo>
                    <a:pt x="2297100" y="36000"/>
                  </a:lnTo>
                  <a:lnTo>
                    <a:pt x="2294271" y="21987"/>
                  </a:lnTo>
                  <a:lnTo>
                    <a:pt x="2286556" y="10544"/>
                  </a:lnTo>
                  <a:lnTo>
                    <a:pt x="2275113" y="2829"/>
                  </a:lnTo>
                  <a:lnTo>
                    <a:pt x="226110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72646" y="1790314"/>
            <a:ext cx="5015230" cy="451484"/>
            <a:chOff x="372646" y="1790314"/>
            <a:chExt cx="5015230" cy="451484"/>
          </a:xfrm>
        </p:grpSpPr>
        <p:sp>
          <p:nvSpPr>
            <p:cNvPr id="15" name="object 15"/>
            <p:cNvSpPr/>
            <p:nvPr/>
          </p:nvSpPr>
          <p:spPr>
            <a:xfrm>
              <a:off x="377994" y="1795661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8973" y="1796640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5223" y="390725"/>
            <a:ext cx="5012055" cy="21461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endParaRPr lang="es-ES" sz="900" spc="-2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95884">
              <a:spcBef>
                <a:spcPts val="275"/>
              </a:spcBef>
              <a:tabLst>
                <a:tab pos="243204" algn="l"/>
              </a:tabLst>
            </a:pP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From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AWS CLI</a:t>
            </a:r>
          </a:p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endParaRPr lang="es-ES" sz="900" spc="-2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desktop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data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my-dataset.txt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folder.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Desktop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AutoNum type="arabicPeriod"/>
              <a:tabLst>
                <a:tab pos="24384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s3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sync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s3://data-{your-name}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case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 dirty="0">
              <a:latin typeface="Arial"/>
              <a:cs typeface="Arial"/>
            </a:endParaRPr>
          </a:p>
          <a:p>
            <a:pPr marL="214629" marR="1188085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sz="800" spc="-55" dirty="0">
                <a:latin typeface="Courier New"/>
                <a:cs typeface="Courier New"/>
              </a:rPr>
              <a:t>esktop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s3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sync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data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s3://data-ferran-</a:t>
            </a:r>
            <a:r>
              <a:rPr sz="800" spc="-20" dirty="0">
                <a:latin typeface="Courier New"/>
                <a:cs typeface="Courier New"/>
              </a:rPr>
              <a:t>aran </a:t>
            </a:r>
            <a:r>
              <a:rPr sz="800" spc="-60" dirty="0">
                <a:latin typeface="Courier New"/>
                <a:cs typeface="Courier New"/>
              </a:rPr>
              <a:t>upload:</a:t>
            </a:r>
            <a:r>
              <a:rPr sz="800" spc="5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data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\m</a:t>
            </a:r>
            <a:r>
              <a:rPr sz="800" spc="-60" dirty="0">
                <a:latin typeface="Courier New"/>
                <a:cs typeface="Courier New"/>
              </a:rPr>
              <a:t>y-</a:t>
            </a:r>
            <a:r>
              <a:rPr sz="800" spc="-55" dirty="0">
                <a:latin typeface="Courier New"/>
                <a:cs typeface="Courier New"/>
              </a:rPr>
              <a:t>dataset.txt</a:t>
            </a:r>
            <a:r>
              <a:rPr sz="800" spc="5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5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s3://data-ferran-aran/my-dataset.txt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That’s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it!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bucket!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9" name="object 1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2765425" cy="5080"/>
            </a:xfrm>
            <a:custGeom>
              <a:avLst/>
              <a:gdLst/>
              <a:ahLst/>
              <a:cxnLst/>
              <a:rect l="l" t="t" r="r" b="b"/>
              <a:pathLst>
                <a:path w="2765425" h="5080">
                  <a:moveTo>
                    <a:pt x="0" y="5060"/>
                  </a:moveTo>
                  <a:lnTo>
                    <a:pt x="0" y="0"/>
                  </a:lnTo>
                  <a:lnTo>
                    <a:pt x="2764810" y="0"/>
                  </a:lnTo>
                  <a:lnTo>
                    <a:pt x="27648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75050"/>
            <a:ext cx="36302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click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6" y="1017287"/>
            <a:ext cx="5039992" cy="15781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80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00768" y="800709"/>
            <a:ext cx="862330" cy="146050"/>
            <a:chOff x="3300768" y="800709"/>
            <a:chExt cx="862330" cy="146050"/>
          </a:xfrm>
        </p:grpSpPr>
        <p:sp>
          <p:nvSpPr>
            <p:cNvPr id="4" name="object 4"/>
            <p:cNvSpPr/>
            <p:nvPr/>
          </p:nvSpPr>
          <p:spPr>
            <a:xfrm>
              <a:off x="3300768" y="800709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0768" y="800709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769030"/>
            <a:ext cx="3865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my-</a:t>
            </a:r>
            <a:r>
              <a:rPr sz="900" spc="-40" dirty="0">
                <a:latin typeface="Courier New"/>
                <a:cs typeface="Courier New"/>
              </a:rPr>
              <a:t>dataset.txt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39057"/>
            <a:ext cx="5039992" cy="15623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995295" cy="5080"/>
            </a:xfrm>
            <a:custGeom>
              <a:avLst/>
              <a:gdLst/>
              <a:ahLst/>
              <a:cxnLst/>
              <a:rect l="l" t="t" r="r" b="b"/>
              <a:pathLst>
                <a:path w="2995295" h="5080">
                  <a:moveTo>
                    <a:pt x="0" y="5060"/>
                  </a:moveTo>
                  <a:lnTo>
                    <a:pt x="0" y="0"/>
                  </a:lnTo>
                  <a:lnTo>
                    <a:pt x="2995262" y="0"/>
                  </a:lnTo>
                  <a:lnTo>
                    <a:pt x="29952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5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Inspecting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from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Console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650653"/>
            <a:ext cx="1880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further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details.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870784"/>
            <a:ext cx="5039992" cy="184904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110865" cy="5080"/>
            </a:xfrm>
            <a:custGeom>
              <a:avLst/>
              <a:gdLst/>
              <a:ahLst/>
              <a:cxnLst/>
              <a:rect l="l" t="t" r="r" b="b"/>
              <a:pathLst>
                <a:path w="3110865" h="5080">
                  <a:moveTo>
                    <a:pt x="0" y="5060"/>
                  </a:moveTo>
                  <a:lnTo>
                    <a:pt x="0" y="0"/>
                  </a:lnTo>
                  <a:lnTo>
                    <a:pt x="3110401" y="0"/>
                  </a:lnTo>
                  <a:lnTo>
                    <a:pt x="31104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913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Working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from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353185" cy="5080"/>
            </a:xfrm>
            <a:custGeom>
              <a:avLst/>
              <a:gdLst/>
              <a:ahLst/>
              <a:cxnLst/>
              <a:rect l="l" t="t" r="r" b="b"/>
              <a:pathLst>
                <a:path w="1353185" h="5080">
                  <a:moveTo>
                    <a:pt x="0" y="5060"/>
                  </a:moveTo>
                  <a:lnTo>
                    <a:pt x="0" y="0"/>
                  </a:lnTo>
                  <a:lnTo>
                    <a:pt x="1352811" y="0"/>
                  </a:lnTo>
                  <a:lnTo>
                    <a:pt x="13528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10262"/>
            <a:ext cx="491045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19" y="1110262"/>
            <a:ext cx="493712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115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through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termnial, we’ll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 similarly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10262"/>
            <a:ext cx="4937125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115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through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term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dirty="0" err="1">
                <a:solidFill>
                  <a:srgbClr val="22373A"/>
                </a:solidFill>
                <a:latin typeface="Arial"/>
                <a:cs typeface="Arial"/>
              </a:rPr>
              <a:t>nal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 we’ll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 similarly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sz="900" dirty="0">
              <a:latin typeface="Arial"/>
              <a:cs typeface="Arial"/>
            </a:endParaRPr>
          </a:p>
          <a:p>
            <a:pPr marL="16510" marR="1333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suggest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checking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this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guide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detailed explanation.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14280"/>
            <a:ext cx="44945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814280"/>
            <a:ext cx="4996815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 </a:t>
            </a:r>
            <a:r>
              <a:rPr sz="900" spc="-10" dirty="0">
                <a:latin typeface="Courier New"/>
                <a:cs typeface="Courier New"/>
              </a:rPr>
              <a:t>.aws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4" name="object 4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7" name="object 7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29206" y="1483278"/>
            <a:ext cx="683260" cy="121285"/>
            <a:chOff x="1729206" y="1483278"/>
            <a:chExt cx="683260" cy="121285"/>
          </a:xfrm>
        </p:grpSpPr>
        <p:sp>
          <p:nvSpPr>
            <p:cNvPr id="10" name="object 10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39439" y="1502864"/>
            <a:ext cx="264795" cy="101600"/>
            <a:chOff x="3139439" y="1502864"/>
            <a:chExt cx="264795" cy="101600"/>
          </a:xfrm>
        </p:grpSpPr>
        <p:sp>
          <p:nvSpPr>
            <p:cNvPr id="13" name="object 13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9994" y="1633143"/>
            <a:ext cx="1280795" cy="139700"/>
            <a:chOff x="359994" y="1633143"/>
            <a:chExt cx="1280795" cy="139700"/>
          </a:xfrm>
        </p:grpSpPr>
        <p:sp>
          <p:nvSpPr>
            <p:cNvPr id="16" name="object 16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7294" y="814280"/>
            <a:ext cx="499681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 </a:t>
            </a:r>
            <a:r>
              <a:rPr sz="900" spc="-10" dirty="0">
                <a:latin typeface="Courier New"/>
                <a:cs typeface="Courier New"/>
              </a:rPr>
              <a:t>.aws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75"/>
              </a:spcBef>
            </a:pPr>
            <a:r>
              <a:rPr sz="900" spc="-75" dirty="0">
                <a:latin typeface="Courier New"/>
                <a:cs typeface="Courier New"/>
              </a:rPr>
              <a:t>nano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.aws/credentials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4" name="object 4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7" name="object 7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29206" y="1483278"/>
            <a:ext cx="683260" cy="121285"/>
            <a:chOff x="1729206" y="1483278"/>
            <a:chExt cx="683260" cy="121285"/>
          </a:xfrm>
        </p:grpSpPr>
        <p:sp>
          <p:nvSpPr>
            <p:cNvPr id="10" name="object 10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39439" y="1502864"/>
            <a:ext cx="264795" cy="101600"/>
            <a:chOff x="3139439" y="1502864"/>
            <a:chExt cx="264795" cy="101600"/>
          </a:xfrm>
        </p:grpSpPr>
        <p:sp>
          <p:nvSpPr>
            <p:cNvPr id="13" name="object 13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9994" y="1633143"/>
            <a:ext cx="1280795" cy="139700"/>
            <a:chOff x="359994" y="1633143"/>
            <a:chExt cx="1280795" cy="139700"/>
          </a:xfrm>
        </p:grpSpPr>
        <p:sp>
          <p:nvSpPr>
            <p:cNvPr id="16" name="object 16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799018" y="2278648"/>
            <a:ext cx="504190" cy="123189"/>
            <a:chOff x="1799018" y="2278648"/>
            <a:chExt cx="504190" cy="123189"/>
          </a:xfrm>
        </p:grpSpPr>
        <p:sp>
          <p:nvSpPr>
            <p:cNvPr id="19" name="object 19"/>
            <p:cNvSpPr/>
            <p:nvPr/>
          </p:nvSpPr>
          <p:spPr>
            <a:xfrm>
              <a:off x="1799018" y="2278648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8" y="122693"/>
                  </a:lnTo>
                  <a:lnTo>
                    <a:pt x="481590" y="119864"/>
                  </a:lnTo>
                  <a:lnTo>
                    <a:pt x="493034" y="112148"/>
                  </a:lnTo>
                  <a:lnTo>
                    <a:pt x="500749" y="100705"/>
                  </a:lnTo>
                  <a:lnTo>
                    <a:pt x="503578" y="86692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99018" y="2278648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8" y="122693"/>
                  </a:lnTo>
                  <a:lnTo>
                    <a:pt x="481590" y="119864"/>
                  </a:lnTo>
                  <a:lnTo>
                    <a:pt x="493034" y="112148"/>
                  </a:lnTo>
                  <a:lnTo>
                    <a:pt x="500749" y="100705"/>
                  </a:lnTo>
                  <a:lnTo>
                    <a:pt x="503578" y="86692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2160" y="2279908"/>
            <a:ext cx="85089" cy="120187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480854" y="2279911"/>
            <a:ext cx="324485" cy="121285"/>
            <a:chOff x="3480854" y="2279911"/>
            <a:chExt cx="324485" cy="121285"/>
          </a:xfrm>
        </p:grpSpPr>
        <p:sp>
          <p:nvSpPr>
            <p:cNvPr id="23" name="object 23"/>
            <p:cNvSpPr/>
            <p:nvPr/>
          </p:nvSpPr>
          <p:spPr>
            <a:xfrm>
              <a:off x="3480854" y="2279911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5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80854" y="2279911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5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3319" y="814280"/>
            <a:ext cx="5000625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 dirty="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 </a:t>
            </a:r>
            <a:r>
              <a:rPr sz="900" spc="-10" dirty="0">
                <a:latin typeface="Courier New"/>
                <a:cs typeface="Courier New"/>
              </a:rPr>
              <a:t>.aws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 dirty="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75"/>
              </a:spcBef>
            </a:pPr>
            <a:r>
              <a:rPr sz="900" spc="-75" dirty="0">
                <a:latin typeface="Courier New"/>
                <a:cs typeface="Courier New"/>
              </a:rPr>
              <a:t>nano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.aws/credentials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2700" marR="113664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nano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 editor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copied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Academy website.</a:t>
            </a:r>
            <a:endParaRPr sz="900" dirty="0">
              <a:latin typeface="Arial"/>
              <a:cs typeface="Arial"/>
            </a:endParaRPr>
          </a:p>
          <a:p>
            <a:pPr marL="16510" marR="20955" indent="-444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Ctrl </a:t>
            </a:r>
            <a:r>
              <a:rPr sz="900" spc="-70" dirty="0">
                <a:latin typeface="Courier New"/>
                <a:cs typeface="Courier New"/>
              </a:rPr>
              <a:t>+ </a:t>
            </a:r>
            <a:r>
              <a:rPr sz="900" spc="-75" dirty="0">
                <a:latin typeface="Courier New"/>
                <a:cs typeface="Courier New"/>
              </a:rPr>
              <a:t>X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Y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Enter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screenshots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7" name="object 2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891" y="475596"/>
            <a:ext cx="4548223" cy="239918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456304" cy="5080"/>
            </a:xfrm>
            <a:custGeom>
              <a:avLst/>
              <a:gdLst/>
              <a:ahLst/>
              <a:cxnLst/>
              <a:rect l="l" t="t" r="r" b="b"/>
              <a:pathLst>
                <a:path w="3456304" h="5080">
                  <a:moveTo>
                    <a:pt x="0" y="5060"/>
                  </a:moveTo>
                  <a:lnTo>
                    <a:pt x="0" y="0"/>
                  </a:lnTo>
                  <a:lnTo>
                    <a:pt x="3456079" y="0"/>
                  </a:lnTo>
                  <a:lnTo>
                    <a:pt x="34560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291" y="475612"/>
            <a:ext cx="4505440" cy="23991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571240" cy="5080"/>
            </a:xfrm>
            <a:custGeom>
              <a:avLst/>
              <a:gdLst/>
              <a:ahLst/>
              <a:cxnLst/>
              <a:rect l="l" t="t" r="r" b="b"/>
              <a:pathLst>
                <a:path w="3571240" h="5080">
                  <a:moveTo>
                    <a:pt x="0" y="5060"/>
                  </a:moveTo>
                  <a:lnTo>
                    <a:pt x="0" y="0"/>
                  </a:lnTo>
                  <a:lnTo>
                    <a:pt x="3571217" y="0"/>
                  </a:lnTo>
                  <a:lnTo>
                    <a:pt x="35712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224" y="475609"/>
            <a:ext cx="4553571" cy="239916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686810" cy="5080"/>
            </a:xfrm>
            <a:custGeom>
              <a:avLst/>
              <a:gdLst/>
              <a:ahLst/>
              <a:cxnLst/>
              <a:rect l="l" t="t" r="r" b="b"/>
              <a:pathLst>
                <a:path w="3686810" h="5080">
                  <a:moveTo>
                    <a:pt x="0" y="5060"/>
                  </a:moveTo>
                  <a:lnTo>
                    <a:pt x="0" y="0"/>
                  </a:lnTo>
                  <a:lnTo>
                    <a:pt x="3686443" y="0"/>
                  </a:lnTo>
                  <a:lnTo>
                    <a:pt x="36864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743" y="475582"/>
            <a:ext cx="4484514" cy="23992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01745" cy="5080"/>
            </a:xfrm>
            <a:custGeom>
              <a:avLst/>
              <a:gdLst/>
              <a:ahLst/>
              <a:cxnLst/>
              <a:rect l="l" t="t" r="r" b="b"/>
              <a:pathLst>
                <a:path w="3801745" h="5080">
                  <a:moveTo>
                    <a:pt x="0" y="5060"/>
                  </a:moveTo>
                  <a:lnTo>
                    <a:pt x="0" y="0"/>
                  </a:lnTo>
                  <a:lnTo>
                    <a:pt x="3801669" y="0"/>
                  </a:lnTo>
                  <a:lnTo>
                    <a:pt x="380166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78301" y="1061834"/>
            <a:ext cx="1639570" cy="146685"/>
            <a:chOff x="3478301" y="1061834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1030142"/>
            <a:ext cx="48215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</a:t>
            </a:r>
            <a:r>
              <a:rPr sz="900" spc="-70" dirty="0">
                <a:latin typeface="Courier New"/>
                <a:cs typeface="Courier New"/>
              </a:rPr>
              <a:t>sts </a:t>
            </a:r>
            <a:r>
              <a:rPr sz="900" spc="-75" dirty="0">
                <a:latin typeface="Courier New"/>
                <a:cs typeface="Courier New"/>
              </a:rPr>
              <a:t>get-caller-</a:t>
            </a:r>
            <a:r>
              <a:rPr sz="900" spc="-25" dirty="0">
                <a:latin typeface="Courier New"/>
                <a:cs typeface="Courier New"/>
              </a:rPr>
              <a:t>identity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78301" y="1061834"/>
            <a:ext cx="1639570" cy="146685"/>
            <a:chOff x="3478301" y="1061834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513116"/>
            <a:ext cx="5015230" cy="829310"/>
            <a:chOff x="372646" y="1513116"/>
            <a:chExt cx="5015230" cy="829310"/>
          </a:xfrm>
        </p:grpSpPr>
        <p:sp>
          <p:nvSpPr>
            <p:cNvPr id="7" name="object 7"/>
            <p:cNvSpPr/>
            <p:nvPr/>
          </p:nvSpPr>
          <p:spPr>
            <a:xfrm>
              <a:off x="377994" y="1518463"/>
              <a:ext cx="5004435" cy="818515"/>
            </a:xfrm>
            <a:custGeom>
              <a:avLst/>
              <a:gdLst/>
              <a:ahLst/>
              <a:cxnLst/>
              <a:rect l="l" t="t" r="r" b="b"/>
              <a:pathLst>
                <a:path w="5004435" h="81851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065"/>
                  </a:lnTo>
                  <a:lnTo>
                    <a:pt x="2829" y="796078"/>
                  </a:lnTo>
                  <a:lnTo>
                    <a:pt x="10544" y="807521"/>
                  </a:lnTo>
                  <a:lnTo>
                    <a:pt x="21987" y="815236"/>
                  </a:lnTo>
                  <a:lnTo>
                    <a:pt x="36000" y="818065"/>
                  </a:lnTo>
                  <a:lnTo>
                    <a:pt x="4968064" y="818065"/>
                  </a:lnTo>
                  <a:lnTo>
                    <a:pt x="4982077" y="815236"/>
                  </a:lnTo>
                  <a:lnTo>
                    <a:pt x="4993521" y="807521"/>
                  </a:lnTo>
                  <a:lnTo>
                    <a:pt x="5001236" y="796078"/>
                  </a:lnTo>
                  <a:lnTo>
                    <a:pt x="5004065" y="78206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519442"/>
              <a:ext cx="5002530" cy="816610"/>
            </a:xfrm>
            <a:custGeom>
              <a:avLst/>
              <a:gdLst/>
              <a:ahLst/>
              <a:cxnLst/>
              <a:rect l="l" t="t" r="r" b="b"/>
              <a:pathLst>
                <a:path w="5002530" h="816610">
                  <a:moveTo>
                    <a:pt x="0" y="78108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781086"/>
                  </a:lnTo>
                  <a:lnTo>
                    <a:pt x="4999354" y="794718"/>
                  </a:lnTo>
                  <a:lnTo>
                    <a:pt x="4991849" y="805850"/>
                  </a:lnTo>
                  <a:lnTo>
                    <a:pt x="4980717" y="813355"/>
                  </a:lnTo>
                  <a:lnTo>
                    <a:pt x="4967085" y="816107"/>
                  </a:lnTo>
                  <a:lnTo>
                    <a:pt x="35021" y="816107"/>
                  </a:lnTo>
                  <a:lnTo>
                    <a:pt x="21389" y="813355"/>
                  </a:lnTo>
                  <a:lnTo>
                    <a:pt x="10257" y="805850"/>
                  </a:lnTo>
                  <a:lnTo>
                    <a:pt x="2752" y="794718"/>
                  </a:lnTo>
                  <a:lnTo>
                    <a:pt x="0" y="78108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1030142"/>
            <a:ext cx="495935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</a:t>
            </a:r>
            <a:r>
              <a:rPr sz="900" spc="-70" dirty="0">
                <a:latin typeface="Courier New"/>
                <a:cs typeface="Courier New"/>
              </a:rPr>
              <a:t>sts </a:t>
            </a:r>
            <a:r>
              <a:rPr sz="900" spc="-75" dirty="0">
                <a:latin typeface="Courier New"/>
                <a:cs typeface="Courier New"/>
              </a:rPr>
              <a:t>get-caller-</a:t>
            </a:r>
            <a:r>
              <a:rPr sz="900" spc="-10" dirty="0">
                <a:latin typeface="Courier New"/>
                <a:cs typeface="Courier New"/>
              </a:rPr>
              <a:t>identity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 dirty="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{</a:t>
            </a:r>
            <a:endParaRPr sz="800" dirty="0">
              <a:latin typeface="Courier New"/>
              <a:cs typeface="Courier New"/>
            </a:endParaRPr>
          </a:p>
          <a:p>
            <a:pPr marL="431165" marR="1133475">
              <a:lnSpc>
                <a:spcPct val="107400"/>
              </a:lnSpc>
            </a:pP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"UserId"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"AROA2CKYVHJALK46ZMHVM:user3869188=Ferran_Aran_Test"</a:t>
            </a:r>
            <a:r>
              <a:rPr sz="800" spc="-60" dirty="0">
                <a:latin typeface="Courier New"/>
                <a:cs typeface="Courier New"/>
              </a:rPr>
              <a:t>,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"Account"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"692212546112"</a:t>
            </a:r>
            <a:r>
              <a:rPr sz="800" spc="-10" dirty="0">
                <a:latin typeface="Courier New"/>
                <a:cs typeface="Courier New"/>
              </a:rPr>
              <a:t>,</a:t>
            </a:r>
            <a:endParaRPr sz="800" dirty="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"Arn"</a:t>
            </a:r>
            <a:r>
              <a:rPr sz="800" spc="-60" dirty="0">
                <a:latin typeface="Courier New"/>
                <a:cs typeface="Courier New"/>
              </a:rPr>
              <a:t>:</a:t>
            </a:r>
            <a:r>
              <a:rPr sz="800" spc="254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"arn:aws:sts::692212546112:assumed-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role/voclabs/user3869188=Ferran_Aran_Test"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4862" y="1586310"/>
            <a:ext cx="504190" cy="147320"/>
            <a:chOff x="1004862" y="1586310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1004862" y="1586310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4862" y="1586310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745641"/>
            <a:ext cx="324485" cy="123189"/>
            <a:chOff x="359994" y="1745641"/>
            <a:chExt cx="324485" cy="123189"/>
          </a:xfrm>
        </p:grpSpPr>
        <p:sp>
          <p:nvSpPr>
            <p:cNvPr id="7" name="object 7"/>
            <p:cNvSpPr/>
            <p:nvPr/>
          </p:nvSpPr>
          <p:spPr>
            <a:xfrm>
              <a:off x="359994" y="1745641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4" h="123189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9994" y="1745641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4" h="123189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427" y="1807235"/>
            <a:ext cx="5015230" cy="574040"/>
            <a:chOff x="372646" y="1959176"/>
            <a:chExt cx="5015230" cy="574040"/>
          </a:xfrm>
        </p:grpSpPr>
        <p:sp>
          <p:nvSpPr>
            <p:cNvPr id="10" name="object 10"/>
            <p:cNvSpPr/>
            <p:nvPr/>
          </p:nvSpPr>
          <p:spPr>
            <a:xfrm>
              <a:off x="377994" y="1964524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241"/>
                  </a:lnTo>
                  <a:lnTo>
                    <a:pt x="2829" y="541254"/>
                  </a:lnTo>
                  <a:lnTo>
                    <a:pt x="10544" y="552697"/>
                  </a:lnTo>
                  <a:lnTo>
                    <a:pt x="21987" y="560412"/>
                  </a:lnTo>
                  <a:lnTo>
                    <a:pt x="36000" y="563241"/>
                  </a:lnTo>
                  <a:lnTo>
                    <a:pt x="4968064" y="563241"/>
                  </a:lnTo>
                  <a:lnTo>
                    <a:pt x="4982077" y="560412"/>
                  </a:lnTo>
                  <a:lnTo>
                    <a:pt x="4993521" y="552697"/>
                  </a:lnTo>
                  <a:lnTo>
                    <a:pt x="5001236" y="541254"/>
                  </a:lnTo>
                  <a:lnTo>
                    <a:pt x="5004065" y="5272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1965503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39">
                  <a:moveTo>
                    <a:pt x="0" y="5262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262"/>
                  </a:lnTo>
                  <a:lnTo>
                    <a:pt x="4999354" y="539894"/>
                  </a:lnTo>
                  <a:lnTo>
                    <a:pt x="4991849" y="551026"/>
                  </a:lnTo>
                  <a:lnTo>
                    <a:pt x="4980717" y="558531"/>
                  </a:lnTo>
                  <a:lnTo>
                    <a:pt x="4967085" y="561283"/>
                  </a:lnTo>
                  <a:lnTo>
                    <a:pt x="35021" y="561283"/>
                  </a:lnTo>
                  <a:lnTo>
                    <a:pt x="21389" y="558531"/>
                  </a:lnTo>
                  <a:lnTo>
                    <a:pt x="10257" y="551026"/>
                  </a:lnTo>
                  <a:lnTo>
                    <a:pt x="2752" y="539894"/>
                  </a:lnTo>
                  <a:lnTo>
                    <a:pt x="0" y="5262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1718" y="816232"/>
            <a:ext cx="5093970" cy="145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use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boto3 python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library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from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jupyter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library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developers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sz="900" dirty="0">
              <a:latin typeface="Arial"/>
              <a:cs typeface="Arial"/>
            </a:endParaRPr>
          </a:p>
          <a:p>
            <a:pPr marL="13970" marR="125095" indent="-1905" algn="just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 activate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during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will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0" dirty="0">
                <a:latin typeface="Courier New"/>
                <a:cs typeface="Courier New"/>
              </a:rPr>
              <a:t>project1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75" dirty="0">
                <a:latin typeface="Courier New"/>
                <a:cs typeface="Courier New"/>
              </a:rPr>
              <a:t>boto3</a:t>
            </a:r>
            <a:r>
              <a:rPr sz="900" spc="-420" dirty="0"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 dirty="0">
              <a:latin typeface="Courier New"/>
              <a:cs typeface="Courier New"/>
            </a:endParaRPr>
          </a:p>
          <a:p>
            <a:pPr marL="215900" marR="3310890">
              <a:lnSpc>
                <a:spcPct val="107400"/>
              </a:lnSpc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.project1/bin/activate </a:t>
            </a: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boto3</a:t>
            </a:r>
            <a:r>
              <a:rPr lang="es-ES" sz="800" spc="-10" dirty="0">
                <a:latin typeface="Courier New"/>
                <a:cs typeface="Courier New"/>
              </a:rPr>
              <a:t>  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032250" cy="5080"/>
            </a:xfrm>
            <a:custGeom>
              <a:avLst/>
              <a:gdLst/>
              <a:ahLst/>
              <a:cxnLst/>
              <a:rect l="l" t="t" r="r" b="b"/>
              <a:pathLst>
                <a:path w="4032250" h="5080">
                  <a:moveTo>
                    <a:pt x="0" y="5060"/>
                  </a:moveTo>
                  <a:lnTo>
                    <a:pt x="0" y="0"/>
                  </a:lnTo>
                  <a:lnTo>
                    <a:pt x="4032034" y="0"/>
                  </a:lnTo>
                  <a:lnTo>
                    <a:pt x="40320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60549"/>
            <a:ext cx="5015230" cy="313055"/>
            <a:chOff x="372646" y="1460549"/>
            <a:chExt cx="5015230" cy="313055"/>
          </a:xfrm>
        </p:grpSpPr>
        <p:sp>
          <p:nvSpPr>
            <p:cNvPr id="4" name="object 4"/>
            <p:cNvSpPr/>
            <p:nvPr/>
          </p:nvSpPr>
          <p:spPr>
            <a:xfrm>
              <a:off x="377994" y="1465896"/>
              <a:ext cx="5004435" cy="302260"/>
            </a:xfrm>
            <a:custGeom>
              <a:avLst/>
              <a:gdLst/>
              <a:ahLst/>
              <a:cxnLst/>
              <a:rect l="l" t="t" r="r" b="b"/>
              <a:pathLst>
                <a:path w="5004435" h="3022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837"/>
                  </a:lnTo>
                  <a:lnTo>
                    <a:pt x="2829" y="279850"/>
                  </a:lnTo>
                  <a:lnTo>
                    <a:pt x="10544" y="291293"/>
                  </a:lnTo>
                  <a:lnTo>
                    <a:pt x="21987" y="299008"/>
                  </a:lnTo>
                  <a:lnTo>
                    <a:pt x="36000" y="301837"/>
                  </a:lnTo>
                  <a:lnTo>
                    <a:pt x="4968064" y="301837"/>
                  </a:lnTo>
                  <a:lnTo>
                    <a:pt x="4982077" y="299008"/>
                  </a:lnTo>
                  <a:lnTo>
                    <a:pt x="4993521" y="291293"/>
                  </a:lnTo>
                  <a:lnTo>
                    <a:pt x="5001236" y="279850"/>
                  </a:lnTo>
                  <a:lnTo>
                    <a:pt x="5004065" y="26583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66875"/>
              <a:ext cx="5002530" cy="300355"/>
            </a:xfrm>
            <a:custGeom>
              <a:avLst/>
              <a:gdLst/>
              <a:ahLst/>
              <a:cxnLst/>
              <a:rect l="l" t="t" r="r" b="b"/>
              <a:pathLst>
                <a:path w="5002530" h="300355">
                  <a:moveTo>
                    <a:pt x="0" y="26485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858"/>
                  </a:lnTo>
                  <a:lnTo>
                    <a:pt x="4999354" y="278490"/>
                  </a:lnTo>
                  <a:lnTo>
                    <a:pt x="4991849" y="289622"/>
                  </a:lnTo>
                  <a:lnTo>
                    <a:pt x="4980717" y="297127"/>
                  </a:lnTo>
                  <a:lnTo>
                    <a:pt x="4967085" y="299879"/>
                  </a:lnTo>
                  <a:lnTo>
                    <a:pt x="35021" y="299879"/>
                  </a:lnTo>
                  <a:lnTo>
                    <a:pt x="21389" y="297127"/>
                  </a:lnTo>
                  <a:lnTo>
                    <a:pt x="10257" y="289622"/>
                  </a:lnTo>
                  <a:lnTo>
                    <a:pt x="2752" y="278490"/>
                  </a:lnTo>
                  <a:lnTo>
                    <a:pt x="0" y="26485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216566"/>
            <a:ext cx="5018405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 err="1">
                <a:solidFill>
                  <a:srgbClr val="22373A"/>
                </a:solidFill>
                <a:latin typeface="Arial"/>
                <a:cs typeface="Arial"/>
              </a:rPr>
              <a:t>launc</a:t>
            </a:r>
            <a:r>
              <a:rPr lang="es-ES" sz="900" spc="-10">
                <a:solidFill>
                  <a:srgbClr val="22373A"/>
                </a:solidFill>
                <a:latin typeface="Arial"/>
                <a:cs typeface="Arial"/>
              </a:rPr>
              <a:t>h</a:t>
            </a:r>
            <a:r>
              <a:rPr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below: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notebook</a:t>
            </a:r>
            <a:r>
              <a:rPr sz="800" spc="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--no-browser</a:t>
            </a:r>
            <a:r>
              <a:rPr sz="800" spc="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latin typeface="Courier New"/>
                <a:cs typeface="Courier New"/>
              </a:rPr>
              <a:t>8888</a:t>
            </a:r>
            <a:r>
              <a:rPr sz="800" spc="1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latin typeface="Courier New"/>
                <a:cs typeface="Courier New"/>
              </a:rPr>
              <a:t>0.0.0.0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 dirty="0">
              <a:latin typeface="Courier New"/>
              <a:cs typeface="Courier New"/>
            </a:endParaRPr>
          </a:p>
          <a:p>
            <a:pPr marL="12700" marR="5080">
              <a:lnSpc>
                <a:spcPct val="116199"/>
              </a:lnSpc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refresher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 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Session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3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subject’s website.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147820" cy="5080"/>
            </a:xfrm>
            <a:custGeom>
              <a:avLst/>
              <a:gdLst/>
              <a:ahLst/>
              <a:cxnLst/>
              <a:rect l="l" t="t" r="r" b="b"/>
              <a:pathLst>
                <a:path w="4147820" h="5080">
                  <a:moveTo>
                    <a:pt x="0" y="5060"/>
                  </a:moveTo>
                  <a:lnTo>
                    <a:pt x="0" y="0"/>
                  </a:lnTo>
                  <a:lnTo>
                    <a:pt x="4147260" y="0"/>
                  </a:lnTo>
                  <a:lnTo>
                    <a:pt x="41472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871499"/>
            <a:ext cx="5015230" cy="1490980"/>
            <a:chOff x="372646" y="871499"/>
            <a:chExt cx="5015230" cy="1490980"/>
          </a:xfrm>
        </p:grpSpPr>
        <p:sp>
          <p:nvSpPr>
            <p:cNvPr id="4" name="object 4"/>
            <p:cNvSpPr/>
            <p:nvPr/>
          </p:nvSpPr>
          <p:spPr>
            <a:xfrm>
              <a:off x="377994" y="876846"/>
              <a:ext cx="5004435" cy="1480185"/>
            </a:xfrm>
            <a:custGeom>
              <a:avLst/>
              <a:gdLst/>
              <a:ahLst/>
              <a:cxnLst/>
              <a:rect l="l" t="t" r="r" b="b"/>
              <a:pathLst>
                <a:path w="5004435" h="148018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4968064" y="1479926"/>
                  </a:lnTo>
                  <a:lnTo>
                    <a:pt x="4982077" y="1477097"/>
                  </a:lnTo>
                  <a:lnTo>
                    <a:pt x="4993521" y="1469381"/>
                  </a:lnTo>
                  <a:lnTo>
                    <a:pt x="5001236" y="1457938"/>
                  </a:lnTo>
                  <a:lnTo>
                    <a:pt x="5004065" y="14439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877825"/>
              <a:ext cx="5002530" cy="1478280"/>
            </a:xfrm>
            <a:custGeom>
              <a:avLst/>
              <a:gdLst/>
              <a:ahLst/>
              <a:cxnLst/>
              <a:rect l="l" t="t" r="r" b="b"/>
              <a:pathLst>
                <a:path w="5002530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442946"/>
                  </a:lnTo>
                  <a:lnTo>
                    <a:pt x="4999354" y="1456578"/>
                  </a:lnTo>
                  <a:lnTo>
                    <a:pt x="4991849" y="1467710"/>
                  </a:lnTo>
                  <a:lnTo>
                    <a:pt x="4980717" y="1475215"/>
                  </a:lnTo>
                  <a:lnTo>
                    <a:pt x="4967085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02372" y="2465400"/>
            <a:ext cx="862330" cy="146050"/>
            <a:chOff x="1402372" y="2465400"/>
            <a:chExt cx="862330" cy="146050"/>
          </a:xfrm>
        </p:grpSpPr>
        <p:sp>
          <p:nvSpPr>
            <p:cNvPr id="7" name="object 7"/>
            <p:cNvSpPr/>
            <p:nvPr/>
          </p:nvSpPr>
          <p:spPr>
            <a:xfrm>
              <a:off x="140237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237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37722" y="2465400"/>
            <a:ext cx="862330" cy="146050"/>
            <a:chOff x="4537722" y="2465400"/>
            <a:chExt cx="862330" cy="146050"/>
          </a:xfrm>
        </p:grpSpPr>
        <p:sp>
          <p:nvSpPr>
            <p:cNvPr id="10" name="object 10"/>
            <p:cNvSpPr/>
            <p:nvPr/>
          </p:nvSpPr>
          <p:spPr>
            <a:xfrm>
              <a:off x="453772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3772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319" y="627527"/>
            <a:ext cx="5057140" cy="212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code: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b="1" spc="-65" dirty="0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sz="800" b="1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boto3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 dirty="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5"/>
              </a:spcBef>
            </a:pPr>
            <a:r>
              <a:rPr sz="800" spc="-55" dirty="0">
                <a:latin typeface="Courier New"/>
                <a:cs typeface="Courier New"/>
              </a:rPr>
              <a:t>DATA_BUCKET_NAME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"data-your-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name"</a:t>
            </a:r>
            <a:endParaRPr sz="800" dirty="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spc="-55" dirty="0">
                <a:latin typeface="Courier New"/>
                <a:cs typeface="Courier New"/>
              </a:rPr>
              <a:t>DATA_FILE_NAME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"my-</a:t>
            </a:r>
            <a:r>
              <a:rPr sz="800" spc="-35" dirty="0">
                <a:solidFill>
                  <a:srgbClr val="3F70A0"/>
                </a:solidFill>
                <a:latin typeface="Courier New"/>
                <a:cs typeface="Courier New"/>
              </a:rPr>
              <a:t>dataset.txt"</a:t>
            </a:r>
            <a:r>
              <a:rPr sz="800" spc="30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Path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to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sz="800" i="1" spc="-25" dirty="0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 dirty="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s3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boto3.client(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"s3"</a:t>
            </a:r>
            <a:r>
              <a:rPr sz="800" spc="-10" dirty="0">
                <a:latin typeface="Courier New"/>
                <a:cs typeface="Courier New"/>
              </a:rPr>
              <a:t>)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 dirty="0">
              <a:latin typeface="Courier New"/>
              <a:cs typeface="Courier New"/>
            </a:endParaRPr>
          </a:p>
          <a:p>
            <a:pPr marL="214629" marR="495934">
              <a:lnSpc>
                <a:spcPct val="107400"/>
              </a:lnSpc>
            </a:pPr>
            <a:r>
              <a:rPr sz="800" spc="-60" dirty="0">
                <a:latin typeface="Courier New"/>
                <a:cs typeface="Courier New"/>
              </a:rPr>
              <a:t>response</a:t>
            </a:r>
            <a:r>
              <a:rPr sz="800" spc="4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s3.get_object(Bucket</a:t>
            </a:r>
            <a:r>
              <a:rPr sz="800" spc="-6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60" dirty="0">
                <a:latin typeface="Courier New"/>
                <a:cs typeface="Courier New"/>
              </a:rPr>
              <a:t>DATA_BUCKET_NAME,</a:t>
            </a:r>
            <a:r>
              <a:rPr sz="800" spc="4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Key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latin typeface="Courier New"/>
                <a:cs typeface="Courier New"/>
              </a:rPr>
              <a:t>DATA_FILE_NAME) </a:t>
            </a:r>
            <a:r>
              <a:rPr sz="800" spc="-55" dirty="0">
                <a:latin typeface="Courier New"/>
                <a:cs typeface="Courier New"/>
              </a:rPr>
              <a:t>file_content</a:t>
            </a:r>
            <a:r>
              <a:rPr sz="800" spc="-5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response[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"Body"</a:t>
            </a:r>
            <a:r>
              <a:rPr sz="800" spc="-60" dirty="0">
                <a:latin typeface="Courier New"/>
                <a:cs typeface="Courier New"/>
              </a:rPr>
              <a:t>].read().decode(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"utf-</a:t>
            </a:r>
            <a:r>
              <a:rPr sz="800" dirty="0">
                <a:solidFill>
                  <a:srgbClr val="3F70A0"/>
                </a:solidFill>
                <a:latin typeface="Courier New"/>
                <a:cs typeface="Courier New"/>
              </a:rPr>
              <a:t>8"</a:t>
            </a:r>
            <a:r>
              <a:rPr sz="800" dirty="0">
                <a:latin typeface="Courier New"/>
                <a:cs typeface="Courier New"/>
              </a:rPr>
              <a:t>)</a:t>
            </a:r>
            <a:r>
              <a:rPr sz="800" spc="405" dirty="0"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Decode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4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55" dirty="0">
                <a:solidFill>
                  <a:srgbClr val="60A0AF"/>
                </a:solidFill>
                <a:latin typeface="Courier New"/>
                <a:cs typeface="Courier New"/>
              </a:rPr>
              <a:t>content </a:t>
            </a:r>
            <a:r>
              <a:rPr sz="800" spc="-55" dirty="0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sz="800" spc="-55" dirty="0">
                <a:latin typeface="Courier New"/>
                <a:cs typeface="Courier New"/>
              </a:rPr>
              <a:t>(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"File</a:t>
            </a:r>
            <a:r>
              <a:rPr sz="800" spc="-3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Content:\n"</a:t>
            </a:r>
            <a:r>
              <a:rPr sz="800" spc="-55" dirty="0">
                <a:latin typeface="Courier New"/>
                <a:cs typeface="Courier New"/>
              </a:rPr>
              <a:t>,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file_content)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 dirty="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data-your-name</a:t>
            </a:r>
            <a:r>
              <a:rPr sz="900" spc="-150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my-</a:t>
            </a:r>
            <a:r>
              <a:rPr sz="900" spc="-45" dirty="0">
                <a:latin typeface="Courier New"/>
                <a:cs typeface="Courier New"/>
              </a:rPr>
              <a:t>dataset.txt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262755" cy="5080"/>
            </a:xfrm>
            <a:custGeom>
              <a:avLst/>
              <a:gdLst/>
              <a:ahLst/>
              <a:cxnLst/>
              <a:rect l="l" t="t" r="r" b="b"/>
              <a:pathLst>
                <a:path w="4262755" h="5080">
                  <a:moveTo>
                    <a:pt x="0" y="5060"/>
                  </a:moveTo>
                  <a:lnTo>
                    <a:pt x="0" y="0"/>
                  </a:lnTo>
                  <a:lnTo>
                    <a:pt x="4262486" y="0"/>
                  </a:lnTo>
                  <a:lnTo>
                    <a:pt x="426248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19754"/>
            <a:ext cx="4204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printed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862096"/>
            <a:ext cx="5039916" cy="1888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377690" cy="5080"/>
            </a:xfrm>
            <a:custGeom>
              <a:avLst/>
              <a:gdLst/>
              <a:ahLst/>
              <a:cxnLst/>
              <a:rect l="l" t="t" r="r" b="b"/>
              <a:pathLst>
                <a:path w="4377690" h="5080">
                  <a:moveTo>
                    <a:pt x="0" y="5060"/>
                  </a:moveTo>
                  <a:lnTo>
                    <a:pt x="0" y="0"/>
                  </a:lnTo>
                  <a:lnTo>
                    <a:pt x="4377624" y="0"/>
                  </a:lnTo>
                  <a:lnTo>
                    <a:pt x="43776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4518" y="874703"/>
            <a:ext cx="28740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5" name="object 5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874703"/>
            <a:ext cx="5026660" cy="78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1049655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ts val="975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75"/>
              </a:lnSpc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874703"/>
            <a:ext cx="3981450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5080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495026"/>
            <a:ext cx="5026660" cy="40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do?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826454"/>
            <a:ext cx="49822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life,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But,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Educate,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874703"/>
            <a:ext cx="3981450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5080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495026"/>
            <a:ext cx="5026660" cy="40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do?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826454"/>
            <a:ext cx="49822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life,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But,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Educate,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2253813"/>
            <a:ext cx="2743835" cy="276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9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Writing</a:t>
            </a:r>
            <a:r>
              <a:rPr spc="25" dirty="0"/>
              <a:t> </a:t>
            </a:r>
            <a:r>
              <a:rPr spc="-30" dirty="0"/>
              <a:t>files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S3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25" dirty="0"/>
              <a:t>python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2346" y="655050"/>
            <a:ext cx="1161415" cy="155575"/>
            <a:chOff x="2672346" y="655050"/>
            <a:chExt cx="1161415" cy="155575"/>
          </a:xfrm>
        </p:grpSpPr>
        <p:sp>
          <p:nvSpPr>
            <p:cNvPr id="5" name="object 5"/>
            <p:cNvSpPr/>
            <p:nvPr/>
          </p:nvSpPr>
          <p:spPr>
            <a:xfrm>
              <a:off x="2672346" y="655050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72346" y="655050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93984" y="902247"/>
            <a:ext cx="802640" cy="123189"/>
            <a:chOff x="4193984" y="902247"/>
            <a:chExt cx="802640" cy="123189"/>
          </a:xfrm>
        </p:grpSpPr>
        <p:sp>
          <p:nvSpPr>
            <p:cNvPr id="8" name="object 8"/>
            <p:cNvSpPr/>
            <p:nvPr/>
          </p:nvSpPr>
          <p:spPr>
            <a:xfrm>
              <a:off x="4193984" y="90224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3984" y="90224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1718" y="450802"/>
            <a:ext cx="507111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write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boto3.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first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call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results-{your-</a:t>
            </a:r>
            <a:r>
              <a:rPr sz="900" spc="-10" dirty="0">
                <a:latin typeface="Courier New"/>
                <a:cs typeface="Courier New"/>
              </a:rPr>
              <a:t>name}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default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Create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bucket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117249"/>
            <a:ext cx="5039992" cy="177974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80">
                  <a:moveTo>
                    <a:pt x="0" y="5060"/>
                  </a:moveTo>
                  <a:lnTo>
                    <a:pt x="0" y="0"/>
                  </a:lnTo>
                  <a:lnTo>
                    <a:pt x="4608076" y="0"/>
                  </a:lnTo>
                  <a:lnTo>
                    <a:pt x="46080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Writing</a:t>
            </a:r>
            <a:r>
              <a:rPr spc="25" dirty="0"/>
              <a:t> </a:t>
            </a:r>
            <a:r>
              <a:rPr spc="-30" dirty="0"/>
              <a:t>files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S3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25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426" y="1012178"/>
            <a:ext cx="5317173" cy="2028645"/>
            <a:chOff x="372646" y="931221"/>
            <a:chExt cx="5015230" cy="1753870"/>
          </a:xfrm>
        </p:grpSpPr>
        <p:sp>
          <p:nvSpPr>
            <p:cNvPr id="4" name="object 4"/>
            <p:cNvSpPr/>
            <p:nvPr/>
          </p:nvSpPr>
          <p:spPr>
            <a:xfrm>
              <a:off x="377994" y="936568"/>
              <a:ext cx="5004435" cy="1743075"/>
            </a:xfrm>
            <a:custGeom>
              <a:avLst/>
              <a:gdLst/>
              <a:ahLst/>
              <a:cxnLst/>
              <a:rect l="l" t="t" r="r" b="b"/>
              <a:pathLst>
                <a:path w="5004435" h="17430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706847"/>
                  </a:lnTo>
                  <a:lnTo>
                    <a:pt x="2829" y="1720860"/>
                  </a:lnTo>
                  <a:lnTo>
                    <a:pt x="10544" y="1732303"/>
                  </a:lnTo>
                  <a:lnTo>
                    <a:pt x="21987" y="1740018"/>
                  </a:lnTo>
                  <a:lnTo>
                    <a:pt x="36000" y="1742848"/>
                  </a:lnTo>
                  <a:lnTo>
                    <a:pt x="4968064" y="1742848"/>
                  </a:lnTo>
                  <a:lnTo>
                    <a:pt x="4982077" y="1740018"/>
                  </a:lnTo>
                  <a:lnTo>
                    <a:pt x="4993521" y="1732303"/>
                  </a:lnTo>
                  <a:lnTo>
                    <a:pt x="5001236" y="1720860"/>
                  </a:lnTo>
                  <a:lnTo>
                    <a:pt x="5004065" y="170684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937547"/>
              <a:ext cx="5002530" cy="1741170"/>
            </a:xfrm>
            <a:custGeom>
              <a:avLst/>
              <a:gdLst/>
              <a:ahLst/>
              <a:cxnLst/>
              <a:rect l="l" t="t" r="r" b="b"/>
              <a:pathLst>
                <a:path w="5002530" h="1741170">
                  <a:moveTo>
                    <a:pt x="0" y="170586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705868"/>
                  </a:lnTo>
                  <a:lnTo>
                    <a:pt x="4999354" y="1719500"/>
                  </a:lnTo>
                  <a:lnTo>
                    <a:pt x="4991849" y="1730632"/>
                  </a:lnTo>
                  <a:lnTo>
                    <a:pt x="4980717" y="1738137"/>
                  </a:lnTo>
                  <a:lnTo>
                    <a:pt x="4967085" y="1740889"/>
                  </a:lnTo>
                  <a:lnTo>
                    <a:pt x="35021" y="1740889"/>
                  </a:lnTo>
                  <a:lnTo>
                    <a:pt x="21389" y="1738137"/>
                  </a:lnTo>
                  <a:lnTo>
                    <a:pt x="10257" y="1730632"/>
                  </a:lnTo>
                  <a:lnTo>
                    <a:pt x="2752" y="1719500"/>
                  </a:lnTo>
                  <a:lnTo>
                    <a:pt x="0" y="170586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900" y="784225"/>
            <a:ext cx="5473700" cy="20692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created: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 dirty="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RESULTS_BUCKET_NAME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"results-your-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name"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55" dirty="0">
                <a:latin typeface="Courier New"/>
                <a:cs typeface="Courier New"/>
              </a:rPr>
              <a:t>RESULT_FILE_NAME_LOCAL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"new-</a:t>
            </a:r>
            <a:r>
              <a:rPr sz="800" spc="-25" dirty="0">
                <a:solidFill>
                  <a:srgbClr val="3F70A0"/>
                </a:solidFill>
                <a:latin typeface="Courier New"/>
                <a:cs typeface="Courier New"/>
              </a:rPr>
              <a:t>file.txt"</a:t>
            </a:r>
            <a:r>
              <a:rPr sz="800" spc="29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this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computer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55" dirty="0">
                <a:latin typeface="Courier New"/>
                <a:cs typeface="Courier New"/>
              </a:rPr>
              <a:t>RESULT_FILE_NAME_S3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"project1/new-</a:t>
            </a:r>
            <a:r>
              <a:rPr sz="800" spc="-25" dirty="0">
                <a:solidFill>
                  <a:srgbClr val="3F70A0"/>
                </a:solidFill>
                <a:latin typeface="Courier New"/>
                <a:cs typeface="Courier New"/>
              </a:rPr>
              <a:t>file.txt"</a:t>
            </a:r>
            <a:r>
              <a:rPr sz="800" spc="34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sz="800" i="1" spc="-25" dirty="0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00" dirty="0">
              <a:latin typeface="Courier New"/>
              <a:cs typeface="Courier New"/>
            </a:endParaRPr>
          </a:p>
          <a:p>
            <a:pPr marL="215900" marR="2262505">
              <a:lnSpc>
                <a:spcPct val="107400"/>
              </a:lnSpc>
              <a:spcBef>
                <a:spcPts val="5"/>
              </a:spcBef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5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Create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write</a:t>
            </a:r>
            <a:r>
              <a:rPr sz="800" i="1" spc="-5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some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content </a:t>
            </a:r>
            <a:r>
              <a:rPr sz="800" spc="-55" dirty="0">
                <a:latin typeface="Courier New"/>
                <a:cs typeface="Courier New"/>
              </a:rPr>
              <a:t>file_content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"This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3F70A0"/>
                </a:solidFill>
                <a:latin typeface="Courier New"/>
                <a:cs typeface="Courier New"/>
              </a:rPr>
              <a:t>is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3F70A0"/>
                </a:solidFill>
                <a:latin typeface="Courier New"/>
                <a:cs typeface="Courier New"/>
              </a:rPr>
              <a:t>a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test file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uploaded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3F70A0"/>
                </a:solidFill>
                <a:latin typeface="Courier New"/>
                <a:cs typeface="Courier New"/>
              </a:rPr>
              <a:t>to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45" dirty="0">
                <a:solidFill>
                  <a:srgbClr val="3F70A0"/>
                </a:solidFill>
                <a:latin typeface="Courier New"/>
                <a:cs typeface="Courier New"/>
              </a:rPr>
              <a:t>S3." </a:t>
            </a:r>
            <a:r>
              <a:rPr sz="800" b="1" spc="-60" dirty="0">
                <a:solidFill>
                  <a:srgbClr val="007021"/>
                </a:solidFill>
                <a:latin typeface="Courier New"/>
                <a:cs typeface="Courier New"/>
              </a:rPr>
              <a:t>with</a:t>
            </a:r>
            <a:r>
              <a:rPr sz="800" b="1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open</a:t>
            </a:r>
            <a:r>
              <a:rPr sz="800" spc="-60" dirty="0">
                <a:latin typeface="Courier New"/>
                <a:cs typeface="Courier New"/>
              </a:rPr>
              <a:t>(RESULT_FILE_NAME_LOCAL,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"w"</a:t>
            </a:r>
            <a:r>
              <a:rPr sz="800" spc="-55" dirty="0">
                <a:latin typeface="Courier New"/>
                <a:cs typeface="Courier New"/>
              </a:rPr>
              <a:t>)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sz="800" b="1" spc="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/>
                <a:cs typeface="Courier New"/>
              </a:rPr>
              <a:t>file</a:t>
            </a:r>
            <a:r>
              <a:rPr sz="800" spc="-10" dirty="0">
                <a:latin typeface="Courier New"/>
                <a:cs typeface="Courier New"/>
              </a:rPr>
              <a:t>:</a:t>
            </a:r>
            <a:endParaRPr sz="800" dirty="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sz="800" spc="-25" dirty="0">
                <a:solidFill>
                  <a:srgbClr val="007F00"/>
                </a:solidFill>
                <a:latin typeface="Courier New"/>
                <a:cs typeface="Courier New"/>
              </a:rPr>
              <a:t>file</a:t>
            </a:r>
            <a:r>
              <a:rPr sz="800" spc="-25" dirty="0">
                <a:latin typeface="Courier New"/>
                <a:cs typeface="Courier New"/>
              </a:rPr>
              <a:t>.write(file_content)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Upload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to</a:t>
            </a:r>
            <a:r>
              <a:rPr sz="800" i="1" spc="-4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25" dirty="0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latin typeface="Courier New"/>
                <a:cs typeface="Courier New"/>
              </a:rPr>
              <a:t>s3.upload_file(RESULT_FILE_NAME_LOCAL,</a:t>
            </a:r>
            <a:r>
              <a:rPr sz="800" spc="11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RESULTS_BUCKET_NAME,</a:t>
            </a:r>
            <a:r>
              <a:rPr sz="800" spc="114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RESULT_FILE_NAME_S3)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55" dirty="0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sz="800" spc="-55" dirty="0">
                <a:latin typeface="Courier New"/>
                <a:cs typeface="Courier New"/>
              </a:rPr>
              <a:t>(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f"File</a:t>
            </a:r>
            <a:r>
              <a:rPr sz="800" spc="-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sz="800" spc="-60" dirty="0">
                <a:latin typeface="Courier New"/>
                <a:cs typeface="Courier New"/>
              </a:rPr>
              <a:t>RESULT_FILE_NAME_LOCAL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sz="800" spc="-60" dirty="0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successfully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BA6687"/>
                </a:solidFill>
                <a:latin typeface="Courier New"/>
                <a:cs typeface="Courier New"/>
              </a:rPr>
              <a:t>uploaded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A6687"/>
                </a:solidFill>
                <a:latin typeface="Courier New"/>
                <a:cs typeface="Courier New"/>
              </a:rPr>
              <a:t>to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's3://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sz="800" spc="-55" dirty="0">
                <a:latin typeface="Courier New"/>
                <a:cs typeface="Courier New"/>
              </a:rPr>
              <a:t>RESULTS_BUCKET_NAME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/</a:t>
            </a:r>
            <a:endParaRPr lang="es-ES" sz="800" spc="-55" dirty="0">
              <a:solidFill>
                <a:srgbClr val="BA6687"/>
              </a:solidFill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s-ES" sz="800" spc="-60" dirty="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lang="es-ES" sz="800" spc="-60" dirty="0">
                <a:latin typeface="Courier New"/>
                <a:cs typeface="Courier New"/>
              </a:rPr>
              <a:t>RESULT_FILE_NAME_S3</a:t>
            </a:r>
            <a:r>
              <a:rPr lang="es-ES" sz="800" spc="-60" dirty="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lang="es-ES" sz="800" spc="-60" dirty="0">
                <a:solidFill>
                  <a:srgbClr val="BA6687"/>
                </a:solidFill>
                <a:latin typeface="Courier New"/>
                <a:cs typeface="Courier New"/>
              </a:rPr>
              <a:t> '</a:t>
            </a:r>
            <a:r>
              <a:rPr lang="es-ES" sz="800" spc="-55" dirty="0">
                <a:solidFill>
                  <a:srgbClr val="BA6687"/>
                </a:solidFill>
                <a:latin typeface="Courier New"/>
                <a:cs typeface="Courier New"/>
              </a:rPr>
              <a:t> ")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723765" cy="5080"/>
            </a:xfrm>
            <a:custGeom>
              <a:avLst/>
              <a:gdLst/>
              <a:ahLst/>
              <a:cxnLst/>
              <a:rect l="l" t="t" r="r" b="b"/>
              <a:pathLst>
                <a:path w="4723765" h="5080">
                  <a:moveTo>
                    <a:pt x="0" y="5060"/>
                  </a:moveTo>
                  <a:lnTo>
                    <a:pt x="0" y="0"/>
                  </a:lnTo>
                  <a:lnTo>
                    <a:pt x="4723302" y="0"/>
                  </a:lnTo>
                  <a:lnTo>
                    <a:pt x="47233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23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Writing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files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with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python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403740"/>
            <a:ext cx="25654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correct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b="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57" y="646073"/>
            <a:ext cx="5039908" cy="23206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838700" cy="5080"/>
            </a:xfrm>
            <a:custGeom>
              <a:avLst/>
              <a:gdLst/>
              <a:ahLst/>
              <a:cxnLst/>
              <a:rect l="l" t="t" r="r" b="b"/>
              <a:pathLst>
                <a:path w="4838700" h="5080">
                  <a:moveTo>
                    <a:pt x="0" y="5060"/>
                  </a:moveTo>
                  <a:lnTo>
                    <a:pt x="0" y="0"/>
                  </a:lnTo>
                  <a:lnTo>
                    <a:pt x="4838440" y="0"/>
                  </a:lnTo>
                  <a:lnTo>
                    <a:pt x="483844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99409" y="797557"/>
            <a:ext cx="1161415" cy="155575"/>
            <a:chOff x="3299409" y="797557"/>
            <a:chExt cx="1161415" cy="155575"/>
          </a:xfrm>
        </p:grpSpPr>
        <p:sp>
          <p:nvSpPr>
            <p:cNvPr id="4" name="object 4"/>
            <p:cNvSpPr/>
            <p:nvPr/>
          </p:nvSpPr>
          <p:spPr>
            <a:xfrm>
              <a:off x="3299409" y="797557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99409" y="797557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775329"/>
            <a:ext cx="4525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results-{your-name}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45358"/>
            <a:ext cx="5039992" cy="15497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4954270" cy="5080"/>
            </a:xfrm>
            <a:custGeom>
              <a:avLst/>
              <a:gdLst/>
              <a:ahLst/>
              <a:cxnLst/>
              <a:rect l="l" t="t" r="r" b="b"/>
              <a:pathLst>
                <a:path w="4954270" h="5080">
                  <a:moveTo>
                    <a:pt x="0" y="5060"/>
                  </a:moveTo>
                  <a:lnTo>
                    <a:pt x="0" y="0"/>
                  </a:lnTo>
                  <a:lnTo>
                    <a:pt x="4953667" y="0"/>
                  </a:lnTo>
                  <a:lnTo>
                    <a:pt x="49536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4636"/>
            <a:ext cx="34410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folder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92845"/>
            <a:ext cx="5040057" cy="19630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069205" cy="5080"/>
            </a:xfrm>
            <a:custGeom>
              <a:avLst/>
              <a:gdLst/>
              <a:ahLst/>
              <a:cxnLst/>
              <a:rect l="l" t="t" r="r" b="b"/>
              <a:pathLst>
                <a:path w="5069205" h="5080">
                  <a:moveTo>
                    <a:pt x="0" y="5060"/>
                  </a:moveTo>
                  <a:lnTo>
                    <a:pt x="0" y="0"/>
                  </a:lnTo>
                  <a:lnTo>
                    <a:pt x="5068893" y="0"/>
                  </a:lnTo>
                  <a:lnTo>
                    <a:pt x="50688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5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Inspecting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from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Console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453207"/>
            <a:ext cx="2436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695442"/>
            <a:ext cx="5039853" cy="222183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184140" cy="5080"/>
            </a:xfrm>
            <a:custGeom>
              <a:avLst/>
              <a:gdLst/>
              <a:ahLst/>
              <a:cxnLst/>
              <a:rect l="l" t="t" r="r" b="b"/>
              <a:pathLst>
                <a:path w="5184140" h="5080">
                  <a:moveTo>
                    <a:pt x="0" y="5060"/>
                  </a:moveTo>
                  <a:lnTo>
                    <a:pt x="0" y="0"/>
                  </a:lnTo>
                  <a:lnTo>
                    <a:pt x="5184031" y="0"/>
                  </a:lnTo>
                  <a:lnTo>
                    <a:pt x="51840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42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Sync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2254885" cy="5080"/>
            </a:xfrm>
            <a:custGeom>
              <a:avLst/>
              <a:gdLst/>
              <a:ahLst/>
              <a:cxnLst/>
              <a:rect l="l" t="t" r="r" b="b"/>
              <a:pathLst>
                <a:path w="2254885" h="5080">
                  <a:moveTo>
                    <a:pt x="0" y="5060"/>
                  </a:moveTo>
                  <a:lnTo>
                    <a:pt x="0" y="0"/>
                  </a:lnTo>
                  <a:lnTo>
                    <a:pt x="2254698" y="0"/>
                  </a:lnTo>
                  <a:lnTo>
                    <a:pt x="22546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Syncing</a:t>
            </a:r>
            <a:r>
              <a:rPr spc="20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local</a:t>
            </a:r>
            <a:r>
              <a:rPr spc="25" dirty="0"/>
              <a:t> </a:t>
            </a:r>
            <a:r>
              <a:rPr spc="-25" dirty="0"/>
              <a:t>directory</a:t>
            </a:r>
            <a:r>
              <a:rPr spc="2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45" dirty="0"/>
              <a:t>download</a:t>
            </a:r>
            <a:r>
              <a:rPr spc="2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0280" y="1066057"/>
            <a:ext cx="2799080" cy="464820"/>
            <a:chOff x="820280" y="1066057"/>
            <a:chExt cx="2799080" cy="464820"/>
          </a:xfrm>
        </p:grpSpPr>
        <p:sp>
          <p:nvSpPr>
            <p:cNvPr id="4" name="object 4"/>
            <p:cNvSpPr/>
            <p:nvPr/>
          </p:nvSpPr>
          <p:spPr>
            <a:xfrm>
              <a:off x="3032480" y="1066057"/>
              <a:ext cx="443865" cy="121285"/>
            </a:xfrm>
            <a:custGeom>
              <a:avLst/>
              <a:gdLst/>
              <a:ahLst/>
              <a:cxnLst/>
              <a:rect l="l" t="t" r="r" b="b"/>
              <a:pathLst>
                <a:path w="443864" h="121284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407793" y="120757"/>
                  </a:lnTo>
                  <a:lnTo>
                    <a:pt x="421806" y="117928"/>
                  </a:lnTo>
                  <a:lnTo>
                    <a:pt x="433249" y="110213"/>
                  </a:lnTo>
                  <a:lnTo>
                    <a:pt x="440964" y="98770"/>
                  </a:lnTo>
                  <a:lnTo>
                    <a:pt x="443793" y="84757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32480" y="1066057"/>
              <a:ext cx="443865" cy="121285"/>
            </a:xfrm>
            <a:custGeom>
              <a:avLst/>
              <a:gdLst/>
              <a:ahLst/>
              <a:cxnLst/>
              <a:rect l="l" t="t" r="r" b="b"/>
              <a:pathLst>
                <a:path w="443864" h="121284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407793" y="120757"/>
                  </a:lnTo>
                  <a:lnTo>
                    <a:pt x="421806" y="117928"/>
                  </a:lnTo>
                  <a:lnTo>
                    <a:pt x="433249" y="110213"/>
                  </a:lnTo>
                  <a:lnTo>
                    <a:pt x="440964" y="98770"/>
                  </a:lnTo>
                  <a:lnTo>
                    <a:pt x="443793" y="84757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5968" y="1225382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5968" y="1225382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0280" y="1375254"/>
              <a:ext cx="2656205" cy="155575"/>
            </a:xfrm>
            <a:custGeom>
              <a:avLst/>
              <a:gdLst/>
              <a:ahLst/>
              <a:cxnLst/>
              <a:rect l="l" t="t" r="r" b="b"/>
              <a:pathLst>
                <a:path w="2656204" h="155575">
                  <a:moveTo>
                    <a:pt x="261980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619805" y="155489"/>
                  </a:lnTo>
                  <a:lnTo>
                    <a:pt x="2633818" y="152659"/>
                  </a:lnTo>
                  <a:lnTo>
                    <a:pt x="2645261" y="144944"/>
                  </a:lnTo>
                  <a:lnTo>
                    <a:pt x="2652976" y="133501"/>
                  </a:lnTo>
                  <a:lnTo>
                    <a:pt x="2655805" y="119488"/>
                  </a:lnTo>
                  <a:lnTo>
                    <a:pt x="2655805" y="36000"/>
                  </a:lnTo>
                  <a:lnTo>
                    <a:pt x="2652976" y="21987"/>
                  </a:lnTo>
                  <a:lnTo>
                    <a:pt x="2645261" y="10544"/>
                  </a:lnTo>
                  <a:lnTo>
                    <a:pt x="2633818" y="2829"/>
                  </a:lnTo>
                  <a:lnTo>
                    <a:pt x="261980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0280" y="1375254"/>
              <a:ext cx="2656205" cy="155575"/>
            </a:xfrm>
            <a:custGeom>
              <a:avLst/>
              <a:gdLst/>
              <a:ahLst/>
              <a:cxnLst/>
              <a:rect l="l" t="t" r="r" b="b"/>
              <a:pathLst>
                <a:path w="2656204" h="155575">
                  <a:moveTo>
                    <a:pt x="261980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619805" y="155489"/>
                  </a:lnTo>
                  <a:lnTo>
                    <a:pt x="2633818" y="152659"/>
                  </a:lnTo>
                  <a:lnTo>
                    <a:pt x="2645261" y="144944"/>
                  </a:lnTo>
                  <a:lnTo>
                    <a:pt x="2652976" y="133501"/>
                  </a:lnTo>
                  <a:lnTo>
                    <a:pt x="2655805" y="119488"/>
                  </a:lnTo>
                  <a:lnTo>
                    <a:pt x="2655805" y="36000"/>
                  </a:lnTo>
                  <a:lnTo>
                    <a:pt x="2652976" y="21987"/>
                  </a:lnTo>
                  <a:lnTo>
                    <a:pt x="2645261" y="10544"/>
                  </a:lnTo>
                  <a:lnTo>
                    <a:pt x="2633818" y="2829"/>
                  </a:lnTo>
                  <a:lnTo>
                    <a:pt x="261980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2646" y="1756322"/>
            <a:ext cx="5015230" cy="581660"/>
            <a:chOff x="372646" y="1756322"/>
            <a:chExt cx="5015230" cy="581660"/>
          </a:xfrm>
        </p:grpSpPr>
        <p:sp>
          <p:nvSpPr>
            <p:cNvPr id="11" name="object 11"/>
            <p:cNvSpPr/>
            <p:nvPr/>
          </p:nvSpPr>
          <p:spPr>
            <a:xfrm>
              <a:off x="377994" y="1761669"/>
              <a:ext cx="5004435" cy="570865"/>
            </a:xfrm>
            <a:custGeom>
              <a:avLst/>
              <a:gdLst/>
              <a:ahLst/>
              <a:cxnLst/>
              <a:rect l="l" t="t" r="r" b="b"/>
              <a:pathLst>
                <a:path w="5004435" h="57086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4630"/>
                  </a:lnTo>
                  <a:lnTo>
                    <a:pt x="2829" y="548643"/>
                  </a:lnTo>
                  <a:lnTo>
                    <a:pt x="10544" y="560086"/>
                  </a:lnTo>
                  <a:lnTo>
                    <a:pt x="21987" y="567801"/>
                  </a:lnTo>
                  <a:lnTo>
                    <a:pt x="36000" y="570630"/>
                  </a:lnTo>
                  <a:lnTo>
                    <a:pt x="4968064" y="570630"/>
                  </a:lnTo>
                  <a:lnTo>
                    <a:pt x="4982077" y="567801"/>
                  </a:lnTo>
                  <a:lnTo>
                    <a:pt x="4993521" y="560086"/>
                  </a:lnTo>
                  <a:lnTo>
                    <a:pt x="5001236" y="548643"/>
                  </a:lnTo>
                  <a:lnTo>
                    <a:pt x="5004065" y="53463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1762648"/>
              <a:ext cx="5002530" cy="568960"/>
            </a:xfrm>
            <a:custGeom>
              <a:avLst/>
              <a:gdLst/>
              <a:ahLst/>
              <a:cxnLst/>
              <a:rect l="l" t="t" r="r" b="b"/>
              <a:pathLst>
                <a:path w="5002530" h="568960">
                  <a:moveTo>
                    <a:pt x="0" y="53365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33651"/>
                  </a:lnTo>
                  <a:lnTo>
                    <a:pt x="4999354" y="547283"/>
                  </a:lnTo>
                  <a:lnTo>
                    <a:pt x="4991849" y="558415"/>
                  </a:lnTo>
                  <a:lnTo>
                    <a:pt x="4980717" y="565920"/>
                  </a:lnTo>
                  <a:lnTo>
                    <a:pt x="4967085" y="568672"/>
                  </a:lnTo>
                  <a:lnTo>
                    <a:pt x="35021" y="568672"/>
                  </a:lnTo>
                  <a:lnTo>
                    <a:pt x="21389" y="565920"/>
                  </a:lnTo>
                  <a:lnTo>
                    <a:pt x="10257" y="558415"/>
                  </a:lnTo>
                  <a:lnTo>
                    <a:pt x="2752" y="547283"/>
                  </a:lnTo>
                  <a:lnTo>
                    <a:pt x="0" y="53365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4180" y="659330"/>
            <a:ext cx="4973320" cy="158742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spcBef>
                <a:spcPts val="275"/>
              </a:spcBef>
              <a:tabLst>
                <a:tab pos="160020" algn="l"/>
              </a:tabLst>
            </a:pP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From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900" b="1" dirty="0" err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lang="es-ES" sz="900" b="1" dirty="0">
                <a:solidFill>
                  <a:srgbClr val="0070C0"/>
                </a:solidFill>
                <a:latin typeface="Arial"/>
                <a:cs typeface="Arial"/>
              </a:rPr>
              <a:t> AWS CLI</a:t>
            </a:r>
          </a:p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endParaRPr lang="es-ES" sz="900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folder on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desktop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results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folder.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Desktop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59385" marR="5080" indent="-147320">
              <a:lnSpc>
                <a:spcPct val="116199"/>
              </a:lnSpc>
              <a:buAutoNum type="arabicPeriod"/>
              <a:tabLst>
                <a:tab pos="16065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s3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sync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s3://results-{your-name}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results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900" dirty="0">
              <a:latin typeface="Arial"/>
              <a:cs typeface="Arial"/>
            </a:endParaRPr>
          </a:p>
          <a:p>
            <a:pPr marL="130810">
              <a:lnSpc>
                <a:spcPct val="100000"/>
              </a:lnSpc>
              <a:spcBef>
                <a:spcPts val="5"/>
              </a:spcBef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sz="800" spc="-55" dirty="0">
                <a:latin typeface="Courier New"/>
                <a:cs typeface="Courier New"/>
              </a:rPr>
              <a:t>esktop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2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s3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sync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s3://results-ferran-</a:t>
            </a:r>
            <a:r>
              <a:rPr sz="800" spc="-55" dirty="0">
                <a:latin typeface="Courier New"/>
                <a:cs typeface="Courier New"/>
              </a:rPr>
              <a:t>aran</a:t>
            </a:r>
            <a:r>
              <a:rPr sz="800" spc="-2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results</a:t>
            </a:r>
            <a:endParaRPr sz="800" dirty="0">
              <a:latin typeface="Courier New"/>
              <a:cs typeface="Courier New"/>
            </a:endParaRPr>
          </a:p>
          <a:p>
            <a:pPr marL="130810" marR="50800">
              <a:lnSpc>
                <a:spcPct val="107400"/>
              </a:lnSpc>
            </a:pPr>
            <a:r>
              <a:rPr sz="800" spc="-55" dirty="0">
                <a:latin typeface="Courier New"/>
                <a:cs typeface="Courier New"/>
              </a:rPr>
              <a:t>download:</a:t>
            </a:r>
            <a:r>
              <a:rPr sz="800" spc="114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s3://results-ferran-aran/project1/new-file.txt</a:t>
            </a:r>
            <a:r>
              <a:rPr sz="800" spc="12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12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results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\p</a:t>
            </a:r>
            <a:r>
              <a:rPr sz="800" spc="-60" dirty="0">
                <a:latin typeface="Courier New"/>
                <a:cs typeface="Courier New"/>
              </a:rPr>
              <a:t>roject1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\n</a:t>
            </a:r>
            <a:r>
              <a:rPr sz="800" spc="-60" dirty="0">
                <a:latin typeface="Courier New"/>
                <a:cs typeface="Courier New"/>
              </a:rPr>
              <a:t>ew-</a:t>
            </a:r>
            <a:r>
              <a:rPr sz="800" spc="-55" dirty="0">
                <a:latin typeface="Courier New"/>
                <a:cs typeface="Courier New"/>
              </a:rPr>
              <a:t>file.txt </a:t>
            </a: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C:</a:t>
            </a:r>
            <a:r>
              <a:rPr sz="800" spc="-20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20" dirty="0">
                <a:latin typeface="Courier New"/>
                <a:cs typeface="Courier New"/>
              </a:rPr>
              <a:t>sers</a:t>
            </a:r>
            <a:r>
              <a:rPr sz="800" spc="-20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20" dirty="0">
                <a:latin typeface="Courier New"/>
                <a:cs typeface="Courier New"/>
              </a:rPr>
              <a:t>nao</a:t>
            </a:r>
            <a:r>
              <a:rPr sz="800" spc="-20" dirty="0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sz="800" spc="-20" dirty="0">
                <a:latin typeface="Courier New"/>
                <a:cs typeface="Courier New"/>
              </a:rPr>
              <a:t>esktop</a:t>
            </a:r>
            <a:r>
              <a:rPr sz="800" spc="-2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5" name="object 1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5299710" cy="5080"/>
            </a:xfrm>
            <a:custGeom>
              <a:avLst/>
              <a:gdLst/>
              <a:ahLst/>
              <a:cxnLst/>
              <a:rect l="l" t="t" r="r" b="b"/>
              <a:pathLst>
                <a:path w="5299710" h="5080">
                  <a:moveTo>
                    <a:pt x="0" y="5060"/>
                  </a:moveTo>
                  <a:lnTo>
                    <a:pt x="0" y="0"/>
                  </a:lnTo>
                  <a:lnTo>
                    <a:pt x="5299257" y="0"/>
                  </a:lnTo>
                  <a:lnTo>
                    <a:pt x="52992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Syncing</a:t>
            </a:r>
            <a:r>
              <a:rPr spc="20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local</a:t>
            </a:r>
            <a:r>
              <a:rPr spc="25" dirty="0"/>
              <a:t> </a:t>
            </a:r>
            <a:r>
              <a:rPr spc="-25" dirty="0"/>
              <a:t>directory</a:t>
            </a:r>
            <a:r>
              <a:rPr spc="2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45" dirty="0"/>
              <a:t>download</a:t>
            </a:r>
            <a:r>
              <a:rPr spc="2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4478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Explorer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downloaded.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879" y="613854"/>
            <a:ext cx="4940243" cy="239910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414645" cy="5080"/>
            </a:xfrm>
            <a:custGeom>
              <a:avLst/>
              <a:gdLst/>
              <a:ahLst/>
              <a:cxnLst/>
              <a:rect l="l" t="t" r="r" b="b"/>
              <a:pathLst>
                <a:path w="5414645" h="5080">
                  <a:moveTo>
                    <a:pt x="0" y="5060"/>
                  </a:moveTo>
                  <a:lnTo>
                    <a:pt x="0" y="0"/>
                  </a:lnTo>
                  <a:lnTo>
                    <a:pt x="5414483" y="0"/>
                  </a:lnTo>
                  <a:lnTo>
                    <a:pt x="54144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41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355215" cy="5080"/>
            </a:xfrm>
            <a:custGeom>
              <a:avLst/>
              <a:gdLst/>
              <a:ahLst/>
              <a:cxnLst/>
              <a:rect l="l" t="t" r="r" b="b"/>
              <a:pathLst>
                <a:path w="2355215" h="5080">
                  <a:moveTo>
                    <a:pt x="0" y="5060"/>
                  </a:moveTo>
                  <a:lnTo>
                    <a:pt x="0" y="0"/>
                  </a:lnTo>
                  <a:lnTo>
                    <a:pt x="2354929" y="0"/>
                  </a:lnTo>
                  <a:lnTo>
                    <a:pt x="23549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</a:t>
            </a:r>
            <a:r>
              <a:rPr spc="35" dirty="0"/>
              <a:t> </a:t>
            </a:r>
            <a:r>
              <a:rPr dirty="0"/>
              <a:t>-</a:t>
            </a:r>
            <a:r>
              <a:rPr spc="35" dirty="0"/>
              <a:t> </a:t>
            </a:r>
            <a:r>
              <a:rPr spc="-30" dirty="0"/>
              <a:t>Today’s</a:t>
            </a:r>
            <a:r>
              <a:rPr spc="40" dirty="0"/>
              <a:t> </a:t>
            </a:r>
            <a:r>
              <a:rPr spc="-3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12807"/>
            <a:ext cx="3034030" cy="135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Today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900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530215" cy="5080"/>
            </a:xfrm>
            <a:custGeom>
              <a:avLst/>
              <a:gdLst/>
              <a:ahLst/>
              <a:cxnLst/>
              <a:rect l="l" t="t" r="r" b="b"/>
              <a:pathLst>
                <a:path w="5530215" h="5080">
                  <a:moveTo>
                    <a:pt x="0" y="5060"/>
                  </a:moveTo>
                  <a:lnTo>
                    <a:pt x="0" y="0"/>
                  </a:lnTo>
                  <a:lnTo>
                    <a:pt x="5529709" y="0"/>
                  </a:lnTo>
                  <a:lnTo>
                    <a:pt x="55297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</a:t>
            </a:r>
            <a:r>
              <a:rPr spc="25" dirty="0"/>
              <a:t> </a:t>
            </a:r>
            <a:r>
              <a:rPr dirty="0"/>
              <a:t>-</a:t>
            </a:r>
            <a:r>
              <a:rPr spc="25" dirty="0"/>
              <a:t> </a:t>
            </a:r>
            <a:r>
              <a:rPr spc="-10" dirty="0"/>
              <a:t>Use</a:t>
            </a:r>
            <a:r>
              <a:rPr spc="30" dirty="0"/>
              <a:t> </a:t>
            </a:r>
            <a:r>
              <a:rPr spc="-70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09615"/>
            <a:ext cx="4977765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setup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done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today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ended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up with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 which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datasets 	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55575" marR="202565" indent="-143510">
              <a:lnSpc>
                <a:spcPct val="116199"/>
              </a:lnSpc>
              <a:spcBef>
                <a:spcPts val="62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datasets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 internet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connection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	permissions.</a:t>
            </a:r>
            <a:endParaRPr sz="900">
              <a:latin typeface="Arial"/>
              <a:cs typeface="Arial"/>
            </a:endParaRPr>
          </a:p>
          <a:p>
            <a:pPr marL="153670" marR="148590" indent="-141605">
              <a:lnSpc>
                <a:spcPct val="116199"/>
              </a:lnSpc>
              <a:spcBef>
                <a:spcPts val="625"/>
              </a:spcBef>
              <a:buChar char="•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resulsts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of 	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locally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45150" cy="5080"/>
            </a:xfrm>
            <a:custGeom>
              <a:avLst/>
              <a:gdLst/>
              <a:ahLst/>
              <a:cxnLst/>
              <a:rect l="l" t="t" r="r" b="b"/>
              <a:pathLst>
                <a:path w="5645150" h="5080">
                  <a:moveTo>
                    <a:pt x="0" y="5060"/>
                  </a:moveTo>
                  <a:lnTo>
                    <a:pt x="0" y="0"/>
                  </a:lnTo>
                  <a:lnTo>
                    <a:pt x="5644847" y="0"/>
                  </a:lnTo>
                  <a:lnTo>
                    <a:pt x="56448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</a:t>
            </a:r>
            <a:r>
              <a:rPr spc="50" dirty="0"/>
              <a:t> </a:t>
            </a:r>
            <a:r>
              <a:rPr dirty="0"/>
              <a:t>-</a:t>
            </a:r>
            <a:r>
              <a:rPr spc="55" dirty="0"/>
              <a:t> </a:t>
            </a:r>
            <a:r>
              <a:rPr spc="-30" dirty="0"/>
              <a:t>Subject’s</a:t>
            </a:r>
            <a:r>
              <a:rPr spc="50" dirty="0"/>
              <a:t> </a:t>
            </a:r>
            <a:r>
              <a:rPr spc="-35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428232"/>
            <a:ext cx="4971415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website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useful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related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subject.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recently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updated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sessions.</a:t>
            </a:r>
            <a:endParaRPr sz="90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guides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added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Get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started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with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AWS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Set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up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your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Lab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for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every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session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3587</Words>
  <Application>Microsoft Macintosh PowerPoint</Application>
  <PresentationFormat>Personalizado</PresentationFormat>
  <Paragraphs>332</Paragraphs>
  <Slides>74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78" baseType="lpstr">
      <vt:lpstr>Aptos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Presentación de PowerPoint</vt:lpstr>
      <vt:lpstr>What is S3?</vt:lpstr>
      <vt:lpstr>S3 - Buckets and Objects</vt:lpstr>
      <vt:lpstr>S3 Pricing</vt:lpstr>
      <vt:lpstr>Presentación de PowerPoint</vt:lpstr>
      <vt:lpstr>What is the AWS CLI?</vt:lpstr>
      <vt:lpstr>Installing the AWS CLI</vt:lpstr>
      <vt:lpstr>Installing the AWS CLI</vt:lpstr>
      <vt:lpstr>Installing the AWS CLI</vt:lpstr>
      <vt:lpstr>Configuring the AWS Credentials</vt:lpstr>
      <vt:lpstr>Configuring the AWS Credentials</vt:lpstr>
      <vt:lpstr>Presentación de PowerPoint</vt:lpstr>
      <vt:lpstr>Configuring the AWS Credentials</vt:lpstr>
      <vt:lpstr>Configuring the AWS Credentials</vt:lpstr>
      <vt:lpstr>Configuring the AWS Credentials</vt:lpstr>
      <vt:lpstr>Configuring the AWS Credentials</vt:lpstr>
      <vt:lpstr>Configuring the AWS Credentials</vt:lpstr>
      <vt:lpstr>Presentación de PowerPoint</vt:lpstr>
      <vt:lpstr>Presentación de PowerPoint</vt:lpstr>
      <vt:lpstr>Presentación de PowerPoint</vt:lpstr>
      <vt:lpstr>Creating a S3 bucket</vt:lpstr>
      <vt:lpstr>Creating a S3 bucket</vt:lpstr>
      <vt:lpstr>Creating a S3 bucket</vt:lpstr>
      <vt:lpstr>Uploading a file to the bucket</vt:lpstr>
      <vt:lpstr>Presentación de PowerPoint</vt:lpstr>
      <vt:lpstr>Syncing a local directory to upload to a bucket</vt:lpstr>
      <vt:lpstr>Inspecting the bucket from the AWS Console</vt:lpstr>
      <vt:lpstr>Inspecting the bucket from the AWS Console</vt:lpstr>
      <vt:lpstr>Presentación de PowerPoint</vt:lpstr>
      <vt:lpstr>Presentación de PowerPoint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Configuring AWS credentials on an EC2 instance</vt:lpstr>
      <vt:lpstr>Configuring AWS credentials on an EC2 instance</vt:lpstr>
      <vt:lpstr>Reading files from S3 with python</vt:lpstr>
      <vt:lpstr>Reading files from S3 with python</vt:lpstr>
      <vt:lpstr>Reading files from S3 with python</vt:lpstr>
      <vt:lpstr>Reading files from S3 with python</vt:lpstr>
      <vt:lpstr>RECAP: Accessing the file from the notebook</vt:lpstr>
      <vt:lpstr>RECAP: Accessing the file from the notebook</vt:lpstr>
      <vt:lpstr>RECAP: Accessing the file from the notebook</vt:lpstr>
      <vt:lpstr>RECAP: Accessing the file from the notebook</vt:lpstr>
      <vt:lpstr>Writing files to S3 with python</vt:lpstr>
      <vt:lpstr>Writing files to S3 with python</vt:lpstr>
      <vt:lpstr>If everything is correct you should see the following:</vt:lpstr>
      <vt:lpstr>Inspecting the bucket from the AWS Console</vt:lpstr>
      <vt:lpstr>Inspecting the bucket from the AWS Console</vt:lpstr>
      <vt:lpstr>Presentación de PowerPoint</vt:lpstr>
      <vt:lpstr>Presentación de PowerPoint</vt:lpstr>
      <vt:lpstr>Syncing a local directory to download from a bucket</vt:lpstr>
      <vt:lpstr>Syncing a local directory to download from a bucket</vt:lpstr>
      <vt:lpstr>Presentación de PowerPoint</vt:lpstr>
      <vt:lpstr>Recap - Today’s contents</vt:lpstr>
      <vt:lpstr>Recap - Use cases</vt:lpstr>
      <vt:lpstr>Recap - Subject’s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AWS - S3</dc:title>
  <dc:creator>Ferran Aran Domingo ` `%%%`#`&amp;12_`__~~~ౡ氀猀攀</dc:creator>
  <cp:keywords>Cloud Computing, AWS, Healtcare, Cloud Computing in Healthcare</cp:keywords>
  <cp:lastModifiedBy>Francesc Xavier Solsona Tehas</cp:lastModifiedBy>
  <cp:revision>1</cp:revision>
  <dcterms:created xsi:type="dcterms:W3CDTF">2025-05-19T16:09:36Z</dcterms:created>
  <dcterms:modified xsi:type="dcterms:W3CDTF">2026-02-27T18:03:48Z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2025-03-04T00:00:00Z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2025-03-04T00:00:00Z</vt:filetime>
  </property>
</Properties>
</file>