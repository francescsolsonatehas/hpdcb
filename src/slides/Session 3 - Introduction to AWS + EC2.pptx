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>
      <p:cViewPr varScale="1">
        <p:scale>
          <a:sx n="202" d="100"/>
          <a:sy n="202" d="100"/>
        </p:scale>
        <p:origin x="448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 Xavier Solsona Tehas" userId="1f95e2c3-a25c-4efc-a37b-de93ab79e53c" providerId="ADAL" clId="{C51773D9-DD29-5A84-A509-762D3F3EA38B}"/>
    <pc:docChg chg="modSld">
      <pc:chgData name="Francesc Xavier Solsona Tehas" userId="1f95e2c3-a25c-4efc-a37b-de93ab79e53c" providerId="ADAL" clId="{C51773D9-DD29-5A84-A509-762D3F3EA38B}" dt="2026-02-27T18:28:31.630" v="6" actId="20577"/>
      <pc:docMkLst>
        <pc:docMk/>
      </pc:docMkLst>
      <pc:sldChg chg="modSp mod">
        <pc:chgData name="Francesc Xavier Solsona Tehas" userId="1f95e2c3-a25c-4efc-a37b-de93ab79e53c" providerId="ADAL" clId="{C51773D9-DD29-5A84-A509-762D3F3EA38B}" dt="2026-02-27T18:27:39.549" v="3" actId="14100"/>
        <pc:sldMkLst>
          <pc:docMk/>
          <pc:sldMk cId="0" sldId="326"/>
        </pc:sldMkLst>
        <pc:spChg chg="mod">
          <ac:chgData name="Francesc Xavier Solsona Tehas" userId="1f95e2c3-a25c-4efc-a37b-de93ab79e53c" providerId="ADAL" clId="{C51773D9-DD29-5A84-A509-762D3F3EA38B}" dt="2026-02-27T18:27:34.134" v="1" actId="1076"/>
          <ac:spMkLst>
            <pc:docMk/>
            <pc:sldMk cId="0" sldId="326"/>
            <ac:spMk id="11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27T18:27:39.549" v="3" actId="14100"/>
          <ac:picMkLst>
            <pc:docMk/>
            <pc:sldMk cId="0" sldId="326"/>
            <ac:picMk id="10" creationId="{00000000-0000-0000-0000-000000000000}"/>
          </ac:picMkLst>
        </pc:picChg>
      </pc:sldChg>
      <pc:sldChg chg="modSp mod">
        <pc:chgData name="Francesc Xavier Solsona Tehas" userId="1f95e2c3-a25c-4efc-a37b-de93ab79e53c" providerId="ADAL" clId="{C51773D9-DD29-5A84-A509-762D3F3EA38B}" dt="2026-02-27T18:28:31.630" v="6" actId="20577"/>
        <pc:sldMkLst>
          <pc:docMk/>
          <pc:sldMk cId="0" sldId="328"/>
        </pc:sldMkLst>
        <pc:spChg chg="mod">
          <ac:chgData name="Francesc Xavier Solsona Tehas" userId="1f95e2c3-a25c-4efc-a37b-de93ab79e53c" providerId="ADAL" clId="{C51773D9-DD29-5A84-A509-762D3F3EA38B}" dt="2026-02-27T18:28:31.630" v="6" actId="20577"/>
          <ac:spMkLst>
            <pc:docMk/>
            <pc:sldMk cId="0" sldId="328"/>
            <ac:spMk id="2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E0068-B1FD-D54D-8FBF-15D69EEED93A}" type="datetimeFigureOut">
              <a:rPr lang="es-ES" smtClean="0"/>
              <a:t>27/2/26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813326-A5D3-224F-9546-945216C2CE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8920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13326-A5D3-224F-9546-945216C2CEA2}" type="slidenum">
              <a:rPr lang="es-ES" smtClean="0"/>
              <a:t>69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1988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8526" y="59834"/>
            <a:ext cx="192786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47294" y="1824239"/>
            <a:ext cx="1904364" cy="377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526" y="59834"/>
            <a:ext cx="291084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1718" y="846814"/>
            <a:ext cx="5073650" cy="1656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erran.aran@udl.ca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awsacademy.instructure.com/" TargetMode="Externa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mailto:ec2-user@ec2-3-87-76-117.compute-1.amazonaws.com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stral.sh/uv/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://ec2-3-87-76-117.compute-1.amazonaws.com:8888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75.xml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7294" y="987055"/>
            <a:ext cx="37998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Distributed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1242941"/>
            <a:ext cx="16287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Unit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3:</a:t>
            </a:r>
            <a:r>
              <a:rPr sz="10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Hands-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7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Setup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9994" y="1599698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1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/>
              <a:t>Ferran</a:t>
            </a:r>
            <a:r>
              <a:rPr sz="800" spc="15" dirty="0"/>
              <a:t> </a:t>
            </a:r>
            <a:r>
              <a:rPr sz="800" dirty="0"/>
              <a:t>Aran</a:t>
            </a:r>
            <a:r>
              <a:rPr sz="800" spc="20" dirty="0"/>
              <a:t> </a:t>
            </a:r>
            <a:r>
              <a:rPr sz="800" dirty="0"/>
              <a:t>Domingo</a:t>
            </a:r>
            <a:r>
              <a:rPr sz="800" spc="20" dirty="0"/>
              <a:t> </a:t>
            </a:r>
            <a:r>
              <a:rPr sz="800" spc="-20" dirty="0">
                <a:hlinkClick r:id="rId2"/>
              </a:rPr>
              <a:t>ferran.aran@udl.cat</a:t>
            </a:r>
            <a:endParaRPr sz="800"/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800"/>
          </a:p>
          <a:p>
            <a:pPr marL="12700">
              <a:lnSpc>
                <a:spcPct val="100000"/>
              </a:lnSpc>
            </a:pPr>
            <a:r>
              <a:rPr sz="600" dirty="0"/>
              <a:t>Universitat</a:t>
            </a:r>
            <a:r>
              <a:rPr sz="600" spc="20" dirty="0"/>
              <a:t> </a:t>
            </a:r>
            <a:r>
              <a:rPr sz="600" dirty="0"/>
              <a:t>Rovira</a:t>
            </a:r>
            <a:r>
              <a:rPr sz="600" spc="25" dirty="0"/>
              <a:t> </a:t>
            </a:r>
            <a:r>
              <a:rPr sz="600" dirty="0"/>
              <a:t>i</a:t>
            </a:r>
            <a:r>
              <a:rPr sz="600" spc="25" dirty="0"/>
              <a:t> </a:t>
            </a:r>
            <a:r>
              <a:rPr sz="600" dirty="0"/>
              <a:t>Virgili</a:t>
            </a:r>
            <a:r>
              <a:rPr sz="600" spc="25" dirty="0"/>
              <a:t> </a:t>
            </a:r>
            <a:r>
              <a:rPr sz="600" dirty="0"/>
              <a:t>and</a:t>
            </a:r>
            <a:r>
              <a:rPr sz="600" spc="25" dirty="0"/>
              <a:t> </a:t>
            </a:r>
            <a:r>
              <a:rPr sz="600" dirty="0"/>
              <a:t>Universitat</a:t>
            </a:r>
            <a:r>
              <a:rPr sz="600" spc="20" dirty="0"/>
              <a:t> </a:t>
            </a:r>
            <a:r>
              <a:rPr sz="600" dirty="0"/>
              <a:t>de</a:t>
            </a:r>
            <a:r>
              <a:rPr sz="600" spc="25" dirty="0"/>
              <a:t> </a:t>
            </a:r>
            <a:r>
              <a:rPr sz="600" spc="-10" dirty="0"/>
              <a:t>Lleida</a:t>
            </a:r>
            <a:endParaRPr sz="600"/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109220" cy="5080"/>
            </a:xfrm>
            <a:custGeom>
              <a:avLst/>
              <a:gdLst/>
              <a:ahLst/>
              <a:cxnLst/>
              <a:rect l="l" t="t" r="r" b="b"/>
              <a:pathLst>
                <a:path w="109220" h="5080">
                  <a:moveTo>
                    <a:pt x="0" y="5060"/>
                  </a:moveTo>
                  <a:lnTo>
                    <a:pt x="0" y="0"/>
                  </a:lnTo>
                  <a:lnTo>
                    <a:pt x="108634" y="0"/>
                  </a:lnTo>
                  <a:lnTo>
                    <a:pt x="10863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103"/>
            <a:ext cx="17748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Recap:</a:t>
            </a:r>
            <a:r>
              <a:rPr sz="1100" b="1" spc="6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Where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are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we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5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now?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6993"/>
            <a:ext cx="2505710" cy="5080"/>
            <a:chOff x="1627403" y="1646993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6993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6993"/>
              <a:ext cx="47625" cy="5080"/>
            </a:xfrm>
            <a:custGeom>
              <a:avLst/>
              <a:gdLst/>
              <a:ahLst/>
              <a:cxnLst/>
              <a:rect l="l" t="t" r="r" b="b"/>
              <a:pathLst>
                <a:path w="47625" h="5080">
                  <a:moveTo>
                    <a:pt x="0" y="5060"/>
                  </a:moveTo>
                  <a:lnTo>
                    <a:pt x="0" y="0"/>
                  </a:lnTo>
                  <a:lnTo>
                    <a:pt x="47248" y="0"/>
                  </a:lnTo>
                  <a:lnTo>
                    <a:pt x="4724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15976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Public</a:t>
            </a:r>
            <a:r>
              <a:rPr sz="1000" b="1" spc="-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F9F9F9"/>
                </a:solidFill>
                <a:latin typeface="Arial"/>
                <a:cs typeface="Arial"/>
              </a:rPr>
              <a:t>vs</a:t>
            </a:r>
            <a:r>
              <a:rPr sz="1000" b="1" spc="-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Private</a:t>
            </a:r>
            <a:r>
              <a:rPr sz="1000" b="1" spc="-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F9F9F9"/>
                </a:solidFill>
                <a:latin typeface="Arial"/>
                <a:cs typeface="Arial"/>
              </a:rPr>
              <a:t>vs</a:t>
            </a:r>
            <a:r>
              <a:rPr sz="1000" b="1" spc="-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Hybrid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635731"/>
            <a:ext cx="49314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sessions,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discussed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differences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public,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private,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hybrid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models.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4670" y="877961"/>
            <a:ext cx="2650659" cy="149949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27924" y="2511423"/>
            <a:ext cx="31045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1:</a:t>
            </a:r>
            <a:r>
              <a:rPr sz="800" b="1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cost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privacy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grow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paradigms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17804" cy="5080"/>
            </a:xfrm>
            <a:custGeom>
              <a:avLst/>
              <a:gdLst/>
              <a:ahLst/>
              <a:cxnLst/>
              <a:rect l="l" t="t" r="r" b="b"/>
              <a:pathLst>
                <a:path w="217804" h="5080">
                  <a:moveTo>
                    <a:pt x="0" y="5060"/>
                  </a:moveTo>
                  <a:lnTo>
                    <a:pt x="0" y="0"/>
                  </a:lnTo>
                  <a:lnTo>
                    <a:pt x="217356" y="0"/>
                  </a:lnTo>
                  <a:lnTo>
                    <a:pt x="21735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Website</a:t>
            </a:r>
            <a:r>
              <a:rPr spc="-30" dirty="0"/>
              <a:t> </a:t>
            </a:r>
            <a:r>
              <a:rPr spc="-35" dirty="0"/>
              <a:t>deployment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371520"/>
            <a:ext cx="48812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explored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GitHub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PaaS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deploy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own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compared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deployment.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9103" y="613739"/>
            <a:ext cx="3841790" cy="20992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68209" y="2846957"/>
            <a:ext cx="30238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2:</a:t>
            </a:r>
            <a:r>
              <a:rPr sz="800" b="1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Differences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GitHub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40" dirty="0">
                <a:solidFill>
                  <a:srgbClr val="22373A"/>
                </a:solidFill>
                <a:latin typeface="Arial"/>
                <a:cs typeface="Arial"/>
              </a:rPr>
              <a:t>Pages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deployment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326390" cy="5080"/>
            </a:xfrm>
            <a:custGeom>
              <a:avLst/>
              <a:gdLst/>
              <a:ahLst/>
              <a:cxnLst/>
              <a:rect l="l" t="t" r="r" b="b"/>
              <a:pathLst>
                <a:path w="326390" h="5080">
                  <a:moveTo>
                    <a:pt x="0" y="5060"/>
                  </a:moveTo>
                  <a:lnTo>
                    <a:pt x="0" y="0"/>
                  </a:lnTo>
                  <a:lnTo>
                    <a:pt x="326078" y="0"/>
                  </a:lnTo>
                  <a:lnTo>
                    <a:pt x="32607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Cloud</a:t>
            </a:r>
            <a:r>
              <a:rPr spc="5" dirty="0"/>
              <a:t> </a:t>
            </a:r>
            <a:r>
              <a:rPr spc="-55" dirty="0"/>
              <a:t>services</a:t>
            </a:r>
            <a:r>
              <a:rPr spc="10" dirty="0"/>
              <a:t> </a:t>
            </a:r>
            <a:r>
              <a:rPr spc="-35" dirty="0"/>
              <a:t>everywhere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94503"/>
            <a:ext cx="502602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go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beyond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just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hosting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websites.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Examples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include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GitHub,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Netflix,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iCloud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many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more.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3335" y="796640"/>
            <a:ext cx="3293343" cy="179936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41283" y="2729977"/>
            <a:ext cx="14776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3:</a:t>
            </a:r>
            <a:r>
              <a:rPr sz="800" b="1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Popular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434975" cy="5080"/>
            </a:xfrm>
            <a:custGeom>
              <a:avLst/>
              <a:gdLst/>
              <a:ahLst/>
              <a:cxnLst/>
              <a:rect l="l" t="t" r="r" b="b"/>
              <a:pathLst>
                <a:path w="434975" h="5080">
                  <a:moveTo>
                    <a:pt x="0" y="5060"/>
                  </a:moveTo>
                  <a:lnTo>
                    <a:pt x="0" y="0"/>
                  </a:lnTo>
                  <a:lnTo>
                    <a:pt x="434712" y="0"/>
                  </a:lnTo>
                  <a:lnTo>
                    <a:pt x="43471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Cloud</a:t>
            </a:r>
            <a:r>
              <a:rPr spc="5" dirty="0"/>
              <a:t> </a:t>
            </a:r>
            <a:r>
              <a:rPr spc="-55" dirty="0"/>
              <a:t>services</a:t>
            </a:r>
            <a:r>
              <a:rPr spc="10" dirty="0"/>
              <a:t> </a:t>
            </a:r>
            <a:r>
              <a:rPr spc="-35" dirty="0"/>
              <a:t>everywhere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380965"/>
            <a:ext cx="506920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">
              <a:lnSpc>
                <a:spcPct val="116199"/>
              </a:lnSpc>
              <a:spcBef>
                <a:spcPts val="100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Beyond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major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Azure,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Google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Platform (GCP),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Amazon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(AWS).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055" y="810204"/>
            <a:ext cx="4317896" cy="179934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50338" y="2743516"/>
            <a:ext cx="14598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4:</a:t>
            </a:r>
            <a:r>
              <a:rPr sz="800" b="1" spc="1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Major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43560" cy="5080"/>
            </a:xfrm>
            <a:custGeom>
              <a:avLst/>
              <a:gdLst/>
              <a:ahLst/>
              <a:cxnLst/>
              <a:rect l="l" t="t" r="r" b="b"/>
              <a:pathLst>
                <a:path w="543560" h="5080">
                  <a:moveTo>
                    <a:pt x="0" y="5060"/>
                  </a:moveTo>
                  <a:lnTo>
                    <a:pt x="0" y="0"/>
                  </a:lnTo>
                  <a:lnTo>
                    <a:pt x="543434" y="0"/>
                  </a:lnTo>
                  <a:lnTo>
                    <a:pt x="54343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Amazon</a:t>
            </a:r>
            <a:r>
              <a:rPr spc="15" dirty="0"/>
              <a:t> </a:t>
            </a:r>
            <a:r>
              <a:rPr dirty="0"/>
              <a:t>Web</a:t>
            </a:r>
            <a:r>
              <a:rPr spc="20" dirty="0"/>
              <a:t> </a:t>
            </a:r>
            <a:r>
              <a:rPr spc="-50"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371520"/>
            <a:ext cx="37877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will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focus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session.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variety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services.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0374" y="613747"/>
            <a:ext cx="2099251" cy="20992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28469" y="2846970"/>
            <a:ext cx="15030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5:</a:t>
            </a:r>
            <a:r>
              <a:rPr sz="800" b="1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overview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652145" cy="5080"/>
            </a:xfrm>
            <a:custGeom>
              <a:avLst/>
              <a:gdLst/>
              <a:ahLst/>
              <a:cxnLst/>
              <a:rect l="l" t="t" r="r" b="b"/>
              <a:pathLst>
                <a:path w="652145" h="5080">
                  <a:moveTo>
                    <a:pt x="0" y="5060"/>
                  </a:moveTo>
                  <a:lnTo>
                    <a:pt x="0" y="0"/>
                  </a:lnTo>
                  <a:lnTo>
                    <a:pt x="652068" y="0"/>
                  </a:lnTo>
                  <a:lnTo>
                    <a:pt x="65206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Amazon</a:t>
            </a:r>
            <a:r>
              <a:rPr spc="20" dirty="0"/>
              <a:t> </a:t>
            </a:r>
            <a:r>
              <a:rPr dirty="0"/>
              <a:t>Web</a:t>
            </a:r>
            <a:r>
              <a:rPr spc="20" dirty="0"/>
              <a:t> </a:t>
            </a:r>
            <a:r>
              <a:rPr spc="-45" dirty="0"/>
              <a:t>Services:</a:t>
            </a:r>
            <a:r>
              <a:rPr spc="120" dirty="0"/>
              <a:t> </a:t>
            </a:r>
            <a:r>
              <a:rPr spc="-25" dirty="0"/>
              <a:t>EC2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633229"/>
            <a:ext cx="47631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Today,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(Elastic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Compute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Cloud)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virtual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0540" y="880478"/>
            <a:ext cx="2998927" cy="14994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13914" y="2513912"/>
            <a:ext cx="9321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6:</a:t>
            </a:r>
            <a:r>
              <a:rPr sz="800" b="1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761365" cy="5080"/>
            </a:xfrm>
            <a:custGeom>
              <a:avLst/>
              <a:gdLst/>
              <a:ahLst/>
              <a:cxnLst/>
              <a:rect l="l" t="t" r="r" b="b"/>
              <a:pathLst>
                <a:path w="761365" h="5080">
                  <a:moveTo>
                    <a:pt x="0" y="5060"/>
                  </a:moveTo>
                  <a:lnTo>
                    <a:pt x="0" y="0"/>
                  </a:lnTo>
                  <a:lnTo>
                    <a:pt x="760790" y="0"/>
                  </a:lnTo>
                  <a:lnTo>
                    <a:pt x="76079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12350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Connecting</a:t>
            </a:r>
            <a:r>
              <a:rPr sz="1100" b="1" spc="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to</a:t>
            </a:r>
            <a:r>
              <a:rPr sz="1100" b="1" spc="5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EC2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331470" cy="5080"/>
            </a:xfrm>
            <a:custGeom>
              <a:avLst/>
              <a:gdLst/>
              <a:ahLst/>
              <a:cxnLst/>
              <a:rect l="l" t="t" r="r" b="b"/>
              <a:pathLst>
                <a:path w="331469" h="5080">
                  <a:moveTo>
                    <a:pt x="0" y="5060"/>
                  </a:moveTo>
                  <a:lnTo>
                    <a:pt x="0" y="0"/>
                  </a:lnTo>
                  <a:lnTo>
                    <a:pt x="330891" y="0"/>
                  </a:lnTo>
                  <a:lnTo>
                    <a:pt x="33089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remote</a:t>
            </a:r>
            <a:r>
              <a:rPr spc="25" dirty="0"/>
              <a:t> </a:t>
            </a:r>
            <a:r>
              <a:rPr spc="-10" dirty="0"/>
              <a:t>terminal</a:t>
            </a:r>
            <a:r>
              <a:rPr spc="25" dirty="0"/>
              <a:t> </a:t>
            </a:r>
            <a:r>
              <a:rPr spc="-25" dirty="0"/>
              <a:t>through</a:t>
            </a:r>
            <a:r>
              <a:rPr spc="25" dirty="0"/>
              <a:t> </a:t>
            </a:r>
            <a:r>
              <a:rPr spc="-25" dirty="0"/>
              <a:t>SSH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899866"/>
            <a:ext cx="5008880" cy="566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Terminal?</a:t>
            </a:r>
            <a:endParaRPr sz="900">
              <a:latin typeface="Arial"/>
              <a:cs typeface="Arial"/>
            </a:endParaRPr>
          </a:p>
          <a:p>
            <a:pPr marL="16510" marR="5080" indent="-4445">
              <a:lnSpc>
                <a:spcPct val="116199"/>
              </a:lnSpc>
              <a:spcBef>
                <a:spcPts val="67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terminal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interface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interact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text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commands.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Unlike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graphical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interfaces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(GUIs),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terminals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direct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communication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operating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system.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869950" cy="5080"/>
            </a:xfrm>
            <a:custGeom>
              <a:avLst/>
              <a:gdLst/>
              <a:ahLst/>
              <a:cxnLst/>
              <a:rect l="l" t="t" r="r" b="b"/>
              <a:pathLst>
                <a:path w="869950" h="5080">
                  <a:moveTo>
                    <a:pt x="0" y="5060"/>
                  </a:moveTo>
                  <a:lnTo>
                    <a:pt x="0" y="0"/>
                  </a:lnTo>
                  <a:lnTo>
                    <a:pt x="869424" y="0"/>
                  </a:lnTo>
                  <a:lnTo>
                    <a:pt x="86942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remote</a:t>
            </a:r>
            <a:r>
              <a:rPr spc="25" dirty="0"/>
              <a:t> </a:t>
            </a:r>
            <a:r>
              <a:rPr spc="-10" dirty="0"/>
              <a:t>terminal</a:t>
            </a:r>
            <a:r>
              <a:rPr spc="25" dirty="0"/>
              <a:t> </a:t>
            </a:r>
            <a:r>
              <a:rPr spc="-25" dirty="0"/>
              <a:t>through</a:t>
            </a:r>
            <a:r>
              <a:rPr spc="25" dirty="0"/>
              <a:t> </a:t>
            </a:r>
            <a:r>
              <a:rPr spc="-25" dirty="0"/>
              <a:t>SSH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116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Arial"/>
                <a:cs typeface="Arial"/>
              </a:rPr>
              <a:t>What</a:t>
            </a:r>
            <a:r>
              <a:rPr b="1" spc="5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is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</a:t>
            </a:r>
            <a:r>
              <a:rPr b="1" spc="5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Terminal?</a:t>
            </a:r>
          </a:p>
          <a:p>
            <a:pPr marL="17780" marR="5080" indent="-4445">
              <a:lnSpc>
                <a:spcPct val="116199"/>
              </a:lnSpc>
              <a:spcBef>
                <a:spcPts val="670"/>
              </a:spcBef>
            </a:pPr>
            <a:r>
              <a:rPr dirty="0"/>
              <a:t>A</a:t>
            </a:r>
            <a:r>
              <a:rPr spc="20" dirty="0"/>
              <a:t> </a:t>
            </a:r>
            <a:r>
              <a:rPr b="1" spc="-10" dirty="0">
                <a:latin typeface="Arial"/>
                <a:cs typeface="Arial"/>
              </a:rPr>
              <a:t>terminal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dirty="0"/>
              <a:t>an</a:t>
            </a:r>
            <a:r>
              <a:rPr spc="20" dirty="0"/>
              <a:t> </a:t>
            </a:r>
            <a:r>
              <a:rPr spc="-10" dirty="0"/>
              <a:t>interface</a:t>
            </a:r>
            <a:r>
              <a:rPr spc="25" dirty="0"/>
              <a:t> </a:t>
            </a:r>
            <a:r>
              <a:rPr dirty="0"/>
              <a:t>that</a:t>
            </a:r>
            <a:r>
              <a:rPr spc="25" dirty="0"/>
              <a:t> </a:t>
            </a:r>
            <a:r>
              <a:rPr spc="-25" dirty="0"/>
              <a:t>allows</a:t>
            </a:r>
            <a:r>
              <a:rPr spc="25" dirty="0"/>
              <a:t> </a:t>
            </a:r>
            <a:r>
              <a:rPr spc="-50" dirty="0"/>
              <a:t>users</a:t>
            </a:r>
            <a:r>
              <a:rPr spc="20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interact</a:t>
            </a:r>
            <a:r>
              <a:rPr spc="25" dirty="0"/>
              <a:t> </a:t>
            </a:r>
            <a:r>
              <a:rPr dirty="0"/>
              <a:t>with</a:t>
            </a:r>
            <a:r>
              <a:rPr spc="25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spc="-10" dirty="0"/>
              <a:t>computer</a:t>
            </a:r>
            <a:r>
              <a:rPr spc="25" dirty="0"/>
              <a:t> </a:t>
            </a:r>
            <a:r>
              <a:rPr spc="-20" dirty="0"/>
              <a:t>using</a:t>
            </a:r>
            <a:r>
              <a:rPr spc="25" dirty="0"/>
              <a:t> </a:t>
            </a:r>
            <a:r>
              <a:rPr dirty="0"/>
              <a:t>text</a:t>
            </a:r>
            <a:r>
              <a:rPr spc="25" dirty="0"/>
              <a:t> </a:t>
            </a:r>
            <a:r>
              <a:rPr spc="-30" dirty="0"/>
              <a:t>commands.</a:t>
            </a:r>
            <a:r>
              <a:rPr spc="110" dirty="0"/>
              <a:t> </a:t>
            </a:r>
            <a:r>
              <a:rPr spc="-10" dirty="0"/>
              <a:t>Unlike </a:t>
            </a:r>
            <a:r>
              <a:rPr spc="-20" dirty="0"/>
              <a:t>graphical</a:t>
            </a:r>
            <a:r>
              <a:rPr spc="10" dirty="0"/>
              <a:t> </a:t>
            </a:r>
            <a:r>
              <a:rPr spc="-35" dirty="0"/>
              <a:t>user</a:t>
            </a:r>
            <a:r>
              <a:rPr spc="10" dirty="0"/>
              <a:t> </a:t>
            </a:r>
            <a:r>
              <a:rPr spc="-25" dirty="0"/>
              <a:t>interfaces</a:t>
            </a:r>
            <a:r>
              <a:rPr spc="15" dirty="0"/>
              <a:t> </a:t>
            </a:r>
            <a:r>
              <a:rPr dirty="0"/>
              <a:t>(GUIs),</a:t>
            </a:r>
            <a:r>
              <a:rPr spc="10" dirty="0"/>
              <a:t> </a:t>
            </a:r>
            <a:r>
              <a:rPr spc="-10" dirty="0"/>
              <a:t>terminals</a:t>
            </a:r>
            <a:r>
              <a:rPr spc="15" dirty="0"/>
              <a:t> </a:t>
            </a:r>
            <a:r>
              <a:rPr spc="-10" dirty="0"/>
              <a:t>allow</a:t>
            </a:r>
            <a:r>
              <a:rPr spc="10" dirty="0"/>
              <a:t> </a:t>
            </a:r>
            <a:r>
              <a:rPr dirty="0"/>
              <a:t>direct</a:t>
            </a:r>
            <a:r>
              <a:rPr spc="15" dirty="0"/>
              <a:t> </a:t>
            </a:r>
            <a:r>
              <a:rPr spc="-20" dirty="0"/>
              <a:t>communication</a:t>
            </a:r>
            <a:r>
              <a:rPr spc="10" dirty="0"/>
              <a:t> </a:t>
            </a:r>
            <a:r>
              <a:rPr dirty="0"/>
              <a:t>with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operating</a:t>
            </a:r>
            <a:r>
              <a:rPr spc="15" dirty="0"/>
              <a:t> </a:t>
            </a:r>
            <a:r>
              <a:rPr spc="-10" dirty="0"/>
              <a:t>system.</a:t>
            </a:r>
          </a:p>
          <a:p>
            <a:pPr marL="17780">
              <a:lnSpc>
                <a:spcPct val="100000"/>
              </a:lnSpc>
              <a:spcBef>
                <a:spcPts val="855"/>
              </a:spcBef>
            </a:pPr>
            <a:r>
              <a:rPr b="1" dirty="0">
                <a:latin typeface="Arial"/>
                <a:cs typeface="Arial"/>
              </a:rPr>
              <a:t>What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is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SSH?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869950" cy="5080"/>
            </a:xfrm>
            <a:custGeom>
              <a:avLst/>
              <a:gdLst/>
              <a:ahLst/>
              <a:cxnLst/>
              <a:rect l="l" t="t" r="r" b="b"/>
              <a:pathLst>
                <a:path w="869950" h="5080">
                  <a:moveTo>
                    <a:pt x="0" y="5060"/>
                  </a:moveTo>
                  <a:lnTo>
                    <a:pt x="0" y="0"/>
                  </a:lnTo>
                  <a:lnTo>
                    <a:pt x="869424" y="0"/>
                  </a:lnTo>
                  <a:lnTo>
                    <a:pt x="86942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remote</a:t>
            </a:r>
            <a:r>
              <a:rPr spc="25" dirty="0"/>
              <a:t> </a:t>
            </a:r>
            <a:r>
              <a:rPr spc="-10" dirty="0"/>
              <a:t>terminal</a:t>
            </a:r>
            <a:r>
              <a:rPr spc="25" dirty="0"/>
              <a:t> </a:t>
            </a:r>
            <a:r>
              <a:rPr spc="-25" dirty="0"/>
              <a:t>through</a:t>
            </a:r>
            <a:r>
              <a:rPr spc="25" dirty="0"/>
              <a:t> </a:t>
            </a:r>
            <a:r>
              <a:rPr spc="-25" dirty="0"/>
              <a:t>SSH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116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Arial"/>
                <a:cs typeface="Arial"/>
              </a:rPr>
              <a:t>What</a:t>
            </a:r>
            <a:r>
              <a:rPr b="1" spc="5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is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</a:t>
            </a:r>
            <a:r>
              <a:rPr b="1" spc="5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Terminal?</a:t>
            </a:r>
          </a:p>
          <a:p>
            <a:pPr marL="17780" marR="5080" indent="-4445">
              <a:lnSpc>
                <a:spcPct val="116199"/>
              </a:lnSpc>
              <a:spcBef>
                <a:spcPts val="670"/>
              </a:spcBef>
            </a:pPr>
            <a:r>
              <a:rPr dirty="0"/>
              <a:t>A</a:t>
            </a:r>
            <a:r>
              <a:rPr spc="20" dirty="0"/>
              <a:t> </a:t>
            </a:r>
            <a:r>
              <a:rPr b="1" spc="-10" dirty="0">
                <a:latin typeface="Arial"/>
                <a:cs typeface="Arial"/>
              </a:rPr>
              <a:t>terminal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dirty="0"/>
              <a:t>an</a:t>
            </a:r>
            <a:r>
              <a:rPr spc="20" dirty="0"/>
              <a:t> </a:t>
            </a:r>
            <a:r>
              <a:rPr spc="-10" dirty="0"/>
              <a:t>interface</a:t>
            </a:r>
            <a:r>
              <a:rPr spc="25" dirty="0"/>
              <a:t> </a:t>
            </a:r>
            <a:r>
              <a:rPr dirty="0"/>
              <a:t>that</a:t>
            </a:r>
            <a:r>
              <a:rPr spc="25" dirty="0"/>
              <a:t> </a:t>
            </a:r>
            <a:r>
              <a:rPr spc="-25" dirty="0"/>
              <a:t>allows</a:t>
            </a:r>
            <a:r>
              <a:rPr spc="25" dirty="0"/>
              <a:t> </a:t>
            </a:r>
            <a:r>
              <a:rPr spc="-50" dirty="0"/>
              <a:t>users</a:t>
            </a:r>
            <a:r>
              <a:rPr spc="20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interact</a:t>
            </a:r>
            <a:r>
              <a:rPr spc="25" dirty="0"/>
              <a:t> </a:t>
            </a:r>
            <a:r>
              <a:rPr dirty="0"/>
              <a:t>with</a:t>
            </a:r>
            <a:r>
              <a:rPr spc="25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spc="-10" dirty="0"/>
              <a:t>computer</a:t>
            </a:r>
            <a:r>
              <a:rPr spc="25" dirty="0"/>
              <a:t> </a:t>
            </a:r>
            <a:r>
              <a:rPr spc="-20" dirty="0"/>
              <a:t>using</a:t>
            </a:r>
            <a:r>
              <a:rPr spc="25" dirty="0"/>
              <a:t> </a:t>
            </a:r>
            <a:r>
              <a:rPr dirty="0"/>
              <a:t>text</a:t>
            </a:r>
            <a:r>
              <a:rPr spc="25" dirty="0"/>
              <a:t> </a:t>
            </a:r>
            <a:r>
              <a:rPr spc="-30" dirty="0"/>
              <a:t>commands.</a:t>
            </a:r>
            <a:r>
              <a:rPr spc="110" dirty="0"/>
              <a:t> </a:t>
            </a:r>
            <a:r>
              <a:rPr spc="-10" dirty="0"/>
              <a:t>Unlike </a:t>
            </a:r>
            <a:r>
              <a:rPr spc="-20" dirty="0"/>
              <a:t>graphical</a:t>
            </a:r>
            <a:r>
              <a:rPr spc="10" dirty="0"/>
              <a:t> </a:t>
            </a:r>
            <a:r>
              <a:rPr spc="-35" dirty="0"/>
              <a:t>user</a:t>
            </a:r>
            <a:r>
              <a:rPr spc="10" dirty="0"/>
              <a:t> </a:t>
            </a:r>
            <a:r>
              <a:rPr spc="-25" dirty="0"/>
              <a:t>interfaces</a:t>
            </a:r>
            <a:r>
              <a:rPr spc="15" dirty="0"/>
              <a:t> </a:t>
            </a:r>
            <a:r>
              <a:rPr dirty="0"/>
              <a:t>(GUIs),</a:t>
            </a:r>
            <a:r>
              <a:rPr spc="10" dirty="0"/>
              <a:t> </a:t>
            </a:r>
            <a:r>
              <a:rPr spc="-10" dirty="0"/>
              <a:t>terminals</a:t>
            </a:r>
            <a:r>
              <a:rPr spc="15" dirty="0"/>
              <a:t> </a:t>
            </a:r>
            <a:r>
              <a:rPr spc="-10" dirty="0"/>
              <a:t>allow</a:t>
            </a:r>
            <a:r>
              <a:rPr spc="10" dirty="0"/>
              <a:t> </a:t>
            </a:r>
            <a:r>
              <a:rPr dirty="0"/>
              <a:t>direct</a:t>
            </a:r>
            <a:r>
              <a:rPr spc="15" dirty="0"/>
              <a:t> </a:t>
            </a:r>
            <a:r>
              <a:rPr spc="-20" dirty="0"/>
              <a:t>communication</a:t>
            </a:r>
            <a:r>
              <a:rPr spc="10" dirty="0"/>
              <a:t> </a:t>
            </a:r>
            <a:r>
              <a:rPr dirty="0"/>
              <a:t>with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operating</a:t>
            </a:r>
            <a:r>
              <a:rPr spc="15" dirty="0"/>
              <a:t> </a:t>
            </a:r>
            <a:r>
              <a:rPr spc="-10" dirty="0"/>
              <a:t>system.</a:t>
            </a:r>
          </a:p>
          <a:p>
            <a:pPr marL="17780">
              <a:lnSpc>
                <a:spcPct val="100000"/>
              </a:lnSpc>
              <a:spcBef>
                <a:spcPts val="855"/>
              </a:spcBef>
            </a:pPr>
            <a:r>
              <a:rPr b="1" dirty="0">
                <a:latin typeface="Arial"/>
                <a:cs typeface="Arial"/>
              </a:rPr>
              <a:t>What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is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SSH?</a:t>
            </a:r>
          </a:p>
          <a:p>
            <a:pPr marL="17780" marR="62230">
              <a:lnSpc>
                <a:spcPct val="116199"/>
              </a:lnSpc>
              <a:spcBef>
                <a:spcPts val="670"/>
              </a:spcBef>
            </a:pPr>
            <a:r>
              <a:rPr b="1" dirty="0">
                <a:latin typeface="Arial"/>
                <a:cs typeface="Arial"/>
              </a:rPr>
              <a:t>SSH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(Secure</a:t>
            </a:r>
            <a:r>
              <a:rPr b="1" spc="3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Shell)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dirty="0"/>
              <a:t>is</a:t>
            </a:r>
            <a:r>
              <a:rPr spc="15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protocol</a:t>
            </a:r>
            <a:r>
              <a:rPr spc="15" dirty="0"/>
              <a:t> </a:t>
            </a:r>
            <a:r>
              <a:rPr dirty="0"/>
              <a:t>that</a:t>
            </a:r>
            <a:r>
              <a:rPr spc="15" dirty="0"/>
              <a:t> </a:t>
            </a:r>
            <a:r>
              <a:rPr spc="-25" dirty="0"/>
              <a:t>allows</a:t>
            </a:r>
            <a:r>
              <a:rPr spc="15" dirty="0"/>
              <a:t> </a:t>
            </a:r>
            <a:r>
              <a:rPr spc="-50" dirty="0"/>
              <a:t>secure</a:t>
            </a:r>
            <a:r>
              <a:rPr spc="15" dirty="0"/>
              <a:t> </a:t>
            </a:r>
            <a:r>
              <a:rPr spc="-20" dirty="0"/>
              <a:t>remote</a:t>
            </a:r>
            <a:r>
              <a:rPr spc="20" dirty="0"/>
              <a:t> </a:t>
            </a:r>
            <a:r>
              <a:rPr spc="-75" dirty="0"/>
              <a:t>access</a:t>
            </a:r>
            <a:r>
              <a:rPr spc="15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40" dirty="0"/>
              <a:t>machines</a:t>
            </a:r>
            <a:r>
              <a:rPr spc="15" dirty="0"/>
              <a:t> </a:t>
            </a:r>
            <a:r>
              <a:rPr spc="-10" dirty="0"/>
              <a:t>over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internet.</a:t>
            </a:r>
            <a:r>
              <a:rPr spc="105" dirty="0"/>
              <a:t> </a:t>
            </a:r>
            <a:r>
              <a:rPr spc="-25" dirty="0"/>
              <a:t>It </a:t>
            </a:r>
            <a:r>
              <a:rPr spc="-45" dirty="0"/>
              <a:t>enables</a:t>
            </a:r>
            <a:r>
              <a:rPr spc="15" dirty="0"/>
              <a:t> </a:t>
            </a:r>
            <a:r>
              <a:rPr spc="-50" dirty="0"/>
              <a:t>users</a:t>
            </a:r>
            <a:r>
              <a:rPr spc="15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35" dirty="0"/>
              <a:t>execute</a:t>
            </a:r>
            <a:r>
              <a:rPr spc="15" dirty="0"/>
              <a:t> </a:t>
            </a:r>
            <a:r>
              <a:rPr spc="-40" dirty="0"/>
              <a:t>commands</a:t>
            </a:r>
            <a:r>
              <a:rPr spc="15" dirty="0"/>
              <a:t> </a:t>
            </a:r>
            <a:r>
              <a:rPr dirty="0"/>
              <a:t>on</a:t>
            </a:r>
            <a:r>
              <a:rPr spc="15" dirty="0"/>
              <a:t> </a:t>
            </a:r>
            <a:r>
              <a:rPr spc="-20" dirty="0"/>
              <a:t>remote</a:t>
            </a:r>
            <a:r>
              <a:rPr spc="20" dirty="0"/>
              <a:t> </a:t>
            </a:r>
            <a:r>
              <a:rPr spc="-45" dirty="0"/>
              <a:t>servers</a:t>
            </a:r>
            <a:r>
              <a:rPr spc="15" dirty="0"/>
              <a:t> </a:t>
            </a:r>
            <a:r>
              <a:rPr spc="-45" dirty="0"/>
              <a:t>as</a:t>
            </a:r>
            <a:r>
              <a:rPr spc="15" dirty="0"/>
              <a:t> </a:t>
            </a:r>
            <a:r>
              <a:rPr dirty="0"/>
              <a:t>if</a:t>
            </a:r>
            <a:r>
              <a:rPr spc="15" dirty="0"/>
              <a:t> </a:t>
            </a:r>
            <a:r>
              <a:rPr dirty="0"/>
              <a:t>they</a:t>
            </a:r>
            <a:r>
              <a:rPr spc="15" dirty="0"/>
              <a:t> </a:t>
            </a:r>
            <a:r>
              <a:rPr spc="-45" dirty="0"/>
              <a:t>were</a:t>
            </a:r>
            <a:r>
              <a:rPr spc="15" dirty="0"/>
              <a:t> </a:t>
            </a:r>
            <a:r>
              <a:rPr spc="-20" dirty="0"/>
              <a:t>physically</a:t>
            </a:r>
            <a:r>
              <a:rPr spc="20" dirty="0"/>
              <a:t> </a:t>
            </a:r>
            <a:r>
              <a:rPr spc="-10" dirty="0"/>
              <a:t>present.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869950" cy="5080"/>
            </a:xfrm>
            <a:custGeom>
              <a:avLst/>
              <a:gdLst/>
              <a:ahLst/>
              <a:cxnLst/>
              <a:rect l="l" t="t" r="r" b="b"/>
              <a:pathLst>
                <a:path w="869950" h="5080">
                  <a:moveTo>
                    <a:pt x="0" y="5060"/>
                  </a:moveTo>
                  <a:lnTo>
                    <a:pt x="0" y="0"/>
                  </a:lnTo>
                  <a:lnTo>
                    <a:pt x="869424" y="0"/>
                  </a:lnTo>
                  <a:lnTo>
                    <a:pt x="86942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remote</a:t>
            </a:r>
            <a:r>
              <a:rPr spc="25" dirty="0"/>
              <a:t> </a:t>
            </a:r>
            <a:r>
              <a:rPr spc="-10" dirty="0"/>
              <a:t>terminal</a:t>
            </a:r>
            <a:r>
              <a:rPr spc="25" dirty="0"/>
              <a:t> </a:t>
            </a:r>
            <a:r>
              <a:rPr spc="-25" dirty="0"/>
              <a:t>through</a:t>
            </a:r>
            <a:r>
              <a:rPr spc="25" dirty="0"/>
              <a:t> </a:t>
            </a:r>
            <a:r>
              <a:rPr spc="-25" dirty="0"/>
              <a:t>SSH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116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Arial"/>
                <a:cs typeface="Arial"/>
              </a:rPr>
              <a:t>What</a:t>
            </a:r>
            <a:r>
              <a:rPr b="1" spc="5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is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</a:t>
            </a:r>
            <a:r>
              <a:rPr b="1" spc="5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Terminal?</a:t>
            </a:r>
          </a:p>
          <a:p>
            <a:pPr marL="17780" marR="65405" indent="-4445">
              <a:lnSpc>
                <a:spcPct val="116199"/>
              </a:lnSpc>
              <a:spcBef>
                <a:spcPts val="670"/>
              </a:spcBef>
            </a:pPr>
            <a:r>
              <a:rPr dirty="0"/>
              <a:t>A</a:t>
            </a:r>
            <a:r>
              <a:rPr spc="20" dirty="0"/>
              <a:t> </a:t>
            </a:r>
            <a:r>
              <a:rPr b="1" spc="-10" dirty="0">
                <a:latin typeface="Arial"/>
                <a:cs typeface="Arial"/>
              </a:rPr>
              <a:t>terminal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dirty="0"/>
              <a:t>an</a:t>
            </a:r>
            <a:r>
              <a:rPr spc="20" dirty="0"/>
              <a:t> </a:t>
            </a:r>
            <a:r>
              <a:rPr spc="-10" dirty="0"/>
              <a:t>interface</a:t>
            </a:r>
            <a:r>
              <a:rPr spc="25" dirty="0"/>
              <a:t> </a:t>
            </a:r>
            <a:r>
              <a:rPr dirty="0"/>
              <a:t>that</a:t>
            </a:r>
            <a:r>
              <a:rPr spc="25" dirty="0"/>
              <a:t> </a:t>
            </a:r>
            <a:r>
              <a:rPr spc="-25" dirty="0"/>
              <a:t>allows</a:t>
            </a:r>
            <a:r>
              <a:rPr spc="25" dirty="0"/>
              <a:t> </a:t>
            </a:r>
            <a:r>
              <a:rPr spc="-50" dirty="0"/>
              <a:t>users</a:t>
            </a:r>
            <a:r>
              <a:rPr spc="20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interact</a:t>
            </a:r>
            <a:r>
              <a:rPr spc="25" dirty="0"/>
              <a:t> </a:t>
            </a:r>
            <a:r>
              <a:rPr dirty="0"/>
              <a:t>with</a:t>
            </a:r>
            <a:r>
              <a:rPr spc="25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spc="-10" dirty="0"/>
              <a:t>computer</a:t>
            </a:r>
            <a:r>
              <a:rPr spc="25" dirty="0"/>
              <a:t> </a:t>
            </a:r>
            <a:r>
              <a:rPr spc="-20" dirty="0"/>
              <a:t>using</a:t>
            </a:r>
            <a:r>
              <a:rPr spc="25" dirty="0"/>
              <a:t> </a:t>
            </a:r>
            <a:r>
              <a:rPr dirty="0"/>
              <a:t>text</a:t>
            </a:r>
            <a:r>
              <a:rPr spc="25" dirty="0"/>
              <a:t> </a:t>
            </a:r>
            <a:r>
              <a:rPr spc="-30" dirty="0"/>
              <a:t>commands.</a:t>
            </a:r>
            <a:r>
              <a:rPr spc="110" dirty="0"/>
              <a:t> </a:t>
            </a:r>
            <a:r>
              <a:rPr spc="-10" dirty="0"/>
              <a:t>Unlike </a:t>
            </a:r>
            <a:r>
              <a:rPr spc="-20" dirty="0"/>
              <a:t>graphical</a:t>
            </a:r>
            <a:r>
              <a:rPr spc="10" dirty="0"/>
              <a:t> </a:t>
            </a:r>
            <a:r>
              <a:rPr spc="-35" dirty="0"/>
              <a:t>user</a:t>
            </a:r>
            <a:r>
              <a:rPr spc="10" dirty="0"/>
              <a:t> </a:t>
            </a:r>
            <a:r>
              <a:rPr spc="-25" dirty="0"/>
              <a:t>interfaces</a:t>
            </a:r>
            <a:r>
              <a:rPr spc="15" dirty="0"/>
              <a:t> </a:t>
            </a:r>
            <a:r>
              <a:rPr dirty="0"/>
              <a:t>(GUIs),</a:t>
            </a:r>
            <a:r>
              <a:rPr spc="10" dirty="0"/>
              <a:t> </a:t>
            </a:r>
            <a:r>
              <a:rPr spc="-10" dirty="0"/>
              <a:t>terminals</a:t>
            </a:r>
            <a:r>
              <a:rPr spc="15" dirty="0"/>
              <a:t> </a:t>
            </a:r>
            <a:r>
              <a:rPr spc="-10" dirty="0"/>
              <a:t>allow</a:t>
            </a:r>
            <a:r>
              <a:rPr spc="10" dirty="0"/>
              <a:t> </a:t>
            </a:r>
            <a:r>
              <a:rPr dirty="0"/>
              <a:t>direct</a:t>
            </a:r>
            <a:r>
              <a:rPr spc="15" dirty="0"/>
              <a:t> </a:t>
            </a:r>
            <a:r>
              <a:rPr spc="-20" dirty="0"/>
              <a:t>communication</a:t>
            </a:r>
            <a:r>
              <a:rPr spc="10" dirty="0"/>
              <a:t> </a:t>
            </a:r>
            <a:r>
              <a:rPr dirty="0"/>
              <a:t>with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operating</a:t>
            </a:r>
            <a:r>
              <a:rPr spc="15" dirty="0"/>
              <a:t> </a:t>
            </a:r>
            <a:r>
              <a:rPr spc="-10" dirty="0"/>
              <a:t>system.</a:t>
            </a:r>
          </a:p>
          <a:p>
            <a:pPr marL="17780">
              <a:lnSpc>
                <a:spcPct val="100000"/>
              </a:lnSpc>
              <a:spcBef>
                <a:spcPts val="855"/>
              </a:spcBef>
            </a:pPr>
            <a:r>
              <a:rPr b="1" dirty="0">
                <a:latin typeface="Arial"/>
                <a:cs typeface="Arial"/>
              </a:rPr>
              <a:t>What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is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SSH?</a:t>
            </a:r>
          </a:p>
          <a:p>
            <a:pPr marL="17780" marR="122555">
              <a:lnSpc>
                <a:spcPct val="116199"/>
              </a:lnSpc>
              <a:spcBef>
                <a:spcPts val="670"/>
              </a:spcBef>
            </a:pPr>
            <a:r>
              <a:rPr b="1" dirty="0">
                <a:latin typeface="Arial"/>
                <a:cs typeface="Arial"/>
              </a:rPr>
              <a:t>SSH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(Secure</a:t>
            </a:r>
            <a:r>
              <a:rPr b="1" spc="3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Shell)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dirty="0"/>
              <a:t>is</a:t>
            </a:r>
            <a:r>
              <a:rPr spc="15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protocol</a:t>
            </a:r>
            <a:r>
              <a:rPr spc="15" dirty="0"/>
              <a:t> </a:t>
            </a:r>
            <a:r>
              <a:rPr dirty="0"/>
              <a:t>that</a:t>
            </a:r>
            <a:r>
              <a:rPr spc="15" dirty="0"/>
              <a:t> </a:t>
            </a:r>
            <a:r>
              <a:rPr spc="-25" dirty="0"/>
              <a:t>allows</a:t>
            </a:r>
            <a:r>
              <a:rPr spc="15" dirty="0"/>
              <a:t> </a:t>
            </a:r>
            <a:r>
              <a:rPr spc="-50" dirty="0"/>
              <a:t>secure</a:t>
            </a:r>
            <a:r>
              <a:rPr spc="15" dirty="0"/>
              <a:t> </a:t>
            </a:r>
            <a:r>
              <a:rPr spc="-20" dirty="0"/>
              <a:t>remote</a:t>
            </a:r>
            <a:r>
              <a:rPr spc="20" dirty="0"/>
              <a:t> </a:t>
            </a:r>
            <a:r>
              <a:rPr spc="-75" dirty="0"/>
              <a:t>access</a:t>
            </a:r>
            <a:r>
              <a:rPr spc="15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40" dirty="0"/>
              <a:t>machines</a:t>
            </a:r>
            <a:r>
              <a:rPr spc="15" dirty="0"/>
              <a:t> </a:t>
            </a:r>
            <a:r>
              <a:rPr spc="-10" dirty="0"/>
              <a:t>over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internet.</a:t>
            </a:r>
            <a:r>
              <a:rPr spc="105" dirty="0"/>
              <a:t> </a:t>
            </a:r>
            <a:r>
              <a:rPr spc="-25" dirty="0"/>
              <a:t>It </a:t>
            </a:r>
            <a:r>
              <a:rPr spc="-45" dirty="0"/>
              <a:t>enables</a:t>
            </a:r>
            <a:r>
              <a:rPr spc="15" dirty="0"/>
              <a:t> </a:t>
            </a:r>
            <a:r>
              <a:rPr spc="-50" dirty="0"/>
              <a:t>users</a:t>
            </a:r>
            <a:r>
              <a:rPr spc="15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35" dirty="0"/>
              <a:t>execute</a:t>
            </a:r>
            <a:r>
              <a:rPr spc="15" dirty="0"/>
              <a:t> </a:t>
            </a:r>
            <a:r>
              <a:rPr spc="-40" dirty="0"/>
              <a:t>commands</a:t>
            </a:r>
            <a:r>
              <a:rPr spc="15" dirty="0"/>
              <a:t> </a:t>
            </a:r>
            <a:r>
              <a:rPr dirty="0"/>
              <a:t>on</a:t>
            </a:r>
            <a:r>
              <a:rPr spc="15" dirty="0"/>
              <a:t> </a:t>
            </a:r>
            <a:r>
              <a:rPr spc="-20" dirty="0"/>
              <a:t>remote</a:t>
            </a:r>
            <a:r>
              <a:rPr spc="20" dirty="0"/>
              <a:t> </a:t>
            </a:r>
            <a:r>
              <a:rPr spc="-45" dirty="0"/>
              <a:t>servers</a:t>
            </a:r>
            <a:r>
              <a:rPr spc="15" dirty="0"/>
              <a:t> </a:t>
            </a:r>
            <a:r>
              <a:rPr spc="-45" dirty="0"/>
              <a:t>as</a:t>
            </a:r>
            <a:r>
              <a:rPr spc="15" dirty="0"/>
              <a:t> </a:t>
            </a:r>
            <a:r>
              <a:rPr dirty="0"/>
              <a:t>if</a:t>
            </a:r>
            <a:r>
              <a:rPr spc="15" dirty="0"/>
              <a:t> </a:t>
            </a:r>
            <a:r>
              <a:rPr dirty="0"/>
              <a:t>they</a:t>
            </a:r>
            <a:r>
              <a:rPr spc="15" dirty="0"/>
              <a:t> </a:t>
            </a:r>
            <a:r>
              <a:rPr spc="-45" dirty="0"/>
              <a:t>were</a:t>
            </a:r>
            <a:r>
              <a:rPr spc="15" dirty="0"/>
              <a:t> </a:t>
            </a:r>
            <a:r>
              <a:rPr spc="-20" dirty="0"/>
              <a:t>physically</a:t>
            </a:r>
            <a:r>
              <a:rPr spc="20" dirty="0"/>
              <a:t> </a:t>
            </a:r>
            <a:r>
              <a:rPr spc="-10" dirty="0"/>
              <a:t>present.</a:t>
            </a:r>
          </a:p>
          <a:p>
            <a:pPr marL="17780" marR="5080" indent="-5715">
              <a:lnSpc>
                <a:spcPct val="116199"/>
              </a:lnSpc>
              <a:spcBef>
                <a:spcPts val="450"/>
              </a:spcBef>
            </a:pPr>
            <a:r>
              <a:rPr spc="-10" dirty="0"/>
              <a:t>When </a:t>
            </a:r>
            <a:r>
              <a:rPr spc="-40" dirty="0"/>
              <a:t>we</a:t>
            </a:r>
            <a:r>
              <a:rPr spc="-5" dirty="0"/>
              <a:t> </a:t>
            </a:r>
            <a:r>
              <a:rPr spc="-20" dirty="0"/>
              <a:t>connect</a:t>
            </a:r>
            <a:r>
              <a:rPr spc="-5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-20" dirty="0"/>
              <a:t>remote</a:t>
            </a:r>
            <a:r>
              <a:rPr spc="-5" dirty="0"/>
              <a:t> </a:t>
            </a:r>
            <a:r>
              <a:rPr spc="-25" dirty="0"/>
              <a:t>machine</a:t>
            </a:r>
            <a:r>
              <a:rPr spc="-5" dirty="0"/>
              <a:t> </a:t>
            </a:r>
            <a:r>
              <a:rPr dirty="0"/>
              <a:t>through</a:t>
            </a:r>
            <a:r>
              <a:rPr spc="-5" dirty="0"/>
              <a:t> </a:t>
            </a:r>
            <a:r>
              <a:rPr spc="-25" dirty="0"/>
              <a:t>SSH,</a:t>
            </a:r>
            <a:r>
              <a:rPr spc="-5" dirty="0"/>
              <a:t> </a:t>
            </a:r>
            <a:r>
              <a:rPr spc="-40" dirty="0"/>
              <a:t>we</a:t>
            </a:r>
            <a:r>
              <a:rPr spc="-5" dirty="0"/>
              <a:t> </a:t>
            </a:r>
            <a:r>
              <a:rPr spc="-30" dirty="0"/>
              <a:t>are</a:t>
            </a:r>
            <a:r>
              <a:rPr spc="-5" dirty="0"/>
              <a:t> </a:t>
            </a:r>
            <a:r>
              <a:rPr spc="-30" dirty="0"/>
              <a:t>essentially</a:t>
            </a:r>
            <a:r>
              <a:rPr spc="-5" dirty="0"/>
              <a:t> </a:t>
            </a:r>
            <a:r>
              <a:rPr spc="-25" dirty="0"/>
              <a:t>opening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b="1" spc="-10" dirty="0">
                <a:latin typeface="Arial"/>
                <a:cs typeface="Arial"/>
              </a:rPr>
              <a:t>remote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terminal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spc="-25" dirty="0"/>
              <a:t>on </a:t>
            </a:r>
            <a:r>
              <a:rPr dirty="0"/>
              <a:t>that</a:t>
            </a:r>
            <a:r>
              <a:rPr spc="120" dirty="0"/>
              <a:t> </a:t>
            </a:r>
            <a:r>
              <a:rPr spc="-10" dirty="0"/>
              <a:t>machine.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869950" cy="5080"/>
            </a:xfrm>
            <a:custGeom>
              <a:avLst/>
              <a:gdLst/>
              <a:ahLst/>
              <a:cxnLst/>
              <a:rect l="l" t="t" r="r" b="b"/>
              <a:pathLst>
                <a:path w="869950" h="5080">
                  <a:moveTo>
                    <a:pt x="0" y="5060"/>
                  </a:moveTo>
                  <a:lnTo>
                    <a:pt x="0" y="0"/>
                  </a:lnTo>
                  <a:lnTo>
                    <a:pt x="869424" y="0"/>
                  </a:lnTo>
                  <a:lnTo>
                    <a:pt x="86942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2788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10" dirty="0"/>
              <a:t> </a:t>
            </a:r>
            <a:r>
              <a:rPr spc="-45" dirty="0"/>
              <a:t>does</a:t>
            </a:r>
            <a:r>
              <a:rPr spc="10" dirty="0"/>
              <a:t> </a:t>
            </a:r>
            <a:r>
              <a:rPr dirty="0"/>
              <a:t>SSH</a:t>
            </a:r>
            <a:r>
              <a:rPr spc="15" dirty="0"/>
              <a:t> </a:t>
            </a:r>
            <a:r>
              <a:rPr spc="-45" dirty="0"/>
              <a:t>work?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846814"/>
            <a:ext cx="506793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works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60" dirty="0">
                <a:solidFill>
                  <a:srgbClr val="22373A"/>
                </a:solidFill>
                <a:latin typeface="Arial"/>
                <a:cs typeface="Arial"/>
              </a:rPr>
              <a:t>keys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establish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secure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connection.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eliminates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password-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based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authentication,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enhancing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security.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978535" cy="5080"/>
            </a:xfrm>
            <a:custGeom>
              <a:avLst/>
              <a:gdLst/>
              <a:ahLst/>
              <a:cxnLst/>
              <a:rect l="l" t="t" r="r" b="b"/>
              <a:pathLst>
                <a:path w="978535" h="5080">
                  <a:moveTo>
                    <a:pt x="0" y="5060"/>
                  </a:moveTo>
                  <a:lnTo>
                    <a:pt x="0" y="0"/>
                  </a:lnTo>
                  <a:lnTo>
                    <a:pt x="978147" y="0"/>
                  </a:lnTo>
                  <a:lnTo>
                    <a:pt x="97814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2788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10" dirty="0"/>
              <a:t> </a:t>
            </a:r>
            <a:r>
              <a:rPr spc="-45" dirty="0"/>
              <a:t>does</a:t>
            </a:r>
            <a:r>
              <a:rPr spc="10" dirty="0"/>
              <a:t> </a:t>
            </a:r>
            <a:r>
              <a:rPr dirty="0"/>
              <a:t>SSH</a:t>
            </a:r>
            <a:r>
              <a:rPr spc="15" dirty="0"/>
              <a:t> </a:t>
            </a:r>
            <a:r>
              <a:rPr spc="-45" dirty="0"/>
              <a:t>work?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846814"/>
            <a:ext cx="5067935" cy="983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works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60" dirty="0">
                <a:solidFill>
                  <a:srgbClr val="22373A"/>
                </a:solidFill>
                <a:latin typeface="Arial"/>
                <a:cs typeface="Arial"/>
              </a:rPr>
              <a:t>keys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establish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secure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connection.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eliminates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password-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based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authentication,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enhancing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security.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b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Keys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39395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share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39395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kept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secret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978535" cy="5080"/>
            </a:xfrm>
            <a:custGeom>
              <a:avLst/>
              <a:gdLst/>
              <a:ahLst/>
              <a:cxnLst/>
              <a:rect l="l" t="t" r="r" b="b"/>
              <a:pathLst>
                <a:path w="978535" h="5080">
                  <a:moveTo>
                    <a:pt x="0" y="5060"/>
                  </a:moveTo>
                  <a:lnTo>
                    <a:pt x="0" y="0"/>
                  </a:lnTo>
                  <a:lnTo>
                    <a:pt x="978147" y="0"/>
                  </a:lnTo>
                  <a:lnTo>
                    <a:pt x="97814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2788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10" dirty="0"/>
              <a:t> </a:t>
            </a:r>
            <a:r>
              <a:rPr spc="-45" dirty="0"/>
              <a:t>does</a:t>
            </a:r>
            <a:r>
              <a:rPr spc="10" dirty="0"/>
              <a:t> </a:t>
            </a:r>
            <a:r>
              <a:rPr dirty="0"/>
              <a:t>SSH</a:t>
            </a:r>
            <a:r>
              <a:rPr spc="15" dirty="0"/>
              <a:t> </a:t>
            </a:r>
            <a:r>
              <a:rPr spc="-45" dirty="0"/>
              <a:t>work?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5080">
              <a:lnSpc>
                <a:spcPct val="116199"/>
              </a:lnSpc>
              <a:spcBef>
                <a:spcPts val="100"/>
              </a:spcBef>
            </a:pPr>
            <a:r>
              <a:rPr spc="-45" dirty="0"/>
              <a:t>SSH</a:t>
            </a:r>
            <a:r>
              <a:rPr spc="5" dirty="0"/>
              <a:t> </a:t>
            </a:r>
            <a:r>
              <a:rPr spc="-30" dirty="0"/>
              <a:t>works</a:t>
            </a:r>
            <a:r>
              <a:rPr spc="5" dirty="0"/>
              <a:t> </a:t>
            </a:r>
            <a:r>
              <a:rPr dirty="0"/>
              <a:t>with</a:t>
            </a:r>
            <a:r>
              <a:rPr spc="5" dirty="0"/>
              <a:t> </a:t>
            </a:r>
            <a:r>
              <a:rPr b="1" spc="-35" dirty="0">
                <a:latin typeface="Arial"/>
                <a:cs typeface="Arial"/>
              </a:rPr>
              <a:t>public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and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private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b="1" spc="-60" dirty="0">
                <a:latin typeface="Arial"/>
                <a:cs typeface="Arial"/>
              </a:rPr>
              <a:t>keys</a:t>
            </a:r>
            <a:r>
              <a:rPr b="1" spc="10" dirty="0">
                <a:latin typeface="Arial"/>
                <a:cs typeface="Arial"/>
              </a:rPr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25" dirty="0"/>
              <a:t>establish</a:t>
            </a:r>
            <a:r>
              <a:rPr spc="5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spc="-50" dirty="0"/>
              <a:t>secure</a:t>
            </a:r>
            <a:r>
              <a:rPr spc="5" dirty="0"/>
              <a:t> </a:t>
            </a:r>
            <a:r>
              <a:rPr spc="-10" dirty="0"/>
              <a:t>connection.</a:t>
            </a:r>
            <a:r>
              <a:rPr spc="95" dirty="0"/>
              <a:t> </a:t>
            </a:r>
            <a:r>
              <a:rPr dirty="0"/>
              <a:t>This</a:t>
            </a:r>
            <a:r>
              <a:rPr spc="5" dirty="0"/>
              <a:t> </a:t>
            </a:r>
            <a:r>
              <a:rPr spc="-20" dirty="0"/>
              <a:t>eliminates</a:t>
            </a:r>
            <a:r>
              <a:rPr spc="10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spc="-50" dirty="0"/>
              <a:t>need</a:t>
            </a:r>
            <a:r>
              <a:rPr spc="5" dirty="0"/>
              <a:t> </a:t>
            </a:r>
            <a:r>
              <a:rPr spc="-25" dirty="0"/>
              <a:t>for </a:t>
            </a:r>
            <a:r>
              <a:rPr spc="-65" dirty="0"/>
              <a:t>password-</a:t>
            </a:r>
            <a:r>
              <a:rPr spc="-30" dirty="0"/>
              <a:t>based</a:t>
            </a:r>
            <a:r>
              <a:rPr spc="60" dirty="0"/>
              <a:t> </a:t>
            </a:r>
            <a:r>
              <a:rPr spc="-10" dirty="0"/>
              <a:t>authentication,</a:t>
            </a:r>
            <a:r>
              <a:rPr spc="65" dirty="0"/>
              <a:t> </a:t>
            </a:r>
            <a:r>
              <a:rPr spc="-35" dirty="0"/>
              <a:t>enhancing</a:t>
            </a:r>
            <a:r>
              <a:rPr spc="65" dirty="0"/>
              <a:t> </a:t>
            </a:r>
            <a:r>
              <a:rPr spc="-10" dirty="0"/>
              <a:t>security.</a:t>
            </a:r>
          </a:p>
          <a:p>
            <a:pPr marL="17780">
              <a:lnSpc>
                <a:spcPct val="100000"/>
              </a:lnSpc>
              <a:spcBef>
                <a:spcPts val="770"/>
              </a:spcBef>
            </a:pPr>
            <a:r>
              <a:rPr b="1" spc="-20" dirty="0">
                <a:latin typeface="Arial"/>
                <a:cs typeface="Arial"/>
              </a:rPr>
              <a:t>Public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and </a:t>
            </a:r>
            <a:r>
              <a:rPr b="1" dirty="0">
                <a:latin typeface="Arial"/>
                <a:cs typeface="Arial"/>
              </a:rPr>
              <a:t>Private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Keys</a:t>
            </a:r>
          </a:p>
          <a:p>
            <a:pPr marL="245110" indent="-147320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45110" algn="l"/>
              </a:tabLst>
            </a:pPr>
            <a:r>
              <a:rPr b="1" spc="-20" dirty="0">
                <a:latin typeface="Arial"/>
                <a:cs typeface="Arial"/>
              </a:rPr>
              <a:t>Public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key</a:t>
            </a:r>
            <a:r>
              <a:rPr spc="-10" dirty="0"/>
              <a:t>:</a:t>
            </a:r>
            <a:r>
              <a:rPr spc="95" dirty="0"/>
              <a:t> </a:t>
            </a:r>
            <a:r>
              <a:rPr spc="-10" dirty="0"/>
              <a:t>We</a:t>
            </a:r>
            <a:r>
              <a:rPr spc="15" dirty="0"/>
              <a:t> </a:t>
            </a:r>
            <a:r>
              <a:rPr spc="-30" dirty="0"/>
              <a:t>are</a:t>
            </a:r>
            <a:r>
              <a:rPr spc="15" dirty="0"/>
              <a:t> </a:t>
            </a:r>
            <a:r>
              <a:rPr spc="-10" dirty="0"/>
              <a:t>going</a:t>
            </a:r>
            <a:r>
              <a:rPr spc="1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55" dirty="0"/>
              <a:t>share</a:t>
            </a:r>
            <a:r>
              <a:rPr spc="10" dirty="0"/>
              <a:t> </a:t>
            </a:r>
            <a:r>
              <a:rPr dirty="0"/>
              <a:t>this</a:t>
            </a:r>
            <a:r>
              <a:rPr spc="15" dirty="0"/>
              <a:t> </a:t>
            </a:r>
            <a:r>
              <a:rPr dirty="0"/>
              <a:t>with</a:t>
            </a:r>
            <a:r>
              <a:rPr spc="1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10" dirty="0"/>
              <a:t>server.</a:t>
            </a:r>
          </a:p>
          <a:p>
            <a:pPr marL="245110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5110" algn="l"/>
              </a:tabLst>
            </a:pPr>
            <a:r>
              <a:rPr b="1" dirty="0">
                <a:latin typeface="Arial"/>
                <a:cs typeface="Arial"/>
              </a:rPr>
              <a:t>Private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key</a:t>
            </a:r>
            <a:r>
              <a:rPr spc="-10" dirty="0"/>
              <a:t>:</a:t>
            </a:r>
            <a:r>
              <a:rPr spc="60" dirty="0"/>
              <a:t> </a:t>
            </a:r>
            <a:r>
              <a:rPr dirty="0"/>
              <a:t>This</a:t>
            </a:r>
            <a:r>
              <a:rPr spc="-15" dirty="0"/>
              <a:t> </a:t>
            </a:r>
            <a:r>
              <a:rPr spc="-25" dirty="0"/>
              <a:t>one</a:t>
            </a:r>
            <a:r>
              <a:rPr spc="-15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kept</a:t>
            </a:r>
            <a:r>
              <a:rPr spc="-15" dirty="0"/>
              <a:t> </a:t>
            </a:r>
            <a:r>
              <a:rPr spc="-25" dirty="0"/>
              <a:t>secret</a:t>
            </a:r>
            <a:r>
              <a:rPr spc="-15" dirty="0"/>
              <a:t> </a:t>
            </a:r>
            <a:r>
              <a:rPr dirty="0"/>
              <a:t>on</a:t>
            </a:r>
            <a:r>
              <a:rPr spc="-20" dirty="0"/>
              <a:t> </a:t>
            </a:r>
            <a:r>
              <a:rPr dirty="0"/>
              <a:t>our</a:t>
            </a:r>
            <a:r>
              <a:rPr spc="-15" dirty="0"/>
              <a:t> </a:t>
            </a:r>
            <a:r>
              <a:rPr dirty="0"/>
              <a:t>local</a:t>
            </a:r>
            <a:r>
              <a:rPr spc="-15" dirty="0"/>
              <a:t> </a:t>
            </a:r>
            <a:r>
              <a:rPr spc="-10" dirty="0"/>
              <a:t>machine.</a:t>
            </a:r>
          </a:p>
          <a:p>
            <a:pPr marL="17780">
              <a:lnSpc>
                <a:spcPct val="100000"/>
              </a:lnSpc>
              <a:spcBef>
                <a:spcPts val="1035"/>
              </a:spcBef>
            </a:pPr>
            <a:r>
              <a:rPr b="1" spc="-35" dirty="0">
                <a:latin typeface="Arial"/>
                <a:cs typeface="Arial"/>
              </a:rPr>
              <a:t>Key-</a:t>
            </a:r>
            <a:r>
              <a:rPr b="1" spc="-10" dirty="0">
                <a:latin typeface="Arial"/>
                <a:cs typeface="Arial"/>
              </a:rPr>
              <a:t>Based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Authentication</a:t>
            </a:r>
          </a:p>
          <a:p>
            <a:pPr marL="17780" marR="385445" indent="-5715">
              <a:lnSpc>
                <a:spcPct val="116199"/>
              </a:lnSpc>
              <a:spcBef>
                <a:spcPts val="670"/>
              </a:spcBef>
            </a:pPr>
            <a:r>
              <a:rPr spc="-10" dirty="0"/>
              <a:t>When</a:t>
            </a:r>
            <a:r>
              <a:rPr spc="5" dirty="0"/>
              <a:t> </a:t>
            </a:r>
            <a:r>
              <a:rPr spc="-40" dirty="0"/>
              <a:t>we</a:t>
            </a:r>
            <a:r>
              <a:rPr spc="5" dirty="0"/>
              <a:t> </a:t>
            </a:r>
            <a:r>
              <a:rPr spc="-20" dirty="0"/>
              <a:t>connect</a:t>
            </a:r>
            <a:r>
              <a:rPr spc="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35" dirty="0"/>
              <a:t>server</a:t>
            </a:r>
            <a:r>
              <a:rPr spc="5" dirty="0"/>
              <a:t> </a:t>
            </a:r>
            <a:r>
              <a:rPr spc="-20" dirty="0"/>
              <a:t>using</a:t>
            </a:r>
            <a:r>
              <a:rPr spc="5" dirty="0"/>
              <a:t> </a:t>
            </a:r>
            <a:r>
              <a:rPr spc="-25" dirty="0"/>
              <a:t>SSH,</a:t>
            </a:r>
            <a:r>
              <a:rPr spc="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spc="-35" dirty="0"/>
              <a:t>server</a:t>
            </a:r>
            <a:r>
              <a:rPr spc="5" dirty="0"/>
              <a:t> </a:t>
            </a:r>
            <a:r>
              <a:rPr dirty="0"/>
              <a:t>(the</a:t>
            </a:r>
            <a:r>
              <a:rPr spc="5" dirty="0"/>
              <a:t> </a:t>
            </a:r>
            <a:r>
              <a:rPr spc="-25" dirty="0"/>
              <a:t>EC2</a:t>
            </a:r>
            <a:r>
              <a:rPr spc="5" dirty="0"/>
              <a:t> </a:t>
            </a:r>
            <a:r>
              <a:rPr spc="-10" dirty="0"/>
              <a:t>machine)</a:t>
            </a:r>
            <a:r>
              <a:rPr spc="5" dirty="0"/>
              <a:t> </a:t>
            </a:r>
            <a:r>
              <a:rPr spc="-40" dirty="0"/>
              <a:t>checks</a:t>
            </a:r>
            <a:r>
              <a:rPr spc="5" dirty="0"/>
              <a:t> </a:t>
            </a:r>
            <a:r>
              <a:rPr dirty="0"/>
              <a:t>if</a:t>
            </a:r>
            <a:r>
              <a:rPr spc="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public</a:t>
            </a:r>
            <a:r>
              <a:rPr spc="5" dirty="0"/>
              <a:t> </a:t>
            </a:r>
            <a:r>
              <a:rPr spc="-25" dirty="0"/>
              <a:t>key </a:t>
            </a:r>
            <a:r>
              <a:rPr spc="-30" dirty="0"/>
              <a:t>matches</a:t>
            </a:r>
            <a:r>
              <a:rPr spc="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private</a:t>
            </a:r>
            <a:r>
              <a:rPr spc="10" dirty="0"/>
              <a:t> </a:t>
            </a:r>
            <a:r>
              <a:rPr spc="-30" dirty="0"/>
              <a:t>key.</a:t>
            </a:r>
            <a:r>
              <a:rPr spc="95" dirty="0"/>
              <a:t> </a:t>
            </a:r>
            <a:r>
              <a:rPr dirty="0"/>
              <a:t>If</a:t>
            </a:r>
            <a:r>
              <a:rPr spc="10" dirty="0"/>
              <a:t> </a:t>
            </a:r>
            <a:r>
              <a:rPr dirty="0"/>
              <a:t>they</a:t>
            </a:r>
            <a:r>
              <a:rPr spc="10" dirty="0"/>
              <a:t> </a:t>
            </a:r>
            <a:r>
              <a:rPr dirty="0"/>
              <a:t>match,</a:t>
            </a:r>
            <a:r>
              <a:rPr spc="10" dirty="0"/>
              <a:t> </a:t>
            </a:r>
            <a:r>
              <a:rPr spc="-75" dirty="0"/>
              <a:t>access</a:t>
            </a:r>
            <a:r>
              <a:rPr spc="10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spc="-10" dirty="0"/>
              <a:t>granted.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978535" cy="5080"/>
            </a:xfrm>
            <a:custGeom>
              <a:avLst/>
              <a:gdLst/>
              <a:ahLst/>
              <a:cxnLst/>
              <a:rect l="l" t="t" r="r" b="b"/>
              <a:pathLst>
                <a:path w="978535" h="5080">
                  <a:moveTo>
                    <a:pt x="0" y="5060"/>
                  </a:moveTo>
                  <a:lnTo>
                    <a:pt x="0" y="0"/>
                  </a:lnTo>
                  <a:lnTo>
                    <a:pt x="978147" y="0"/>
                  </a:lnTo>
                  <a:lnTo>
                    <a:pt x="97814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5" dirty="0"/>
              <a:t> </a:t>
            </a:r>
            <a:r>
              <a:rPr dirty="0"/>
              <a:t>do</a:t>
            </a:r>
            <a:r>
              <a:rPr spc="-5" dirty="0"/>
              <a:t> </a:t>
            </a:r>
            <a:r>
              <a:rPr spc="-35" dirty="0"/>
              <a:t>you</a:t>
            </a:r>
            <a:r>
              <a:rPr spc="-5" dirty="0"/>
              <a:t> </a:t>
            </a:r>
            <a:r>
              <a:rPr spc="-10" dirty="0"/>
              <a:t>mean</a:t>
            </a:r>
            <a:r>
              <a:rPr dirty="0"/>
              <a:t> </a:t>
            </a:r>
            <a:r>
              <a:rPr spc="-10" dirty="0"/>
              <a:t>by</a:t>
            </a:r>
            <a:r>
              <a:rPr spc="-5" dirty="0"/>
              <a:t> </a:t>
            </a:r>
            <a:r>
              <a:rPr spc="-10" dirty="0"/>
              <a:t>client</a:t>
            </a:r>
            <a:r>
              <a:rPr spc="-5" dirty="0"/>
              <a:t> </a:t>
            </a:r>
            <a:r>
              <a:rPr spc="-10" dirty="0"/>
              <a:t>and</a:t>
            </a:r>
            <a:r>
              <a:rPr spc="-5" dirty="0"/>
              <a:t> </a:t>
            </a:r>
            <a:r>
              <a:rPr spc="-40" dirty="0"/>
              <a:t>server?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951809"/>
            <a:ext cx="4371975" cy="782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Client-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client-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describes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communicate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network.</a:t>
            </a:r>
            <a:endParaRPr sz="900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62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(your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machine)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things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 </a:t>
            </a:r>
            <a:r>
              <a:rPr sz="900" b="1" spc="-6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endParaRPr sz="900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remote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machine)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 the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providing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those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services.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087120" cy="5080"/>
            </a:xfrm>
            <a:custGeom>
              <a:avLst/>
              <a:gdLst/>
              <a:ahLst/>
              <a:cxnLst/>
              <a:rect l="l" t="t" r="r" b="b"/>
              <a:pathLst>
                <a:path w="1087120" h="5080">
                  <a:moveTo>
                    <a:pt x="0" y="5060"/>
                  </a:moveTo>
                  <a:lnTo>
                    <a:pt x="0" y="0"/>
                  </a:lnTo>
                  <a:lnTo>
                    <a:pt x="1086781" y="0"/>
                  </a:lnTo>
                  <a:lnTo>
                    <a:pt x="108678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5" dirty="0"/>
              <a:t> </a:t>
            </a:r>
            <a:r>
              <a:rPr dirty="0"/>
              <a:t>do</a:t>
            </a:r>
            <a:r>
              <a:rPr spc="-5" dirty="0"/>
              <a:t> </a:t>
            </a:r>
            <a:r>
              <a:rPr spc="-35" dirty="0"/>
              <a:t>you</a:t>
            </a:r>
            <a:r>
              <a:rPr spc="-5" dirty="0"/>
              <a:t> </a:t>
            </a:r>
            <a:r>
              <a:rPr spc="-10" dirty="0"/>
              <a:t>mean</a:t>
            </a:r>
            <a:r>
              <a:rPr dirty="0"/>
              <a:t> </a:t>
            </a:r>
            <a:r>
              <a:rPr spc="-10" dirty="0"/>
              <a:t>by</a:t>
            </a:r>
            <a:r>
              <a:rPr spc="-5" dirty="0"/>
              <a:t> </a:t>
            </a:r>
            <a:r>
              <a:rPr spc="-10" dirty="0"/>
              <a:t>client</a:t>
            </a:r>
            <a:r>
              <a:rPr spc="-5" dirty="0"/>
              <a:t> </a:t>
            </a:r>
            <a:r>
              <a:rPr spc="-10" dirty="0"/>
              <a:t>and</a:t>
            </a:r>
            <a:r>
              <a:rPr spc="-5" dirty="0"/>
              <a:t> </a:t>
            </a:r>
            <a:r>
              <a:rPr spc="-40" dirty="0"/>
              <a:t>server?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951809"/>
            <a:ext cx="4915535" cy="1460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Client-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endParaRPr sz="9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844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client-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describes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communicate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network.</a:t>
            </a:r>
            <a:endParaRPr sz="900">
              <a:latin typeface="Arial"/>
              <a:cs typeface="Arial"/>
            </a:endParaRPr>
          </a:p>
          <a:p>
            <a:pPr marL="241300" indent="-143510">
              <a:lnSpc>
                <a:spcPct val="100000"/>
              </a:lnSpc>
              <a:spcBef>
                <a:spcPts val="625"/>
              </a:spcBef>
              <a:buChar char="•"/>
              <a:tabLst>
                <a:tab pos="24130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(your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machine)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things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 </a:t>
            </a:r>
            <a:r>
              <a:rPr sz="900" b="1" spc="-6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endParaRPr sz="900">
              <a:latin typeface="Arial"/>
              <a:cs typeface="Arial"/>
            </a:endParaRPr>
          </a:p>
          <a:p>
            <a:pPr marL="241300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4130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remote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machine)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 the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providing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those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services.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Example:</a:t>
            </a:r>
            <a:r>
              <a:rPr sz="900" b="1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Watching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YouTube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Video</a:t>
            </a:r>
            <a:endParaRPr sz="900">
              <a:latin typeface="Arial"/>
              <a:cs typeface="Arial"/>
            </a:endParaRPr>
          </a:p>
          <a:p>
            <a:pPr marL="13335" marR="5080" indent="-1270">
              <a:lnSpc>
                <a:spcPct val="116199"/>
              </a:lnSpc>
              <a:spcBef>
                <a:spcPts val="67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watch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YouTube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video,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client)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sends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request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YouTube’s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servers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server)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stream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video.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087120" cy="5080"/>
            </a:xfrm>
            <a:custGeom>
              <a:avLst/>
              <a:gdLst/>
              <a:ahLst/>
              <a:cxnLst/>
              <a:rect l="l" t="t" r="r" b="b"/>
              <a:pathLst>
                <a:path w="1087120" h="5080">
                  <a:moveTo>
                    <a:pt x="0" y="5060"/>
                  </a:moveTo>
                  <a:lnTo>
                    <a:pt x="0" y="0"/>
                  </a:lnTo>
                  <a:lnTo>
                    <a:pt x="1086781" y="0"/>
                  </a:lnTo>
                  <a:lnTo>
                    <a:pt x="108678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3806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What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do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you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mean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by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client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and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F9F9F9"/>
                </a:solidFill>
                <a:latin typeface="Arial"/>
                <a:cs typeface="Arial"/>
              </a:rPr>
              <a:t>server?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866188"/>
            <a:ext cx="5040019" cy="14200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86191" y="2420174"/>
            <a:ext cx="23882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7:</a:t>
            </a:r>
            <a:r>
              <a:rPr sz="800" b="1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Client-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model when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watching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Netflix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1195705" cy="5080"/>
            </a:xfrm>
            <a:custGeom>
              <a:avLst/>
              <a:gdLst/>
              <a:ahLst/>
              <a:cxnLst/>
              <a:rect l="l" t="t" r="r" b="b"/>
              <a:pathLst>
                <a:path w="1195705" h="5080">
                  <a:moveTo>
                    <a:pt x="0" y="5060"/>
                  </a:moveTo>
                  <a:lnTo>
                    <a:pt x="0" y="0"/>
                  </a:lnTo>
                  <a:lnTo>
                    <a:pt x="1195503" y="0"/>
                  </a:lnTo>
                  <a:lnTo>
                    <a:pt x="119550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3806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What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do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you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mean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by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client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and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F9F9F9"/>
                </a:solidFill>
                <a:latin typeface="Arial"/>
                <a:cs typeface="Arial"/>
              </a:rPr>
              <a:t>server?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8541" y="596950"/>
            <a:ext cx="3182925" cy="17991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27339" y="2530092"/>
            <a:ext cx="23056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8:</a:t>
            </a:r>
            <a:r>
              <a:rPr sz="800" b="1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Client-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server model when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sending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emails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1304290" cy="5080"/>
            </a:xfrm>
            <a:custGeom>
              <a:avLst/>
              <a:gdLst/>
              <a:ahLst/>
              <a:cxnLst/>
              <a:rect l="l" t="t" r="r" b="b"/>
              <a:pathLst>
                <a:path w="1304290" h="5080">
                  <a:moveTo>
                    <a:pt x="0" y="5060"/>
                  </a:moveTo>
                  <a:lnTo>
                    <a:pt x="0" y="0"/>
                  </a:lnTo>
                  <a:lnTo>
                    <a:pt x="1304137" y="0"/>
                  </a:lnTo>
                  <a:lnTo>
                    <a:pt x="13041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103"/>
            <a:ext cx="19494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Why</a:t>
            </a:r>
            <a:r>
              <a:rPr sz="1100" b="1" spc="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do</a:t>
            </a:r>
            <a:r>
              <a:rPr sz="1100" b="1" spc="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6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I</a:t>
            </a:r>
            <a:r>
              <a:rPr sz="1100" b="1" spc="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4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need</a:t>
            </a:r>
            <a:r>
              <a:rPr sz="1100" b="1" spc="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to</a:t>
            </a:r>
            <a:r>
              <a:rPr sz="1100" b="1" spc="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i="1" spc="-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open</a:t>
            </a:r>
            <a:r>
              <a:rPr sz="1100" b="1" i="1" spc="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i="1" spc="-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ports</a:t>
            </a:r>
            <a:r>
              <a:rPr sz="1100" b="1" spc="-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?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6993"/>
            <a:ext cx="2505710" cy="5080"/>
            <a:chOff x="1627403" y="1646993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6993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6993"/>
              <a:ext cx="567690" cy="5080"/>
            </a:xfrm>
            <a:custGeom>
              <a:avLst/>
              <a:gdLst/>
              <a:ahLst/>
              <a:cxnLst/>
              <a:rect l="l" t="t" r="r" b="b"/>
              <a:pathLst>
                <a:path w="567689" h="5080">
                  <a:moveTo>
                    <a:pt x="0" y="5060"/>
                  </a:moveTo>
                  <a:lnTo>
                    <a:pt x="0" y="0"/>
                  </a:lnTo>
                  <a:lnTo>
                    <a:pt x="567210" y="0"/>
                  </a:lnTo>
                  <a:lnTo>
                    <a:pt x="56721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3282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Ports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576219"/>
            <a:ext cx="3973829" cy="4070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b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b="1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Ports?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differentiate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types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services.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412875" cy="5080"/>
            </a:xfrm>
            <a:custGeom>
              <a:avLst/>
              <a:gdLst/>
              <a:ahLst/>
              <a:cxnLst/>
              <a:rect l="l" t="t" r="r" b="b"/>
              <a:pathLst>
                <a:path w="1412875" h="5080">
                  <a:moveTo>
                    <a:pt x="0" y="5060"/>
                  </a:moveTo>
                  <a:lnTo>
                    <a:pt x="0" y="0"/>
                  </a:lnTo>
                  <a:lnTo>
                    <a:pt x="1412859" y="0"/>
                  </a:lnTo>
                  <a:lnTo>
                    <a:pt x="141285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282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Ports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76219"/>
            <a:ext cx="3973829" cy="1158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b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b="1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Ports?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57700"/>
              </a:lnSpc>
              <a:spcBef>
                <a:spcPts val="22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differentiate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types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services.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example: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39395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22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(Remote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Login)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39395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900" b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80</a:t>
            </a:r>
            <a:r>
              <a:rPr sz="900" b="1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HTTP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(Web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Traﬀic)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39395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443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HTTPS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(Secure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Traﬀic)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412875" cy="5080"/>
            </a:xfrm>
            <a:custGeom>
              <a:avLst/>
              <a:gdLst/>
              <a:ahLst/>
              <a:cxnLst/>
              <a:rect l="l" t="t" r="r" b="b"/>
              <a:pathLst>
                <a:path w="1412875" h="5080">
                  <a:moveTo>
                    <a:pt x="0" y="5060"/>
                  </a:moveTo>
                  <a:lnTo>
                    <a:pt x="0" y="0"/>
                  </a:lnTo>
                  <a:lnTo>
                    <a:pt x="1412859" y="0"/>
                  </a:lnTo>
                  <a:lnTo>
                    <a:pt x="141285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282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Ports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576219"/>
            <a:ext cx="3977640" cy="2211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b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b="1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Ports?</a:t>
            </a:r>
            <a:endParaRPr sz="900">
              <a:latin typeface="Arial"/>
              <a:cs typeface="Arial"/>
            </a:endParaRPr>
          </a:p>
          <a:p>
            <a:pPr marL="16510" marR="5080">
              <a:lnSpc>
                <a:spcPct val="157700"/>
              </a:lnSpc>
              <a:spcBef>
                <a:spcPts val="22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differentiate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types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services.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example: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22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(Remote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Login)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900" b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80</a:t>
            </a:r>
            <a:r>
              <a:rPr sz="900" b="1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HTTP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(Web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Traﬀic)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443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HTTPS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(Secure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Traﬀic)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22373A"/>
              </a:buClr>
              <a:buFont typeface="Arial"/>
              <a:buChar char="•"/>
            </a:pP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sz="900" b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Analogy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Think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rooms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services: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22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reception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(SSH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access).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80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restaurant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(HTTP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service).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443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lounge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(HTTPS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secure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access).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412875" cy="5080"/>
            </a:xfrm>
            <a:custGeom>
              <a:avLst/>
              <a:gdLst/>
              <a:ahLst/>
              <a:cxnLst/>
              <a:rect l="l" t="t" r="r" b="b"/>
              <a:pathLst>
                <a:path w="1412875" h="5080">
                  <a:moveTo>
                    <a:pt x="0" y="5060"/>
                  </a:moveTo>
                  <a:lnTo>
                    <a:pt x="0" y="0"/>
                  </a:lnTo>
                  <a:lnTo>
                    <a:pt x="1412859" y="0"/>
                  </a:lnTo>
                  <a:lnTo>
                    <a:pt x="141285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Security</a:t>
            </a:r>
            <a:r>
              <a:rPr spc="35" dirty="0"/>
              <a:t> </a:t>
            </a:r>
            <a:r>
              <a:rPr spc="-60" dirty="0"/>
              <a:t>groups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54527"/>
            <a:ext cx="4290695" cy="782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Configuring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Groups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groups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define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internet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 which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services.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default,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blocks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incoming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558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explicitly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certain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SSH,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HTTP).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522095" cy="5080"/>
            </a:xfrm>
            <a:custGeom>
              <a:avLst/>
              <a:gdLst/>
              <a:ahLst/>
              <a:cxnLst/>
              <a:rect l="l" t="t" r="r" b="b"/>
              <a:pathLst>
                <a:path w="1522095" h="5080">
                  <a:moveTo>
                    <a:pt x="0" y="5060"/>
                  </a:moveTo>
                  <a:lnTo>
                    <a:pt x="0" y="0"/>
                  </a:lnTo>
                  <a:lnTo>
                    <a:pt x="1521493" y="0"/>
                  </a:lnTo>
                  <a:lnTo>
                    <a:pt x="152149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Security</a:t>
            </a:r>
            <a:r>
              <a:rPr spc="35" dirty="0"/>
              <a:t> </a:t>
            </a:r>
            <a:r>
              <a:rPr spc="-60" dirty="0"/>
              <a:t>groups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354527"/>
            <a:ext cx="4294505" cy="1663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Configuring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Groups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844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groups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define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internet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 which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services.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default,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blocks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incoming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explicitly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certain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SSH,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HTTP).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969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Group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group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just 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of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firewall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configure:</a:t>
            </a:r>
            <a:endParaRPr sz="900">
              <a:latin typeface="Arial"/>
              <a:cs typeface="Arial"/>
            </a:endParaRPr>
          </a:p>
          <a:p>
            <a:pPr marL="243204" lvl="1" indent="-14732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Inbound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endParaRPr sz="900">
              <a:latin typeface="Arial"/>
              <a:cs typeface="Arial"/>
            </a:endParaRPr>
          </a:p>
          <a:p>
            <a:pPr marL="243204" lvl="1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Outbound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522095" cy="5080"/>
            </a:xfrm>
            <a:custGeom>
              <a:avLst/>
              <a:gdLst/>
              <a:ahLst/>
              <a:cxnLst/>
              <a:rect l="l" t="t" r="r" b="b"/>
              <a:pathLst>
                <a:path w="1522095" h="5080">
                  <a:moveTo>
                    <a:pt x="0" y="5060"/>
                  </a:moveTo>
                  <a:lnTo>
                    <a:pt x="0" y="0"/>
                  </a:lnTo>
                  <a:lnTo>
                    <a:pt x="1521493" y="0"/>
                  </a:lnTo>
                  <a:lnTo>
                    <a:pt x="152149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Security</a:t>
            </a:r>
            <a:r>
              <a:rPr spc="35" dirty="0"/>
              <a:t> </a:t>
            </a:r>
            <a:r>
              <a:rPr spc="-60" dirty="0"/>
              <a:t>groups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72246" y="2696844"/>
            <a:ext cx="563880" cy="139700"/>
            <a:chOff x="1972246" y="2696844"/>
            <a:chExt cx="563880" cy="139700"/>
          </a:xfrm>
        </p:grpSpPr>
        <p:sp>
          <p:nvSpPr>
            <p:cNvPr id="4" name="object 4"/>
            <p:cNvSpPr/>
            <p:nvPr/>
          </p:nvSpPr>
          <p:spPr>
            <a:xfrm>
              <a:off x="1972246" y="2696844"/>
              <a:ext cx="563880" cy="139700"/>
            </a:xfrm>
            <a:custGeom>
              <a:avLst/>
              <a:gdLst/>
              <a:ahLst/>
              <a:cxnLst/>
              <a:rect l="l" t="t" r="r" b="b"/>
              <a:pathLst>
                <a:path w="563880" h="139700">
                  <a:moveTo>
                    <a:pt x="52736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527362" y="139090"/>
                  </a:lnTo>
                  <a:lnTo>
                    <a:pt x="541374" y="136261"/>
                  </a:lnTo>
                  <a:lnTo>
                    <a:pt x="552817" y="128546"/>
                  </a:lnTo>
                  <a:lnTo>
                    <a:pt x="560533" y="117103"/>
                  </a:lnTo>
                  <a:lnTo>
                    <a:pt x="563362" y="103090"/>
                  </a:lnTo>
                  <a:lnTo>
                    <a:pt x="563362" y="36000"/>
                  </a:lnTo>
                  <a:lnTo>
                    <a:pt x="560533" y="21987"/>
                  </a:lnTo>
                  <a:lnTo>
                    <a:pt x="552817" y="10544"/>
                  </a:lnTo>
                  <a:lnTo>
                    <a:pt x="541374" y="2829"/>
                  </a:lnTo>
                  <a:lnTo>
                    <a:pt x="52736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72246" y="2696844"/>
              <a:ext cx="563880" cy="139700"/>
            </a:xfrm>
            <a:custGeom>
              <a:avLst/>
              <a:gdLst/>
              <a:ahLst/>
              <a:cxnLst/>
              <a:rect l="l" t="t" r="r" b="b"/>
              <a:pathLst>
                <a:path w="563880" h="139700">
                  <a:moveTo>
                    <a:pt x="52736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527362" y="139090"/>
                  </a:lnTo>
                  <a:lnTo>
                    <a:pt x="541374" y="136261"/>
                  </a:lnTo>
                  <a:lnTo>
                    <a:pt x="552817" y="128546"/>
                  </a:lnTo>
                  <a:lnTo>
                    <a:pt x="560533" y="117103"/>
                  </a:lnTo>
                  <a:lnTo>
                    <a:pt x="563362" y="103090"/>
                  </a:lnTo>
                  <a:lnTo>
                    <a:pt x="563362" y="36000"/>
                  </a:lnTo>
                  <a:lnTo>
                    <a:pt x="560533" y="21987"/>
                  </a:lnTo>
                  <a:lnTo>
                    <a:pt x="552817" y="10544"/>
                  </a:lnTo>
                  <a:lnTo>
                    <a:pt x="541374" y="2829"/>
                  </a:lnTo>
                  <a:lnTo>
                    <a:pt x="52736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433" y="354527"/>
            <a:ext cx="4706620" cy="264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Configuring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Groups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844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groups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define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internet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 which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services.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default,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blocks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incoming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explicitly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certain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SSH,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HTTP).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969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Group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group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just 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of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firewall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configure:</a:t>
            </a:r>
            <a:endParaRPr sz="900">
              <a:latin typeface="Arial"/>
              <a:cs typeface="Arial"/>
            </a:endParaRPr>
          </a:p>
          <a:p>
            <a:pPr marL="243204" lvl="1" indent="-14732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Inbound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endParaRPr sz="900">
              <a:latin typeface="Arial"/>
              <a:cs typeface="Arial"/>
            </a:endParaRPr>
          </a:p>
          <a:p>
            <a:pPr marL="243204" lvl="1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Outbound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930"/>
              </a:spcBef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Example:</a:t>
            </a:r>
            <a:r>
              <a:rPr sz="900" b="1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Opening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22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(SSH)</a:t>
            </a:r>
            <a:endParaRPr sz="900">
              <a:latin typeface="Arial"/>
              <a:cs typeface="Arial"/>
            </a:endParaRPr>
          </a:p>
          <a:p>
            <a:pPr marL="243204" lvl="1" indent="-147320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Type: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SSH</a:t>
            </a:r>
            <a:endParaRPr sz="900">
              <a:latin typeface="Arial"/>
              <a:cs typeface="Arial"/>
            </a:endParaRPr>
          </a:p>
          <a:p>
            <a:pPr marL="243204" lvl="1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Range:</a:t>
            </a:r>
            <a:r>
              <a:rPr sz="900" b="1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22</a:t>
            </a:r>
            <a:endParaRPr sz="900">
              <a:latin typeface="Arial"/>
              <a:cs typeface="Arial"/>
            </a:endParaRPr>
          </a:p>
          <a:p>
            <a:pPr marL="243840" marR="5080" lvl="1" indent="-147955">
              <a:lnSpc>
                <a:spcPct val="116199"/>
              </a:lnSpc>
              <a:buFont typeface="Arial"/>
              <a:buChar char="•"/>
              <a:tabLst>
                <a:tab pos="243840" algn="l"/>
              </a:tabLst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Source:</a:t>
            </a:r>
            <a:r>
              <a:rPr sz="900" b="1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0.0.0.0/0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(not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recommended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production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reasons).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1522095" cy="5080"/>
            </a:xfrm>
            <a:custGeom>
              <a:avLst/>
              <a:gdLst/>
              <a:ahLst/>
              <a:cxnLst/>
              <a:rect l="l" t="t" r="r" b="b"/>
              <a:pathLst>
                <a:path w="1522095" h="5080">
                  <a:moveTo>
                    <a:pt x="0" y="5060"/>
                  </a:moveTo>
                  <a:lnTo>
                    <a:pt x="0" y="0"/>
                  </a:lnTo>
                  <a:lnTo>
                    <a:pt x="1521493" y="0"/>
                  </a:lnTo>
                  <a:lnTo>
                    <a:pt x="152149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14674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Today’s</a:t>
            </a:r>
            <a:r>
              <a:rPr sz="1100" b="1" spc="-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Work</a:t>
            </a:r>
            <a:r>
              <a:rPr sz="1100" b="1" spc="-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on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AWS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662305" cy="5080"/>
            </a:xfrm>
            <a:custGeom>
              <a:avLst/>
              <a:gdLst/>
              <a:ahLst/>
              <a:cxnLst/>
              <a:rect l="l" t="t" r="r" b="b"/>
              <a:pathLst>
                <a:path w="662305" h="5080">
                  <a:moveTo>
                    <a:pt x="0" y="5060"/>
                  </a:moveTo>
                  <a:lnTo>
                    <a:pt x="0" y="0"/>
                  </a:lnTo>
                  <a:lnTo>
                    <a:pt x="661745" y="0"/>
                  </a:lnTo>
                  <a:lnTo>
                    <a:pt x="66174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909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45" dirty="0">
                <a:solidFill>
                  <a:srgbClr val="F9F9F9"/>
                </a:solidFill>
                <a:latin typeface="Arial"/>
                <a:cs typeface="Arial"/>
              </a:rPr>
              <a:t>Goals</a:t>
            </a: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for</a:t>
            </a:r>
            <a:r>
              <a:rPr sz="1000" b="1" spc="-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today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319" y="1132250"/>
            <a:ext cx="7505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Today,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will: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630680" cy="5080"/>
            </a:xfrm>
            <a:custGeom>
              <a:avLst/>
              <a:gdLst/>
              <a:ahLst/>
              <a:cxnLst/>
              <a:rect l="l" t="t" r="r" b="b"/>
              <a:pathLst>
                <a:path w="1630680" h="5080">
                  <a:moveTo>
                    <a:pt x="0" y="5060"/>
                  </a:moveTo>
                  <a:lnTo>
                    <a:pt x="0" y="0"/>
                  </a:lnTo>
                  <a:lnTo>
                    <a:pt x="1630216" y="0"/>
                  </a:lnTo>
                  <a:lnTo>
                    <a:pt x="16302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909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45" dirty="0">
                <a:solidFill>
                  <a:srgbClr val="F9F9F9"/>
                </a:solidFill>
                <a:latin typeface="Arial"/>
                <a:cs typeface="Arial"/>
              </a:rPr>
              <a:t>Goals</a:t>
            </a: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for</a:t>
            </a:r>
            <a:r>
              <a:rPr sz="1000" b="1" spc="-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today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319" y="1132250"/>
            <a:ext cx="1441450" cy="401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Today,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will: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EC2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630680" cy="5080"/>
            </a:xfrm>
            <a:custGeom>
              <a:avLst/>
              <a:gdLst/>
              <a:ahLst/>
              <a:cxnLst/>
              <a:rect l="l" t="t" r="r" b="b"/>
              <a:pathLst>
                <a:path w="1630680" h="5080">
                  <a:moveTo>
                    <a:pt x="0" y="5060"/>
                  </a:moveTo>
                  <a:lnTo>
                    <a:pt x="0" y="0"/>
                  </a:lnTo>
                  <a:lnTo>
                    <a:pt x="1630216" y="0"/>
                  </a:lnTo>
                  <a:lnTo>
                    <a:pt x="16302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909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45" dirty="0">
                <a:solidFill>
                  <a:srgbClr val="F9F9F9"/>
                </a:solidFill>
                <a:latin typeface="Arial"/>
                <a:cs typeface="Arial"/>
              </a:rPr>
              <a:t>Goals</a:t>
            </a: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for</a:t>
            </a:r>
            <a:r>
              <a:rPr sz="1000" b="1" spc="-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today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319" y="1132250"/>
            <a:ext cx="1610995" cy="640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Today,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will: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EC2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5"/>
              </a:spcBef>
              <a:buChar char="•"/>
              <a:tabLst>
                <a:tab pos="243204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through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SSH.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630680" cy="5080"/>
            </a:xfrm>
            <a:custGeom>
              <a:avLst/>
              <a:gdLst/>
              <a:ahLst/>
              <a:cxnLst/>
              <a:rect l="l" t="t" r="r" b="b"/>
              <a:pathLst>
                <a:path w="1630680" h="5080">
                  <a:moveTo>
                    <a:pt x="0" y="5060"/>
                  </a:moveTo>
                  <a:lnTo>
                    <a:pt x="0" y="0"/>
                  </a:lnTo>
                  <a:lnTo>
                    <a:pt x="1630216" y="0"/>
                  </a:lnTo>
                  <a:lnTo>
                    <a:pt x="16302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909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Goals</a:t>
            </a:r>
            <a:r>
              <a:rPr spc="-20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spc="-10" dirty="0"/>
              <a:t>today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132250"/>
            <a:ext cx="1734185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Today,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will: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EC2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5"/>
              </a:spcBef>
              <a:buChar char="•"/>
              <a:tabLst>
                <a:tab pos="243204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through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SSH.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630680" cy="5080"/>
            </a:xfrm>
            <a:custGeom>
              <a:avLst/>
              <a:gdLst/>
              <a:ahLst/>
              <a:cxnLst/>
              <a:rect l="l" t="t" r="r" b="b"/>
              <a:pathLst>
                <a:path w="1630680" h="5080">
                  <a:moveTo>
                    <a:pt x="0" y="5060"/>
                  </a:moveTo>
                  <a:lnTo>
                    <a:pt x="0" y="0"/>
                  </a:lnTo>
                  <a:lnTo>
                    <a:pt x="1630216" y="0"/>
                  </a:lnTo>
                  <a:lnTo>
                    <a:pt x="16302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909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Goals</a:t>
            </a:r>
            <a:r>
              <a:rPr spc="-20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spc="-10" dirty="0"/>
              <a:t>today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132250"/>
            <a:ext cx="3851910" cy="1118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Today,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will: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EC2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5"/>
              </a:spcBef>
              <a:buChar char="•"/>
              <a:tabLst>
                <a:tab pos="243204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through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SSH.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630680" cy="5080"/>
            </a:xfrm>
            <a:custGeom>
              <a:avLst/>
              <a:gdLst/>
              <a:ahLst/>
              <a:cxnLst/>
              <a:rect l="l" t="t" r="r" b="b"/>
              <a:pathLst>
                <a:path w="1630680" h="5080">
                  <a:moveTo>
                    <a:pt x="0" y="5060"/>
                  </a:moveTo>
                  <a:lnTo>
                    <a:pt x="0" y="0"/>
                  </a:lnTo>
                  <a:lnTo>
                    <a:pt x="1630216" y="0"/>
                  </a:lnTo>
                  <a:lnTo>
                    <a:pt x="16302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1810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Introduction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to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Academy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433" y="383365"/>
            <a:ext cx="493458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Academy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educators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students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real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limited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budget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restricted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579" y="807701"/>
            <a:ext cx="3598862" cy="179943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04199" y="2741115"/>
            <a:ext cx="11518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9:</a:t>
            </a:r>
            <a:r>
              <a:rPr sz="800" b="1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Academy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1739264" cy="5080"/>
            </a:xfrm>
            <a:custGeom>
              <a:avLst/>
              <a:gdLst/>
              <a:ahLst/>
              <a:cxnLst/>
              <a:rect l="l" t="t" r="r" b="b"/>
              <a:pathLst>
                <a:path w="1739264" h="5080">
                  <a:moveTo>
                    <a:pt x="0" y="5060"/>
                  </a:moveTo>
                  <a:lnTo>
                    <a:pt x="0" y="0"/>
                  </a:lnTo>
                  <a:lnTo>
                    <a:pt x="1738850" y="0"/>
                  </a:lnTo>
                  <a:lnTo>
                    <a:pt x="17388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406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Activating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your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account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457" y="596833"/>
            <a:ext cx="4581099" cy="179938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58885" y="2530206"/>
            <a:ext cx="14427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10:</a:t>
            </a:r>
            <a:r>
              <a:rPr sz="800" b="1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Accepting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invite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1847850" cy="5080"/>
            </a:xfrm>
            <a:custGeom>
              <a:avLst/>
              <a:gdLst/>
              <a:ahLst/>
              <a:cxnLst/>
              <a:rect l="l" t="t" r="r" b="b"/>
              <a:pathLst>
                <a:path w="1847850" h="5080">
                  <a:moveTo>
                    <a:pt x="0" y="5060"/>
                  </a:moveTo>
                  <a:lnTo>
                    <a:pt x="0" y="0"/>
                  </a:lnTo>
                  <a:lnTo>
                    <a:pt x="1847572" y="0"/>
                  </a:lnTo>
                  <a:lnTo>
                    <a:pt x="184757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406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Activating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your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account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0725" y="971723"/>
            <a:ext cx="2478546" cy="10496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11070" y="2155328"/>
            <a:ext cx="15379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11:</a:t>
            </a:r>
            <a:r>
              <a:rPr sz="800" b="1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account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1956435" cy="5080"/>
            </a:xfrm>
            <a:custGeom>
              <a:avLst/>
              <a:gdLst/>
              <a:ahLst/>
              <a:cxnLst/>
              <a:rect l="l" t="t" r="r" b="b"/>
              <a:pathLst>
                <a:path w="1956435" h="5080">
                  <a:moveTo>
                    <a:pt x="0" y="5060"/>
                  </a:moveTo>
                  <a:lnTo>
                    <a:pt x="0" y="0"/>
                  </a:lnTo>
                  <a:lnTo>
                    <a:pt x="1956206" y="0"/>
                  </a:lnTo>
                  <a:lnTo>
                    <a:pt x="195620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Logging</a:t>
            </a:r>
            <a:r>
              <a:rPr spc="-1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dirty="0"/>
              <a:t>from</a:t>
            </a:r>
            <a:r>
              <a:rPr spc="-5" dirty="0"/>
              <a:t> </a:t>
            </a:r>
            <a:r>
              <a:rPr spc="-30" dirty="0"/>
              <a:t>now</a:t>
            </a:r>
            <a:r>
              <a:rPr spc="-10" dirty="0"/>
              <a:t> </a:t>
            </a:r>
            <a:r>
              <a:rPr spc="-25" dirty="0"/>
              <a:t>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483242"/>
            <a:ext cx="50838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You’ll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visit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https://awsacademy.instructure.com/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student.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2208" y="730602"/>
            <a:ext cx="1815595" cy="179932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00529" y="2663899"/>
            <a:ext cx="17589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12:</a:t>
            </a:r>
            <a:r>
              <a:rPr sz="800" b="1" spc="1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Login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065020" cy="5080"/>
            </a:xfrm>
            <a:custGeom>
              <a:avLst/>
              <a:gdLst/>
              <a:ahLst/>
              <a:cxnLst/>
              <a:rect l="l" t="t" r="r" b="b"/>
              <a:pathLst>
                <a:path w="2065020" h="5080">
                  <a:moveTo>
                    <a:pt x="0" y="5060"/>
                  </a:moveTo>
                  <a:lnTo>
                    <a:pt x="0" y="0"/>
                  </a:lnTo>
                  <a:lnTo>
                    <a:pt x="2064928" y="0"/>
                  </a:lnTo>
                  <a:lnTo>
                    <a:pt x="206492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Logging</a:t>
            </a:r>
            <a:r>
              <a:rPr spc="-1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dirty="0"/>
              <a:t>from</a:t>
            </a:r>
            <a:r>
              <a:rPr spc="-5" dirty="0"/>
              <a:t> </a:t>
            </a:r>
            <a:r>
              <a:rPr spc="-30" dirty="0"/>
              <a:t>now</a:t>
            </a:r>
            <a:r>
              <a:rPr spc="-10" dirty="0"/>
              <a:t> </a:t>
            </a:r>
            <a:r>
              <a:rPr spc="-25" dirty="0"/>
              <a:t>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485706"/>
            <a:ext cx="41821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receive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email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verification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complete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login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7450" y="728052"/>
            <a:ext cx="3685097" cy="17994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01253" y="2661435"/>
            <a:ext cx="15576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13:</a:t>
            </a:r>
            <a:r>
              <a:rPr sz="800" b="1" spc="1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Enter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verification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174240" cy="5080"/>
            </a:xfrm>
            <a:custGeom>
              <a:avLst/>
              <a:gdLst/>
              <a:ahLst/>
              <a:cxnLst/>
              <a:rect l="l" t="t" r="r" b="b"/>
              <a:pathLst>
                <a:path w="2174240" h="5080">
                  <a:moveTo>
                    <a:pt x="0" y="5060"/>
                  </a:moveTo>
                  <a:lnTo>
                    <a:pt x="0" y="0"/>
                  </a:lnTo>
                  <a:lnTo>
                    <a:pt x="2173650" y="0"/>
                  </a:lnTo>
                  <a:lnTo>
                    <a:pt x="21736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Available</a:t>
            </a:r>
            <a:r>
              <a:rPr spc="30" dirty="0"/>
              <a:t> </a:t>
            </a:r>
            <a:r>
              <a:rPr spc="-65" dirty="0"/>
              <a:t>courses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371520"/>
            <a:ext cx="3221355" cy="560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>
                <a:solidFill>
                  <a:srgbClr val="22373A"/>
                </a:solidFill>
                <a:latin typeface="Arial"/>
                <a:cs typeface="Arial"/>
              </a:rPr>
              <a:t>You’ll</a:t>
            </a:r>
            <a:r>
              <a:rPr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to:</a:t>
            </a:r>
            <a:endParaRPr sz="900" dirty="0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Foundation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Course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(Theory-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based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learning).</a:t>
            </a:r>
            <a:endParaRPr sz="900" dirty="0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Learner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(Hands-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experience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services).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7382" y="1017072"/>
            <a:ext cx="1525234" cy="179936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27262" y="2950411"/>
            <a:ext cx="13055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14:</a:t>
            </a:r>
            <a:r>
              <a:rPr sz="800" b="1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5" dirty="0">
                <a:solidFill>
                  <a:srgbClr val="22373A"/>
                </a:solidFill>
                <a:latin typeface="Arial"/>
                <a:cs typeface="Arial"/>
              </a:rPr>
              <a:t>courses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282825" cy="5080"/>
            </a:xfrm>
            <a:custGeom>
              <a:avLst/>
              <a:gdLst/>
              <a:ahLst/>
              <a:cxnLst/>
              <a:rect l="l" t="t" r="r" b="b"/>
              <a:pathLst>
                <a:path w="2282825" h="5080">
                  <a:moveTo>
                    <a:pt x="0" y="5060"/>
                  </a:moveTo>
                  <a:lnTo>
                    <a:pt x="0" y="0"/>
                  </a:lnTo>
                  <a:lnTo>
                    <a:pt x="2282285" y="0"/>
                  </a:lnTo>
                  <a:lnTo>
                    <a:pt x="228228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Available</a:t>
            </a:r>
            <a:r>
              <a:rPr spc="5" dirty="0"/>
              <a:t> </a:t>
            </a:r>
            <a:r>
              <a:rPr spc="-55" dirty="0"/>
              <a:t>courses:</a:t>
            </a:r>
            <a:r>
              <a:rPr spc="105" dirty="0"/>
              <a:t> </a:t>
            </a:r>
            <a:r>
              <a:rPr dirty="0"/>
              <a:t>AWS</a:t>
            </a:r>
            <a:r>
              <a:rPr spc="5" dirty="0"/>
              <a:t> </a:t>
            </a:r>
            <a:r>
              <a:rPr spc="-30" dirty="0"/>
              <a:t>Cloud</a:t>
            </a:r>
            <a:r>
              <a:rPr spc="10" dirty="0"/>
              <a:t> </a:t>
            </a:r>
            <a:r>
              <a:rPr spc="-30" dirty="0"/>
              <a:t>Foundation</a:t>
            </a:r>
            <a:r>
              <a:rPr spc="5" dirty="0"/>
              <a:t> </a:t>
            </a:r>
            <a:r>
              <a:rPr spc="-35" dirty="0"/>
              <a:t>Course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15277" rIns="0" bIns="0" rtlCol="0">
            <a:spAutoFit/>
          </a:bodyPr>
          <a:lstStyle/>
          <a:p>
            <a:pPr marL="17780" marR="5080" indent="-4445">
              <a:lnSpc>
                <a:spcPct val="116199"/>
              </a:lnSpc>
              <a:spcBef>
                <a:spcPts val="100"/>
              </a:spcBef>
            </a:pPr>
            <a:r>
              <a:rPr dirty="0"/>
              <a:t>All the</a:t>
            </a:r>
            <a:r>
              <a:rPr spc="5" dirty="0"/>
              <a:t> </a:t>
            </a:r>
            <a:r>
              <a:rPr spc="-20" dirty="0"/>
              <a:t>students</a:t>
            </a:r>
            <a:r>
              <a:rPr spc="5" dirty="0"/>
              <a:t> </a:t>
            </a:r>
            <a:r>
              <a:rPr spc="-30" dirty="0"/>
              <a:t>are</a:t>
            </a:r>
            <a:r>
              <a:rPr spc="5" dirty="0"/>
              <a:t> </a:t>
            </a:r>
            <a:r>
              <a:rPr dirty="0"/>
              <a:t>invited</a:t>
            </a:r>
            <a:r>
              <a:rPr spc="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20" dirty="0"/>
              <a:t>complete</a:t>
            </a:r>
            <a:r>
              <a:rPr spc="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spc="-30" dirty="0"/>
              <a:t>AWS</a:t>
            </a:r>
            <a:r>
              <a:rPr spc="5" dirty="0"/>
              <a:t> </a:t>
            </a:r>
            <a:r>
              <a:rPr spc="-10" dirty="0"/>
              <a:t>Cloud</a:t>
            </a:r>
            <a:r>
              <a:rPr spc="5" dirty="0"/>
              <a:t> </a:t>
            </a:r>
            <a:r>
              <a:rPr spc="-25" dirty="0"/>
              <a:t>Foundations</a:t>
            </a:r>
            <a:r>
              <a:rPr dirty="0"/>
              <a:t> </a:t>
            </a:r>
            <a:r>
              <a:rPr spc="-30" dirty="0"/>
              <a:t>course.</a:t>
            </a:r>
            <a:r>
              <a:rPr spc="95" dirty="0"/>
              <a:t> </a:t>
            </a:r>
            <a:r>
              <a:rPr dirty="0"/>
              <a:t>This</a:t>
            </a:r>
            <a:r>
              <a:rPr spc="5" dirty="0"/>
              <a:t> </a:t>
            </a:r>
            <a:r>
              <a:rPr spc="-40" dirty="0"/>
              <a:t>course</a:t>
            </a:r>
            <a:r>
              <a:rPr spc="5" dirty="0"/>
              <a:t> </a:t>
            </a:r>
            <a:r>
              <a:rPr dirty="0"/>
              <a:t>is</a:t>
            </a:r>
            <a:r>
              <a:rPr spc="5" dirty="0"/>
              <a:t> </a:t>
            </a:r>
            <a:r>
              <a:rPr spc="-25" dirty="0"/>
              <a:t>available</a:t>
            </a:r>
            <a:r>
              <a:rPr spc="5" dirty="0"/>
              <a:t> </a:t>
            </a:r>
            <a:r>
              <a:rPr spc="-25" dirty="0"/>
              <a:t>in </a:t>
            </a:r>
            <a:r>
              <a:rPr dirty="0"/>
              <a:t>the</a:t>
            </a:r>
            <a:r>
              <a:rPr spc="5" dirty="0"/>
              <a:t> </a:t>
            </a:r>
            <a:r>
              <a:rPr spc="-25" dirty="0"/>
              <a:t>AWS</a:t>
            </a:r>
            <a:r>
              <a:rPr spc="10" dirty="0"/>
              <a:t> </a:t>
            </a:r>
            <a:r>
              <a:rPr spc="-25" dirty="0"/>
              <a:t>Educate</a:t>
            </a:r>
            <a:r>
              <a:rPr spc="10" dirty="0"/>
              <a:t> </a:t>
            </a:r>
            <a:r>
              <a:rPr dirty="0"/>
              <a:t>platform</a:t>
            </a:r>
            <a:r>
              <a:rPr spc="10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dirty="0"/>
              <a:t>it</a:t>
            </a:r>
            <a:r>
              <a:rPr spc="10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dirty="0"/>
              <a:t>great</a:t>
            </a:r>
            <a:r>
              <a:rPr spc="5" dirty="0"/>
              <a:t> </a:t>
            </a:r>
            <a:r>
              <a:rPr dirty="0"/>
              <a:t>introduction</a:t>
            </a:r>
            <a:r>
              <a:rPr spc="10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25" dirty="0"/>
              <a:t>AWS</a:t>
            </a:r>
            <a:r>
              <a:rPr spc="10" dirty="0"/>
              <a:t> </a:t>
            </a:r>
            <a:r>
              <a:rPr spc="-40" dirty="0"/>
              <a:t>services.</a:t>
            </a:r>
            <a:r>
              <a:rPr spc="9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40" dirty="0"/>
              <a:t>course</a:t>
            </a:r>
            <a:r>
              <a:rPr spc="10" dirty="0"/>
              <a:t> </a:t>
            </a:r>
            <a:r>
              <a:rPr dirty="0"/>
              <a:t>is</a:t>
            </a:r>
            <a:r>
              <a:rPr spc="5" dirty="0"/>
              <a:t> </a:t>
            </a:r>
            <a:r>
              <a:rPr spc="-25" dirty="0"/>
              <a:t>not mandatory,</a:t>
            </a:r>
            <a:r>
              <a:rPr spc="40" dirty="0"/>
              <a:t> </a:t>
            </a:r>
            <a:r>
              <a:rPr dirty="0"/>
              <a:t>but</a:t>
            </a:r>
            <a:r>
              <a:rPr spc="45" dirty="0"/>
              <a:t> </a:t>
            </a:r>
            <a:r>
              <a:rPr dirty="0"/>
              <a:t>it</a:t>
            </a:r>
            <a:r>
              <a:rPr spc="45" dirty="0"/>
              <a:t> </a:t>
            </a:r>
            <a:r>
              <a:rPr dirty="0"/>
              <a:t>is</a:t>
            </a:r>
            <a:r>
              <a:rPr spc="40" dirty="0"/>
              <a:t> </a:t>
            </a:r>
            <a:r>
              <a:rPr dirty="0"/>
              <a:t>highly</a:t>
            </a:r>
            <a:r>
              <a:rPr spc="45" dirty="0"/>
              <a:t> </a:t>
            </a:r>
            <a:r>
              <a:rPr spc="-10" dirty="0"/>
              <a:t>recommended.</a:t>
            </a:r>
          </a:p>
          <a:p>
            <a:pPr marL="17780" marR="148590" indent="-4445">
              <a:lnSpc>
                <a:spcPct val="116199"/>
              </a:lnSpc>
              <a:spcBef>
                <a:spcPts val="625"/>
              </a:spcBef>
            </a:pPr>
            <a:r>
              <a:rPr dirty="0"/>
              <a:t>This introductory</a:t>
            </a:r>
            <a:r>
              <a:rPr spc="5" dirty="0"/>
              <a:t> </a:t>
            </a:r>
            <a:r>
              <a:rPr spc="-40" dirty="0"/>
              <a:t>course</a:t>
            </a:r>
            <a:r>
              <a:rPr spc="5" dirty="0"/>
              <a:t> </a:t>
            </a:r>
            <a:r>
              <a:rPr dirty="0"/>
              <a:t>is </a:t>
            </a:r>
            <a:r>
              <a:rPr spc="-20" dirty="0"/>
              <a:t>intended</a:t>
            </a:r>
            <a:r>
              <a:rPr spc="5" dirty="0"/>
              <a:t> </a:t>
            </a:r>
            <a:r>
              <a:rPr dirty="0"/>
              <a:t>for</a:t>
            </a:r>
            <a:r>
              <a:rPr spc="5" dirty="0"/>
              <a:t> </a:t>
            </a:r>
            <a:r>
              <a:rPr spc="-20" dirty="0"/>
              <a:t>students</a:t>
            </a:r>
            <a:r>
              <a:rPr spc="5" dirty="0"/>
              <a:t> </a:t>
            </a:r>
            <a:r>
              <a:rPr dirty="0"/>
              <a:t>who </a:t>
            </a:r>
            <a:r>
              <a:rPr spc="-60" dirty="0"/>
              <a:t>seek</a:t>
            </a:r>
            <a:r>
              <a:rPr spc="5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spc="-10" dirty="0"/>
              <a:t>overall</a:t>
            </a:r>
            <a:r>
              <a:rPr dirty="0"/>
              <a:t> </a:t>
            </a:r>
            <a:r>
              <a:rPr spc="-25" dirty="0"/>
              <a:t>understanding</a:t>
            </a:r>
            <a:r>
              <a:rPr spc="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10" dirty="0"/>
              <a:t>cloud computing</a:t>
            </a:r>
            <a:r>
              <a:rPr spc="15" dirty="0"/>
              <a:t> </a:t>
            </a:r>
            <a:r>
              <a:rPr spc="-25" dirty="0"/>
              <a:t>concepts,</a:t>
            </a:r>
            <a:r>
              <a:rPr spc="15" dirty="0"/>
              <a:t> </a:t>
            </a:r>
            <a:r>
              <a:rPr spc="-25" dirty="0"/>
              <a:t>independent</a:t>
            </a:r>
            <a:r>
              <a:rPr spc="15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20" dirty="0"/>
              <a:t>specific</a:t>
            </a:r>
            <a:r>
              <a:rPr spc="15" dirty="0"/>
              <a:t> </a:t>
            </a:r>
            <a:r>
              <a:rPr spc="-10" dirty="0"/>
              <a:t>technical</a:t>
            </a:r>
            <a:r>
              <a:rPr spc="15" dirty="0"/>
              <a:t> </a:t>
            </a:r>
            <a:r>
              <a:rPr spc="-10" dirty="0"/>
              <a:t>roles.</a:t>
            </a:r>
            <a:r>
              <a:rPr spc="105" dirty="0"/>
              <a:t> </a:t>
            </a:r>
            <a:r>
              <a:rPr dirty="0"/>
              <a:t>It</a:t>
            </a:r>
            <a:r>
              <a:rPr spc="15" dirty="0"/>
              <a:t> </a:t>
            </a:r>
            <a:r>
              <a:rPr spc="-35" dirty="0"/>
              <a:t>provides</a:t>
            </a:r>
            <a:r>
              <a:rPr spc="15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spc="-20" dirty="0"/>
              <a:t>detailed</a:t>
            </a:r>
            <a:r>
              <a:rPr spc="15" dirty="0"/>
              <a:t> </a:t>
            </a:r>
            <a:r>
              <a:rPr spc="-30" dirty="0"/>
              <a:t>overview</a:t>
            </a:r>
            <a:r>
              <a:rPr spc="15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cloud </a:t>
            </a:r>
            <a:r>
              <a:rPr spc="-25" dirty="0"/>
              <a:t>concepts,</a:t>
            </a:r>
            <a:r>
              <a:rPr spc="-10" dirty="0"/>
              <a:t> </a:t>
            </a:r>
            <a:r>
              <a:rPr spc="-25" dirty="0"/>
              <a:t>AWS</a:t>
            </a:r>
            <a:r>
              <a:rPr spc="-10" dirty="0"/>
              <a:t> </a:t>
            </a:r>
            <a:r>
              <a:rPr spc="-30" dirty="0"/>
              <a:t>core</a:t>
            </a:r>
            <a:r>
              <a:rPr spc="-10" dirty="0"/>
              <a:t> </a:t>
            </a:r>
            <a:r>
              <a:rPr spc="-45" dirty="0"/>
              <a:t>services,</a:t>
            </a:r>
            <a:r>
              <a:rPr spc="-5" dirty="0"/>
              <a:t> </a:t>
            </a:r>
            <a:r>
              <a:rPr spc="-30" dirty="0"/>
              <a:t>security,</a:t>
            </a:r>
            <a:r>
              <a:rPr spc="-10" dirty="0"/>
              <a:t> architecture, </a:t>
            </a:r>
            <a:r>
              <a:rPr dirty="0"/>
              <a:t>pricing,</a:t>
            </a:r>
            <a:r>
              <a:rPr spc="-1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10" dirty="0"/>
              <a:t>support.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91410" cy="5080"/>
            </a:xfrm>
            <a:custGeom>
              <a:avLst/>
              <a:gdLst/>
              <a:ahLst/>
              <a:cxnLst/>
              <a:rect l="l" t="t" r="r" b="b"/>
              <a:pathLst>
                <a:path w="2391410" h="5080">
                  <a:moveTo>
                    <a:pt x="0" y="5060"/>
                  </a:moveTo>
                  <a:lnTo>
                    <a:pt x="0" y="0"/>
                  </a:lnTo>
                  <a:lnTo>
                    <a:pt x="2391006" y="0"/>
                  </a:lnTo>
                  <a:lnTo>
                    <a:pt x="239100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Available</a:t>
            </a:r>
            <a:r>
              <a:rPr spc="10" dirty="0"/>
              <a:t> </a:t>
            </a:r>
            <a:r>
              <a:rPr spc="-55" dirty="0"/>
              <a:t>courses:</a:t>
            </a:r>
            <a:r>
              <a:rPr spc="10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30" dirty="0"/>
              <a:t>Learner</a:t>
            </a:r>
            <a:r>
              <a:rPr spc="10" dirty="0"/>
              <a:t> </a:t>
            </a:r>
            <a:r>
              <a:rPr spc="-25" dirty="0"/>
              <a:t>Lab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1092423"/>
            <a:ext cx="5093970" cy="1198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will be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Learner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Lab to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complete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today’s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tasks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future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deliverables.</a:t>
            </a:r>
            <a:endParaRPr sz="900">
              <a:latin typeface="Arial"/>
              <a:cs typeface="Arial"/>
            </a:endParaRPr>
          </a:p>
          <a:p>
            <a:pPr marL="17780" marR="147320" indent="-4445">
              <a:lnSpc>
                <a:spcPct val="116199"/>
              </a:lnSpc>
              <a:spcBef>
                <a:spcPts val="62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Learner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hands-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practice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with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real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services.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will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limited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set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budget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them.</a:t>
            </a:r>
            <a:endParaRPr sz="900">
              <a:latin typeface="Arial"/>
              <a:cs typeface="Arial"/>
            </a:endParaRPr>
          </a:p>
          <a:p>
            <a:pPr marL="17780" marR="54610">
              <a:lnSpc>
                <a:spcPct val="116199"/>
              </a:lnSpc>
              <a:spcBef>
                <a:spcPts val="63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great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opportunity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learn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real-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world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scenario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since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dashboard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professionals.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8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Getting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Learner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Dashboard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tricky,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0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steps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499995" cy="5080"/>
            </a:xfrm>
            <a:custGeom>
              <a:avLst/>
              <a:gdLst/>
              <a:ahLst/>
              <a:cxnLst/>
              <a:rect l="l" t="t" r="r" b="b"/>
              <a:pathLst>
                <a:path w="2499995" h="5080">
                  <a:moveTo>
                    <a:pt x="0" y="5060"/>
                  </a:moveTo>
                  <a:lnTo>
                    <a:pt x="0" y="0"/>
                  </a:lnTo>
                  <a:lnTo>
                    <a:pt x="2499641" y="0"/>
                  </a:lnTo>
                  <a:lnTo>
                    <a:pt x="249964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5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65" dirty="0">
                <a:solidFill>
                  <a:srgbClr val="F9F9F9"/>
                </a:solidFill>
                <a:latin typeface="Arial"/>
                <a:cs typeface="Arial"/>
              </a:rPr>
              <a:t>Accessing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Learner</a:t>
            </a:r>
            <a:r>
              <a:rPr sz="1000" b="1" spc="4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2576" y="446891"/>
            <a:ext cx="2014839" cy="209929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02548" y="2680155"/>
            <a:ext cx="195516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15:</a:t>
            </a:r>
            <a:r>
              <a:rPr sz="800" b="1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Choosing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learner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lab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course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608580" cy="5080"/>
            </a:xfrm>
            <a:custGeom>
              <a:avLst/>
              <a:gdLst/>
              <a:ahLst/>
              <a:cxnLst/>
              <a:rect l="l" t="t" r="r" b="b"/>
              <a:pathLst>
                <a:path w="2608580" h="5080">
                  <a:moveTo>
                    <a:pt x="0" y="5060"/>
                  </a:moveTo>
                  <a:lnTo>
                    <a:pt x="0" y="0"/>
                  </a:lnTo>
                  <a:lnTo>
                    <a:pt x="2608363" y="0"/>
                  </a:lnTo>
                  <a:lnTo>
                    <a:pt x="260836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5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65" dirty="0">
                <a:solidFill>
                  <a:srgbClr val="F9F9F9"/>
                </a:solidFill>
                <a:latin typeface="Arial"/>
                <a:cs typeface="Arial"/>
              </a:rPr>
              <a:t>Accessing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Learner</a:t>
            </a:r>
            <a:r>
              <a:rPr sz="1000" b="1" spc="4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7707" y="446913"/>
            <a:ext cx="2004597" cy="209924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80590" y="2680130"/>
            <a:ext cx="19989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16:</a:t>
            </a:r>
            <a:r>
              <a:rPr sz="800" b="1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Choosing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learner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lab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module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717165" cy="5080"/>
            </a:xfrm>
            <a:custGeom>
              <a:avLst/>
              <a:gdLst/>
              <a:ahLst/>
              <a:cxnLst/>
              <a:rect l="l" t="t" r="r" b="b"/>
              <a:pathLst>
                <a:path w="2717165" h="5080">
                  <a:moveTo>
                    <a:pt x="0" y="5060"/>
                  </a:moveTo>
                  <a:lnTo>
                    <a:pt x="0" y="0"/>
                  </a:lnTo>
                  <a:lnTo>
                    <a:pt x="2716997" y="0"/>
                  </a:lnTo>
                  <a:lnTo>
                    <a:pt x="271699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5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65" dirty="0">
                <a:solidFill>
                  <a:srgbClr val="F9F9F9"/>
                </a:solidFill>
                <a:latin typeface="Arial"/>
                <a:cs typeface="Arial"/>
              </a:rPr>
              <a:t>Accessing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Learner</a:t>
            </a:r>
            <a:r>
              <a:rPr sz="1000" b="1" spc="4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83" y="520167"/>
            <a:ext cx="5039839" cy="19527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35976" y="2606876"/>
            <a:ext cx="26885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17:</a:t>
            </a:r>
            <a:r>
              <a:rPr sz="800" b="1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Scroll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down and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agree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terms and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conditions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825750" cy="5080"/>
            </a:xfrm>
            <a:custGeom>
              <a:avLst/>
              <a:gdLst/>
              <a:ahLst/>
              <a:cxnLst/>
              <a:rect l="l" t="t" r="r" b="b"/>
              <a:pathLst>
                <a:path w="2825750" h="5080">
                  <a:moveTo>
                    <a:pt x="0" y="5060"/>
                  </a:moveTo>
                  <a:lnTo>
                    <a:pt x="0" y="0"/>
                  </a:lnTo>
                  <a:lnTo>
                    <a:pt x="2825719" y="0"/>
                  </a:lnTo>
                  <a:lnTo>
                    <a:pt x="282571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5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65" dirty="0">
                <a:solidFill>
                  <a:srgbClr val="F9F9F9"/>
                </a:solidFill>
                <a:latin typeface="Arial"/>
                <a:cs typeface="Arial"/>
              </a:rPr>
              <a:t>Accessing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Learner</a:t>
            </a:r>
            <a:r>
              <a:rPr sz="1000" b="1" spc="4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304" y="446941"/>
            <a:ext cx="4997414" cy="20991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66137" y="2680105"/>
            <a:ext cx="12280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18:</a:t>
            </a:r>
            <a:r>
              <a:rPr sz="800" b="1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‘Start’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934970" cy="5080"/>
            </a:xfrm>
            <a:custGeom>
              <a:avLst/>
              <a:gdLst/>
              <a:ahLst/>
              <a:cxnLst/>
              <a:rect l="l" t="t" r="r" b="b"/>
              <a:pathLst>
                <a:path w="2934970" h="5080">
                  <a:moveTo>
                    <a:pt x="0" y="5060"/>
                  </a:moveTo>
                  <a:lnTo>
                    <a:pt x="0" y="0"/>
                  </a:lnTo>
                  <a:lnTo>
                    <a:pt x="2934353" y="0"/>
                  </a:lnTo>
                  <a:lnTo>
                    <a:pt x="29343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5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65" dirty="0">
                <a:solidFill>
                  <a:srgbClr val="F9F9F9"/>
                </a:solidFill>
                <a:latin typeface="Arial"/>
                <a:cs typeface="Arial"/>
              </a:rPr>
              <a:t>Accessing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Learner</a:t>
            </a:r>
            <a:r>
              <a:rPr sz="1000" b="1" spc="4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569112"/>
            <a:ext cx="5040004" cy="185484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19960" y="2557931"/>
            <a:ext cx="21202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19:</a:t>
            </a:r>
            <a:r>
              <a:rPr sz="800" b="1" spc="1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Wait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set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3043555" cy="5080"/>
            </a:xfrm>
            <a:custGeom>
              <a:avLst/>
              <a:gdLst/>
              <a:ahLst/>
              <a:cxnLst/>
              <a:rect l="l" t="t" r="r" b="b"/>
              <a:pathLst>
                <a:path w="3043555" h="5080">
                  <a:moveTo>
                    <a:pt x="0" y="5060"/>
                  </a:moveTo>
                  <a:lnTo>
                    <a:pt x="0" y="0"/>
                  </a:lnTo>
                  <a:lnTo>
                    <a:pt x="3043076" y="0"/>
                  </a:lnTo>
                  <a:lnTo>
                    <a:pt x="304307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5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65" dirty="0">
                <a:solidFill>
                  <a:srgbClr val="F9F9F9"/>
                </a:solidFill>
                <a:latin typeface="Arial"/>
                <a:cs typeface="Arial"/>
              </a:rPr>
              <a:t>Accessing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Learner</a:t>
            </a:r>
            <a:r>
              <a:rPr sz="1000" b="1" spc="4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19" y="862668"/>
            <a:ext cx="5039985" cy="126774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04225" y="2264383"/>
            <a:ext cx="195198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20:</a:t>
            </a:r>
            <a:r>
              <a:rPr sz="800" b="1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ready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‘AWS’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3152140" cy="5080"/>
            </a:xfrm>
            <a:custGeom>
              <a:avLst/>
              <a:gdLst/>
              <a:ahLst/>
              <a:cxnLst/>
              <a:rect l="l" t="t" r="r" b="b"/>
              <a:pathLst>
                <a:path w="3152140" h="5080">
                  <a:moveTo>
                    <a:pt x="0" y="5060"/>
                  </a:moveTo>
                  <a:lnTo>
                    <a:pt x="0" y="0"/>
                  </a:lnTo>
                  <a:lnTo>
                    <a:pt x="3151710" y="0"/>
                  </a:lnTo>
                  <a:lnTo>
                    <a:pt x="315171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5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65" dirty="0">
                <a:solidFill>
                  <a:srgbClr val="F9F9F9"/>
                </a:solidFill>
                <a:latin typeface="Arial"/>
                <a:cs typeface="Arial"/>
              </a:rPr>
              <a:t>Accessing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Learner</a:t>
            </a:r>
            <a:r>
              <a:rPr sz="1000" b="1" spc="4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548" y="446908"/>
            <a:ext cx="4956923" cy="20992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62506" y="2680130"/>
            <a:ext cx="24352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21:</a:t>
            </a:r>
            <a:r>
              <a:rPr sz="800" b="1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presented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dashboard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3260725" cy="5080"/>
            </a:xfrm>
            <a:custGeom>
              <a:avLst/>
              <a:gdLst/>
              <a:ahLst/>
              <a:cxnLst/>
              <a:rect l="l" t="t" r="r" b="b"/>
              <a:pathLst>
                <a:path w="3260725" h="5080">
                  <a:moveTo>
                    <a:pt x="0" y="5060"/>
                  </a:moveTo>
                  <a:lnTo>
                    <a:pt x="0" y="0"/>
                  </a:lnTo>
                  <a:lnTo>
                    <a:pt x="3260432" y="0"/>
                  </a:lnTo>
                  <a:lnTo>
                    <a:pt x="326043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23863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EC2</a:t>
            </a:r>
            <a:r>
              <a:rPr sz="1100" b="1" spc="4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-</a:t>
            </a:r>
            <a:r>
              <a:rPr sz="1100" b="1" spc="4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4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Deploying</a:t>
            </a:r>
            <a:r>
              <a:rPr sz="1100" b="1" spc="4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1100" b="1" spc="4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Jupyter</a:t>
            </a:r>
            <a:r>
              <a:rPr sz="1100" b="1" spc="4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Notebook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1418590" cy="5080"/>
            </a:xfrm>
            <a:custGeom>
              <a:avLst/>
              <a:gdLst/>
              <a:ahLst/>
              <a:cxnLst/>
              <a:rect l="l" t="t" r="r" b="b"/>
              <a:pathLst>
                <a:path w="1418589" h="5080">
                  <a:moveTo>
                    <a:pt x="0" y="5060"/>
                  </a:moveTo>
                  <a:lnTo>
                    <a:pt x="0" y="0"/>
                  </a:lnTo>
                  <a:lnTo>
                    <a:pt x="1418064" y="0"/>
                  </a:lnTo>
                  <a:lnTo>
                    <a:pt x="14180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Creating</a:t>
            </a:r>
            <a:r>
              <a:rPr dirty="0"/>
              <a:t> an SSH Key </a:t>
            </a:r>
            <a:r>
              <a:rPr spc="-20" dirty="0"/>
              <a:t>Pair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876734"/>
            <a:ext cx="5015230" cy="442595"/>
            <a:chOff x="372646" y="876734"/>
            <a:chExt cx="5015230" cy="442595"/>
          </a:xfrm>
        </p:grpSpPr>
        <p:sp>
          <p:nvSpPr>
            <p:cNvPr id="4" name="object 4"/>
            <p:cNvSpPr/>
            <p:nvPr/>
          </p:nvSpPr>
          <p:spPr>
            <a:xfrm>
              <a:off x="377994" y="882081"/>
              <a:ext cx="5004435" cy="432434"/>
            </a:xfrm>
            <a:custGeom>
              <a:avLst/>
              <a:gdLst/>
              <a:ahLst/>
              <a:cxnLst/>
              <a:rect l="l" t="t" r="r" b="b"/>
              <a:pathLst>
                <a:path w="5004435" h="43243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395881"/>
                  </a:lnTo>
                  <a:lnTo>
                    <a:pt x="2829" y="409894"/>
                  </a:lnTo>
                  <a:lnTo>
                    <a:pt x="10544" y="421337"/>
                  </a:lnTo>
                  <a:lnTo>
                    <a:pt x="21987" y="429052"/>
                  </a:lnTo>
                  <a:lnTo>
                    <a:pt x="36000" y="431882"/>
                  </a:lnTo>
                  <a:lnTo>
                    <a:pt x="4968064" y="431882"/>
                  </a:lnTo>
                  <a:lnTo>
                    <a:pt x="4982077" y="429052"/>
                  </a:lnTo>
                  <a:lnTo>
                    <a:pt x="4993521" y="421337"/>
                  </a:lnTo>
                  <a:lnTo>
                    <a:pt x="5001236" y="409894"/>
                  </a:lnTo>
                  <a:lnTo>
                    <a:pt x="5004065" y="39588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883060"/>
              <a:ext cx="5002530" cy="430530"/>
            </a:xfrm>
            <a:custGeom>
              <a:avLst/>
              <a:gdLst/>
              <a:ahLst/>
              <a:cxnLst/>
              <a:rect l="l" t="t" r="r" b="b"/>
              <a:pathLst>
                <a:path w="5002530" h="430530">
                  <a:moveTo>
                    <a:pt x="0" y="39490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394902"/>
                  </a:lnTo>
                  <a:lnTo>
                    <a:pt x="4999354" y="408534"/>
                  </a:lnTo>
                  <a:lnTo>
                    <a:pt x="4991849" y="419666"/>
                  </a:lnTo>
                  <a:lnTo>
                    <a:pt x="4980717" y="427171"/>
                  </a:lnTo>
                  <a:lnTo>
                    <a:pt x="4967085" y="429923"/>
                  </a:lnTo>
                  <a:lnTo>
                    <a:pt x="35021" y="429923"/>
                  </a:lnTo>
                  <a:lnTo>
                    <a:pt x="21389" y="427171"/>
                  </a:lnTo>
                  <a:lnTo>
                    <a:pt x="10257" y="419666"/>
                  </a:lnTo>
                  <a:lnTo>
                    <a:pt x="2752" y="408534"/>
                  </a:lnTo>
                  <a:lnTo>
                    <a:pt x="0" y="39490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685630" y="1422597"/>
            <a:ext cx="264795" cy="121285"/>
            <a:chOff x="2685630" y="1422597"/>
            <a:chExt cx="264795" cy="121285"/>
          </a:xfrm>
        </p:grpSpPr>
        <p:sp>
          <p:nvSpPr>
            <p:cNvPr id="7" name="object 7"/>
            <p:cNvSpPr/>
            <p:nvPr/>
          </p:nvSpPr>
          <p:spPr>
            <a:xfrm>
              <a:off x="2685630" y="1422597"/>
              <a:ext cx="264795" cy="121285"/>
            </a:xfrm>
            <a:custGeom>
              <a:avLst/>
              <a:gdLst/>
              <a:ahLst/>
              <a:cxnLst/>
              <a:rect l="l" t="t" r="r" b="b"/>
              <a:pathLst>
                <a:path w="264794" h="121284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28441" y="120757"/>
                  </a:lnTo>
                  <a:lnTo>
                    <a:pt x="242454" y="117928"/>
                  </a:lnTo>
                  <a:lnTo>
                    <a:pt x="253897" y="110213"/>
                  </a:lnTo>
                  <a:lnTo>
                    <a:pt x="261612" y="98770"/>
                  </a:lnTo>
                  <a:lnTo>
                    <a:pt x="264441" y="84757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85630" y="1422597"/>
              <a:ext cx="264795" cy="121285"/>
            </a:xfrm>
            <a:custGeom>
              <a:avLst/>
              <a:gdLst/>
              <a:ahLst/>
              <a:cxnLst/>
              <a:rect l="l" t="t" r="r" b="b"/>
              <a:pathLst>
                <a:path w="264794" h="121284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28441" y="120757"/>
                  </a:lnTo>
                  <a:lnTo>
                    <a:pt x="242454" y="117928"/>
                  </a:lnTo>
                  <a:lnTo>
                    <a:pt x="253897" y="110213"/>
                  </a:lnTo>
                  <a:lnTo>
                    <a:pt x="261612" y="98770"/>
                  </a:lnTo>
                  <a:lnTo>
                    <a:pt x="264441" y="84757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7514" y="1668076"/>
            <a:ext cx="144873" cy="11426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587743" y="1920161"/>
            <a:ext cx="443865" cy="580390"/>
            <a:chOff x="587743" y="1920161"/>
            <a:chExt cx="443865" cy="58039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7743" y="1920161"/>
              <a:ext cx="204657" cy="1011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7743" y="2059909"/>
              <a:ext cx="204657" cy="12075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87743" y="2219230"/>
              <a:ext cx="324485" cy="121285"/>
            </a:xfrm>
            <a:custGeom>
              <a:avLst/>
              <a:gdLst/>
              <a:ahLst/>
              <a:cxnLst/>
              <a:rect l="l" t="t" r="r" b="b"/>
              <a:pathLst>
                <a:path w="324484" h="121285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88225" y="120757"/>
                  </a:lnTo>
                  <a:lnTo>
                    <a:pt x="302238" y="117928"/>
                  </a:lnTo>
                  <a:lnTo>
                    <a:pt x="313681" y="110213"/>
                  </a:lnTo>
                  <a:lnTo>
                    <a:pt x="321396" y="98770"/>
                  </a:lnTo>
                  <a:lnTo>
                    <a:pt x="324225" y="84757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7743" y="2219230"/>
              <a:ext cx="324485" cy="121285"/>
            </a:xfrm>
            <a:custGeom>
              <a:avLst/>
              <a:gdLst/>
              <a:ahLst/>
              <a:cxnLst/>
              <a:rect l="l" t="t" r="r" b="b"/>
              <a:pathLst>
                <a:path w="324484" h="121285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88225" y="120757"/>
                  </a:lnTo>
                  <a:lnTo>
                    <a:pt x="302238" y="117928"/>
                  </a:lnTo>
                  <a:lnTo>
                    <a:pt x="313681" y="110213"/>
                  </a:lnTo>
                  <a:lnTo>
                    <a:pt x="321396" y="98770"/>
                  </a:lnTo>
                  <a:lnTo>
                    <a:pt x="324225" y="84757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7743" y="2377301"/>
              <a:ext cx="443865" cy="123189"/>
            </a:xfrm>
            <a:custGeom>
              <a:avLst/>
              <a:gdLst/>
              <a:ahLst/>
              <a:cxnLst/>
              <a:rect l="l" t="t" r="r" b="b"/>
              <a:pathLst>
                <a:path w="443865" h="123189">
                  <a:moveTo>
                    <a:pt x="40779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07793" y="122693"/>
                  </a:lnTo>
                  <a:lnTo>
                    <a:pt x="421806" y="119864"/>
                  </a:lnTo>
                  <a:lnTo>
                    <a:pt x="433249" y="112148"/>
                  </a:lnTo>
                  <a:lnTo>
                    <a:pt x="440964" y="100705"/>
                  </a:lnTo>
                  <a:lnTo>
                    <a:pt x="443793" y="86692"/>
                  </a:lnTo>
                  <a:lnTo>
                    <a:pt x="443793" y="36000"/>
                  </a:lnTo>
                  <a:lnTo>
                    <a:pt x="440964" y="21987"/>
                  </a:lnTo>
                  <a:lnTo>
                    <a:pt x="433249" y="10544"/>
                  </a:lnTo>
                  <a:lnTo>
                    <a:pt x="421806" y="2829"/>
                  </a:lnTo>
                  <a:lnTo>
                    <a:pt x="40779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7743" y="2377301"/>
              <a:ext cx="443865" cy="123189"/>
            </a:xfrm>
            <a:custGeom>
              <a:avLst/>
              <a:gdLst/>
              <a:ahLst/>
              <a:cxnLst/>
              <a:rect l="l" t="t" r="r" b="b"/>
              <a:pathLst>
                <a:path w="443865" h="123189">
                  <a:moveTo>
                    <a:pt x="40779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07793" y="122693"/>
                  </a:lnTo>
                  <a:lnTo>
                    <a:pt x="421806" y="119864"/>
                  </a:lnTo>
                  <a:lnTo>
                    <a:pt x="433249" y="112148"/>
                  </a:lnTo>
                  <a:lnTo>
                    <a:pt x="440964" y="100705"/>
                  </a:lnTo>
                  <a:lnTo>
                    <a:pt x="443793" y="86692"/>
                  </a:lnTo>
                  <a:lnTo>
                    <a:pt x="443793" y="36000"/>
                  </a:lnTo>
                  <a:lnTo>
                    <a:pt x="440964" y="21987"/>
                  </a:lnTo>
                  <a:lnTo>
                    <a:pt x="433249" y="10544"/>
                  </a:lnTo>
                  <a:lnTo>
                    <a:pt x="421806" y="2829"/>
                  </a:lnTo>
                  <a:lnTo>
                    <a:pt x="40779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7514" y="2616981"/>
            <a:ext cx="144873" cy="12075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43319" y="632747"/>
            <a:ext cx="4728210" cy="2115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Open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terminal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powershell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following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command: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90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sz="800" spc="-60" dirty="0">
                <a:solidFill>
                  <a:srgbClr val="05287C"/>
                </a:solidFill>
                <a:latin typeface="Courier New"/>
                <a:cs typeface="Courier New"/>
              </a:rPr>
              <a:t>mkdir</a:t>
            </a:r>
            <a:r>
              <a:rPr sz="800" spc="-25" dirty="0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latin typeface="Courier New"/>
                <a:cs typeface="Courier New"/>
              </a:rPr>
              <a:t>.ssh</a:t>
            </a:r>
            <a:endParaRPr sz="800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  <a:spcBef>
                <a:spcPts val="70"/>
              </a:spcBef>
            </a:pPr>
            <a:r>
              <a:rPr sz="800" spc="-60" dirty="0">
                <a:solidFill>
                  <a:srgbClr val="05287C"/>
                </a:solidFill>
                <a:latin typeface="Courier New"/>
                <a:cs typeface="Courier New"/>
              </a:rPr>
              <a:t>ssh-keygen</a:t>
            </a:r>
            <a:r>
              <a:rPr sz="800" spc="-50" dirty="0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7C8E28"/>
                </a:solidFill>
                <a:latin typeface="Courier New"/>
                <a:cs typeface="Courier New"/>
              </a:rPr>
              <a:t>t</a:t>
            </a:r>
            <a:r>
              <a:rPr sz="800" spc="-45" dirty="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rsa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7C8E28"/>
                </a:solidFill>
                <a:latin typeface="Courier New"/>
                <a:cs typeface="Courier New"/>
              </a:rPr>
              <a:t>f</a:t>
            </a:r>
            <a:r>
              <a:rPr sz="800" spc="-45" dirty="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.ssh/aws-</a:t>
            </a:r>
            <a:r>
              <a:rPr sz="800" spc="-10" dirty="0">
                <a:latin typeface="Courier New"/>
                <a:cs typeface="Courier New"/>
              </a:rPr>
              <a:t>keypair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74200"/>
              </a:lnSpc>
              <a:spcBef>
                <a:spcPts val="7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might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throw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error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.ssh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exists.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ignore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it.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-t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option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specifies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create:</a:t>
            </a:r>
            <a:endParaRPr sz="900">
              <a:latin typeface="Arial"/>
              <a:cs typeface="Arial"/>
            </a:endParaRPr>
          </a:p>
          <a:p>
            <a:pPr marL="255904" indent="-160020">
              <a:lnSpc>
                <a:spcPct val="100000"/>
              </a:lnSpc>
              <a:spcBef>
                <a:spcPts val="800"/>
              </a:spcBef>
              <a:buClr>
                <a:srgbClr val="22373A"/>
              </a:buClr>
              <a:buFont typeface="Arial"/>
              <a:buChar char="•"/>
              <a:tabLst>
                <a:tab pos="255904" algn="l"/>
              </a:tabLst>
            </a:pPr>
            <a:r>
              <a:rPr sz="900" spc="-25" dirty="0">
                <a:latin typeface="Courier New"/>
                <a:cs typeface="Courier New"/>
              </a:rPr>
              <a:t>rsa</a:t>
            </a:r>
            <a:endParaRPr sz="900">
              <a:latin typeface="Courier New"/>
              <a:cs typeface="Courier New"/>
            </a:endParaRPr>
          </a:p>
          <a:p>
            <a:pPr marL="255904" indent="-160020">
              <a:lnSpc>
                <a:spcPct val="100000"/>
              </a:lnSpc>
              <a:spcBef>
                <a:spcPts val="175"/>
              </a:spcBef>
              <a:buClr>
                <a:srgbClr val="22373A"/>
              </a:buClr>
              <a:buFont typeface="Arial"/>
              <a:buChar char="•"/>
              <a:tabLst>
                <a:tab pos="255904" algn="l"/>
              </a:tabLst>
            </a:pPr>
            <a:r>
              <a:rPr sz="900" spc="-25" dirty="0">
                <a:latin typeface="Courier New"/>
                <a:cs typeface="Courier New"/>
              </a:rPr>
              <a:t>dsa</a:t>
            </a:r>
            <a:endParaRPr sz="900">
              <a:latin typeface="Courier New"/>
              <a:cs typeface="Courier New"/>
            </a:endParaRPr>
          </a:p>
          <a:p>
            <a:pPr marL="255904" indent="-160020">
              <a:lnSpc>
                <a:spcPct val="100000"/>
              </a:lnSpc>
              <a:spcBef>
                <a:spcPts val="175"/>
              </a:spcBef>
              <a:buClr>
                <a:srgbClr val="22373A"/>
              </a:buClr>
              <a:buFont typeface="Arial"/>
              <a:buChar char="•"/>
              <a:tabLst>
                <a:tab pos="255904" algn="l"/>
              </a:tabLst>
            </a:pPr>
            <a:r>
              <a:rPr sz="900" spc="-10" dirty="0">
                <a:latin typeface="Courier New"/>
                <a:cs typeface="Courier New"/>
              </a:rPr>
              <a:t>ecdsa</a:t>
            </a:r>
            <a:endParaRPr sz="900">
              <a:latin typeface="Courier New"/>
              <a:cs typeface="Courier New"/>
            </a:endParaRPr>
          </a:p>
          <a:p>
            <a:pPr marL="255904" indent="-160020">
              <a:lnSpc>
                <a:spcPct val="100000"/>
              </a:lnSpc>
              <a:spcBef>
                <a:spcPts val="175"/>
              </a:spcBef>
              <a:buClr>
                <a:srgbClr val="22373A"/>
              </a:buClr>
              <a:buFont typeface="Arial"/>
              <a:buChar char="•"/>
              <a:tabLst>
                <a:tab pos="255904" algn="l"/>
              </a:tabLst>
            </a:pPr>
            <a:r>
              <a:rPr sz="900" spc="-10" dirty="0">
                <a:latin typeface="Courier New"/>
                <a:cs typeface="Courier New"/>
              </a:rPr>
              <a:t>ed25519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-f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option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specifies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filename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20" name="object 2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3234963"/>
              <a:ext cx="3369310" cy="5080"/>
            </a:xfrm>
            <a:custGeom>
              <a:avLst/>
              <a:gdLst/>
              <a:ahLst/>
              <a:cxnLst/>
              <a:rect l="l" t="t" r="r" b="b"/>
              <a:pathLst>
                <a:path w="3369310" h="5080">
                  <a:moveTo>
                    <a:pt x="0" y="5060"/>
                  </a:moveTo>
                  <a:lnTo>
                    <a:pt x="0" y="0"/>
                  </a:lnTo>
                  <a:lnTo>
                    <a:pt x="3369066" y="0"/>
                  </a:lnTo>
                  <a:lnTo>
                    <a:pt x="336906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Creating</a:t>
            </a:r>
            <a:r>
              <a:rPr dirty="0"/>
              <a:t> an SSH Key </a:t>
            </a:r>
            <a:r>
              <a:rPr spc="-20" dirty="0"/>
              <a:t>Pair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74915" y="1817773"/>
            <a:ext cx="1221105" cy="314960"/>
            <a:chOff x="1174915" y="1817773"/>
            <a:chExt cx="1221105" cy="314960"/>
          </a:xfrm>
        </p:grpSpPr>
        <p:sp>
          <p:nvSpPr>
            <p:cNvPr id="4" name="object 4"/>
            <p:cNvSpPr/>
            <p:nvPr/>
          </p:nvSpPr>
          <p:spPr>
            <a:xfrm>
              <a:off x="1174915" y="1817773"/>
              <a:ext cx="1221105" cy="155575"/>
            </a:xfrm>
            <a:custGeom>
              <a:avLst/>
              <a:gdLst/>
              <a:ahLst/>
              <a:cxnLst/>
              <a:rect l="l" t="t" r="r" b="b"/>
              <a:pathLst>
                <a:path w="1221105" h="155575">
                  <a:moveTo>
                    <a:pt x="1184986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84986" y="155489"/>
                  </a:lnTo>
                  <a:lnTo>
                    <a:pt x="1198999" y="152659"/>
                  </a:lnTo>
                  <a:lnTo>
                    <a:pt x="1210442" y="144944"/>
                  </a:lnTo>
                  <a:lnTo>
                    <a:pt x="1218158" y="133501"/>
                  </a:lnTo>
                  <a:lnTo>
                    <a:pt x="1220987" y="119488"/>
                  </a:lnTo>
                  <a:lnTo>
                    <a:pt x="1220987" y="36000"/>
                  </a:lnTo>
                  <a:lnTo>
                    <a:pt x="1218158" y="21987"/>
                  </a:lnTo>
                  <a:lnTo>
                    <a:pt x="1210442" y="10544"/>
                  </a:lnTo>
                  <a:lnTo>
                    <a:pt x="1198999" y="2829"/>
                  </a:lnTo>
                  <a:lnTo>
                    <a:pt x="1184986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74915" y="1817773"/>
              <a:ext cx="1221105" cy="155575"/>
            </a:xfrm>
            <a:custGeom>
              <a:avLst/>
              <a:gdLst/>
              <a:ahLst/>
              <a:cxnLst/>
              <a:rect l="l" t="t" r="r" b="b"/>
              <a:pathLst>
                <a:path w="1221105" h="155575">
                  <a:moveTo>
                    <a:pt x="1184986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84986" y="155489"/>
                  </a:lnTo>
                  <a:lnTo>
                    <a:pt x="1198999" y="152659"/>
                  </a:lnTo>
                  <a:lnTo>
                    <a:pt x="1210442" y="144944"/>
                  </a:lnTo>
                  <a:lnTo>
                    <a:pt x="1218158" y="133501"/>
                  </a:lnTo>
                  <a:lnTo>
                    <a:pt x="1220987" y="119488"/>
                  </a:lnTo>
                  <a:lnTo>
                    <a:pt x="1220987" y="36000"/>
                  </a:lnTo>
                  <a:lnTo>
                    <a:pt x="1218158" y="21987"/>
                  </a:lnTo>
                  <a:lnTo>
                    <a:pt x="1210442" y="10544"/>
                  </a:lnTo>
                  <a:lnTo>
                    <a:pt x="1198999" y="2829"/>
                  </a:lnTo>
                  <a:lnTo>
                    <a:pt x="1184986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18526" y="1977107"/>
              <a:ext cx="982344" cy="155575"/>
            </a:xfrm>
            <a:custGeom>
              <a:avLst/>
              <a:gdLst/>
              <a:ahLst/>
              <a:cxnLst/>
              <a:rect l="l" t="t" r="r" b="b"/>
              <a:pathLst>
                <a:path w="982344" h="155575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945850" y="155489"/>
                  </a:lnTo>
                  <a:lnTo>
                    <a:pt x="959863" y="152659"/>
                  </a:lnTo>
                  <a:lnTo>
                    <a:pt x="971306" y="144944"/>
                  </a:lnTo>
                  <a:lnTo>
                    <a:pt x="979021" y="133501"/>
                  </a:lnTo>
                  <a:lnTo>
                    <a:pt x="981850" y="119488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18526" y="1977107"/>
              <a:ext cx="982344" cy="155575"/>
            </a:xfrm>
            <a:custGeom>
              <a:avLst/>
              <a:gdLst/>
              <a:ahLst/>
              <a:cxnLst/>
              <a:rect l="l" t="t" r="r" b="b"/>
              <a:pathLst>
                <a:path w="982344" h="155575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945850" y="155489"/>
                  </a:lnTo>
                  <a:lnTo>
                    <a:pt x="959863" y="152659"/>
                  </a:lnTo>
                  <a:lnTo>
                    <a:pt x="971306" y="144944"/>
                  </a:lnTo>
                  <a:lnTo>
                    <a:pt x="979021" y="133501"/>
                  </a:lnTo>
                  <a:lnTo>
                    <a:pt x="981850" y="119488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3319" y="1215202"/>
            <a:ext cx="5060950" cy="90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prompt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enter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key.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prompt you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enter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passphrase.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enter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passphrase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leave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passphrase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empty.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command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 and 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default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location: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key:</a:t>
            </a:r>
            <a:r>
              <a:rPr sz="900" spc="1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.ssh/aws-</a:t>
            </a:r>
            <a:r>
              <a:rPr sz="900" spc="-10" dirty="0">
                <a:latin typeface="Courier New"/>
                <a:cs typeface="Courier New"/>
              </a:rPr>
              <a:t>keypair.pub</a:t>
            </a:r>
            <a:endParaRPr sz="900">
              <a:latin typeface="Courier New"/>
              <a:cs typeface="Courier New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key:</a:t>
            </a:r>
            <a:r>
              <a:rPr sz="900" spc="1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.ssh/aws-</a:t>
            </a:r>
            <a:r>
              <a:rPr sz="900" spc="-10" dirty="0">
                <a:latin typeface="Courier New"/>
                <a:cs typeface="Courier New"/>
              </a:rPr>
              <a:t>keypair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3477895" cy="5080"/>
            </a:xfrm>
            <a:custGeom>
              <a:avLst/>
              <a:gdLst/>
              <a:ahLst/>
              <a:cxnLst/>
              <a:rect l="l" t="t" r="r" b="b"/>
              <a:pathLst>
                <a:path w="3477895" h="5080">
                  <a:moveTo>
                    <a:pt x="0" y="5060"/>
                  </a:moveTo>
                  <a:lnTo>
                    <a:pt x="0" y="0"/>
                  </a:lnTo>
                  <a:lnTo>
                    <a:pt x="3477788" y="0"/>
                  </a:lnTo>
                  <a:lnTo>
                    <a:pt x="347778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Importing</a:t>
            </a:r>
            <a:r>
              <a:rPr spc="-25" dirty="0"/>
              <a:t> </a:t>
            </a:r>
            <a:r>
              <a:rPr spc="-10" dirty="0"/>
              <a:t>our</a:t>
            </a:r>
            <a:r>
              <a:rPr spc="-20" dirty="0"/>
              <a:t> </a:t>
            </a:r>
            <a:r>
              <a:rPr spc="-25" dirty="0"/>
              <a:t>generated</a:t>
            </a:r>
            <a:r>
              <a:rPr spc="-20" dirty="0"/>
              <a:t> </a:t>
            </a:r>
            <a:r>
              <a:rPr spc="-10" dirty="0"/>
              <a:t>key</a:t>
            </a:r>
            <a:r>
              <a:rPr spc="-20" dirty="0"/>
              <a:t> pair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15492" y="2182029"/>
            <a:ext cx="1315720" cy="144145"/>
            <a:chOff x="815492" y="2182029"/>
            <a:chExt cx="1315720" cy="144145"/>
          </a:xfrm>
        </p:grpSpPr>
        <p:sp>
          <p:nvSpPr>
            <p:cNvPr id="4" name="object 4"/>
            <p:cNvSpPr/>
            <p:nvPr/>
          </p:nvSpPr>
          <p:spPr>
            <a:xfrm>
              <a:off x="815492" y="2182029"/>
              <a:ext cx="1315720" cy="144145"/>
            </a:xfrm>
            <a:custGeom>
              <a:avLst/>
              <a:gdLst/>
              <a:ahLst/>
              <a:cxnLst/>
              <a:rect l="l" t="t" r="r" b="b"/>
              <a:pathLst>
                <a:path w="1315720" h="144144">
                  <a:moveTo>
                    <a:pt x="127927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7835"/>
                  </a:lnTo>
                  <a:lnTo>
                    <a:pt x="2829" y="121848"/>
                  </a:lnTo>
                  <a:lnTo>
                    <a:pt x="10544" y="133291"/>
                  </a:lnTo>
                  <a:lnTo>
                    <a:pt x="21987" y="141006"/>
                  </a:lnTo>
                  <a:lnTo>
                    <a:pt x="36000" y="143835"/>
                  </a:lnTo>
                  <a:lnTo>
                    <a:pt x="1279274" y="143835"/>
                  </a:lnTo>
                  <a:lnTo>
                    <a:pt x="1293287" y="141006"/>
                  </a:lnTo>
                  <a:lnTo>
                    <a:pt x="1304730" y="133291"/>
                  </a:lnTo>
                  <a:lnTo>
                    <a:pt x="1312446" y="121848"/>
                  </a:lnTo>
                  <a:lnTo>
                    <a:pt x="1315275" y="107835"/>
                  </a:lnTo>
                  <a:lnTo>
                    <a:pt x="1315275" y="36000"/>
                  </a:lnTo>
                  <a:lnTo>
                    <a:pt x="1312446" y="21987"/>
                  </a:lnTo>
                  <a:lnTo>
                    <a:pt x="1304730" y="10544"/>
                  </a:lnTo>
                  <a:lnTo>
                    <a:pt x="1293287" y="2829"/>
                  </a:lnTo>
                  <a:lnTo>
                    <a:pt x="1279274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15492" y="2182029"/>
              <a:ext cx="1315720" cy="144145"/>
            </a:xfrm>
            <a:custGeom>
              <a:avLst/>
              <a:gdLst/>
              <a:ahLst/>
              <a:cxnLst/>
              <a:rect l="l" t="t" r="r" b="b"/>
              <a:pathLst>
                <a:path w="1315720" h="144144">
                  <a:moveTo>
                    <a:pt x="127927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7835"/>
                  </a:lnTo>
                  <a:lnTo>
                    <a:pt x="2829" y="121848"/>
                  </a:lnTo>
                  <a:lnTo>
                    <a:pt x="10544" y="133291"/>
                  </a:lnTo>
                  <a:lnTo>
                    <a:pt x="21987" y="141006"/>
                  </a:lnTo>
                  <a:lnTo>
                    <a:pt x="36000" y="143835"/>
                  </a:lnTo>
                  <a:lnTo>
                    <a:pt x="1279274" y="143835"/>
                  </a:lnTo>
                  <a:lnTo>
                    <a:pt x="1293287" y="141006"/>
                  </a:lnTo>
                  <a:lnTo>
                    <a:pt x="1304730" y="133291"/>
                  </a:lnTo>
                  <a:lnTo>
                    <a:pt x="1312446" y="121848"/>
                  </a:lnTo>
                  <a:lnTo>
                    <a:pt x="1315275" y="107835"/>
                  </a:lnTo>
                  <a:lnTo>
                    <a:pt x="1315275" y="36000"/>
                  </a:lnTo>
                  <a:lnTo>
                    <a:pt x="1312446" y="21987"/>
                  </a:lnTo>
                  <a:lnTo>
                    <a:pt x="1304730" y="10544"/>
                  </a:lnTo>
                  <a:lnTo>
                    <a:pt x="1293287" y="2829"/>
                  </a:lnTo>
                  <a:lnTo>
                    <a:pt x="127927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433" y="910229"/>
            <a:ext cx="4542155" cy="1562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pair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However,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pair.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243204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search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Pairs.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Pairs.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Actions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Import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Pair.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sz="900">
              <a:latin typeface="Arial"/>
              <a:cs typeface="Arial"/>
            </a:endParaRPr>
          </a:p>
          <a:p>
            <a:pPr marL="471805" lvl="1" indent="-140335">
              <a:lnSpc>
                <a:spcPct val="100000"/>
              </a:lnSpc>
              <a:spcBef>
                <a:spcPts val="50"/>
              </a:spcBef>
              <a:buChar char="•"/>
              <a:tabLst>
                <a:tab pos="47180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Name:</a:t>
            </a:r>
            <a:r>
              <a:rPr sz="8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5" dirty="0">
                <a:solidFill>
                  <a:srgbClr val="22373A"/>
                </a:solidFill>
                <a:latin typeface="Arial"/>
                <a:cs typeface="Arial"/>
              </a:rPr>
              <a:t>aws-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keypair</a:t>
            </a:r>
            <a:endParaRPr sz="800">
              <a:latin typeface="Arial"/>
              <a:cs typeface="Arial"/>
            </a:endParaRPr>
          </a:p>
          <a:p>
            <a:pPr marL="471805" lvl="1" indent="-140335">
              <a:lnSpc>
                <a:spcPct val="100000"/>
              </a:lnSpc>
              <a:spcBef>
                <a:spcPts val="75"/>
              </a:spcBef>
              <a:buChar char="•"/>
              <a:tabLst>
                <a:tab pos="471805" algn="l"/>
              </a:tabLst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Browse</a:t>
            </a:r>
            <a:r>
              <a:rPr sz="8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 the public key file</a:t>
            </a:r>
            <a:r>
              <a:rPr sz="8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 before.</a:t>
            </a:r>
            <a:r>
              <a:rPr sz="8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(.ssh/aws-keypair.pub)</a:t>
            </a:r>
            <a:endParaRPr sz="800">
              <a:latin typeface="Arial"/>
              <a:cs typeface="Arial"/>
            </a:endParaRPr>
          </a:p>
          <a:p>
            <a:pPr marL="468630" lvl="1" indent="-137160">
              <a:lnSpc>
                <a:spcPct val="100000"/>
              </a:lnSpc>
              <a:spcBef>
                <a:spcPts val="70"/>
              </a:spcBef>
              <a:buChar char="•"/>
              <a:tabLst>
                <a:tab pos="468630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Another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option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contents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field.</a:t>
            </a:r>
            <a:r>
              <a:rPr sz="8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endParaRPr sz="80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70"/>
              </a:spcBef>
            </a:pPr>
            <a:r>
              <a:rPr sz="800" spc="-50" dirty="0">
                <a:latin typeface="Courier New"/>
                <a:cs typeface="Courier New"/>
              </a:rPr>
              <a:t>cat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.ssh/aws-keypair.pub</a:t>
            </a:r>
            <a:r>
              <a:rPr sz="800" spc="-70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get</a:t>
            </a:r>
            <a:r>
              <a:rPr sz="8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8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key.</a:t>
            </a:r>
            <a:endParaRPr sz="8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95"/>
              </a:spcBef>
              <a:buAutoNum type="arabicPeriod" startAt="5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Import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pair.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3586479" cy="5080"/>
            </a:xfrm>
            <a:custGeom>
              <a:avLst/>
              <a:gdLst/>
              <a:ahLst/>
              <a:cxnLst/>
              <a:rect l="l" t="t" r="r" b="b"/>
              <a:pathLst>
                <a:path w="3586479" h="5080">
                  <a:moveTo>
                    <a:pt x="0" y="5060"/>
                  </a:moveTo>
                  <a:lnTo>
                    <a:pt x="0" y="0"/>
                  </a:lnTo>
                  <a:lnTo>
                    <a:pt x="3586422" y="0"/>
                  </a:lnTo>
                  <a:lnTo>
                    <a:pt x="358642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Creating</a:t>
            </a:r>
            <a:r>
              <a:rPr spc="-5" dirty="0"/>
              <a:t> </a:t>
            </a:r>
            <a:r>
              <a:rPr dirty="0"/>
              <a:t>an EC2</a:t>
            </a:r>
            <a:r>
              <a:rPr spc="-5" dirty="0"/>
              <a:t> </a:t>
            </a:r>
            <a:r>
              <a:rPr spc="-35" dirty="0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012" y="1046572"/>
            <a:ext cx="3007995" cy="128714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EC2.</a:t>
            </a:r>
            <a:endParaRPr sz="9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Launch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sz="9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sz="9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Name:</a:t>
            </a:r>
            <a:r>
              <a:rPr sz="8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Jupyter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Image:</a:t>
            </a:r>
            <a:r>
              <a:rPr sz="8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Linux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2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AMI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(HVM)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-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SSD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Volume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endParaRPr sz="800">
              <a:latin typeface="Arial"/>
              <a:cs typeface="Arial"/>
            </a:endParaRPr>
          </a:p>
          <a:p>
            <a:pPr marL="384810" lvl="1" indent="-137160">
              <a:lnSpc>
                <a:spcPct val="100000"/>
              </a:lnSpc>
              <a:spcBef>
                <a:spcPts val="70"/>
              </a:spcBef>
              <a:buChar char="•"/>
              <a:tabLst>
                <a:tab pos="384810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Architecture:</a:t>
            </a:r>
            <a:r>
              <a:rPr sz="800" spc="2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64-bit</a:t>
            </a:r>
            <a:r>
              <a:rPr sz="8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(x86)</a:t>
            </a:r>
            <a:endParaRPr sz="800">
              <a:latin typeface="Arial"/>
              <a:cs typeface="Arial"/>
            </a:endParaRPr>
          </a:p>
          <a:p>
            <a:pPr marL="384810" lvl="1" indent="-137160">
              <a:lnSpc>
                <a:spcPct val="100000"/>
              </a:lnSpc>
              <a:spcBef>
                <a:spcPts val="70"/>
              </a:spcBef>
              <a:buChar char="•"/>
              <a:tabLst>
                <a:tab pos="384810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Type:</a:t>
            </a:r>
            <a:r>
              <a:rPr sz="8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t2.micro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5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pair:</a:t>
            </a:r>
            <a:r>
              <a:rPr sz="8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pair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before.</a:t>
            </a:r>
            <a:r>
              <a:rPr sz="8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(aws-keypair)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Network:</a:t>
            </a:r>
            <a:r>
              <a:rPr sz="8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VPC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695700" cy="5080"/>
            </a:xfrm>
            <a:custGeom>
              <a:avLst/>
              <a:gdLst/>
              <a:ahLst/>
              <a:cxnLst/>
              <a:rect l="l" t="t" r="r" b="b"/>
              <a:pathLst>
                <a:path w="3695700" h="5080">
                  <a:moveTo>
                    <a:pt x="0" y="5060"/>
                  </a:moveTo>
                  <a:lnTo>
                    <a:pt x="0" y="0"/>
                  </a:lnTo>
                  <a:lnTo>
                    <a:pt x="3695145" y="0"/>
                  </a:lnTo>
                  <a:lnTo>
                    <a:pt x="369514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Security</a:t>
            </a:r>
            <a:r>
              <a:rPr spc="35" dirty="0"/>
              <a:t> </a:t>
            </a:r>
            <a:r>
              <a:rPr spc="-40" dirty="0"/>
              <a:t>Group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316" y="856072"/>
            <a:ext cx="2534920" cy="161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5244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group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allows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 port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22 (SSH)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port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80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(HTTP).</a:t>
            </a:r>
            <a:endParaRPr sz="900">
              <a:latin typeface="Arial"/>
              <a:cs typeface="Arial"/>
            </a:endParaRPr>
          </a:p>
          <a:p>
            <a:pPr marL="243840" marR="318135" indent="-147955">
              <a:lnSpc>
                <a:spcPct val="116199"/>
              </a:lnSpc>
              <a:buChar char="•"/>
              <a:tabLst>
                <a:tab pos="243840" algn="l"/>
              </a:tabLst>
            </a:pP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sz="900">
              <a:latin typeface="Arial"/>
              <a:cs typeface="Arial"/>
            </a:endParaRPr>
          </a:p>
          <a:p>
            <a:pPr marL="243840" marR="5080" indent="-147955">
              <a:lnSpc>
                <a:spcPct val="116199"/>
              </a:lnSpc>
              <a:buChar char="•"/>
              <a:tabLst>
                <a:tab pos="24384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HTTP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browser.</a:t>
            </a:r>
            <a:endParaRPr sz="900">
              <a:latin typeface="Arial"/>
              <a:cs typeface="Arial"/>
            </a:endParaRPr>
          </a:p>
          <a:p>
            <a:pPr marL="16510" marR="51435">
              <a:lnSpc>
                <a:spcPct val="116199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Mark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checkbox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group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sz="900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170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anywhere</a:t>
            </a:r>
            <a:endParaRPr sz="900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HTTP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044" y="976860"/>
            <a:ext cx="2519907" cy="114152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804285" cy="5080"/>
            </a:xfrm>
            <a:custGeom>
              <a:avLst/>
              <a:gdLst/>
              <a:ahLst/>
              <a:cxnLst/>
              <a:rect l="l" t="t" r="r" b="b"/>
              <a:pathLst>
                <a:path w="3804285" h="5080">
                  <a:moveTo>
                    <a:pt x="0" y="5060"/>
                  </a:moveTo>
                  <a:lnTo>
                    <a:pt x="0" y="0"/>
                  </a:lnTo>
                  <a:lnTo>
                    <a:pt x="3803779" y="0"/>
                  </a:lnTo>
                  <a:lnTo>
                    <a:pt x="380377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Connecting</a:t>
            </a:r>
            <a:r>
              <a:rPr spc="50" dirty="0"/>
              <a:t> </a:t>
            </a:r>
            <a:r>
              <a:rPr dirty="0"/>
              <a:t>to</a:t>
            </a:r>
            <a:r>
              <a:rPr spc="65" dirty="0"/>
              <a:t> </a:t>
            </a:r>
            <a:r>
              <a:rPr dirty="0"/>
              <a:t>the</a:t>
            </a:r>
            <a:r>
              <a:rPr spc="65" dirty="0"/>
              <a:t> </a:t>
            </a:r>
            <a:r>
              <a:rPr spc="-40" dirty="0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33411" y="1320936"/>
            <a:ext cx="982344" cy="155575"/>
            <a:chOff x="1233411" y="1320936"/>
            <a:chExt cx="982344" cy="155575"/>
          </a:xfrm>
        </p:grpSpPr>
        <p:sp>
          <p:nvSpPr>
            <p:cNvPr id="4" name="object 4"/>
            <p:cNvSpPr/>
            <p:nvPr/>
          </p:nvSpPr>
          <p:spPr>
            <a:xfrm>
              <a:off x="1233411" y="1320936"/>
              <a:ext cx="982344" cy="155575"/>
            </a:xfrm>
            <a:custGeom>
              <a:avLst/>
              <a:gdLst/>
              <a:ahLst/>
              <a:cxnLst/>
              <a:rect l="l" t="t" r="r" b="b"/>
              <a:pathLst>
                <a:path w="982344" h="155575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945850" y="155489"/>
                  </a:lnTo>
                  <a:lnTo>
                    <a:pt x="959863" y="152659"/>
                  </a:lnTo>
                  <a:lnTo>
                    <a:pt x="971306" y="144944"/>
                  </a:lnTo>
                  <a:lnTo>
                    <a:pt x="979021" y="133501"/>
                  </a:lnTo>
                  <a:lnTo>
                    <a:pt x="981850" y="119488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33411" y="1320936"/>
              <a:ext cx="982344" cy="155575"/>
            </a:xfrm>
            <a:custGeom>
              <a:avLst/>
              <a:gdLst/>
              <a:ahLst/>
              <a:cxnLst/>
              <a:rect l="l" t="t" r="r" b="b"/>
              <a:pathLst>
                <a:path w="982344" h="155575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945850" y="155489"/>
                  </a:lnTo>
                  <a:lnTo>
                    <a:pt x="959863" y="152659"/>
                  </a:lnTo>
                  <a:lnTo>
                    <a:pt x="971306" y="144944"/>
                  </a:lnTo>
                  <a:lnTo>
                    <a:pt x="979021" y="133501"/>
                  </a:lnTo>
                  <a:lnTo>
                    <a:pt x="981850" y="119488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2339310"/>
            <a:ext cx="5015230" cy="451484"/>
            <a:chOff x="372646" y="2339310"/>
            <a:chExt cx="5015230" cy="451484"/>
          </a:xfrm>
        </p:grpSpPr>
        <p:sp>
          <p:nvSpPr>
            <p:cNvPr id="7" name="object 7"/>
            <p:cNvSpPr/>
            <p:nvPr/>
          </p:nvSpPr>
          <p:spPr>
            <a:xfrm>
              <a:off x="377994" y="2344657"/>
              <a:ext cx="5004435" cy="440690"/>
            </a:xfrm>
            <a:custGeom>
              <a:avLst/>
              <a:gdLst/>
              <a:ahLst/>
              <a:cxnLst/>
              <a:rect l="l" t="t" r="r" b="b"/>
              <a:pathLst>
                <a:path w="5004435" h="44068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04283"/>
                  </a:lnTo>
                  <a:lnTo>
                    <a:pt x="2829" y="418296"/>
                  </a:lnTo>
                  <a:lnTo>
                    <a:pt x="10544" y="429739"/>
                  </a:lnTo>
                  <a:lnTo>
                    <a:pt x="21987" y="437454"/>
                  </a:lnTo>
                  <a:lnTo>
                    <a:pt x="36000" y="440283"/>
                  </a:lnTo>
                  <a:lnTo>
                    <a:pt x="4968064" y="440283"/>
                  </a:lnTo>
                  <a:lnTo>
                    <a:pt x="4982077" y="437454"/>
                  </a:lnTo>
                  <a:lnTo>
                    <a:pt x="4993521" y="429739"/>
                  </a:lnTo>
                  <a:lnTo>
                    <a:pt x="5001236" y="418296"/>
                  </a:lnTo>
                  <a:lnTo>
                    <a:pt x="5004065" y="404283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2345636"/>
              <a:ext cx="5002530" cy="438784"/>
            </a:xfrm>
            <a:custGeom>
              <a:avLst/>
              <a:gdLst/>
              <a:ahLst/>
              <a:cxnLst/>
              <a:rect l="l" t="t" r="r" b="b"/>
              <a:pathLst>
                <a:path w="5002530" h="438785">
                  <a:moveTo>
                    <a:pt x="0" y="403303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403303"/>
                  </a:lnTo>
                  <a:lnTo>
                    <a:pt x="4999354" y="416935"/>
                  </a:lnTo>
                  <a:lnTo>
                    <a:pt x="4991849" y="428067"/>
                  </a:lnTo>
                  <a:lnTo>
                    <a:pt x="4980717" y="435572"/>
                  </a:lnTo>
                  <a:lnTo>
                    <a:pt x="4967085" y="438325"/>
                  </a:lnTo>
                  <a:lnTo>
                    <a:pt x="35021" y="438325"/>
                  </a:lnTo>
                  <a:lnTo>
                    <a:pt x="21389" y="435572"/>
                  </a:lnTo>
                  <a:lnTo>
                    <a:pt x="10257" y="428067"/>
                  </a:lnTo>
                  <a:lnTo>
                    <a:pt x="2752" y="416935"/>
                  </a:lnTo>
                  <a:lnTo>
                    <a:pt x="0" y="403303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27012" y="559057"/>
            <a:ext cx="4986020" cy="212788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Open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terminal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(mac,linux)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powershell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(windows).</a:t>
            </a:r>
            <a:endParaRPr sz="900">
              <a:latin typeface="Arial"/>
              <a:cs typeface="Arial"/>
            </a:endParaRPr>
          </a:p>
          <a:p>
            <a:pPr marL="159385" marR="109855" indent="-147320">
              <a:lnSpc>
                <a:spcPct val="116199"/>
              </a:lnSpc>
              <a:buAutoNum type="arabicPeriod"/>
              <a:tabLst>
                <a:tab pos="160655" algn="l"/>
              </a:tabLst>
            </a:pP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Replace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public 	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DNS of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sz="900">
              <a:latin typeface="Arial"/>
              <a:cs typeface="Arial"/>
            </a:endParaRPr>
          </a:p>
          <a:p>
            <a:pPr marL="155575" marR="93345" lvl="1" indent="-143510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55575" algn="l"/>
                <a:tab pos="15938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900" b="1" spc="-45" dirty="0">
                <a:solidFill>
                  <a:srgbClr val="22373A"/>
                </a:solidFill>
                <a:latin typeface="Arial"/>
                <a:cs typeface="Arial"/>
              </a:rPr>
              <a:t>aws-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keypair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file.</a:t>
            </a:r>
            <a:r>
              <a:rPr sz="9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introduce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full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path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file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(for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sz="900" spc="1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.ssh/aws-</a:t>
            </a:r>
            <a:r>
              <a:rPr sz="900" spc="-10" dirty="0">
                <a:latin typeface="Courier New"/>
                <a:cs typeface="Courier New"/>
              </a:rPr>
              <a:t>keypair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  <a:p>
            <a:pPr marL="160020" lvl="1" indent="-14732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ec2-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Linux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Don’t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worry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60655" marR="5080" lvl="1" indent="-147955">
              <a:lnSpc>
                <a:spcPct val="116199"/>
              </a:lnSpc>
              <a:spcBef>
                <a:spcPts val="630"/>
              </a:spcBef>
              <a:buFont typeface="Arial"/>
              <a:buChar char="•"/>
              <a:tabLst>
                <a:tab pos="160655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ec2-3-87-76-117.compute-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1.amazonaws.com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 DNS of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change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everytime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you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restart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own.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everytime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get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DNS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console.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900">
              <a:latin typeface="Arial"/>
              <a:cs typeface="Arial"/>
            </a:endParaRPr>
          </a:p>
          <a:p>
            <a:pPr marL="184150" marR="923290">
              <a:lnSpc>
                <a:spcPct val="107400"/>
              </a:lnSpc>
              <a:spcBef>
                <a:spcPts val="5"/>
              </a:spcBef>
            </a:pPr>
            <a:r>
              <a:rPr sz="800" spc="-50" dirty="0">
                <a:solidFill>
                  <a:srgbClr val="05287C"/>
                </a:solidFill>
                <a:latin typeface="Courier New"/>
                <a:cs typeface="Courier New"/>
              </a:rPr>
              <a:t>ssh</a:t>
            </a:r>
            <a:r>
              <a:rPr sz="800" spc="45" dirty="0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7C8E28"/>
                </a:solidFill>
                <a:latin typeface="Courier New"/>
                <a:cs typeface="Courier New"/>
              </a:rPr>
              <a:t>i</a:t>
            </a:r>
            <a:r>
              <a:rPr sz="800" spc="50" dirty="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.ssh/aws-keypair</a:t>
            </a:r>
            <a:r>
              <a:rPr sz="800" spc="5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  <a:hlinkClick r:id="rId2"/>
              </a:rPr>
              <a:t>ec2-user@ec2-3-87-76-117.compute-1.amazonaws.com</a:t>
            </a:r>
            <a:r>
              <a:rPr sz="800" spc="-60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Are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you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sure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you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want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to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continue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connecting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b="1" spc="-6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800" spc="-60" dirty="0">
                <a:latin typeface="Courier New"/>
                <a:cs typeface="Courier New"/>
              </a:rPr>
              <a:t>yes/no/[fingerprint]</a:t>
            </a:r>
            <a:r>
              <a:rPr sz="800" b="1" spc="-60" dirty="0">
                <a:solidFill>
                  <a:srgbClr val="007021"/>
                </a:solidFill>
                <a:latin typeface="Courier New"/>
                <a:cs typeface="Courier New"/>
              </a:rPr>
              <a:t>)</a:t>
            </a:r>
            <a:r>
              <a:rPr sz="800" spc="-60" dirty="0">
                <a:latin typeface="Courier New"/>
                <a:cs typeface="Courier New"/>
              </a:rPr>
              <a:t>?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35" dirty="0">
                <a:latin typeface="Courier New"/>
                <a:cs typeface="Courier New"/>
              </a:rPr>
              <a:t>yes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3912870" cy="5080"/>
            </a:xfrm>
            <a:custGeom>
              <a:avLst/>
              <a:gdLst/>
              <a:ahLst/>
              <a:cxnLst/>
              <a:rect l="l" t="t" r="r" b="b"/>
              <a:pathLst>
                <a:path w="3912870" h="5080">
                  <a:moveTo>
                    <a:pt x="0" y="5060"/>
                  </a:moveTo>
                  <a:lnTo>
                    <a:pt x="0" y="0"/>
                  </a:lnTo>
                  <a:lnTo>
                    <a:pt x="3912501" y="0"/>
                  </a:lnTo>
                  <a:lnTo>
                    <a:pt x="391250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951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Connecting</a:t>
            </a:r>
            <a:r>
              <a:rPr sz="1000" b="1" spc="5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to</a:t>
            </a:r>
            <a:r>
              <a:rPr sz="1000" b="1" spc="6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6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F9F9F9"/>
                </a:solidFill>
                <a:latin typeface="Arial"/>
                <a:cs typeface="Arial"/>
              </a:rPr>
              <a:t>instance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32" y="351411"/>
            <a:ext cx="5039957" cy="23982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90840" y="2883597"/>
            <a:ext cx="25787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22:</a:t>
            </a:r>
            <a:r>
              <a:rPr sz="800" b="1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Getting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DNS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4021454" cy="5080"/>
            </a:xfrm>
            <a:custGeom>
              <a:avLst/>
              <a:gdLst/>
              <a:ahLst/>
              <a:cxnLst/>
              <a:rect l="l" t="t" r="r" b="b"/>
              <a:pathLst>
                <a:path w="4021454" h="5080">
                  <a:moveTo>
                    <a:pt x="0" y="5060"/>
                  </a:moveTo>
                  <a:lnTo>
                    <a:pt x="0" y="0"/>
                  </a:lnTo>
                  <a:lnTo>
                    <a:pt x="4021223" y="0"/>
                  </a:lnTo>
                  <a:lnTo>
                    <a:pt x="402122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4703" y="1256865"/>
            <a:ext cx="2370455" cy="403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799"/>
              </a:lnSpc>
              <a:spcBef>
                <a:spcPts val="100"/>
              </a:spcBef>
            </a:pPr>
            <a:r>
              <a:rPr sz="1100" spc="-25" dirty="0">
                <a:solidFill>
                  <a:srgbClr val="22373A"/>
                </a:solidFill>
                <a:hlinkClick r:id="rId2" action="ppaction://hlinksldjump"/>
              </a:rPr>
              <a:t>Managing</a:t>
            </a:r>
            <a:r>
              <a:rPr sz="1100" spc="10" dirty="0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sz="1100" spc="-10" dirty="0">
                <a:solidFill>
                  <a:srgbClr val="22373A"/>
                </a:solidFill>
                <a:hlinkClick r:id="rId2" action="ppaction://hlinksldjump"/>
              </a:rPr>
              <a:t>Python</a:t>
            </a:r>
            <a:r>
              <a:rPr sz="1100" spc="10" dirty="0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sz="1100" spc="-50" dirty="0">
                <a:solidFill>
                  <a:srgbClr val="22373A"/>
                </a:solidFill>
                <a:hlinkClick r:id="rId2" action="ppaction://hlinksldjump"/>
              </a:rPr>
              <a:t>environments</a:t>
            </a:r>
            <a:r>
              <a:rPr sz="1100" spc="15" dirty="0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sz="1100" spc="-20" dirty="0">
                <a:solidFill>
                  <a:srgbClr val="22373A"/>
                </a:solidFill>
                <a:hlinkClick r:id="rId2" action="ppaction://hlinksldjump"/>
              </a:rPr>
              <a:t>with</a:t>
            </a:r>
            <a:r>
              <a:rPr sz="1100" spc="-20" dirty="0">
                <a:solidFill>
                  <a:srgbClr val="22373A"/>
                </a:solidFill>
              </a:rPr>
              <a:t> </a:t>
            </a:r>
            <a:r>
              <a:rPr sz="1100" spc="-25" dirty="0">
                <a:solidFill>
                  <a:srgbClr val="22373A"/>
                </a:solidFill>
                <a:hlinkClick r:id="rId2" action="ppaction://hlinksldjump"/>
              </a:rPr>
              <a:t>uv</a:t>
            </a:r>
            <a:endParaRPr sz="1100"/>
          </a:p>
        </p:txBody>
      </p:sp>
      <p:grpSp>
        <p:nvGrpSpPr>
          <p:cNvPr id="3" name="object 3"/>
          <p:cNvGrpSpPr/>
          <p:nvPr/>
        </p:nvGrpSpPr>
        <p:grpSpPr>
          <a:xfrm>
            <a:off x="1627403" y="1740808"/>
            <a:ext cx="2505710" cy="5080"/>
            <a:chOff x="1627403" y="1740808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740808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740808"/>
              <a:ext cx="1749425" cy="5080"/>
            </a:xfrm>
            <a:custGeom>
              <a:avLst/>
              <a:gdLst/>
              <a:ahLst/>
              <a:cxnLst/>
              <a:rect l="l" t="t" r="r" b="b"/>
              <a:pathLst>
                <a:path w="1749425" h="5080">
                  <a:moveTo>
                    <a:pt x="0" y="5060"/>
                  </a:moveTo>
                  <a:lnTo>
                    <a:pt x="0" y="0"/>
                  </a:lnTo>
                  <a:lnTo>
                    <a:pt x="1748956" y="0"/>
                  </a:lnTo>
                  <a:lnTo>
                    <a:pt x="174895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773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Why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5" dirty="0">
                <a:solidFill>
                  <a:srgbClr val="F9F9F9"/>
                </a:solidFill>
                <a:latin typeface="Arial"/>
                <a:cs typeface="Arial"/>
              </a:rPr>
              <a:t>use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5" dirty="0">
                <a:solidFill>
                  <a:srgbClr val="F9F9F9"/>
                </a:solidFill>
                <a:latin typeface="Arial"/>
                <a:cs typeface="Arial"/>
              </a:rPr>
              <a:t>uv?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126" y="1371290"/>
            <a:ext cx="36080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5"/>
              </a:spcBef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version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management: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Easily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switch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versions.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4130040" cy="5080"/>
            </a:xfrm>
            <a:custGeom>
              <a:avLst/>
              <a:gdLst/>
              <a:ahLst/>
              <a:cxnLst/>
              <a:rect l="l" t="t" r="r" b="b"/>
              <a:pathLst>
                <a:path w="4130040" h="5080">
                  <a:moveTo>
                    <a:pt x="0" y="5060"/>
                  </a:moveTo>
                  <a:lnTo>
                    <a:pt x="0" y="0"/>
                  </a:lnTo>
                  <a:lnTo>
                    <a:pt x="4129857" y="0"/>
                  </a:lnTo>
                  <a:lnTo>
                    <a:pt x="412985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773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20" dirty="0"/>
              <a:t> </a:t>
            </a:r>
            <a:r>
              <a:rPr spc="-45" dirty="0"/>
              <a:t>use</a:t>
            </a:r>
            <a:r>
              <a:rPr spc="20" dirty="0"/>
              <a:t> </a:t>
            </a:r>
            <a:r>
              <a:rPr spc="-45" dirty="0"/>
              <a:t>uv?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371290"/>
            <a:ext cx="3608070" cy="401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5"/>
              </a:spcBef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version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management: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Easily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switch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versions.</a:t>
            </a:r>
            <a:endParaRPr sz="9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160020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Dependency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isolation: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Keep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projects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independent.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130040" cy="5080"/>
            </a:xfrm>
            <a:custGeom>
              <a:avLst/>
              <a:gdLst/>
              <a:ahLst/>
              <a:cxnLst/>
              <a:rect l="l" t="t" r="r" b="b"/>
              <a:pathLst>
                <a:path w="4130040" h="5080">
                  <a:moveTo>
                    <a:pt x="0" y="5060"/>
                  </a:moveTo>
                  <a:lnTo>
                    <a:pt x="0" y="0"/>
                  </a:lnTo>
                  <a:lnTo>
                    <a:pt x="4129857" y="0"/>
                  </a:lnTo>
                  <a:lnTo>
                    <a:pt x="412985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773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20" dirty="0"/>
              <a:t> </a:t>
            </a:r>
            <a:r>
              <a:rPr spc="-45" dirty="0"/>
              <a:t>use</a:t>
            </a:r>
            <a:r>
              <a:rPr spc="20" dirty="0"/>
              <a:t> </a:t>
            </a:r>
            <a:r>
              <a:rPr spc="-45" dirty="0"/>
              <a:t>uv?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371290"/>
            <a:ext cx="3608070" cy="640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5"/>
              </a:spcBef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version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management: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Easily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switch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versions.</a:t>
            </a:r>
            <a:endParaRPr sz="9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160020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Dependency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isolation: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Keep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projects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independent.</a:t>
            </a:r>
            <a:endParaRPr sz="9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805"/>
              </a:spcBef>
              <a:buChar char="•"/>
              <a:tabLst>
                <a:tab pos="160020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Reproducibility: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Ensures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dependencies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remain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consistent.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130040" cy="5080"/>
            </a:xfrm>
            <a:custGeom>
              <a:avLst/>
              <a:gdLst/>
              <a:ahLst/>
              <a:cxnLst/>
              <a:rect l="l" t="t" r="r" b="b"/>
              <a:pathLst>
                <a:path w="4130040" h="5080">
                  <a:moveTo>
                    <a:pt x="0" y="5060"/>
                  </a:moveTo>
                  <a:lnTo>
                    <a:pt x="0" y="0"/>
                  </a:lnTo>
                  <a:lnTo>
                    <a:pt x="4129857" y="0"/>
                  </a:lnTo>
                  <a:lnTo>
                    <a:pt x="412985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7277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Installing</a:t>
            </a:r>
            <a:r>
              <a:rPr spc="25" dirty="0"/>
              <a:t> </a:t>
            </a:r>
            <a:r>
              <a:rPr spc="-25" dirty="0"/>
              <a:t>uv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453577"/>
            <a:ext cx="5015230" cy="320040"/>
            <a:chOff x="372646" y="1453577"/>
            <a:chExt cx="5015230" cy="320040"/>
          </a:xfrm>
        </p:grpSpPr>
        <p:sp>
          <p:nvSpPr>
            <p:cNvPr id="4" name="object 4"/>
            <p:cNvSpPr/>
            <p:nvPr/>
          </p:nvSpPr>
          <p:spPr>
            <a:xfrm>
              <a:off x="377994" y="1458924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2720"/>
                  </a:lnTo>
                  <a:lnTo>
                    <a:pt x="2829" y="286733"/>
                  </a:lnTo>
                  <a:lnTo>
                    <a:pt x="10544" y="298176"/>
                  </a:lnTo>
                  <a:lnTo>
                    <a:pt x="21987" y="305892"/>
                  </a:lnTo>
                  <a:lnTo>
                    <a:pt x="36000" y="308721"/>
                  </a:lnTo>
                  <a:lnTo>
                    <a:pt x="4968064" y="308721"/>
                  </a:lnTo>
                  <a:lnTo>
                    <a:pt x="4982077" y="305892"/>
                  </a:lnTo>
                  <a:lnTo>
                    <a:pt x="4993521" y="298176"/>
                  </a:lnTo>
                  <a:lnTo>
                    <a:pt x="5001236" y="286733"/>
                  </a:lnTo>
                  <a:lnTo>
                    <a:pt x="5004065" y="272720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459903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1741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1741"/>
                  </a:lnTo>
                  <a:lnTo>
                    <a:pt x="4999354" y="285373"/>
                  </a:lnTo>
                  <a:lnTo>
                    <a:pt x="4991849" y="296505"/>
                  </a:lnTo>
                  <a:lnTo>
                    <a:pt x="4980717" y="304010"/>
                  </a:lnTo>
                  <a:lnTo>
                    <a:pt x="4967085" y="306762"/>
                  </a:lnTo>
                  <a:lnTo>
                    <a:pt x="35021" y="306762"/>
                  </a:lnTo>
                  <a:lnTo>
                    <a:pt x="21389" y="304010"/>
                  </a:lnTo>
                  <a:lnTo>
                    <a:pt x="10257" y="296505"/>
                  </a:lnTo>
                  <a:lnTo>
                    <a:pt x="2752" y="285373"/>
                  </a:lnTo>
                  <a:lnTo>
                    <a:pt x="0" y="271741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2088577"/>
            <a:ext cx="5015230" cy="313055"/>
            <a:chOff x="372646" y="2088577"/>
            <a:chExt cx="5015230" cy="313055"/>
          </a:xfrm>
        </p:grpSpPr>
        <p:sp>
          <p:nvSpPr>
            <p:cNvPr id="7" name="object 7"/>
            <p:cNvSpPr/>
            <p:nvPr/>
          </p:nvSpPr>
          <p:spPr>
            <a:xfrm>
              <a:off x="377994" y="2093925"/>
              <a:ext cx="5004435" cy="302260"/>
            </a:xfrm>
            <a:custGeom>
              <a:avLst/>
              <a:gdLst/>
              <a:ahLst/>
              <a:cxnLst/>
              <a:rect l="l" t="t" r="r" b="b"/>
              <a:pathLst>
                <a:path w="5004435" h="30226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6141"/>
                  </a:lnTo>
                  <a:lnTo>
                    <a:pt x="2829" y="280154"/>
                  </a:lnTo>
                  <a:lnTo>
                    <a:pt x="10544" y="291597"/>
                  </a:lnTo>
                  <a:lnTo>
                    <a:pt x="21987" y="299312"/>
                  </a:lnTo>
                  <a:lnTo>
                    <a:pt x="36000" y="302141"/>
                  </a:lnTo>
                  <a:lnTo>
                    <a:pt x="4968064" y="302141"/>
                  </a:lnTo>
                  <a:lnTo>
                    <a:pt x="4982077" y="299312"/>
                  </a:lnTo>
                  <a:lnTo>
                    <a:pt x="4993521" y="291597"/>
                  </a:lnTo>
                  <a:lnTo>
                    <a:pt x="5001236" y="280154"/>
                  </a:lnTo>
                  <a:lnTo>
                    <a:pt x="5004065" y="26614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2094904"/>
              <a:ext cx="5002530" cy="300355"/>
            </a:xfrm>
            <a:custGeom>
              <a:avLst/>
              <a:gdLst/>
              <a:ahLst/>
              <a:cxnLst/>
              <a:rect l="l" t="t" r="r" b="b"/>
              <a:pathLst>
                <a:path w="5002530" h="300355">
                  <a:moveTo>
                    <a:pt x="0" y="26516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5162"/>
                  </a:lnTo>
                  <a:lnTo>
                    <a:pt x="4999354" y="278794"/>
                  </a:lnTo>
                  <a:lnTo>
                    <a:pt x="4991849" y="289925"/>
                  </a:lnTo>
                  <a:lnTo>
                    <a:pt x="4980717" y="297431"/>
                  </a:lnTo>
                  <a:lnTo>
                    <a:pt x="4967085" y="300183"/>
                  </a:lnTo>
                  <a:lnTo>
                    <a:pt x="35021" y="300183"/>
                  </a:lnTo>
                  <a:lnTo>
                    <a:pt x="21389" y="297431"/>
                  </a:lnTo>
                  <a:lnTo>
                    <a:pt x="10257" y="289925"/>
                  </a:lnTo>
                  <a:lnTo>
                    <a:pt x="2752" y="278794"/>
                  </a:lnTo>
                  <a:lnTo>
                    <a:pt x="0" y="26516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3319" y="970605"/>
            <a:ext cx="4086225" cy="1327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uv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encourage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read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oﬀicial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documentation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instance: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Arial"/>
              <a:cs typeface="Arial"/>
            </a:endParaRPr>
          </a:p>
          <a:p>
            <a:pPr marL="321945">
              <a:lnSpc>
                <a:spcPct val="100000"/>
              </a:lnSpc>
            </a:pPr>
            <a:r>
              <a:rPr sz="800" spc="-55" dirty="0">
                <a:latin typeface="Courier New"/>
                <a:cs typeface="Courier New"/>
              </a:rPr>
              <a:t>curl</a:t>
            </a:r>
            <a:r>
              <a:rPr sz="800" spc="-10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sz="800" spc="-55" dirty="0">
                <a:solidFill>
                  <a:srgbClr val="7C8E28"/>
                </a:solidFill>
                <a:latin typeface="Courier New"/>
                <a:cs typeface="Courier New"/>
              </a:rPr>
              <a:t>LsSf</a:t>
            </a:r>
            <a:r>
              <a:rPr sz="800" spc="-5" dirty="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https://astral.sh/uv/install.sh</a:t>
            </a:r>
            <a:r>
              <a:rPr sz="800" spc="-10" dirty="0"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007021"/>
                </a:solidFill>
                <a:latin typeface="Courier New"/>
                <a:cs typeface="Courier New"/>
              </a:rPr>
              <a:t>|</a:t>
            </a:r>
            <a:r>
              <a:rPr sz="800" b="1" spc="-5" dirty="0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05287C"/>
                </a:solidFill>
                <a:latin typeface="Courier New"/>
                <a:cs typeface="Courier New"/>
              </a:rPr>
              <a:t>sh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800">
              <a:latin typeface="Courier New"/>
              <a:cs typeface="Courier New"/>
            </a:endParaRPr>
          </a:p>
          <a:p>
            <a:pPr marL="16510">
              <a:lnSpc>
                <a:spcPct val="100000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worked,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message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terminal: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900">
              <a:latin typeface="Arial"/>
              <a:cs typeface="Arial"/>
            </a:endParaRPr>
          </a:p>
          <a:p>
            <a:pPr marL="321945">
              <a:lnSpc>
                <a:spcPct val="100000"/>
              </a:lnSpc>
            </a:pPr>
            <a:r>
              <a:rPr sz="800" spc="-55" dirty="0">
                <a:latin typeface="Courier New"/>
                <a:cs typeface="Courier New"/>
              </a:rPr>
              <a:t>everything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's</a:t>
            </a:r>
            <a:r>
              <a:rPr sz="800" spc="-30" dirty="0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3F70A0"/>
                </a:solidFill>
                <a:latin typeface="Courier New"/>
                <a:cs typeface="Courier New"/>
              </a:rPr>
              <a:t>installed!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4238625" cy="5080"/>
            </a:xfrm>
            <a:custGeom>
              <a:avLst/>
              <a:gdLst/>
              <a:ahLst/>
              <a:cxnLst/>
              <a:rect l="l" t="t" r="r" b="b"/>
              <a:pathLst>
                <a:path w="4238625" h="5080">
                  <a:moveTo>
                    <a:pt x="0" y="5060"/>
                  </a:moveTo>
                  <a:lnTo>
                    <a:pt x="0" y="0"/>
                  </a:lnTo>
                  <a:lnTo>
                    <a:pt x="4238579" y="0"/>
                  </a:lnTo>
                  <a:lnTo>
                    <a:pt x="423857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9888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Creating</a:t>
            </a:r>
            <a:r>
              <a:rPr spc="-20" dirty="0"/>
              <a:t> </a:t>
            </a:r>
            <a:r>
              <a:rPr dirty="0"/>
              <a:t>two</a:t>
            </a:r>
            <a:r>
              <a:rPr spc="-20" dirty="0"/>
              <a:t> </a:t>
            </a:r>
            <a:r>
              <a:rPr spc="-30" dirty="0"/>
              <a:t>example</a:t>
            </a:r>
            <a:r>
              <a:rPr spc="-20" dirty="0"/>
              <a:t> </a:t>
            </a:r>
            <a:r>
              <a:rPr dirty="0"/>
              <a:t>uv</a:t>
            </a:r>
            <a:r>
              <a:rPr spc="-15" dirty="0"/>
              <a:t> </a:t>
            </a:r>
            <a:r>
              <a:rPr spc="-10" dirty="0"/>
              <a:t>Projects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2657" y="1356903"/>
            <a:ext cx="2494915" cy="1076325"/>
            <a:chOff x="252657" y="1356903"/>
            <a:chExt cx="2494915" cy="1076325"/>
          </a:xfrm>
        </p:grpSpPr>
        <p:sp>
          <p:nvSpPr>
            <p:cNvPr id="4" name="object 4"/>
            <p:cNvSpPr/>
            <p:nvPr/>
          </p:nvSpPr>
          <p:spPr>
            <a:xfrm>
              <a:off x="258004" y="1362250"/>
              <a:ext cx="2484120" cy="1065530"/>
            </a:xfrm>
            <a:custGeom>
              <a:avLst/>
              <a:gdLst/>
              <a:ahLst/>
              <a:cxnLst/>
              <a:rect l="l" t="t" r="r" b="b"/>
              <a:pathLst>
                <a:path w="2484120" h="1065530">
                  <a:moveTo>
                    <a:pt x="244803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29095"/>
                  </a:lnTo>
                  <a:lnTo>
                    <a:pt x="2829" y="1043108"/>
                  </a:lnTo>
                  <a:lnTo>
                    <a:pt x="10544" y="1054552"/>
                  </a:lnTo>
                  <a:lnTo>
                    <a:pt x="21987" y="1062267"/>
                  </a:lnTo>
                  <a:lnTo>
                    <a:pt x="36000" y="1065096"/>
                  </a:lnTo>
                  <a:lnTo>
                    <a:pt x="2448032" y="1065096"/>
                  </a:lnTo>
                  <a:lnTo>
                    <a:pt x="2462045" y="1062267"/>
                  </a:lnTo>
                  <a:lnTo>
                    <a:pt x="2473488" y="1054552"/>
                  </a:lnTo>
                  <a:lnTo>
                    <a:pt x="2481203" y="1043108"/>
                  </a:lnTo>
                  <a:lnTo>
                    <a:pt x="2484032" y="1029095"/>
                  </a:lnTo>
                  <a:lnTo>
                    <a:pt x="2484032" y="36000"/>
                  </a:lnTo>
                  <a:lnTo>
                    <a:pt x="2481203" y="21987"/>
                  </a:lnTo>
                  <a:lnTo>
                    <a:pt x="2473488" y="10544"/>
                  </a:lnTo>
                  <a:lnTo>
                    <a:pt x="2462045" y="2829"/>
                  </a:lnTo>
                  <a:lnTo>
                    <a:pt x="244803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8983" y="1363229"/>
              <a:ext cx="2482215" cy="1063625"/>
            </a:xfrm>
            <a:custGeom>
              <a:avLst/>
              <a:gdLst/>
              <a:ahLst/>
              <a:cxnLst/>
              <a:rect l="l" t="t" r="r" b="b"/>
              <a:pathLst>
                <a:path w="2482215" h="1063625">
                  <a:moveTo>
                    <a:pt x="0" y="102811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2447052" y="0"/>
                  </a:lnTo>
                  <a:lnTo>
                    <a:pt x="2460684" y="2752"/>
                  </a:lnTo>
                  <a:lnTo>
                    <a:pt x="2471816" y="10257"/>
                  </a:lnTo>
                  <a:lnTo>
                    <a:pt x="2479321" y="21389"/>
                  </a:lnTo>
                  <a:lnTo>
                    <a:pt x="2482074" y="35021"/>
                  </a:lnTo>
                  <a:lnTo>
                    <a:pt x="2482074" y="1028116"/>
                  </a:lnTo>
                  <a:lnTo>
                    <a:pt x="2479321" y="1041748"/>
                  </a:lnTo>
                  <a:lnTo>
                    <a:pt x="2471816" y="1052880"/>
                  </a:lnTo>
                  <a:lnTo>
                    <a:pt x="2460684" y="1060385"/>
                  </a:lnTo>
                  <a:lnTo>
                    <a:pt x="2447052" y="1063137"/>
                  </a:lnTo>
                  <a:lnTo>
                    <a:pt x="35021" y="1063137"/>
                  </a:lnTo>
                  <a:lnTo>
                    <a:pt x="21389" y="1060385"/>
                  </a:lnTo>
                  <a:lnTo>
                    <a:pt x="10257" y="1052880"/>
                  </a:lnTo>
                  <a:lnTo>
                    <a:pt x="2752" y="1041748"/>
                  </a:lnTo>
                  <a:lnTo>
                    <a:pt x="0" y="102811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27304" y="873992"/>
            <a:ext cx="4163695" cy="147828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5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versions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dependencies.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Project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1: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3.8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85" dirty="0">
                <a:solidFill>
                  <a:srgbClr val="22373A"/>
                </a:solidFill>
                <a:latin typeface="Arial"/>
                <a:cs typeface="Arial"/>
              </a:rPr>
              <a:t>+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>
              <a:latin typeface="Arial"/>
              <a:cs typeface="Arial"/>
            </a:endParaRPr>
          </a:p>
          <a:p>
            <a:pPr marL="210185" marR="3192145">
              <a:lnSpc>
                <a:spcPct val="107400"/>
              </a:lnSpc>
              <a:spcBef>
                <a:spcPts val="5"/>
              </a:spcBef>
            </a:pPr>
            <a:r>
              <a:rPr sz="800" spc="-60" dirty="0">
                <a:solidFill>
                  <a:srgbClr val="05287C"/>
                </a:solidFill>
                <a:latin typeface="Courier New"/>
                <a:cs typeface="Courier New"/>
              </a:rPr>
              <a:t>mkdir</a:t>
            </a:r>
            <a:r>
              <a:rPr sz="800" spc="-25" dirty="0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project1 </a:t>
            </a: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project1</a:t>
            </a:r>
            <a:endParaRPr sz="800">
              <a:latin typeface="Courier New"/>
              <a:cs typeface="Courier New"/>
            </a:endParaRPr>
          </a:p>
          <a:p>
            <a:pPr marL="210185" marR="1687195">
              <a:lnSpc>
                <a:spcPct val="107400"/>
              </a:lnSpc>
            </a:pPr>
            <a:r>
              <a:rPr sz="800" spc="-50" dirty="0">
                <a:latin typeface="Courier New"/>
                <a:cs typeface="Courier New"/>
              </a:rPr>
              <a:t>uv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venv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sz="800" spc="-55" dirty="0">
                <a:solidFill>
                  <a:srgbClr val="7C8E28"/>
                </a:solidFill>
                <a:latin typeface="Courier New"/>
                <a:cs typeface="Courier New"/>
              </a:rPr>
              <a:t>seed</a:t>
            </a:r>
            <a:r>
              <a:rPr sz="800" spc="-30" dirty="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--python</a:t>
            </a:r>
            <a:r>
              <a:rPr sz="800" spc="-25" dirty="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3.8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.project1-</a:t>
            </a:r>
            <a:r>
              <a:rPr sz="800" spc="-55" dirty="0">
                <a:latin typeface="Courier New"/>
                <a:cs typeface="Courier New"/>
              </a:rPr>
              <a:t>venv </a:t>
            </a:r>
            <a:r>
              <a:rPr sz="800" spc="-60" dirty="0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sz="800" spc="6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.project1-</a:t>
            </a:r>
            <a:r>
              <a:rPr sz="800" spc="-10" dirty="0">
                <a:latin typeface="Courier New"/>
                <a:cs typeface="Courier New"/>
              </a:rPr>
              <a:t>venv/bin/activate</a:t>
            </a:r>
            <a:endParaRPr sz="800">
              <a:latin typeface="Courier New"/>
              <a:cs typeface="Courier New"/>
            </a:endParaRPr>
          </a:p>
          <a:p>
            <a:pPr marL="210185" marR="2923540">
              <a:lnSpc>
                <a:spcPct val="107400"/>
              </a:lnSpc>
            </a:pPr>
            <a:r>
              <a:rPr sz="800" spc="-50" dirty="0">
                <a:latin typeface="Courier New"/>
                <a:cs typeface="Courier New"/>
              </a:rPr>
              <a:t>pip</a:t>
            </a:r>
            <a:r>
              <a:rPr sz="800" spc="-4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install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jupyter </a:t>
            </a:r>
            <a:r>
              <a:rPr sz="800" spc="-10" dirty="0">
                <a:latin typeface="Courier New"/>
                <a:cs typeface="Courier New"/>
              </a:rPr>
              <a:t>deactivate</a:t>
            </a:r>
            <a:endParaRPr sz="800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  <a:spcBef>
                <a:spcPts val="70"/>
              </a:spcBef>
            </a:pP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latin typeface="Courier New"/>
                <a:cs typeface="Courier New"/>
              </a:rPr>
              <a:t>..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4347210" cy="5080"/>
            </a:xfrm>
            <a:custGeom>
              <a:avLst/>
              <a:gdLst/>
              <a:ahLst/>
              <a:cxnLst/>
              <a:rect l="l" t="t" r="r" b="b"/>
              <a:pathLst>
                <a:path w="4347210" h="5080">
                  <a:moveTo>
                    <a:pt x="0" y="5060"/>
                  </a:moveTo>
                  <a:lnTo>
                    <a:pt x="0" y="0"/>
                  </a:lnTo>
                  <a:lnTo>
                    <a:pt x="4347213" y="0"/>
                  </a:lnTo>
                  <a:lnTo>
                    <a:pt x="43472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9888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Creating</a:t>
            </a:r>
            <a:r>
              <a:rPr spc="-20" dirty="0"/>
              <a:t> </a:t>
            </a:r>
            <a:r>
              <a:rPr dirty="0"/>
              <a:t>two</a:t>
            </a:r>
            <a:r>
              <a:rPr spc="-20" dirty="0"/>
              <a:t> </a:t>
            </a:r>
            <a:r>
              <a:rPr spc="-30" dirty="0"/>
              <a:t>example</a:t>
            </a:r>
            <a:r>
              <a:rPr spc="-20" dirty="0"/>
              <a:t> </a:t>
            </a:r>
            <a:r>
              <a:rPr dirty="0"/>
              <a:t>uv</a:t>
            </a:r>
            <a:r>
              <a:rPr spc="-15" dirty="0"/>
              <a:t> </a:t>
            </a:r>
            <a:r>
              <a:rPr spc="-10" dirty="0"/>
              <a:t>Projects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2657" y="1356903"/>
            <a:ext cx="2494915" cy="1076325"/>
            <a:chOff x="252657" y="1356903"/>
            <a:chExt cx="2494915" cy="1076325"/>
          </a:xfrm>
        </p:grpSpPr>
        <p:sp>
          <p:nvSpPr>
            <p:cNvPr id="4" name="object 4"/>
            <p:cNvSpPr/>
            <p:nvPr/>
          </p:nvSpPr>
          <p:spPr>
            <a:xfrm>
              <a:off x="258004" y="1362250"/>
              <a:ext cx="2484120" cy="1065530"/>
            </a:xfrm>
            <a:custGeom>
              <a:avLst/>
              <a:gdLst/>
              <a:ahLst/>
              <a:cxnLst/>
              <a:rect l="l" t="t" r="r" b="b"/>
              <a:pathLst>
                <a:path w="2484120" h="1065530">
                  <a:moveTo>
                    <a:pt x="244803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29095"/>
                  </a:lnTo>
                  <a:lnTo>
                    <a:pt x="2829" y="1043108"/>
                  </a:lnTo>
                  <a:lnTo>
                    <a:pt x="10544" y="1054552"/>
                  </a:lnTo>
                  <a:lnTo>
                    <a:pt x="21987" y="1062267"/>
                  </a:lnTo>
                  <a:lnTo>
                    <a:pt x="36000" y="1065096"/>
                  </a:lnTo>
                  <a:lnTo>
                    <a:pt x="2448032" y="1065096"/>
                  </a:lnTo>
                  <a:lnTo>
                    <a:pt x="2462045" y="1062267"/>
                  </a:lnTo>
                  <a:lnTo>
                    <a:pt x="2473488" y="1054552"/>
                  </a:lnTo>
                  <a:lnTo>
                    <a:pt x="2481203" y="1043108"/>
                  </a:lnTo>
                  <a:lnTo>
                    <a:pt x="2484032" y="1029095"/>
                  </a:lnTo>
                  <a:lnTo>
                    <a:pt x="2484032" y="36000"/>
                  </a:lnTo>
                  <a:lnTo>
                    <a:pt x="2481203" y="21987"/>
                  </a:lnTo>
                  <a:lnTo>
                    <a:pt x="2473488" y="10544"/>
                  </a:lnTo>
                  <a:lnTo>
                    <a:pt x="2462045" y="2829"/>
                  </a:lnTo>
                  <a:lnTo>
                    <a:pt x="244803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8983" y="1363229"/>
              <a:ext cx="2482215" cy="1063625"/>
            </a:xfrm>
            <a:custGeom>
              <a:avLst/>
              <a:gdLst/>
              <a:ahLst/>
              <a:cxnLst/>
              <a:rect l="l" t="t" r="r" b="b"/>
              <a:pathLst>
                <a:path w="2482215" h="1063625">
                  <a:moveTo>
                    <a:pt x="0" y="102811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2447052" y="0"/>
                  </a:lnTo>
                  <a:lnTo>
                    <a:pt x="2460684" y="2752"/>
                  </a:lnTo>
                  <a:lnTo>
                    <a:pt x="2471816" y="10257"/>
                  </a:lnTo>
                  <a:lnTo>
                    <a:pt x="2479321" y="21389"/>
                  </a:lnTo>
                  <a:lnTo>
                    <a:pt x="2482074" y="35021"/>
                  </a:lnTo>
                  <a:lnTo>
                    <a:pt x="2482074" y="1028116"/>
                  </a:lnTo>
                  <a:lnTo>
                    <a:pt x="2479321" y="1041748"/>
                  </a:lnTo>
                  <a:lnTo>
                    <a:pt x="2471816" y="1052880"/>
                  </a:lnTo>
                  <a:lnTo>
                    <a:pt x="2460684" y="1060385"/>
                  </a:lnTo>
                  <a:lnTo>
                    <a:pt x="2447052" y="1063137"/>
                  </a:lnTo>
                  <a:lnTo>
                    <a:pt x="35021" y="1063137"/>
                  </a:lnTo>
                  <a:lnTo>
                    <a:pt x="21389" y="1060385"/>
                  </a:lnTo>
                  <a:lnTo>
                    <a:pt x="10257" y="1052880"/>
                  </a:lnTo>
                  <a:lnTo>
                    <a:pt x="2752" y="1041748"/>
                  </a:lnTo>
                  <a:lnTo>
                    <a:pt x="0" y="102811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5310" y="1409725"/>
            <a:ext cx="2282825" cy="942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10030">
              <a:lnSpc>
                <a:spcPct val="107400"/>
              </a:lnSpc>
              <a:spcBef>
                <a:spcPts val="100"/>
              </a:spcBef>
            </a:pPr>
            <a:r>
              <a:rPr sz="800" spc="-60" dirty="0">
                <a:solidFill>
                  <a:srgbClr val="05287C"/>
                </a:solidFill>
                <a:latin typeface="Courier New"/>
                <a:cs typeface="Courier New"/>
              </a:rPr>
              <a:t>mkdir</a:t>
            </a:r>
            <a:r>
              <a:rPr sz="800" spc="-25" dirty="0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sz="800" spc="-65" dirty="0">
                <a:latin typeface="Courier New"/>
                <a:cs typeface="Courier New"/>
              </a:rPr>
              <a:t>project1 </a:t>
            </a: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project1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07400"/>
              </a:lnSpc>
            </a:pPr>
            <a:r>
              <a:rPr sz="800" spc="-50" dirty="0">
                <a:latin typeface="Courier New"/>
                <a:cs typeface="Courier New"/>
              </a:rPr>
              <a:t>uv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venv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sz="800" spc="-55" dirty="0">
                <a:solidFill>
                  <a:srgbClr val="7C8E28"/>
                </a:solidFill>
                <a:latin typeface="Courier New"/>
                <a:cs typeface="Courier New"/>
              </a:rPr>
              <a:t>seed</a:t>
            </a:r>
            <a:r>
              <a:rPr sz="800" spc="-30" dirty="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--python</a:t>
            </a:r>
            <a:r>
              <a:rPr sz="800" spc="-25" dirty="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3.8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.project1-</a:t>
            </a:r>
            <a:r>
              <a:rPr sz="800" spc="-55" dirty="0">
                <a:latin typeface="Courier New"/>
                <a:cs typeface="Courier New"/>
              </a:rPr>
              <a:t>venv </a:t>
            </a:r>
            <a:r>
              <a:rPr sz="800" spc="-60" dirty="0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sz="800" spc="6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.project1-</a:t>
            </a:r>
            <a:r>
              <a:rPr sz="800" spc="-10" dirty="0">
                <a:latin typeface="Courier New"/>
                <a:cs typeface="Courier New"/>
              </a:rPr>
              <a:t>venv/bin/activate</a:t>
            </a:r>
            <a:endParaRPr sz="800">
              <a:latin typeface="Courier New"/>
              <a:cs typeface="Courier New"/>
            </a:endParaRPr>
          </a:p>
          <a:p>
            <a:pPr marL="12700" marR="1240790">
              <a:lnSpc>
                <a:spcPct val="107400"/>
              </a:lnSpc>
            </a:pPr>
            <a:r>
              <a:rPr sz="800" spc="-50" dirty="0">
                <a:latin typeface="Courier New"/>
                <a:cs typeface="Courier New"/>
              </a:rPr>
              <a:t>pip</a:t>
            </a:r>
            <a:r>
              <a:rPr sz="800" spc="-4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install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jupyter </a:t>
            </a:r>
            <a:r>
              <a:rPr sz="800" spc="-10" dirty="0">
                <a:latin typeface="Courier New"/>
                <a:cs typeface="Courier New"/>
              </a:rPr>
              <a:t>deactivate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latin typeface="Courier New"/>
                <a:cs typeface="Courier New"/>
              </a:rPr>
              <a:t>..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7304" y="873992"/>
            <a:ext cx="4965700" cy="4013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5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versions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dependencies.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  <a:tabLst>
                <a:tab pos="277241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Project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1: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3.8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85" dirty="0">
                <a:solidFill>
                  <a:srgbClr val="22373A"/>
                </a:solidFill>
                <a:latin typeface="Arial"/>
                <a:cs typeface="Arial"/>
              </a:rPr>
              <a:t>+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	Project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2: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3.10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85" dirty="0">
                <a:solidFill>
                  <a:srgbClr val="22373A"/>
                </a:solidFill>
                <a:latin typeface="Arial"/>
                <a:cs typeface="Arial"/>
              </a:rPr>
              <a:t>+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85" dirty="0">
                <a:solidFill>
                  <a:srgbClr val="22373A"/>
                </a:solidFill>
                <a:latin typeface="Arial"/>
                <a:cs typeface="Arial"/>
              </a:rPr>
              <a:t>+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Pandas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12646" y="1356903"/>
            <a:ext cx="2494915" cy="1076325"/>
            <a:chOff x="3012646" y="1356903"/>
            <a:chExt cx="2494915" cy="1076325"/>
          </a:xfrm>
        </p:grpSpPr>
        <p:sp>
          <p:nvSpPr>
            <p:cNvPr id="9" name="object 9"/>
            <p:cNvSpPr/>
            <p:nvPr/>
          </p:nvSpPr>
          <p:spPr>
            <a:xfrm>
              <a:off x="3017993" y="1362250"/>
              <a:ext cx="2484120" cy="1065530"/>
            </a:xfrm>
            <a:custGeom>
              <a:avLst/>
              <a:gdLst/>
              <a:ahLst/>
              <a:cxnLst/>
              <a:rect l="l" t="t" r="r" b="b"/>
              <a:pathLst>
                <a:path w="2484120" h="1065530">
                  <a:moveTo>
                    <a:pt x="244803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29095"/>
                  </a:lnTo>
                  <a:lnTo>
                    <a:pt x="2829" y="1043108"/>
                  </a:lnTo>
                  <a:lnTo>
                    <a:pt x="10544" y="1054552"/>
                  </a:lnTo>
                  <a:lnTo>
                    <a:pt x="21987" y="1062267"/>
                  </a:lnTo>
                  <a:lnTo>
                    <a:pt x="36000" y="1065096"/>
                  </a:lnTo>
                  <a:lnTo>
                    <a:pt x="2448032" y="1065096"/>
                  </a:lnTo>
                  <a:lnTo>
                    <a:pt x="2462045" y="1062267"/>
                  </a:lnTo>
                  <a:lnTo>
                    <a:pt x="2473488" y="1054552"/>
                  </a:lnTo>
                  <a:lnTo>
                    <a:pt x="2481203" y="1043108"/>
                  </a:lnTo>
                  <a:lnTo>
                    <a:pt x="2484032" y="1029095"/>
                  </a:lnTo>
                  <a:lnTo>
                    <a:pt x="2484032" y="36000"/>
                  </a:lnTo>
                  <a:lnTo>
                    <a:pt x="2481203" y="21987"/>
                  </a:lnTo>
                  <a:lnTo>
                    <a:pt x="2473488" y="10544"/>
                  </a:lnTo>
                  <a:lnTo>
                    <a:pt x="2462045" y="2829"/>
                  </a:lnTo>
                  <a:lnTo>
                    <a:pt x="244803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18973" y="1363229"/>
              <a:ext cx="2482215" cy="1063625"/>
            </a:xfrm>
            <a:custGeom>
              <a:avLst/>
              <a:gdLst/>
              <a:ahLst/>
              <a:cxnLst/>
              <a:rect l="l" t="t" r="r" b="b"/>
              <a:pathLst>
                <a:path w="2482215" h="1063625">
                  <a:moveTo>
                    <a:pt x="0" y="102811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2447052" y="0"/>
                  </a:lnTo>
                  <a:lnTo>
                    <a:pt x="2460684" y="2752"/>
                  </a:lnTo>
                  <a:lnTo>
                    <a:pt x="2471816" y="10257"/>
                  </a:lnTo>
                  <a:lnTo>
                    <a:pt x="2479321" y="21389"/>
                  </a:lnTo>
                  <a:lnTo>
                    <a:pt x="2482074" y="35021"/>
                  </a:lnTo>
                  <a:lnTo>
                    <a:pt x="2482074" y="1028116"/>
                  </a:lnTo>
                  <a:lnTo>
                    <a:pt x="2479321" y="1041748"/>
                  </a:lnTo>
                  <a:lnTo>
                    <a:pt x="2471816" y="1052880"/>
                  </a:lnTo>
                  <a:lnTo>
                    <a:pt x="2460684" y="1060385"/>
                  </a:lnTo>
                  <a:lnTo>
                    <a:pt x="2447052" y="1063137"/>
                  </a:lnTo>
                  <a:lnTo>
                    <a:pt x="35021" y="1063137"/>
                  </a:lnTo>
                  <a:lnTo>
                    <a:pt x="21389" y="1060385"/>
                  </a:lnTo>
                  <a:lnTo>
                    <a:pt x="10257" y="1052880"/>
                  </a:lnTo>
                  <a:lnTo>
                    <a:pt x="2752" y="1041748"/>
                  </a:lnTo>
                  <a:lnTo>
                    <a:pt x="0" y="102811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185299" y="1419210"/>
            <a:ext cx="777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60" dirty="0">
                <a:solidFill>
                  <a:srgbClr val="05287C"/>
                </a:solidFill>
                <a:latin typeface="Courier New"/>
                <a:cs typeface="Courier New"/>
              </a:rPr>
              <a:t>mkdir</a:t>
            </a:r>
            <a:r>
              <a:rPr sz="800" spc="-25" dirty="0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project2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85299" y="1550160"/>
            <a:ext cx="617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project2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85299" y="1681110"/>
            <a:ext cx="23368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Courier New"/>
                <a:cs typeface="Courier New"/>
              </a:rPr>
              <a:t>uv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venv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sz="800" spc="-55" dirty="0">
                <a:solidFill>
                  <a:srgbClr val="7C8E28"/>
                </a:solidFill>
                <a:latin typeface="Courier New"/>
                <a:cs typeface="Courier New"/>
              </a:rPr>
              <a:t>seed</a:t>
            </a:r>
            <a:r>
              <a:rPr sz="800" spc="-20" dirty="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--python</a:t>
            </a:r>
            <a:r>
              <a:rPr sz="800" spc="-25" dirty="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3.10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.project2-</a:t>
            </a:r>
            <a:r>
              <a:rPr sz="800" spc="-30" dirty="0">
                <a:latin typeface="Courier New"/>
                <a:cs typeface="Courier New"/>
              </a:rPr>
              <a:t>venv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85299" y="1802561"/>
            <a:ext cx="1852930" cy="549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100"/>
              </a:spcBef>
            </a:pPr>
            <a:r>
              <a:rPr sz="800" spc="-60" dirty="0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sz="800" spc="6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.project2-venv/bin/activate </a:t>
            </a:r>
            <a:r>
              <a:rPr sz="800" spc="-50" dirty="0">
                <a:latin typeface="Courier New"/>
                <a:cs typeface="Courier New"/>
              </a:rPr>
              <a:t>pip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install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jupyter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pandas deactivate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latin typeface="Courier New"/>
                <a:cs typeface="Courier New"/>
              </a:rPr>
              <a:t>..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6" name="object 1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3234963"/>
              <a:ext cx="4347210" cy="5080"/>
            </a:xfrm>
            <a:custGeom>
              <a:avLst/>
              <a:gdLst/>
              <a:ahLst/>
              <a:cxnLst/>
              <a:rect l="l" t="t" r="r" b="b"/>
              <a:pathLst>
                <a:path w="4347210" h="5080">
                  <a:moveTo>
                    <a:pt x="0" y="5060"/>
                  </a:moveTo>
                  <a:lnTo>
                    <a:pt x="0" y="0"/>
                  </a:lnTo>
                  <a:lnTo>
                    <a:pt x="4347213" y="0"/>
                  </a:lnTo>
                  <a:lnTo>
                    <a:pt x="43472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Working</a:t>
            </a:r>
            <a:r>
              <a:rPr spc="25" dirty="0"/>
              <a:t> </a:t>
            </a:r>
            <a:r>
              <a:rPr dirty="0"/>
              <a:t>with</a:t>
            </a:r>
            <a:r>
              <a:rPr spc="30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spc="-40" dirty="0"/>
              <a:t>environments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615498"/>
            <a:ext cx="5015230" cy="443865"/>
            <a:chOff x="372646" y="615498"/>
            <a:chExt cx="5015230" cy="443865"/>
          </a:xfrm>
        </p:grpSpPr>
        <p:sp>
          <p:nvSpPr>
            <p:cNvPr id="4" name="object 4"/>
            <p:cNvSpPr/>
            <p:nvPr/>
          </p:nvSpPr>
          <p:spPr>
            <a:xfrm>
              <a:off x="377994" y="620846"/>
              <a:ext cx="5004435" cy="433070"/>
            </a:xfrm>
            <a:custGeom>
              <a:avLst/>
              <a:gdLst/>
              <a:ahLst/>
              <a:cxnLst/>
              <a:rect l="l" t="t" r="r" b="b"/>
              <a:pathLst>
                <a:path w="5004435" h="43306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396792"/>
                  </a:lnTo>
                  <a:lnTo>
                    <a:pt x="2829" y="410805"/>
                  </a:lnTo>
                  <a:lnTo>
                    <a:pt x="10544" y="422248"/>
                  </a:lnTo>
                  <a:lnTo>
                    <a:pt x="21987" y="429963"/>
                  </a:lnTo>
                  <a:lnTo>
                    <a:pt x="36000" y="432792"/>
                  </a:lnTo>
                  <a:lnTo>
                    <a:pt x="4968064" y="432792"/>
                  </a:lnTo>
                  <a:lnTo>
                    <a:pt x="4982077" y="429963"/>
                  </a:lnTo>
                  <a:lnTo>
                    <a:pt x="4993521" y="422248"/>
                  </a:lnTo>
                  <a:lnTo>
                    <a:pt x="5001236" y="410805"/>
                  </a:lnTo>
                  <a:lnTo>
                    <a:pt x="5004065" y="396792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621825"/>
              <a:ext cx="5002530" cy="431165"/>
            </a:xfrm>
            <a:custGeom>
              <a:avLst/>
              <a:gdLst/>
              <a:ahLst/>
              <a:cxnLst/>
              <a:rect l="l" t="t" r="r" b="b"/>
              <a:pathLst>
                <a:path w="5002530" h="431165">
                  <a:moveTo>
                    <a:pt x="0" y="395813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395813"/>
                  </a:lnTo>
                  <a:lnTo>
                    <a:pt x="4999354" y="409445"/>
                  </a:lnTo>
                  <a:lnTo>
                    <a:pt x="4991849" y="420576"/>
                  </a:lnTo>
                  <a:lnTo>
                    <a:pt x="4980717" y="428082"/>
                  </a:lnTo>
                  <a:lnTo>
                    <a:pt x="4967085" y="430834"/>
                  </a:lnTo>
                  <a:lnTo>
                    <a:pt x="35021" y="430834"/>
                  </a:lnTo>
                  <a:lnTo>
                    <a:pt x="21389" y="428082"/>
                  </a:lnTo>
                  <a:lnTo>
                    <a:pt x="10257" y="420576"/>
                  </a:lnTo>
                  <a:lnTo>
                    <a:pt x="2752" y="409445"/>
                  </a:lnTo>
                  <a:lnTo>
                    <a:pt x="0" y="395813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252423" y="1162278"/>
            <a:ext cx="384175" cy="146050"/>
            <a:chOff x="1252423" y="1162278"/>
            <a:chExt cx="384175" cy="146050"/>
          </a:xfrm>
        </p:grpSpPr>
        <p:sp>
          <p:nvSpPr>
            <p:cNvPr id="7" name="object 7"/>
            <p:cNvSpPr/>
            <p:nvPr/>
          </p:nvSpPr>
          <p:spPr>
            <a:xfrm>
              <a:off x="1252423" y="1162278"/>
              <a:ext cx="384175" cy="146050"/>
            </a:xfrm>
            <a:custGeom>
              <a:avLst/>
              <a:gdLst/>
              <a:ahLst/>
              <a:cxnLst/>
              <a:rect l="l" t="t" r="r" b="b"/>
              <a:pathLst>
                <a:path w="384175" h="14605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348009" y="146037"/>
                  </a:lnTo>
                  <a:lnTo>
                    <a:pt x="362022" y="143208"/>
                  </a:lnTo>
                  <a:lnTo>
                    <a:pt x="373465" y="135493"/>
                  </a:lnTo>
                  <a:lnTo>
                    <a:pt x="381180" y="124050"/>
                  </a:lnTo>
                  <a:lnTo>
                    <a:pt x="384009" y="11003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52423" y="1162278"/>
              <a:ext cx="384175" cy="146050"/>
            </a:xfrm>
            <a:custGeom>
              <a:avLst/>
              <a:gdLst/>
              <a:ahLst/>
              <a:cxnLst/>
              <a:rect l="l" t="t" r="r" b="b"/>
              <a:pathLst>
                <a:path w="384175" h="14605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348009" y="146037"/>
                  </a:lnTo>
                  <a:lnTo>
                    <a:pt x="362022" y="143208"/>
                  </a:lnTo>
                  <a:lnTo>
                    <a:pt x="373465" y="135493"/>
                  </a:lnTo>
                  <a:lnTo>
                    <a:pt x="381180" y="124050"/>
                  </a:lnTo>
                  <a:lnTo>
                    <a:pt x="384009" y="11003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4749" y="1162731"/>
            <a:ext cx="204657" cy="14501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72646" y="1772878"/>
            <a:ext cx="5015230" cy="574040"/>
            <a:chOff x="372646" y="1772878"/>
            <a:chExt cx="5015230" cy="574040"/>
          </a:xfrm>
        </p:grpSpPr>
        <p:sp>
          <p:nvSpPr>
            <p:cNvPr id="11" name="object 11"/>
            <p:cNvSpPr/>
            <p:nvPr/>
          </p:nvSpPr>
          <p:spPr>
            <a:xfrm>
              <a:off x="377994" y="1778226"/>
              <a:ext cx="5004435" cy="563245"/>
            </a:xfrm>
            <a:custGeom>
              <a:avLst/>
              <a:gdLst/>
              <a:ahLst/>
              <a:cxnLst/>
              <a:rect l="l" t="t" r="r" b="b"/>
              <a:pathLst>
                <a:path w="5004435" h="563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526735"/>
                  </a:lnTo>
                  <a:lnTo>
                    <a:pt x="2829" y="540748"/>
                  </a:lnTo>
                  <a:lnTo>
                    <a:pt x="10544" y="552191"/>
                  </a:lnTo>
                  <a:lnTo>
                    <a:pt x="21987" y="559906"/>
                  </a:lnTo>
                  <a:lnTo>
                    <a:pt x="36000" y="562735"/>
                  </a:lnTo>
                  <a:lnTo>
                    <a:pt x="4968064" y="562735"/>
                  </a:lnTo>
                  <a:lnTo>
                    <a:pt x="4982077" y="559906"/>
                  </a:lnTo>
                  <a:lnTo>
                    <a:pt x="4993521" y="552191"/>
                  </a:lnTo>
                  <a:lnTo>
                    <a:pt x="5001236" y="540748"/>
                  </a:lnTo>
                  <a:lnTo>
                    <a:pt x="5004065" y="526735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973" y="1779205"/>
              <a:ext cx="5002530" cy="561340"/>
            </a:xfrm>
            <a:custGeom>
              <a:avLst/>
              <a:gdLst/>
              <a:ahLst/>
              <a:cxnLst/>
              <a:rect l="l" t="t" r="r" b="b"/>
              <a:pathLst>
                <a:path w="5002530" h="561339">
                  <a:moveTo>
                    <a:pt x="0" y="52575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525756"/>
                  </a:lnTo>
                  <a:lnTo>
                    <a:pt x="4999354" y="539387"/>
                  </a:lnTo>
                  <a:lnTo>
                    <a:pt x="4991849" y="550519"/>
                  </a:lnTo>
                  <a:lnTo>
                    <a:pt x="4980717" y="558025"/>
                  </a:lnTo>
                  <a:lnTo>
                    <a:pt x="4967085" y="560777"/>
                  </a:lnTo>
                  <a:lnTo>
                    <a:pt x="35021" y="560777"/>
                  </a:lnTo>
                  <a:lnTo>
                    <a:pt x="21389" y="558025"/>
                  </a:lnTo>
                  <a:lnTo>
                    <a:pt x="10257" y="550519"/>
                  </a:lnTo>
                  <a:lnTo>
                    <a:pt x="2752" y="539387"/>
                  </a:lnTo>
                  <a:lnTo>
                    <a:pt x="0" y="52575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72646" y="2661888"/>
            <a:ext cx="5015230" cy="420370"/>
            <a:chOff x="372646" y="2661888"/>
            <a:chExt cx="5015230" cy="420370"/>
          </a:xfrm>
        </p:grpSpPr>
        <p:sp>
          <p:nvSpPr>
            <p:cNvPr id="14" name="object 14"/>
            <p:cNvSpPr/>
            <p:nvPr/>
          </p:nvSpPr>
          <p:spPr>
            <a:xfrm>
              <a:off x="377994" y="2667236"/>
              <a:ext cx="5004435" cy="409575"/>
            </a:xfrm>
            <a:custGeom>
              <a:avLst/>
              <a:gdLst/>
              <a:ahLst/>
              <a:cxnLst/>
              <a:rect l="l" t="t" r="r" b="b"/>
              <a:pathLst>
                <a:path w="5004435" h="40957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373309"/>
                  </a:lnTo>
                  <a:lnTo>
                    <a:pt x="2829" y="387322"/>
                  </a:lnTo>
                  <a:lnTo>
                    <a:pt x="10544" y="398765"/>
                  </a:lnTo>
                  <a:lnTo>
                    <a:pt x="21987" y="406480"/>
                  </a:lnTo>
                  <a:lnTo>
                    <a:pt x="36000" y="409309"/>
                  </a:lnTo>
                  <a:lnTo>
                    <a:pt x="4968064" y="409309"/>
                  </a:lnTo>
                  <a:lnTo>
                    <a:pt x="4982077" y="406480"/>
                  </a:lnTo>
                  <a:lnTo>
                    <a:pt x="4993521" y="398765"/>
                  </a:lnTo>
                  <a:lnTo>
                    <a:pt x="5001236" y="387322"/>
                  </a:lnTo>
                  <a:lnTo>
                    <a:pt x="5004065" y="373309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8973" y="2668215"/>
              <a:ext cx="5002530" cy="407670"/>
            </a:xfrm>
            <a:custGeom>
              <a:avLst/>
              <a:gdLst/>
              <a:ahLst/>
              <a:cxnLst/>
              <a:rect l="l" t="t" r="r" b="b"/>
              <a:pathLst>
                <a:path w="5002530" h="407669">
                  <a:moveTo>
                    <a:pt x="0" y="372329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372329"/>
                  </a:lnTo>
                  <a:lnTo>
                    <a:pt x="4999354" y="385961"/>
                  </a:lnTo>
                  <a:lnTo>
                    <a:pt x="4991849" y="397093"/>
                  </a:lnTo>
                  <a:lnTo>
                    <a:pt x="4980717" y="404598"/>
                  </a:lnTo>
                  <a:lnTo>
                    <a:pt x="4967085" y="407350"/>
                  </a:lnTo>
                  <a:lnTo>
                    <a:pt x="35021" y="407350"/>
                  </a:lnTo>
                  <a:lnTo>
                    <a:pt x="21389" y="404598"/>
                  </a:lnTo>
                  <a:lnTo>
                    <a:pt x="10257" y="397093"/>
                  </a:lnTo>
                  <a:lnTo>
                    <a:pt x="2752" y="385961"/>
                  </a:lnTo>
                  <a:lnTo>
                    <a:pt x="0" y="372329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41718" y="371520"/>
            <a:ext cx="4972050" cy="2629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project1: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0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project1</a:t>
            </a:r>
            <a:endParaRPr sz="80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sz="800" spc="-60" dirty="0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sz="800" spc="6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.project1-</a:t>
            </a:r>
            <a:r>
              <a:rPr sz="800" spc="-10" dirty="0">
                <a:latin typeface="Courier New"/>
                <a:cs typeface="Courier New"/>
              </a:rPr>
              <a:t>venv/bin/activate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800">
              <a:latin typeface="Courier New"/>
              <a:cs typeface="Courier New"/>
            </a:endParaRPr>
          </a:p>
          <a:p>
            <a:pPr marL="17780" marR="265430">
              <a:lnSpc>
                <a:spcPct val="116199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latin typeface="Courier New"/>
                <a:cs typeface="Courier New"/>
              </a:rPr>
              <a:t>python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3.8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version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pip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install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packages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project1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80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Installed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packages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next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activate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environment,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available.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90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sz="800" spc="-60" dirty="0">
                <a:latin typeface="Courier New"/>
                <a:cs typeface="Courier New"/>
              </a:rPr>
              <a:t>python</a:t>
            </a:r>
            <a:r>
              <a:rPr sz="800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sz="800" spc="-10" dirty="0">
                <a:solidFill>
                  <a:srgbClr val="7C8E28"/>
                </a:solidFill>
                <a:latin typeface="Courier New"/>
                <a:cs typeface="Courier New"/>
              </a:rPr>
              <a:t>version</a:t>
            </a:r>
            <a:endParaRPr sz="80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10" dirty="0">
                <a:solidFill>
                  <a:srgbClr val="60A0AF"/>
                </a:solidFill>
                <a:latin typeface="Courier New"/>
                <a:cs typeface="Courier New"/>
              </a:rPr>
              <a:t>Output</a:t>
            </a:r>
            <a:endParaRPr sz="80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0"/>
              </a:spcBef>
            </a:pPr>
            <a:r>
              <a:rPr sz="800" spc="-60" dirty="0">
                <a:latin typeface="Courier New"/>
                <a:cs typeface="Courier New"/>
              </a:rPr>
              <a:t>Python</a:t>
            </a:r>
            <a:r>
              <a:rPr sz="800" spc="-15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3.8.20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finished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working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project1: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900">
              <a:latin typeface="Arial"/>
              <a:cs typeface="Arial"/>
            </a:endParaRPr>
          </a:p>
          <a:p>
            <a:pPr marL="215900" marR="4210050">
              <a:lnSpc>
                <a:spcPct val="107400"/>
              </a:lnSpc>
            </a:pPr>
            <a:r>
              <a:rPr sz="800" spc="-65" dirty="0">
                <a:latin typeface="Courier New"/>
                <a:cs typeface="Courier New"/>
              </a:rPr>
              <a:t>deactivate </a:t>
            </a: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latin typeface="Courier New"/>
                <a:cs typeface="Courier New"/>
              </a:rPr>
              <a:t>..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8" name="object 1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0" y="3234963"/>
              <a:ext cx="4456430" cy="5080"/>
            </a:xfrm>
            <a:custGeom>
              <a:avLst/>
              <a:gdLst/>
              <a:ahLst/>
              <a:cxnLst/>
              <a:rect l="l" t="t" r="r" b="b"/>
              <a:pathLst>
                <a:path w="4456430" h="5080">
                  <a:moveTo>
                    <a:pt x="0" y="5060"/>
                  </a:moveTo>
                  <a:lnTo>
                    <a:pt x="0" y="0"/>
                  </a:lnTo>
                  <a:lnTo>
                    <a:pt x="4455935" y="0"/>
                  </a:lnTo>
                  <a:lnTo>
                    <a:pt x="445593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Working</a:t>
            </a:r>
            <a:r>
              <a:rPr spc="25" dirty="0"/>
              <a:t> </a:t>
            </a:r>
            <a:r>
              <a:rPr dirty="0"/>
              <a:t>with</a:t>
            </a:r>
            <a:r>
              <a:rPr spc="30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spc="-40" dirty="0"/>
              <a:t>environments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019308"/>
            <a:ext cx="5015230" cy="443865"/>
            <a:chOff x="372646" y="1019308"/>
            <a:chExt cx="5015230" cy="443865"/>
          </a:xfrm>
        </p:grpSpPr>
        <p:sp>
          <p:nvSpPr>
            <p:cNvPr id="4" name="object 4"/>
            <p:cNvSpPr/>
            <p:nvPr/>
          </p:nvSpPr>
          <p:spPr>
            <a:xfrm>
              <a:off x="377994" y="1024655"/>
              <a:ext cx="5004435" cy="433070"/>
            </a:xfrm>
            <a:custGeom>
              <a:avLst/>
              <a:gdLst/>
              <a:ahLst/>
              <a:cxnLst/>
              <a:rect l="l" t="t" r="r" b="b"/>
              <a:pathLst>
                <a:path w="5004435" h="43306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396792"/>
                  </a:lnTo>
                  <a:lnTo>
                    <a:pt x="2829" y="410805"/>
                  </a:lnTo>
                  <a:lnTo>
                    <a:pt x="10544" y="422248"/>
                  </a:lnTo>
                  <a:lnTo>
                    <a:pt x="21987" y="429963"/>
                  </a:lnTo>
                  <a:lnTo>
                    <a:pt x="36000" y="432792"/>
                  </a:lnTo>
                  <a:lnTo>
                    <a:pt x="4968064" y="432792"/>
                  </a:lnTo>
                  <a:lnTo>
                    <a:pt x="4982077" y="429963"/>
                  </a:lnTo>
                  <a:lnTo>
                    <a:pt x="4993521" y="422248"/>
                  </a:lnTo>
                  <a:lnTo>
                    <a:pt x="5001236" y="410805"/>
                  </a:lnTo>
                  <a:lnTo>
                    <a:pt x="5004065" y="396792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025634"/>
              <a:ext cx="5002530" cy="431165"/>
            </a:xfrm>
            <a:custGeom>
              <a:avLst/>
              <a:gdLst/>
              <a:ahLst/>
              <a:cxnLst/>
              <a:rect l="l" t="t" r="r" b="b"/>
              <a:pathLst>
                <a:path w="5002530" h="431165">
                  <a:moveTo>
                    <a:pt x="0" y="395813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395813"/>
                  </a:lnTo>
                  <a:lnTo>
                    <a:pt x="4999354" y="409445"/>
                  </a:lnTo>
                  <a:lnTo>
                    <a:pt x="4991849" y="420576"/>
                  </a:lnTo>
                  <a:lnTo>
                    <a:pt x="4980717" y="428082"/>
                  </a:lnTo>
                  <a:lnTo>
                    <a:pt x="4967085" y="430834"/>
                  </a:lnTo>
                  <a:lnTo>
                    <a:pt x="35021" y="430834"/>
                  </a:lnTo>
                  <a:lnTo>
                    <a:pt x="21389" y="428082"/>
                  </a:lnTo>
                  <a:lnTo>
                    <a:pt x="10257" y="420576"/>
                  </a:lnTo>
                  <a:lnTo>
                    <a:pt x="2752" y="409445"/>
                  </a:lnTo>
                  <a:lnTo>
                    <a:pt x="0" y="395813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252423" y="1566087"/>
            <a:ext cx="384175" cy="146050"/>
            <a:chOff x="1252423" y="1566087"/>
            <a:chExt cx="384175" cy="146050"/>
          </a:xfrm>
        </p:grpSpPr>
        <p:sp>
          <p:nvSpPr>
            <p:cNvPr id="7" name="object 7"/>
            <p:cNvSpPr/>
            <p:nvPr/>
          </p:nvSpPr>
          <p:spPr>
            <a:xfrm>
              <a:off x="1252423" y="1566087"/>
              <a:ext cx="384175" cy="146050"/>
            </a:xfrm>
            <a:custGeom>
              <a:avLst/>
              <a:gdLst/>
              <a:ahLst/>
              <a:cxnLst/>
              <a:rect l="l" t="t" r="r" b="b"/>
              <a:pathLst>
                <a:path w="384175" h="14605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348009" y="146037"/>
                  </a:lnTo>
                  <a:lnTo>
                    <a:pt x="362022" y="143208"/>
                  </a:lnTo>
                  <a:lnTo>
                    <a:pt x="373465" y="135493"/>
                  </a:lnTo>
                  <a:lnTo>
                    <a:pt x="381180" y="124050"/>
                  </a:lnTo>
                  <a:lnTo>
                    <a:pt x="384009" y="11003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52423" y="1566087"/>
              <a:ext cx="384175" cy="146050"/>
            </a:xfrm>
            <a:custGeom>
              <a:avLst/>
              <a:gdLst/>
              <a:ahLst/>
              <a:cxnLst/>
              <a:rect l="l" t="t" r="r" b="b"/>
              <a:pathLst>
                <a:path w="384175" h="14605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348009" y="146037"/>
                  </a:lnTo>
                  <a:lnTo>
                    <a:pt x="362022" y="143208"/>
                  </a:lnTo>
                  <a:lnTo>
                    <a:pt x="373465" y="135493"/>
                  </a:lnTo>
                  <a:lnTo>
                    <a:pt x="381180" y="124050"/>
                  </a:lnTo>
                  <a:lnTo>
                    <a:pt x="384009" y="11003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3283" y="1566541"/>
            <a:ext cx="204657" cy="14501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72646" y="2176685"/>
            <a:ext cx="5015230" cy="420370"/>
            <a:chOff x="372646" y="2176685"/>
            <a:chExt cx="5015230" cy="420370"/>
          </a:xfrm>
        </p:grpSpPr>
        <p:sp>
          <p:nvSpPr>
            <p:cNvPr id="11" name="object 11"/>
            <p:cNvSpPr/>
            <p:nvPr/>
          </p:nvSpPr>
          <p:spPr>
            <a:xfrm>
              <a:off x="377994" y="2182032"/>
              <a:ext cx="5004435" cy="409575"/>
            </a:xfrm>
            <a:custGeom>
              <a:avLst/>
              <a:gdLst/>
              <a:ahLst/>
              <a:cxnLst/>
              <a:rect l="l" t="t" r="r" b="b"/>
              <a:pathLst>
                <a:path w="5004435" h="40957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373309"/>
                  </a:lnTo>
                  <a:lnTo>
                    <a:pt x="2829" y="387322"/>
                  </a:lnTo>
                  <a:lnTo>
                    <a:pt x="10544" y="398765"/>
                  </a:lnTo>
                  <a:lnTo>
                    <a:pt x="21987" y="406480"/>
                  </a:lnTo>
                  <a:lnTo>
                    <a:pt x="36000" y="409309"/>
                  </a:lnTo>
                  <a:lnTo>
                    <a:pt x="4968064" y="409309"/>
                  </a:lnTo>
                  <a:lnTo>
                    <a:pt x="4982077" y="406480"/>
                  </a:lnTo>
                  <a:lnTo>
                    <a:pt x="4993521" y="398765"/>
                  </a:lnTo>
                  <a:lnTo>
                    <a:pt x="5001236" y="387322"/>
                  </a:lnTo>
                  <a:lnTo>
                    <a:pt x="5004065" y="373309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973" y="2183011"/>
              <a:ext cx="5002530" cy="407670"/>
            </a:xfrm>
            <a:custGeom>
              <a:avLst/>
              <a:gdLst/>
              <a:ahLst/>
              <a:cxnLst/>
              <a:rect l="l" t="t" r="r" b="b"/>
              <a:pathLst>
                <a:path w="5002530" h="407669">
                  <a:moveTo>
                    <a:pt x="0" y="372329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372329"/>
                  </a:lnTo>
                  <a:lnTo>
                    <a:pt x="4999354" y="385961"/>
                  </a:lnTo>
                  <a:lnTo>
                    <a:pt x="4991849" y="397093"/>
                  </a:lnTo>
                  <a:lnTo>
                    <a:pt x="4980717" y="404598"/>
                  </a:lnTo>
                  <a:lnTo>
                    <a:pt x="4967085" y="407350"/>
                  </a:lnTo>
                  <a:lnTo>
                    <a:pt x="35021" y="407350"/>
                  </a:lnTo>
                  <a:lnTo>
                    <a:pt x="21389" y="404598"/>
                  </a:lnTo>
                  <a:lnTo>
                    <a:pt x="10257" y="397093"/>
                  </a:lnTo>
                  <a:lnTo>
                    <a:pt x="2752" y="385961"/>
                  </a:lnTo>
                  <a:lnTo>
                    <a:pt x="0" y="372329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1718" y="775329"/>
            <a:ext cx="4770120" cy="1740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project2: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0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project2</a:t>
            </a:r>
            <a:endParaRPr sz="80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sz="800" spc="-60" dirty="0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sz="800" spc="6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.project2-</a:t>
            </a:r>
            <a:r>
              <a:rPr sz="800" spc="-10" dirty="0">
                <a:latin typeface="Courier New"/>
                <a:cs typeface="Courier New"/>
              </a:rPr>
              <a:t>venv/bin/activate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800">
              <a:latin typeface="Courier New"/>
              <a:cs typeface="Courier New"/>
            </a:endParaRPr>
          </a:p>
          <a:p>
            <a:pPr marL="17780" marR="5080">
              <a:lnSpc>
                <a:spcPct val="116199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latin typeface="Courier New"/>
                <a:cs typeface="Courier New"/>
              </a:rPr>
              <a:t>python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3.10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version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pip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install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packages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project2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finished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working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project2: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900">
              <a:latin typeface="Arial"/>
              <a:cs typeface="Arial"/>
            </a:endParaRPr>
          </a:p>
          <a:p>
            <a:pPr marL="215900" marR="4008120">
              <a:lnSpc>
                <a:spcPct val="107400"/>
              </a:lnSpc>
            </a:pPr>
            <a:r>
              <a:rPr sz="800" spc="-65" dirty="0">
                <a:latin typeface="Courier New"/>
                <a:cs typeface="Courier New"/>
              </a:rPr>
              <a:t>deactivate </a:t>
            </a: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latin typeface="Courier New"/>
                <a:cs typeface="Courier New"/>
              </a:rPr>
              <a:t>..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5" name="object 1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3234963"/>
              <a:ext cx="4565015" cy="5080"/>
            </a:xfrm>
            <a:custGeom>
              <a:avLst/>
              <a:gdLst/>
              <a:ahLst/>
              <a:cxnLst/>
              <a:rect l="l" t="t" r="r" b="b"/>
              <a:pathLst>
                <a:path w="4565015" h="5080">
                  <a:moveTo>
                    <a:pt x="0" y="5060"/>
                  </a:moveTo>
                  <a:lnTo>
                    <a:pt x="0" y="0"/>
                  </a:lnTo>
                  <a:lnTo>
                    <a:pt x="4564570" y="0"/>
                  </a:lnTo>
                  <a:lnTo>
                    <a:pt x="456457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Running</a:t>
            </a:r>
            <a:r>
              <a:rPr spc="10" dirty="0"/>
              <a:t> </a:t>
            </a:r>
            <a:r>
              <a:rPr spc="-20" dirty="0"/>
              <a:t>Jupyter</a:t>
            </a:r>
            <a:r>
              <a:rPr spc="15" dirty="0"/>
              <a:t> </a:t>
            </a:r>
            <a:r>
              <a:rPr spc="-10" dirty="0"/>
              <a:t>Notebook</a:t>
            </a:r>
            <a:r>
              <a:rPr spc="15" dirty="0"/>
              <a:t> </a:t>
            </a:r>
            <a:r>
              <a:rPr spc="50" dirty="0"/>
              <a:t>(I)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586261"/>
            <a:ext cx="5015230" cy="443865"/>
            <a:chOff x="372646" y="1586261"/>
            <a:chExt cx="5015230" cy="443865"/>
          </a:xfrm>
        </p:grpSpPr>
        <p:sp>
          <p:nvSpPr>
            <p:cNvPr id="4" name="object 4"/>
            <p:cNvSpPr/>
            <p:nvPr/>
          </p:nvSpPr>
          <p:spPr>
            <a:xfrm>
              <a:off x="377994" y="1591608"/>
              <a:ext cx="5004435" cy="433070"/>
            </a:xfrm>
            <a:custGeom>
              <a:avLst/>
              <a:gdLst/>
              <a:ahLst/>
              <a:cxnLst/>
              <a:rect l="l" t="t" r="r" b="b"/>
              <a:pathLst>
                <a:path w="5004435" h="43306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396792"/>
                  </a:lnTo>
                  <a:lnTo>
                    <a:pt x="2829" y="410805"/>
                  </a:lnTo>
                  <a:lnTo>
                    <a:pt x="10544" y="422248"/>
                  </a:lnTo>
                  <a:lnTo>
                    <a:pt x="21987" y="429963"/>
                  </a:lnTo>
                  <a:lnTo>
                    <a:pt x="36000" y="432792"/>
                  </a:lnTo>
                  <a:lnTo>
                    <a:pt x="4968064" y="432792"/>
                  </a:lnTo>
                  <a:lnTo>
                    <a:pt x="4982077" y="429963"/>
                  </a:lnTo>
                  <a:lnTo>
                    <a:pt x="4993521" y="422248"/>
                  </a:lnTo>
                  <a:lnTo>
                    <a:pt x="5001236" y="410805"/>
                  </a:lnTo>
                  <a:lnTo>
                    <a:pt x="5004065" y="396792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592587"/>
              <a:ext cx="5002530" cy="431165"/>
            </a:xfrm>
            <a:custGeom>
              <a:avLst/>
              <a:gdLst/>
              <a:ahLst/>
              <a:cxnLst/>
              <a:rect l="l" t="t" r="r" b="b"/>
              <a:pathLst>
                <a:path w="5002530" h="431164">
                  <a:moveTo>
                    <a:pt x="0" y="395813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395813"/>
                  </a:lnTo>
                  <a:lnTo>
                    <a:pt x="4999354" y="409445"/>
                  </a:lnTo>
                  <a:lnTo>
                    <a:pt x="4991849" y="420576"/>
                  </a:lnTo>
                  <a:lnTo>
                    <a:pt x="4980717" y="428082"/>
                  </a:lnTo>
                  <a:lnTo>
                    <a:pt x="4967085" y="430834"/>
                  </a:lnTo>
                  <a:lnTo>
                    <a:pt x="35021" y="430834"/>
                  </a:lnTo>
                  <a:lnTo>
                    <a:pt x="21389" y="428082"/>
                  </a:lnTo>
                  <a:lnTo>
                    <a:pt x="10257" y="420576"/>
                  </a:lnTo>
                  <a:lnTo>
                    <a:pt x="2752" y="409445"/>
                  </a:lnTo>
                  <a:lnTo>
                    <a:pt x="0" y="395813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1718" y="1342270"/>
            <a:ext cx="3759835" cy="58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activated.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example,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project1.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0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project1</a:t>
            </a:r>
            <a:endParaRPr sz="80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sz="800" spc="-60" dirty="0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sz="800" spc="6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.project1-</a:t>
            </a:r>
            <a:r>
              <a:rPr sz="800" spc="-10" dirty="0">
                <a:latin typeface="Courier New"/>
                <a:cs typeface="Courier New"/>
              </a:rPr>
              <a:t>venv/bin/activate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4673600" cy="5080"/>
            </a:xfrm>
            <a:custGeom>
              <a:avLst/>
              <a:gdLst/>
              <a:ahLst/>
              <a:cxnLst/>
              <a:rect l="l" t="t" r="r" b="b"/>
              <a:pathLst>
                <a:path w="4673600" h="5080">
                  <a:moveTo>
                    <a:pt x="0" y="5060"/>
                  </a:moveTo>
                  <a:lnTo>
                    <a:pt x="0" y="0"/>
                  </a:lnTo>
                  <a:lnTo>
                    <a:pt x="4673292" y="0"/>
                  </a:lnTo>
                  <a:lnTo>
                    <a:pt x="467329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Running</a:t>
            </a:r>
            <a:r>
              <a:rPr spc="10" dirty="0"/>
              <a:t> </a:t>
            </a:r>
            <a:r>
              <a:rPr spc="-20" dirty="0"/>
              <a:t>Jupyter</a:t>
            </a:r>
            <a:r>
              <a:rPr spc="15" dirty="0"/>
              <a:t> </a:t>
            </a:r>
            <a:r>
              <a:rPr spc="-10" dirty="0"/>
              <a:t>Notebook</a:t>
            </a:r>
            <a:r>
              <a:rPr spc="15" dirty="0"/>
              <a:t> </a:t>
            </a:r>
            <a:r>
              <a:rPr spc="50" dirty="0"/>
              <a:t>(I)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006088"/>
            <a:ext cx="5015230" cy="311785"/>
            <a:chOff x="372646" y="1006088"/>
            <a:chExt cx="5015230" cy="311785"/>
          </a:xfrm>
        </p:grpSpPr>
        <p:sp>
          <p:nvSpPr>
            <p:cNvPr id="4" name="object 4"/>
            <p:cNvSpPr/>
            <p:nvPr/>
          </p:nvSpPr>
          <p:spPr>
            <a:xfrm>
              <a:off x="377994" y="1011435"/>
              <a:ext cx="5004435" cy="300990"/>
            </a:xfrm>
            <a:custGeom>
              <a:avLst/>
              <a:gdLst/>
              <a:ahLst/>
              <a:cxnLst/>
              <a:rect l="l" t="t" r="r" b="b"/>
              <a:pathLst>
                <a:path w="5004435" h="30099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4825"/>
                  </a:lnTo>
                  <a:lnTo>
                    <a:pt x="2829" y="278838"/>
                  </a:lnTo>
                  <a:lnTo>
                    <a:pt x="10544" y="290281"/>
                  </a:lnTo>
                  <a:lnTo>
                    <a:pt x="21987" y="297996"/>
                  </a:lnTo>
                  <a:lnTo>
                    <a:pt x="36000" y="300825"/>
                  </a:lnTo>
                  <a:lnTo>
                    <a:pt x="4968064" y="300825"/>
                  </a:lnTo>
                  <a:lnTo>
                    <a:pt x="4982077" y="297996"/>
                  </a:lnTo>
                  <a:lnTo>
                    <a:pt x="4993521" y="290281"/>
                  </a:lnTo>
                  <a:lnTo>
                    <a:pt x="5001236" y="278838"/>
                  </a:lnTo>
                  <a:lnTo>
                    <a:pt x="5004065" y="264825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012414"/>
              <a:ext cx="5002530" cy="299085"/>
            </a:xfrm>
            <a:custGeom>
              <a:avLst/>
              <a:gdLst/>
              <a:ahLst/>
              <a:cxnLst/>
              <a:rect l="l" t="t" r="r" b="b"/>
              <a:pathLst>
                <a:path w="5002530" h="299084">
                  <a:moveTo>
                    <a:pt x="0" y="26384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3846"/>
                  </a:lnTo>
                  <a:lnTo>
                    <a:pt x="4999354" y="277478"/>
                  </a:lnTo>
                  <a:lnTo>
                    <a:pt x="4991849" y="288610"/>
                  </a:lnTo>
                  <a:lnTo>
                    <a:pt x="4980717" y="296115"/>
                  </a:lnTo>
                  <a:lnTo>
                    <a:pt x="4967085" y="298867"/>
                  </a:lnTo>
                  <a:lnTo>
                    <a:pt x="35021" y="298867"/>
                  </a:lnTo>
                  <a:lnTo>
                    <a:pt x="21389" y="296115"/>
                  </a:lnTo>
                  <a:lnTo>
                    <a:pt x="10257" y="288610"/>
                  </a:lnTo>
                  <a:lnTo>
                    <a:pt x="2752" y="277478"/>
                  </a:lnTo>
                  <a:lnTo>
                    <a:pt x="0" y="26384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1633191"/>
            <a:ext cx="5015230" cy="312420"/>
            <a:chOff x="372646" y="1633191"/>
            <a:chExt cx="5015230" cy="312420"/>
          </a:xfrm>
        </p:grpSpPr>
        <p:sp>
          <p:nvSpPr>
            <p:cNvPr id="7" name="object 7"/>
            <p:cNvSpPr/>
            <p:nvPr/>
          </p:nvSpPr>
          <p:spPr>
            <a:xfrm>
              <a:off x="377994" y="1638538"/>
              <a:ext cx="5004435" cy="301625"/>
            </a:xfrm>
            <a:custGeom>
              <a:avLst/>
              <a:gdLst/>
              <a:ahLst/>
              <a:cxnLst/>
              <a:rect l="l" t="t" r="r" b="b"/>
              <a:pathLst>
                <a:path w="5004435" h="30162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5331"/>
                  </a:lnTo>
                  <a:lnTo>
                    <a:pt x="2829" y="279344"/>
                  </a:lnTo>
                  <a:lnTo>
                    <a:pt x="10544" y="290787"/>
                  </a:lnTo>
                  <a:lnTo>
                    <a:pt x="21987" y="298502"/>
                  </a:lnTo>
                  <a:lnTo>
                    <a:pt x="36000" y="301331"/>
                  </a:lnTo>
                  <a:lnTo>
                    <a:pt x="4968064" y="301331"/>
                  </a:lnTo>
                  <a:lnTo>
                    <a:pt x="4982077" y="298502"/>
                  </a:lnTo>
                  <a:lnTo>
                    <a:pt x="4993521" y="290787"/>
                  </a:lnTo>
                  <a:lnTo>
                    <a:pt x="5001236" y="279344"/>
                  </a:lnTo>
                  <a:lnTo>
                    <a:pt x="5004065" y="26533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1639517"/>
              <a:ext cx="5002530" cy="299720"/>
            </a:xfrm>
            <a:custGeom>
              <a:avLst/>
              <a:gdLst/>
              <a:ahLst/>
              <a:cxnLst/>
              <a:rect l="l" t="t" r="r" b="b"/>
              <a:pathLst>
                <a:path w="5002530" h="299719">
                  <a:moveTo>
                    <a:pt x="0" y="26435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4352"/>
                  </a:lnTo>
                  <a:lnTo>
                    <a:pt x="4999354" y="277984"/>
                  </a:lnTo>
                  <a:lnTo>
                    <a:pt x="4991849" y="289115"/>
                  </a:lnTo>
                  <a:lnTo>
                    <a:pt x="4980717" y="296621"/>
                  </a:lnTo>
                  <a:lnTo>
                    <a:pt x="4967085" y="299373"/>
                  </a:lnTo>
                  <a:lnTo>
                    <a:pt x="35021" y="299373"/>
                  </a:lnTo>
                  <a:lnTo>
                    <a:pt x="21389" y="296621"/>
                  </a:lnTo>
                  <a:lnTo>
                    <a:pt x="10257" y="289115"/>
                  </a:lnTo>
                  <a:lnTo>
                    <a:pt x="2752" y="277984"/>
                  </a:lnTo>
                  <a:lnTo>
                    <a:pt x="0" y="26435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1718" y="523107"/>
            <a:ext cx="5013325" cy="2336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 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two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ways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server:</a:t>
            </a:r>
            <a:endParaRPr sz="900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5110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localhost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(default):</a:t>
            </a:r>
            <a:r>
              <a:rPr sz="9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accessible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  <a:buClr>
                <a:srgbClr val="22373A"/>
              </a:buClr>
              <a:buFont typeface="Arial"/>
              <a:buChar char="•"/>
            </a:pPr>
            <a:endParaRPr sz="90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sz="800" spc="-60" dirty="0">
                <a:latin typeface="Courier New"/>
                <a:cs typeface="Courier New"/>
              </a:rPr>
              <a:t>jupyter</a:t>
            </a:r>
            <a:r>
              <a:rPr sz="800" spc="-10" dirty="0">
                <a:latin typeface="Courier New"/>
                <a:cs typeface="Courier New"/>
              </a:rPr>
              <a:t> notebook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800">
              <a:latin typeface="Courier New"/>
              <a:cs typeface="Courier New"/>
            </a:endParaRPr>
          </a:p>
          <a:p>
            <a:pPr marL="245110" indent="-147320">
              <a:lnSpc>
                <a:spcPct val="100000"/>
              </a:lnSpc>
              <a:buChar char="•"/>
              <a:tabLst>
                <a:tab pos="245110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IP: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Accessible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  <a:buClr>
                <a:srgbClr val="22373A"/>
              </a:buClr>
              <a:buFont typeface="Arial"/>
              <a:buChar char="•"/>
            </a:pPr>
            <a:endParaRPr sz="90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sz="800" spc="-60" dirty="0">
                <a:latin typeface="Courier New"/>
                <a:cs typeface="Courier New"/>
              </a:rPr>
              <a:t>jupyter</a:t>
            </a:r>
            <a:r>
              <a:rPr sz="800" spc="-1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notebook</a:t>
            </a:r>
            <a:r>
              <a:rPr sz="800" spc="-5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sz="800" spc="-55" dirty="0">
                <a:solidFill>
                  <a:srgbClr val="7C8E28"/>
                </a:solidFill>
                <a:latin typeface="Courier New"/>
                <a:cs typeface="Courier New"/>
              </a:rPr>
              <a:t>ip</a:t>
            </a:r>
            <a:r>
              <a:rPr sz="800" spc="-55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55" dirty="0">
                <a:solidFill>
                  <a:srgbClr val="BC7A00"/>
                </a:solidFill>
                <a:latin typeface="Courier New"/>
                <a:cs typeface="Courier New"/>
              </a:rPr>
              <a:t>?</a:t>
            </a:r>
            <a:r>
              <a:rPr sz="800" spc="-10" dirty="0">
                <a:solidFill>
                  <a:srgbClr val="BC7A00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sz="800" spc="-10" dirty="0">
                <a:solidFill>
                  <a:srgbClr val="7C8E28"/>
                </a:solidFill>
                <a:latin typeface="Courier New"/>
                <a:cs typeface="Courier New"/>
              </a:rPr>
              <a:t>port</a:t>
            </a:r>
            <a:r>
              <a:rPr sz="800"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10" dirty="0">
                <a:solidFill>
                  <a:srgbClr val="BC7A00"/>
                </a:solidFill>
                <a:latin typeface="Courier New"/>
                <a:cs typeface="Courier New"/>
              </a:rPr>
              <a:t>?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800">
              <a:latin typeface="Courier New"/>
              <a:cs typeface="Courier New"/>
            </a:endParaRPr>
          </a:p>
          <a:p>
            <a:pPr marL="245110" indent="-147320">
              <a:lnSpc>
                <a:spcPct val="100000"/>
              </a:lnSpc>
              <a:buFont typeface="Arial"/>
              <a:buChar char="•"/>
              <a:tabLst>
                <a:tab pos="24511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473075" lvl="1" indent="-140335">
              <a:lnSpc>
                <a:spcPct val="100000"/>
              </a:lnSpc>
              <a:spcBef>
                <a:spcPts val="50"/>
              </a:spcBef>
              <a:buChar char="•"/>
              <a:tabLst>
                <a:tab pos="473075" algn="l"/>
              </a:tabLst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0.0.0.0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(default):</a:t>
            </a:r>
            <a:r>
              <a:rPr sz="800" spc="1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Listen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addresses.</a:t>
            </a:r>
            <a:endParaRPr sz="800">
              <a:latin typeface="Arial"/>
              <a:cs typeface="Arial"/>
            </a:endParaRPr>
          </a:p>
          <a:p>
            <a:pPr marL="47307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47307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IP: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Obtain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800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245110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473709" marR="5080" lvl="1" indent="-140970">
              <a:lnSpc>
                <a:spcPts val="1030"/>
              </a:lnSpc>
              <a:spcBef>
                <a:spcPts val="30"/>
              </a:spcBef>
              <a:buChar char="•"/>
              <a:tabLst>
                <a:tab pos="473709" algn="l"/>
              </a:tabLst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8888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(default):</a:t>
            </a:r>
            <a:r>
              <a:rPr sz="8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Notebook.</a:t>
            </a:r>
            <a:r>
              <a:rPr sz="800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8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8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8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8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spc="-30" dirty="0">
                <a:solidFill>
                  <a:srgbClr val="22373A"/>
                </a:solidFill>
                <a:latin typeface="Arial"/>
                <a:cs typeface="Arial"/>
              </a:rPr>
              <a:t>opened</a:t>
            </a:r>
            <a:r>
              <a:rPr sz="8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8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spc="-3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800" b="1" spc="-10" dirty="0">
                <a:solidFill>
                  <a:srgbClr val="22373A"/>
                </a:solidFill>
                <a:latin typeface="Arial"/>
                <a:cs typeface="Arial"/>
              </a:rPr>
              <a:t> group.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4782185" cy="5080"/>
            </a:xfrm>
            <a:custGeom>
              <a:avLst/>
              <a:gdLst/>
              <a:ahLst/>
              <a:cxnLst/>
              <a:rect l="l" t="t" r="r" b="b"/>
              <a:pathLst>
                <a:path w="4782185" h="5080">
                  <a:moveTo>
                    <a:pt x="0" y="5060"/>
                  </a:moveTo>
                  <a:lnTo>
                    <a:pt x="0" y="0"/>
                  </a:lnTo>
                  <a:lnTo>
                    <a:pt x="4781926" y="0"/>
                  </a:lnTo>
                  <a:lnTo>
                    <a:pt x="478192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Opening</a:t>
            </a:r>
            <a:r>
              <a:rPr spc="2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dirty="0"/>
              <a:t>port</a:t>
            </a:r>
            <a:r>
              <a:rPr spc="20" dirty="0"/>
              <a:t> </a:t>
            </a:r>
            <a:r>
              <a:rPr spc="-20" dirty="0"/>
              <a:t>8888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012" y="395634"/>
            <a:ext cx="3601720" cy="105600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Search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Groups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(EC2).</a:t>
            </a:r>
            <a:r>
              <a:rPr sz="9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launch-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wizard-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1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Edit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inbound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sz="900">
              <a:latin typeface="Arial"/>
              <a:cs typeface="Arial"/>
            </a:endParaRPr>
          </a:p>
          <a:p>
            <a:pPr marL="384810" lvl="1" indent="-137160">
              <a:lnSpc>
                <a:spcPct val="100000"/>
              </a:lnSpc>
              <a:spcBef>
                <a:spcPts val="50"/>
              </a:spcBef>
              <a:buChar char="•"/>
              <a:tabLst>
                <a:tab pos="384810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Type:</a:t>
            </a:r>
            <a:r>
              <a:rPr sz="8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Custom</a:t>
            </a:r>
            <a:r>
              <a:rPr sz="8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TCP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Range:</a:t>
            </a:r>
            <a:r>
              <a:rPr sz="8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8888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Source:</a:t>
            </a:r>
            <a:r>
              <a:rPr sz="8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Anywhere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(0.0.0.0/0)</a:t>
            </a:r>
            <a:endParaRPr sz="8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160020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Delete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old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rule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HTTP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(port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80).</a:t>
            </a:r>
            <a:endParaRPr sz="9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changes.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068" y="1575063"/>
            <a:ext cx="2519863" cy="11976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0019" y="1575061"/>
            <a:ext cx="2519968" cy="137710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4890770" cy="5080"/>
            </a:xfrm>
            <a:custGeom>
              <a:avLst/>
              <a:gdLst/>
              <a:ahLst/>
              <a:cxnLst/>
              <a:rect l="l" t="t" r="r" b="b"/>
              <a:pathLst>
                <a:path w="4890770" h="5080">
                  <a:moveTo>
                    <a:pt x="0" y="5060"/>
                  </a:moveTo>
                  <a:lnTo>
                    <a:pt x="0" y="0"/>
                  </a:lnTo>
                  <a:lnTo>
                    <a:pt x="4890648" y="0"/>
                  </a:lnTo>
                  <a:lnTo>
                    <a:pt x="489064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Running</a:t>
            </a:r>
            <a:r>
              <a:rPr spc="10" dirty="0"/>
              <a:t> </a:t>
            </a:r>
            <a:r>
              <a:rPr spc="-20" dirty="0"/>
              <a:t>Jupyter</a:t>
            </a:r>
            <a:r>
              <a:rPr spc="15" dirty="0"/>
              <a:t> </a:t>
            </a:r>
            <a:r>
              <a:rPr spc="-10" dirty="0"/>
              <a:t>Notebook</a:t>
            </a:r>
            <a:r>
              <a:rPr spc="15" dirty="0"/>
              <a:t> </a:t>
            </a:r>
            <a:r>
              <a:rPr spc="55" dirty="0"/>
              <a:t>(II)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376515"/>
            <a:ext cx="5015230" cy="574040"/>
            <a:chOff x="372646" y="376515"/>
            <a:chExt cx="5015230" cy="574040"/>
          </a:xfrm>
        </p:grpSpPr>
        <p:sp>
          <p:nvSpPr>
            <p:cNvPr id="4" name="object 4"/>
            <p:cNvSpPr/>
            <p:nvPr/>
          </p:nvSpPr>
          <p:spPr>
            <a:xfrm>
              <a:off x="377994" y="381862"/>
              <a:ext cx="5004435" cy="563245"/>
            </a:xfrm>
            <a:custGeom>
              <a:avLst/>
              <a:gdLst/>
              <a:ahLst/>
              <a:cxnLst/>
              <a:rect l="l" t="t" r="r" b="b"/>
              <a:pathLst>
                <a:path w="5004435" h="563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527241"/>
                  </a:lnTo>
                  <a:lnTo>
                    <a:pt x="2829" y="541254"/>
                  </a:lnTo>
                  <a:lnTo>
                    <a:pt x="10544" y="552697"/>
                  </a:lnTo>
                  <a:lnTo>
                    <a:pt x="21987" y="560412"/>
                  </a:lnTo>
                  <a:lnTo>
                    <a:pt x="36000" y="563241"/>
                  </a:lnTo>
                  <a:lnTo>
                    <a:pt x="4968064" y="563241"/>
                  </a:lnTo>
                  <a:lnTo>
                    <a:pt x="4982077" y="560412"/>
                  </a:lnTo>
                  <a:lnTo>
                    <a:pt x="4993521" y="552697"/>
                  </a:lnTo>
                  <a:lnTo>
                    <a:pt x="5001236" y="541254"/>
                  </a:lnTo>
                  <a:lnTo>
                    <a:pt x="5004065" y="52724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382841"/>
              <a:ext cx="5002530" cy="561340"/>
            </a:xfrm>
            <a:custGeom>
              <a:avLst/>
              <a:gdLst/>
              <a:ahLst/>
              <a:cxnLst/>
              <a:rect l="l" t="t" r="r" b="b"/>
              <a:pathLst>
                <a:path w="5002530" h="561340">
                  <a:moveTo>
                    <a:pt x="0" y="52626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526262"/>
                  </a:lnTo>
                  <a:lnTo>
                    <a:pt x="4999354" y="539894"/>
                  </a:lnTo>
                  <a:lnTo>
                    <a:pt x="4991849" y="551026"/>
                  </a:lnTo>
                  <a:lnTo>
                    <a:pt x="4980717" y="558531"/>
                  </a:lnTo>
                  <a:lnTo>
                    <a:pt x="4967085" y="561283"/>
                  </a:lnTo>
                  <a:lnTo>
                    <a:pt x="35021" y="561283"/>
                  </a:lnTo>
                  <a:lnTo>
                    <a:pt x="21389" y="558531"/>
                  </a:lnTo>
                  <a:lnTo>
                    <a:pt x="10257" y="551026"/>
                  </a:lnTo>
                  <a:lnTo>
                    <a:pt x="2752" y="539894"/>
                  </a:lnTo>
                  <a:lnTo>
                    <a:pt x="0" y="52626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45299" y="429310"/>
            <a:ext cx="2766695" cy="41846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800" spc="-60" dirty="0">
                <a:latin typeface="Courier New"/>
                <a:cs typeface="Courier New"/>
              </a:rPr>
              <a:t>jupyter</a:t>
            </a:r>
            <a:r>
              <a:rPr sz="800" spc="-5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notebook</a:t>
            </a:r>
            <a:r>
              <a:rPr sz="800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sz="800" spc="-55" dirty="0">
                <a:solidFill>
                  <a:srgbClr val="7C8E28"/>
                </a:solidFill>
                <a:latin typeface="Courier New"/>
                <a:cs typeface="Courier New"/>
              </a:rPr>
              <a:t>ip</a:t>
            </a:r>
            <a:r>
              <a:rPr sz="800" spc="-55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55" dirty="0">
                <a:latin typeface="Courier New"/>
                <a:cs typeface="Courier New"/>
              </a:rPr>
              <a:t>0.0.0.0</a:t>
            </a:r>
            <a:r>
              <a:rPr sz="800" spc="-5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sz="800" spc="-10" dirty="0">
                <a:solidFill>
                  <a:srgbClr val="7C8E28"/>
                </a:solidFill>
                <a:latin typeface="Courier New"/>
                <a:cs typeface="Courier New"/>
              </a:rPr>
              <a:t>port</a:t>
            </a:r>
            <a:r>
              <a:rPr sz="800"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10" dirty="0">
                <a:latin typeface="Courier New"/>
                <a:cs typeface="Courier New"/>
              </a:rPr>
              <a:t>8888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# 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In</a:t>
            </a:r>
            <a:r>
              <a:rPr sz="800" i="1" spc="-5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sz="800" i="1" spc="-5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10" dirty="0">
                <a:solidFill>
                  <a:srgbClr val="60A0AF"/>
                </a:solidFill>
                <a:latin typeface="Courier New"/>
                <a:cs typeface="Courier New"/>
              </a:rPr>
              <a:t>browser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800" spc="-60" dirty="0">
                <a:latin typeface="Courier New"/>
                <a:cs typeface="Courier New"/>
                <a:hlinkClick r:id="rId3"/>
              </a:rPr>
              <a:t>http://ec2-3-87-76-117.compute-</a:t>
            </a:r>
            <a:r>
              <a:rPr sz="800" spc="-55" dirty="0">
                <a:latin typeface="Courier New"/>
                <a:cs typeface="Courier New"/>
                <a:hlinkClick r:id="rId3"/>
              </a:rPr>
              <a:t>1.amazonaws.com:8888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7304" y="1053142"/>
            <a:ext cx="155130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Before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endParaRPr sz="9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0017" y="1277768"/>
            <a:ext cx="2519972" cy="185925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87294" y="1053142"/>
            <a:ext cx="14801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After</a:t>
            </a:r>
            <a:r>
              <a:rPr sz="9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sz="9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00108" y="1277764"/>
            <a:ext cx="2519795" cy="1801121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2" name="object 12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4999355" cy="5080"/>
            </a:xfrm>
            <a:custGeom>
              <a:avLst/>
              <a:gdLst/>
              <a:ahLst/>
              <a:cxnLst/>
              <a:rect l="l" t="t" r="r" b="b"/>
              <a:pathLst>
                <a:path w="4999355" h="5080">
                  <a:moveTo>
                    <a:pt x="0" y="5060"/>
                  </a:moveTo>
                  <a:lnTo>
                    <a:pt x="0" y="0"/>
                  </a:lnTo>
                  <a:lnTo>
                    <a:pt x="4999282" y="0"/>
                  </a:lnTo>
                  <a:lnTo>
                    <a:pt x="499928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Accessing</a:t>
            </a:r>
            <a:r>
              <a:rPr spc="30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spc="-20" dirty="0"/>
              <a:t>Jupyter</a:t>
            </a:r>
            <a:r>
              <a:rPr spc="30" dirty="0"/>
              <a:t> </a:t>
            </a:r>
            <a:r>
              <a:rPr spc="-10" dirty="0"/>
              <a:t>Notebook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59367" y="703200"/>
            <a:ext cx="384175" cy="123189"/>
            <a:chOff x="2459367" y="703200"/>
            <a:chExt cx="384175" cy="123189"/>
          </a:xfrm>
        </p:grpSpPr>
        <p:sp>
          <p:nvSpPr>
            <p:cNvPr id="4" name="object 4"/>
            <p:cNvSpPr/>
            <p:nvPr/>
          </p:nvSpPr>
          <p:spPr>
            <a:xfrm>
              <a:off x="2459367" y="703200"/>
              <a:ext cx="384175" cy="123189"/>
            </a:xfrm>
            <a:custGeom>
              <a:avLst/>
              <a:gdLst/>
              <a:ahLst/>
              <a:cxnLst/>
              <a:rect l="l" t="t" r="r" b="b"/>
              <a:pathLst>
                <a:path w="384175" h="12319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348009" y="122693"/>
                  </a:lnTo>
                  <a:lnTo>
                    <a:pt x="362022" y="119864"/>
                  </a:lnTo>
                  <a:lnTo>
                    <a:pt x="373465" y="112148"/>
                  </a:lnTo>
                  <a:lnTo>
                    <a:pt x="381180" y="100705"/>
                  </a:lnTo>
                  <a:lnTo>
                    <a:pt x="384009" y="86692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59367" y="703200"/>
              <a:ext cx="384175" cy="123189"/>
            </a:xfrm>
            <a:custGeom>
              <a:avLst/>
              <a:gdLst/>
              <a:ahLst/>
              <a:cxnLst/>
              <a:rect l="l" t="t" r="r" b="b"/>
              <a:pathLst>
                <a:path w="384175" h="12319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348009" y="122693"/>
                  </a:lnTo>
                  <a:lnTo>
                    <a:pt x="362022" y="119864"/>
                  </a:lnTo>
                  <a:lnTo>
                    <a:pt x="373465" y="112148"/>
                  </a:lnTo>
                  <a:lnTo>
                    <a:pt x="381180" y="100705"/>
                  </a:lnTo>
                  <a:lnTo>
                    <a:pt x="384009" y="86692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111423" y="703200"/>
            <a:ext cx="742950" cy="123189"/>
            <a:chOff x="3111423" y="703200"/>
            <a:chExt cx="742950" cy="123189"/>
          </a:xfrm>
        </p:grpSpPr>
        <p:sp>
          <p:nvSpPr>
            <p:cNvPr id="7" name="object 7"/>
            <p:cNvSpPr/>
            <p:nvPr/>
          </p:nvSpPr>
          <p:spPr>
            <a:xfrm>
              <a:off x="3111423" y="703200"/>
              <a:ext cx="742950" cy="123189"/>
            </a:xfrm>
            <a:custGeom>
              <a:avLst/>
              <a:gdLst/>
              <a:ahLst/>
              <a:cxnLst/>
              <a:rect l="l" t="t" r="r" b="b"/>
              <a:pathLst>
                <a:path w="742950" h="123190">
                  <a:moveTo>
                    <a:pt x="70671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06713" y="122693"/>
                  </a:lnTo>
                  <a:lnTo>
                    <a:pt x="720727" y="119864"/>
                  </a:lnTo>
                  <a:lnTo>
                    <a:pt x="732170" y="112148"/>
                  </a:lnTo>
                  <a:lnTo>
                    <a:pt x="739885" y="100705"/>
                  </a:lnTo>
                  <a:lnTo>
                    <a:pt x="742714" y="86692"/>
                  </a:lnTo>
                  <a:lnTo>
                    <a:pt x="742714" y="36000"/>
                  </a:lnTo>
                  <a:lnTo>
                    <a:pt x="739885" y="21987"/>
                  </a:lnTo>
                  <a:lnTo>
                    <a:pt x="732170" y="10544"/>
                  </a:lnTo>
                  <a:lnTo>
                    <a:pt x="720727" y="2829"/>
                  </a:lnTo>
                  <a:lnTo>
                    <a:pt x="70671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11423" y="703200"/>
              <a:ext cx="742950" cy="123189"/>
            </a:xfrm>
            <a:custGeom>
              <a:avLst/>
              <a:gdLst/>
              <a:ahLst/>
              <a:cxnLst/>
              <a:rect l="l" t="t" r="r" b="b"/>
              <a:pathLst>
                <a:path w="742950" h="123190">
                  <a:moveTo>
                    <a:pt x="70671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06713" y="122693"/>
                  </a:lnTo>
                  <a:lnTo>
                    <a:pt x="720727" y="119864"/>
                  </a:lnTo>
                  <a:lnTo>
                    <a:pt x="732170" y="112148"/>
                  </a:lnTo>
                  <a:lnTo>
                    <a:pt x="739885" y="100705"/>
                  </a:lnTo>
                  <a:lnTo>
                    <a:pt x="742714" y="86692"/>
                  </a:lnTo>
                  <a:lnTo>
                    <a:pt x="742714" y="36000"/>
                  </a:lnTo>
                  <a:lnTo>
                    <a:pt x="739885" y="21987"/>
                  </a:lnTo>
                  <a:lnTo>
                    <a:pt x="732170" y="10544"/>
                  </a:lnTo>
                  <a:lnTo>
                    <a:pt x="720727" y="2829"/>
                  </a:lnTo>
                  <a:lnTo>
                    <a:pt x="70671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490744"/>
            <a:ext cx="487616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Copy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token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terminal.</a:t>
            </a:r>
            <a:r>
              <a:rPr sz="9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browser.</a:t>
            </a:r>
            <a:r>
              <a:rPr sz="9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(If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you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trouble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copying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token,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instead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latin typeface="Courier New"/>
                <a:cs typeface="Courier New"/>
              </a:rPr>
              <a:t>Ctrl+C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Ctrl+Shift+C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terminal).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004" y="958650"/>
            <a:ext cx="2519990" cy="18950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0032" y="958660"/>
            <a:ext cx="2519946" cy="189839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3" name="object 13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5108575" cy="5080"/>
            </a:xfrm>
            <a:custGeom>
              <a:avLst/>
              <a:gdLst/>
              <a:ahLst/>
              <a:cxnLst/>
              <a:rect l="l" t="t" r="r" b="b"/>
              <a:pathLst>
                <a:path w="5108575" h="5080">
                  <a:moveTo>
                    <a:pt x="0" y="5060"/>
                  </a:moveTo>
                  <a:lnTo>
                    <a:pt x="0" y="0"/>
                  </a:lnTo>
                  <a:lnTo>
                    <a:pt x="5108005" y="0"/>
                  </a:lnTo>
                  <a:lnTo>
                    <a:pt x="51080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Accessing</a:t>
            </a:r>
            <a:r>
              <a:rPr spc="30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spc="-20" dirty="0"/>
              <a:t>Jupyter</a:t>
            </a:r>
            <a:r>
              <a:rPr spc="30" dirty="0"/>
              <a:t> </a:t>
            </a:r>
            <a:r>
              <a:rPr spc="-10" dirty="0"/>
              <a:t>Notebook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55483" y="1012816"/>
            <a:ext cx="504190" cy="147320"/>
            <a:chOff x="1355483" y="1012816"/>
            <a:chExt cx="504190" cy="147320"/>
          </a:xfrm>
        </p:grpSpPr>
        <p:sp>
          <p:nvSpPr>
            <p:cNvPr id="4" name="object 4"/>
            <p:cNvSpPr/>
            <p:nvPr/>
          </p:nvSpPr>
          <p:spPr>
            <a:xfrm>
              <a:off x="1355483" y="1012816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8" y="147290"/>
                  </a:lnTo>
                  <a:lnTo>
                    <a:pt x="481590" y="144460"/>
                  </a:lnTo>
                  <a:lnTo>
                    <a:pt x="493034" y="136745"/>
                  </a:lnTo>
                  <a:lnTo>
                    <a:pt x="500749" y="125302"/>
                  </a:lnTo>
                  <a:lnTo>
                    <a:pt x="503578" y="111289"/>
                  </a:lnTo>
                  <a:lnTo>
                    <a:pt x="503578" y="36000"/>
                  </a:lnTo>
                  <a:lnTo>
                    <a:pt x="500749" y="21987"/>
                  </a:lnTo>
                  <a:lnTo>
                    <a:pt x="493034" y="10544"/>
                  </a:lnTo>
                  <a:lnTo>
                    <a:pt x="481590" y="2829"/>
                  </a:lnTo>
                  <a:lnTo>
                    <a:pt x="46757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55483" y="1012816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8" y="147290"/>
                  </a:lnTo>
                  <a:lnTo>
                    <a:pt x="481590" y="144460"/>
                  </a:lnTo>
                  <a:lnTo>
                    <a:pt x="493034" y="136745"/>
                  </a:lnTo>
                  <a:lnTo>
                    <a:pt x="500749" y="125302"/>
                  </a:lnTo>
                  <a:lnTo>
                    <a:pt x="503578" y="111289"/>
                  </a:lnTo>
                  <a:lnTo>
                    <a:pt x="503578" y="36000"/>
                  </a:lnTo>
                  <a:lnTo>
                    <a:pt x="500749" y="21987"/>
                  </a:lnTo>
                  <a:lnTo>
                    <a:pt x="493034" y="10544"/>
                  </a:lnTo>
                  <a:lnTo>
                    <a:pt x="481590" y="2829"/>
                  </a:lnTo>
                  <a:lnTo>
                    <a:pt x="46757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200093" y="1012816"/>
            <a:ext cx="504190" cy="147320"/>
            <a:chOff x="4200093" y="1012816"/>
            <a:chExt cx="504190" cy="147320"/>
          </a:xfrm>
        </p:grpSpPr>
        <p:sp>
          <p:nvSpPr>
            <p:cNvPr id="7" name="object 7"/>
            <p:cNvSpPr/>
            <p:nvPr/>
          </p:nvSpPr>
          <p:spPr>
            <a:xfrm>
              <a:off x="4200093" y="1012816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8" y="147290"/>
                  </a:lnTo>
                  <a:lnTo>
                    <a:pt x="481590" y="144460"/>
                  </a:lnTo>
                  <a:lnTo>
                    <a:pt x="493034" y="136745"/>
                  </a:lnTo>
                  <a:lnTo>
                    <a:pt x="500749" y="125302"/>
                  </a:lnTo>
                  <a:lnTo>
                    <a:pt x="503578" y="111289"/>
                  </a:lnTo>
                  <a:lnTo>
                    <a:pt x="503578" y="36000"/>
                  </a:lnTo>
                  <a:lnTo>
                    <a:pt x="500749" y="21987"/>
                  </a:lnTo>
                  <a:lnTo>
                    <a:pt x="493034" y="10544"/>
                  </a:lnTo>
                  <a:lnTo>
                    <a:pt x="481590" y="2829"/>
                  </a:lnTo>
                  <a:lnTo>
                    <a:pt x="46757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00093" y="1012816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8" y="147290"/>
                  </a:lnTo>
                  <a:lnTo>
                    <a:pt x="481590" y="144460"/>
                  </a:lnTo>
                  <a:lnTo>
                    <a:pt x="493034" y="136745"/>
                  </a:lnTo>
                  <a:lnTo>
                    <a:pt x="500749" y="125302"/>
                  </a:lnTo>
                  <a:lnTo>
                    <a:pt x="503578" y="111289"/>
                  </a:lnTo>
                  <a:lnTo>
                    <a:pt x="503578" y="36000"/>
                  </a:lnTo>
                  <a:lnTo>
                    <a:pt x="500749" y="21987"/>
                  </a:lnTo>
                  <a:lnTo>
                    <a:pt x="493034" y="10544"/>
                  </a:lnTo>
                  <a:lnTo>
                    <a:pt x="481590" y="2829"/>
                  </a:lnTo>
                  <a:lnTo>
                    <a:pt x="46757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424746"/>
            <a:ext cx="4992370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 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Notebook, to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 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following:</a:t>
            </a:r>
            <a:endParaRPr sz="900">
              <a:latin typeface="Arial"/>
              <a:cs typeface="Arial"/>
            </a:endParaRPr>
          </a:p>
          <a:p>
            <a:pPr marL="239395" indent="-147320" algn="just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Notebook.</a:t>
            </a:r>
            <a:endParaRPr sz="900">
              <a:latin typeface="Arial"/>
              <a:cs typeface="Arial"/>
            </a:endParaRPr>
          </a:p>
          <a:p>
            <a:pPr marL="234950" marR="5080" indent="-143510" algn="just">
              <a:lnSpc>
                <a:spcPct val="116199"/>
              </a:lnSpc>
              <a:buAutoNum type="arabicPeriod"/>
              <a:tabLst>
                <a:tab pos="240029" algn="l"/>
              </a:tabLst>
            </a:pP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prompted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kernel.</a:t>
            </a:r>
            <a:r>
              <a:rPr sz="900" spc="1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b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careful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fail,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	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change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Python</a:t>
            </a:r>
            <a:r>
              <a:rPr sz="900" spc="-75" dirty="0"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3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spc="-8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shown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below.</a:t>
            </a:r>
            <a:r>
              <a:rPr sz="900" spc="1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option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Python</a:t>
            </a:r>
            <a:r>
              <a:rPr sz="900" spc="-75" dirty="0"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3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fine,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	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leave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8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(we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saw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during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class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demonstration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option).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0300" y="1304221"/>
            <a:ext cx="3200400" cy="16932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59673" y="3020336"/>
            <a:ext cx="19348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23:</a:t>
            </a:r>
            <a:r>
              <a:rPr sz="800" b="1" spc="1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8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right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kernel</a:t>
            </a:r>
            <a:endParaRPr sz="8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3" name="object 13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5217160" cy="5080"/>
            </a:xfrm>
            <a:custGeom>
              <a:avLst/>
              <a:gdLst/>
              <a:ahLst/>
              <a:cxnLst/>
              <a:rect l="l" t="t" r="r" b="b"/>
              <a:pathLst>
                <a:path w="5217160" h="5080">
                  <a:moveTo>
                    <a:pt x="0" y="5060"/>
                  </a:moveTo>
                  <a:lnTo>
                    <a:pt x="0" y="0"/>
                  </a:lnTo>
                  <a:lnTo>
                    <a:pt x="5216639" y="0"/>
                  </a:lnTo>
                  <a:lnTo>
                    <a:pt x="521663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Running</a:t>
            </a:r>
            <a:r>
              <a:rPr spc="10" dirty="0"/>
              <a:t> </a:t>
            </a:r>
            <a:r>
              <a:rPr spc="-30" dirty="0"/>
              <a:t>python</a:t>
            </a:r>
            <a:r>
              <a:rPr spc="15" dirty="0"/>
              <a:t> </a:t>
            </a:r>
            <a:r>
              <a:rPr spc="-25" dirty="0"/>
              <a:t>code</a:t>
            </a:r>
            <a:r>
              <a:rPr spc="10" dirty="0"/>
              <a:t> </a:t>
            </a:r>
            <a:r>
              <a:rPr dirty="0"/>
              <a:t>in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25" dirty="0"/>
              <a:t>notebook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2657" y="735520"/>
            <a:ext cx="2494915" cy="1490980"/>
            <a:chOff x="252657" y="735520"/>
            <a:chExt cx="2494915" cy="1490980"/>
          </a:xfrm>
        </p:grpSpPr>
        <p:sp>
          <p:nvSpPr>
            <p:cNvPr id="4" name="object 4"/>
            <p:cNvSpPr/>
            <p:nvPr/>
          </p:nvSpPr>
          <p:spPr>
            <a:xfrm>
              <a:off x="258004" y="740868"/>
              <a:ext cx="2484120" cy="1480185"/>
            </a:xfrm>
            <a:custGeom>
              <a:avLst/>
              <a:gdLst/>
              <a:ahLst/>
              <a:cxnLst/>
              <a:rect l="l" t="t" r="r" b="b"/>
              <a:pathLst>
                <a:path w="2484120" h="1480185">
                  <a:moveTo>
                    <a:pt x="244803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443925"/>
                  </a:lnTo>
                  <a:lnTo>
                    <a:pt x="2829" y="1457938"/>
                  </a:lnTo>
                  <a:lnTo>
                    <a:pt x="10544" y="1469381"/>
                  </a:lnTo>
                  <a:lnTo>
                    <a:pt x="21987" y="1477097"/>
                  </a:lnTo>
                  <a:lnTo>
                    <a:pt x="36000" y="1479926"/>
                  </a:lnTo>
                  <a:lnTo>
                    <a:pt x="2448032" y="1479926"/>
                  </a:lnTo>
                  <a:lnTo>
                    <a:pt x="2462045" y="1477097"/>
                  </a:lnTo>
                  <a:lnTo>
                    <a:pt x="2473488" y="1469381"/>
                  </a:lnTo>
                  <a:lnTo>
                    <a:pt x="2481203" y="1457938"/>
                  </a:lnTo>
                  <a:lnTo>
                    <a:pt x="2484032" y="1443925"/>
                  </a:lnTo>
                  <a:lnTo>
                    <a:pt x="2484032" y="36000"/>
                  </a:lnTo>
                  <a:lnTo>
                    <a:pt x="2481203" y="21987"/>
                  </a:lnTo>
                  <a:lnTo>
                    <a:pt x="2473488" y="10544"/>
                  </a:lnTo>
                  <a:lnTo>
                    <a:pt x="2462045" y="2829"/>
                  </a:lnTo>
                  <a:lnTo>
                    <a:pt x="244803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8983" y="741847"/>
              <a:ext cx="2482215" cy="1478280"/>
            </a:xfrm>
            <a:custGeom>
              <a:avLst/>
              <a:gdLst/>
              <a:ahLst/>
              <a:cxnLst/>
              <a:rect l="l" t="t" r="r" b="b"/>
              <a:pathLst>
                <a:path w="2482215" h="1478280">
                  <a:moveTo>
                    <a:pt x="0" y="144294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2447052" y="0"/>
                  </a:lnTo>
                  <a:lnTo>
                    <a:pt x="2460684" y="2752"/>
                  </a:lnTo>
                  <a:lnTo>
                    <a:pt x="2471816" y="10257"/>
                  </a:lnTo>
                  <a:lnTo>
                    <a:pt x="2479321" y="21389"/>
                  </a:lnTo>
                  <a:lnTo>
                    <a:pt x="2482074" y="35021"/>
                  </a:lnTo>
                  <a:lnTo>
                    <a:pt x="2482074" y="1442946"/>
                  </a:lnTo>
                  <a:lnTo>
                    <a:pt x="2479321" y="1456578"/>
                  </a:lnTo>
                  <a:lnTo>
                    <a:pt x="2471816" y="1467710"/>
                  </a:lnTo>
                  <a:lnTo>
                    <a:pt x="2460684" y="1475215"/>
                  </a:lnTo>
                  <a:lnTo>
                    <a:pt x="2447052" y="1477967"/>
                  </a:lnTo>
                  <a:lnTo>
                    <a:pt x="35021" y="1477967"/>
                  </a:lnTo>
                  <a:lnTo>
                    <a:pt x="21389" y="1475215"/>
                  </a:lnTo>
                  <a:lnTo>
                    <a:pt x="10257" y="1467710"/>
                  </a:lnTo>
                  <a:lnTo>
                    <a:pt x="2752" y="1456578"/>
                  </a:lnTo>
                  <a:lnTo>
                    <a:pt x="0" y="144294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371520"/>
            <a:ext cx="3636010" cy="17519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3.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900">
              <a:latin typeface="Arial"/>
              <a:cs typeface="Arial"/>
            </a:endParaRPr>
          </a:p>
          <a:p>
            <a:pPr marL="90170">
              <a:lnSpc>
                <a:spcPct val="100000"/>
              </a:lnSpc>
            </a:pPr>
            <a:r>
              <a:rPr sz="800" spc="-55" dirty="0">
                <a:solidFill>
                  <a:srgbClr val="666666"/>
                </a:solidFill>
                <a:latin typeface="Courier New"/>
                <a:cs typeface="Courier New"/>
              </a:rPr>
              <a:t>!</a:t>
            </a:r>
            <a:r>
              <a:rPr sz="800" spc="-55" dirty="0">
                <a:latin typeface="Courier New"/>
                <a:cs typeface="Courier New"/>
              </a:rPr>
              <a:t>pip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install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matplotlib</a:t>
            </a:r>
            <a:endParaRPr sz="800">
              <a:latin typeface="Courier New"/>
              <a:cs typeface="Courier New"/>
            </a:endParaRPr>
          </a:p>
          <a:p>
            <a:pPr marL="90170">
              <a:lnSpc>
                <a:spcPct val="100000"/>
              </a:lnSpc>
              <a:spcBef>
                <a:spcPts val="75"/>
              </a:spcBef>
            </a:pPr>
            <a:r>
              <a:rPr sz="800" spc="-55" dirty="0">
                <a:solidFill>
                  <a:srgbClr val="666666"/>
                </a:solidFill>
                <a:latin typeface="Courier New"/>
                <a:cs typeface="Courier New"/>
              </a:rPr>
              <a:t>!</a:t>
            </a:r>
            <a:r>
              <a:rPr sz="800" spc="-55" dirty="0">
                <a:latin typeface="Courier New"/>
                <a:cs typeface="Courier New"/>
              </a:rPr>
              <a:t>pip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install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numpy</a:t>
            </a:r>
            <a:endParaRPr sz="800">
              <a:latin typeface="Courier New"/>
              <a:cs typeface="Courier New"/>
            </a:endParaRPr>
          </a:p>
          <a:p>
            <a:pPr marL="90170">
              <a:lnSpc>
                <a:spcPct val="100000"/>
              </a:lnSpc>
              <a:spcBef>
                <a:spcPts val="70"/>
              </a:spcBef>
            </a:pPr>
            <a:r>
              <a:rPr sz="800" b="1" spc="-65" dirty="0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sz="800" b="1" spc="-3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matplotlib.pyplot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b="1" spc="-60" dirty="0">
                <a:solidFill>
                  <a:srgbClr val="007F00"/>
                </a:solidFill>
                <a:latin typeface="Courier New"/>
                <a:cs typeface="Courier New"/>
              </a:rPr>
              <a:t>as</a:t>
            </a:r>
            <a:r>
              <a:rPr sz="800" b="1" spc="-2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latin typeface="Courier New"/>
                <a:cs typeface="Courier New"/>
              </a:rPr>
              <a:t>plt</a:t>
            </a:r>
            <a:endParaRPr sz="800">
              <a:latin typeface="Courier New"/>
              <a:cs typeface="Courier New"/>
            </a:endParaRPr>
          </a:p>
          <a:p>
            <a:pPr marL="90170">
              <a:lnSpc>
                <a:spcPct val="100000"/>
              </a:lnSpc>
              <a:spcBef>
                <a:spcPts val="70"/>
              </a:spcBef>
            </a:pPr>
            <a:r>
              <a:rPr sz="800" b="1" spc="-65" dirty="0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sz="800" b="1" spc="-3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numpy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b="1" spc="-60" dirty="0">
                <a:solidFill>
                  <a:srgbClr val="007F00"/>
                </a:solidFill>
                <a:latin typeface="Courier New"/>
                <a:cs typeface="Courier New"/>
              </a:rPr>
              <a:t>as</a:t>
            </a:r>
            <a:r>
              <a:rPr sz="800" b="1" spc="-3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latin typeface="Courier New"/>
                <a:cs typeface="Courier New"/>
              </a:rPr>
              <a:t>np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800">
              <a:latin typeface="Courier New"/>
              <a:cs typeface="Courier New"/>
            </a:endParaRPr>
          </a:p>
          <a:p>
            <a:pPr marL="90170" marR="2085339">
              <a:lnSpc>
                <a:spcPct val="107400"/>
              </a:lnSpc>
            </a:pPr>
            <a:r>
              <a:rPr sz="800" dirty="0">
                <a:latin typeface="Courier New"/>
                <a:cs typeface="Courier New"/>
              </a:rPr>
              <a:t>x</a:t>
            </a:r>
            <a:r>
              <a:rPr sz="800" spc="-105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8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np.linspace(</a:t>
            </a:r>
            <a:r>
              <a:rPr sz="800" spc="-55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800" spc="-55" dirty="0">
                <a:latin typeface="Courier New"/>
                <a:cs typeface="Courier New"/>
              </a:rPr>
              <a:t>,</a:t>
            </a:r>
            <a:r>
              <a:rPr sz="800" spc="-60" dirty="0"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3FA070"/>
                </a:solidFill>
                <a:latin typeface="Courier New"/>
                <a:cs typeface="Courier New"/>
              </a:rPr>
              <a:t>10</a:t>
            </a:r>
            <a:r>
              <a:rPr sz="800" spc="-50" dirty="0">
                <a:latin typeface="Courier New"/>
                <a:cs typeface="Courier New"/>
              </a:rPr>
              <a:t>,</a:t>
            </a:r>
            <a:r>
              <a:rPr sz="800" spc="-70" dirty="0">
                <a:latin typeface="Courier New"/>
                <a:cs typeface="Courier New"/>
              </a:rPr>
              <a:t> </a:t>
            </a:r>
            <a:r>
              <a:rPr sz="800" spc="-55" dirty="0">
                <a:solidFill>
                  <a:srgbClr val="3FA070"/>
                </a:solidFill>
                <a:latin typeface="Courier New"/>
                <a:cs typeface="Courier New"/>
              </a:rPr>
              <a:t>100</a:t>
            </a:r>
            <a:r>
              <a:rPr sz="800" spc="-55" dirty="0">
                <a:latin typeface="Courier New"/>
                <a:cs typeface="Courier New"/>
              </a:rPr>
              <a:t>) </a:t>
            </a:r>
            <a:r>
              <a:rPr sz="800" dirty="0">
                <a:latin typeface="Courier New"/>
                <a:cs typeface="Courier New"/>
              </a:rPr>
              <a:t>y</a:t>
            </a:r>
            <a:r>
              <a:rPr sz="800" spc="-114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11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np.sin(x)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800">
              <a:latin typeface="Courier New"/>
              <a:cs typeface="Courier New"/>
            </a:endParaRPr>
          </a:p>
          <a:p>
            <a:pPr marL="90170" marR="2784475">
              <a:lnSpc>
                <a:spcPct val="107400"/>
              </a:lnSpc>
            </a:pPr>
            <a:r>
              <a:rPr sz="800" spc="-55" dirty="0">
                <a:latin typeface="Courier New"/>
                <a:cs typeface="Courier New"/>
              </a:rPr>
              <a:t>plt.plot(x,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70" dirty="0">
                <a:latin typeface="Courier New"/>
                <a:cs typeface="Courier New"/>
              </a:rPr>
              <a:t>y) </a:t>
            </a:r>
            <a:r>
              <a:rPr sz="800" spc="-10" dirty="0">
                <a:latin typeface="Courier New"/>
                <a:cs typeface="Courier New"/>
              </a:rPr>
              <a:t>plt.show()</a:t>
            </a:r>
            <a:endParaRPr sz="800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0778" y="657405"/>
            <a:ext cx="1958437" cy="239915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325745" cy="5080"/>
            </a:xfrm>
            <a:custGeom>
              <a:avLst/>
              <a:gdLst/>
              <a:ahLst/>
              <a:cxnLst/>
              <a:rect l="l" t="t" r="r" b="b"/>
              <a:pathLst>
                <a:path w="5325745" h="5080">
                  <a:moveTo>
                    <a:pt x="0" y="5060"/>
                  </a:moveTo>
                  <a:lnTo>
                    <a:pt x="0" y="0"/>
                  </a:lnTo>
                  <a:lnTo>
                    <a:pt x="5325361" y="0"/>
                  </a:lnTo>
                  <a:lnTo>
                    <a:pt x="532536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Commands</a:t>
            </a:r>
            <a:r>
              <a:rPr spc="45" dirty="0"/>
              <a:t> </a:t>
            </a:r>
            <a:r>
              <a:rPr dirty="0"/>
              <a:t>to</a:t>
            </a:r>
            <a:r>
              <a:rPr spc="50" dirty="0"/>
              <a:t> </a:t>
            </a:r>
            <a:r>
              <a:rPr spc="-25" dirty="0"/>
              <a:t>remember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7743" y="763160"/>
            <a:ext cx="2536825" cy="466090"/>
            <a:chOff x="587743" y="763160"/>
            <a:chExt cx="2536825" cy="466090"/>
          </a:xfrm>
        </p:grpSpPr>
        <p:sp>
          <p:nvSpPr>
            <p:cNvPr id="4" name="object 4"/>
            <p:cNvSpPr/>
            <p:nvPr/>
          </p:nvSpPr>
          <p:spPr>
            <a:xfrm>
              <a:off x="587743" y="763160"/>
              <a:ext cx="2536825" cy="147320"/>
            </a:xfrm>
            <a:custGeom>
              <a:avLst/>
              <a:gdLst/>
              <a:ahLst/>
              <a:cxnLst/>
              <a:rect l="l" t="t" r="r" b="b"/>
              <a:pathLst>
                <a:path w="2536825" h="147319">
                  <a:moveTo>
                    <a:pt x="250023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2500237" y="147290"/>
                  </a:lnTo>
                  <a:lnTo>
                    <a:pt x="2514250" y="144460"/>
                  </a:lnTo>
                  <a:lnTo>
                    <a:pt x="2525693" y="136745"/>
                  </a:lnTo>
                  <a:lnTo>
                    <a:pt x="2533408" y="125302"/>
                  </a:lnTo>
                  <a:lnTo>
                    <a:pt x="2536237" y="111289"/>
                  </a:lnTo>
                  <a:lnTo>
                    <a:pt x="2536237" y="36000"/>
                  </a:lnTo>
                  <a:lnTo>
                    <a:pt x="2533408" y="21987"/>
                  </a:lnTo>
                  <a:lnTo>
                    <a:pt x="2525693" y="10544"/>
                  </a:lnTo>
                  <a:lnTo>
                    <a:pt x="2514250" y="2829"/>
                  </a:lnTo>
                  <a:lnTo>
                    <a:pt x="250023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7743" y="763160"/>
              <a:ext cx="2536825" cy="147320"/>
            </a:xfrm>
            <a:custGeom>
              <a:avLst/>
              <a:gdLst/>
              <a:ahLst/>
              <a:cxnLst/>
              <a:rect l="l" t="t" r="r" b="b"/>
              <a:pathLst>
                <a:path w="2536825" h="147319">
                  <a:moveTo>
                    <a:pt x="250023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2500237" y="147290"/>
                  </a:lnTo>
                  <a:lnTo>
                    <a:pt x="2514250" y="144460"/>
                  </a:lnTo>
                  <a:lnTo>
                    <a:pt x="2525693" y="136745"/>
                  </a:lnTo>
                  <a:lnTo>
                    <a:pt x="2533408" y="125302"/>
                  </a:lnTo>
                  <a:lnTo>
                    <a:pt x="2536237" y="111289"/>
                  </a:lnTo>
                  <a:lnTo>
                    <a:pt x="2536237" y="36000"/>
                  </a:lnTo>
                  <a:lnTo>
                    <a:pt x="2533408" y="21987"/>
                  </a:lnTo>
                  <a:lnTo>
                    <a:pt x="2525693" y="10544"/>
                  </a:lnTo>
                  <a:lnTo>
                    <a:pt x="2514250" y="2829"/>
                  </a:lnTo>
                  <a:lnTo>
                    <a:pt x="250023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7743" y="922494"/>
              <a:ext cx="862330" cy="147320"/>
            </a:xfrm>
            <a:custGeom>
              <a:avLst/>
              <a:gdLst/>
              <a:ahLst/>
              <a:cxnLst/>
              <a:rect l="l" t="t" r="r" b="b"/>
              <a:pathLst>
                <a:path w="862330" h="147319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826282" y="147290"/>
                  </a:lnTo>
                  <a:lnTo>
                    <a:pt x="840295" y="144460"/>
                  </a:lnTo>
                  <a:lnTo>
                    <a:pt x="851738" y="136745"/>
                  </a:lnTo>
                  <a:lnTo>
                    <a:pt x="859453" y="125302"/>
                  </a:lnTo>
                  <a:lnTo>
                    <a:pt x="862282" y="111289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7743" y="922494"/>
              <a:ext cx="862330" cy="147320"/>
            </a:xfrm>
            <a:custGeom>
              <a:avLst/>
              <a:gdLst/>
              <a:ahLst/>
              <a:cxnLst/>
              <a:rect l="l" t="t" r="r" b="b"/>
              <a:pathLst>
                <a:path w="862330" h="147319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826282" y="147290"/>
                  </a:lnTo>
                  <a:lnTo>
                    <a:pt x="840295" y="144460"/>
                  </a:lnTo>
                  <a:lnTo>
                    <a:pt x="851738" y="136745"/>
                  </a:lnTo>
                  <a:lnTo>
                    <a:pt x="859453" y="125302"/>
                  </a:lnTo>
                  <a:lnTo>
                    <a:pt x="862282" y="111289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7743" y="1073616"/>
              <a:ext cx="2058035" cy="155575"/>
            </a:xfrm>
            <a:custGeom>
              <a:avLst/>
              <a:gdLst/>
              <a:ahLst/>
              <a:cxnLst/>
              <a:rect l="l" t="t" r="r" b="b"/>
              <a:pathLst>
                <a:path w="2058035" h="155575">
                  <a:moveTo>
                    <a:pt x="202196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2021963" y="155489"/>
                  </a:lnTo>
                  <a:lnTo>
                    <a:pt x="2035977" y="152659"/>
                  </a:lnTo>
                  <a:lnTo>
                    <a:pt x="2047420" y="144944"/>
                  </a:lnTo>
                  <a:lnTo>
                    <a:pt x="2055135" y="133501"/>
                  </a:lnTo>
                  <a:lnTo>
                    <a:pt x="2057964" y="119488"/>
                  </a:lnTo>
                  <a:lnTo>
                    <a:pt x="2057964" y="36000"/>
                  </a:lnTo>
                  <a:lnTo>
                    <a:pt x="2055135" y="21987"/>
                  </a:lnTo>
                  <a:lnTo>
                    <a:pt x="2047420" y="10544"/>
                  </a:lnTo>
                  <a:lnTo>
                    <a:pt x="2035977" y="2829"/>
                  </a:lnTo>
                  <a:lnTo>
                    <a:pt x="202196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7743" y="1073616"/>
              <a:ext cx="2058035" cy="155575"/>
            </a:xfrm>
            <a:custGeom>
              <a:avLst/>
              <a:gdLst/>
              <a:ahLst/>
              <a:cxnLst/>
              <a:rect l="l" t="t" r="r" b="b"/>
              <a:pathLst>
                <a:path w="2058035" h="155575">
                  <a:moveTo>
                    <a:pt x="202196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2021963" y="155489"/>
                  </a:lnTo>
                  <a:lnTo>
                    <a:pt x="2035977" y="152659"/>
                  </a:lnTo>
                  <a:lnTo>
                    <a:pt x="2047420" y="144944"/>
                  </a:lnTo>
                  <a:lnTo>
                    <a:pt x="2055135" y="133501"/>
                  </a:lnTo>
                  <a:lnTo>
                    <a:pt x="2057964" y="119488"/>
                  </a:lnTo>
                  <a:lnTo>
                    <a:pt x="2057964" y="36000"/>
                  </a:lnTo>
                  <a:lnTo>
                    <a:pt x="2055135" y="21987"/>
                  </a:lnTo>
                  <a:lnTo>
                    <a:pt x="2047420" y="10544"/>
                  </a:lnTo>
                  <a:lnTo>
                    <a:pt x="2035977" y="2829"/>
                  </a:lnTo>
                  <a:lnTo>
                    <a:pt x="202196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364826" y="1081815"/>
            <a:ext cx="862330" cy="147320"/>
            <a:chOff x="3364826" y="1081815"/>
            <a:chExt cx="862330" cy="147320"/>
          </a:xfrm>
        </p:grpSpPr>
        <p:sp>
          <p:nvSpPr>
            <p:cNvPr id="11" name="object 11"/>
            <p:cNvSpPr/>
            <p:nvPr/>
          </p:nvSpPr>
          <p:spPr>
            <a:xfrm>
              <a:off x="3364826" y="1081815"/>
              <a:ext cx="862330" cy="147320"/>
            </a:xfrm>
            <a:custGeom>
              <a:avLst/>
              <a:gdLst/>
              <a:ahLst/>
              <a:cxnLst/>
              <a:rect l="l" t="t" r="r" b="b"/>
              <a:pathLst>
                <a:path w="862329" h="147319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826282" y="147290"/>
                  </a:lnTo>
                  <a:lnTo>
                    <a:pt x="840295" y="144460"/>
                  </a:lnTo>
                  <a:lnTo>
                    <a:pt x="851738" y="136745"/>
                  </a:lnTo>
                  <a:lnTo>
                    <a:pt x="859453" y="125302"/>
                  </a:lnTo>
                  <a:lnTo>
                    <a:pt x="862282" y="111289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64826" y="1081815"/>
              <a:ext cx="862330" cy="147320"/>
            </a:xfrm>
            <a:custGeom>
              <a:avLst/>
              <a:gdLst/>
              <a:ahLst/>
              <a:cxnLst/>
              <a:rect l="l" t="t" r="r" b="b"/>
              <a:pathLst>
                <a:path w="862329" h="147319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826282" y="147290"/>
                  </a:lnTo>
                  <a:lnTo>
                    <a:pt x="840295" y="144460"/>
                  </a:lnTo>
                  <a:lnTo>
                    <a:pt x="851738" y="136745"/>
                  </a:lnTo>
                  <a:lnTo>
                    <a:pt x="859453" y="125302"/>
                  </a:lnTo>
                  <a:lnTo>
                    <a:pt x="862282" y="111289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87743" y="1401724"/>
            <a:ext cx="1161415" cy="146050"/>
            <a:chOff x="587743" y="1401724"/>
            <a:chExt cx="1161415" cy="146050"/>
          </a:xfrm>
        </p:grpSpPr>
        <p:sp>
          <p:nvSpPr>
            <p:cNvPr id="14" name="object 14"/>
            <p:cNvSpPr/>
            <p:nvPr/>
          </p:nvSpPr>
          <p:spPr>
            <a:xfrm>
              <a:off x="587743" y="1401724"/>
              <a:ext cx="1161415" cy="146050"/>
            </a:xfrm>
            <a:custGeom>
              <a:avLst/>
              <a:gdLst/>
              <a:ahLst/>
              <a:cxnLst/>
              <a:rect l="l" t="t" r="r" b="b"/>
              <a:pathLst>
                <a:path w="1161414" h="146050">
                  <a:moveTo>
                    <a:pt x="112520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1125202" y="146037"/>
                  </a:lnTo>
                  <a:lnTo>
                    <a:pt x="1139215" y="143208"/>
                  </a:lnTo>
                  <a:lnTo>
                    <a:pt x="1150658" y="135493"/>
                  </a:lnTo>
                  <a:lnTo>
                    <a:pt x="1158373" y="124050"/>
                  </a:lnTo>
                  <a:lnTo>
                    <a:pt x="1161202" y="110037"/>
                  </a:lnTo>
                  <a:lnTo>
                    <a:pt x="1161202" y="36000"/>
                  </a:lnTo>
                  <a:lnTo>
                    <a:pt x="1158373" y="21987"/>
                  </a:lnTo>
                  <a:lnTo>
                    <a:pt x="1150658" y="10544"/>
                  </a:lnTo>
                  <a:lnTo>
                    <a:pt x="1139215" y="2829"/>
                  </a:lnTo>
                  <a:lnTo>
                    <a:pt x="112520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7743" y="1401724"/>
              <a:ext cx="1161415" cy="146050"/>
            </a:xfrm>
            <a:custGeom>
              <a:avLst/>
              <a:gdLst/>
              <a:ahLst/>
              <a:cxnLst/>
              <a:rect l="l" t="t" r="r" b="b"/>
              <a:pathLst>
                <a:path w="1161414" h="146050">
                  <a:moveTo>
                    <a:pt x="112520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1125202" y="146037"/>
                  </a:lnTo>
                  <a:lnTo>
                    <a:pt x="1139215" y="143208"/>
                  </a:lnTo>
                  <a:lnTo>
                    <a:pt x="1150658" y="135493"/>
                  </a:lnTo>
                  <a:lnTo>
                    <a:pt x="1158373" y="124050"/>
                  </a:lnTo>
                  <a:lnTo>
                    <a:pt x="1161202" y="110037"/>
                  </a:lnTo>
                  <a:lnTo>
                    <a:pt x="1161202" y="36000"/>
                  </a:lnTo>
                  <a:lnTo>
                    <a:pt x="1158373" y="21987"/>
                  </a:lnTo>
                  <a:lnTo>
                    <a:pt x="1150658" y="10544"/>
                  </a:lnTo>
                  <a:lnTo>
                    <a:pt x="1139215" y="2829"/>
                  </a:lnTo>
                  <a:lnTo>
                    <a:pt x="112520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587743" y="1720377"/>
            <a:ext cx="1520190" cy="305435"/>
            <a:chOff x="587743" y="1720377"/>
            <a:chExt cx="1520190" cy="305435"/>
          </a:xfrm>
        </p:grpSpPr>
        <p:sp>
          <p:nvSpPr>
            <p:cNvPr id="17" name="object 17"/>
            <p:cNvSpPr/>
            <p:nvPr/>
          </p:nvSpPr>
          <p:spPr>
            <a:xfrm>
              <a:off x="587743" y="1720377"/>
              <a:ext cx="1101725" cy="146050"/>
            </a:xfrm>
            <a:custGeom>
              <a:avLst/>
              <a:gdLst/>
              <a:ahLst/>
              <a:cxnLst/>
              <a:rect l="l" t="t" r="r" b="b"/>
              <a:pathLst>
                <a:path w="1101725" h="146050">
                  <a:moveTo>
                    <a:pt x="106541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1065418" y="145467"/>
                  </a:lnTo>
                  <a:lnTo>
                    <a:pt x="1079431" y="142638"/>
                  </a:lnTo>
                  <a:lnTo>
                    <a:pt x="1090874" y="134923"/>
                  </a:lnTo>
                  <a:lnTo>
                    <a:pt x="1098589" y="123480"/>
                  </a:lnTo>
                  <a:lnTo>
                    <a:pt x="1101418" y="109467"/>
                  </a:lnTo>
                  <a:lnTo>
                    <a:pt x="1101418" y="36000"/>
                  </a:lnTo>
                  <a:lnTo>
                    <a:pt x="1098589" y="21987"/>
                  </a:lnTo>
                  <a:lnTo>
                    <a:pt x="1090874" y="10544"/>
                  </a:lnTo>
                  <a:lnTo>
                    <a:pt x="1079431" y="2829"/>
                  </a:lnTo>
                  <a:lnTo>
                    <a:pt x="106541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7743" y="1720377"/>
              <a:ext cx="1101725" cy="146050"/>
            </a:xfrm>
            <a:custGeom>
              <a:avLst/>
              <a:gdLst/>
              <a:ahLst/>
              <a:cxnLst/>
              <a:rect l="l" t="t" r="r" b="b"/>
              <a:pathLst>
                <a:path w="1101725" h="146050">
                  <a:moveTo>
                    <a:pt x="106541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1065418" y="145467"/>
                  </a:lnTo>
                  <a:lnTo>
                    <a:pt x="1079431" y="142638"/>
                  </a:lnTo>
                  <a:lnTo>
                    <a:pt x="1090874" y="134923"/>
                  </a:lnTo>
                  <a:lnTo>
                    <a:pt x="1098589" y="123480"/>
                  </a:lnTo>
                  <a:lnTo>
                    <a:pt x="1101418" y="109467"/>
                  </a:lnTo>
                  <a:lnTo>
                    <a:pt x="1101418" y="36000"/>
                  </a:lnTo>
                  <a:lnTo>
                    <a:pt x="1098589" y="21987"/>
                  </a:lnTo>
                  <a:lnTo>
                    <a:pt x="1090874" y="10544"/>
                  </a:lnTo>
                  <a:lnTo>
                    <a:pt x="1079431" y="2829"/>
                  </a:lnTo>
                  <a:lnTo>
                    <a:pt x="106541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7743" y="1878448"/>
              <a:ext cx="1520190" cy="147320"/>
            </a:xfrm>
            <a:custGeom>
              <a:avLst/>
              <a:gdLst/>
              <a:ahLst/>
              <a:cxnLst/>
              <a:rect l="l" t="t" r="r" b="b"/>
              <a:pathLst>
                <a:path w="1520189" h="147319">
                  <a:moveTo>
                    <a:pt x="148390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1483907" y="147290"/>
                  </a:lnTo>
                  <a:lnTo>
                    <a:pt x="1497920" y="144460"/>
                  </a:lnTo>
                  <a:lnTo>
                    <a:pt x="1509363" y="136745"/>
                  </a:lnTo>
                  <a:lnTo>
                    <a:pt x="1517078" y="125302"/>
                  </a:lnTo>
                  <a:lnTo>
                    <a:pt x="1519907" y="111289"/>
                  </a:lnTo>
                  <a:lnTo>
                    <a:pt x="1519907" y="36000"/>
                  </a:lnTo>
                  <a:lnTo>
                    <a:pt x="1517078" y="21987"/>
                  </a:lnTo>
                  <a:lnTo>
                    <a:pt x="1509363" y="10544"/>
                  </a:lnTo>
                  <a:lnTo>
                    <a:pt x="1497920" y="2829"/>
                  </a:lnTo>
                  <a:lnTo>
                    <a:pt x="148390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7743" y="1878448"/>
              <a:ext cx="1520190" cy="147320"/>
            </a:xfrm>
            <a:custGeom>
              <a:avLst/>
              <a:gdLst/>
              <a:ahLst/>
              <a:cxnLst/>
              <a:rect l="l" t="t" r="r" b="b"/>
              <a:pathLst>
                <a:path w="1520189" h="147319">
                  <a:moveTo>
                    <a:pt x="148390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1483907" y="147290"/>
                  </a:lnTo>
                  <a:lnTo>
                    <a:pt x="1497920" y="144460"/>
                  </a:lnTo>
                  <a:lnTo>
                    <a:pt x="1509363" y="136745"/>
                  </a:lnTo>
                  <a:lnTo>
                    <a:pt x="1517078" y="125302"/>
                  </a:lnTo>
                  <a:lnTo>
                    <a:pt x="1519907" y="111289"/>
                  </a:lnTo>
                  <a:lnTo>
                    <a:pt x="1519907" y="36000"/>
                  </a:lnTo>
                  <a:lnTo>
                    <a:pt x="1517078" y="21987"/>
                  </a:lnTo>
                  <a:lnTo>
                    <a:pt x="1509363" y="10544"/>
                  </a:lnTo>
                  <a:lnTo>
                    <a:pt x="1497920" y="2829"/>
                  </a:lnTo>
                  <a:lnTo>
                    <a:pt x="148390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587743" y="2197104"/>
            <a:ext cx="2476500" cy="147320"/>
            <a:chOff x="587743" y="2197104"/>
            <a:chExt cx="2476500" cy="147320"/>
          </a:xfrm>
        </p:grpSpPr>
        <p:sp>
          <p:nvSpPr>
            <p:cNvPr id="22" name="object 22"/>
            <p:cNvSpPr/>
            <p:nvPr/>
          </p:nvSpPr>
          <p:spPr>
            <a:xfrm>
              <a:off x="587743" y="2197104"/>
              <a:ext cx="2476500" cy="147320"/>
            </a:xfrm>
            <a:custGeom>
              <a:avLst/>
              <a:gdLst/>
              <a:ahLst/>
              <a:cxnLst/>
              <a:rect l="l" t="t" r="r" b="b"/>
              <a:pathLst>
                <a:path w="2476500" h="147319">
                  <a:moveTo>
                    <a:pt x="244045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2440452" y="147290"/>
                  </a:lnTo>
                  <a:lnTo>
                    <a:pt x="2454465" y="144460"/>
                  </a:lnTo>
                  <a:lnTo>
                    <a:pt x="2465909" y="136745"/>
                  </a:lnTo>
                  <a:lnTo>
                    <a:pt x="2473624" y="125302"/>
                  </a:lnTo>
                  <a:lnTo>
                    <a:pt x="2476453" y="111289"/>
                  </a:lnTo>
                  <a:lnTo>
                    <a:pt x="2476453" y="36000"/>
                  </a:lnTo>
                  <a:lnTo>
                    <a:pt x="2473624" y="21987"/>
                  </a:lnTo>
                  <a:lnTo>
                    <a:pt x="2465909" y="10544"/>
                  </a:lnTo>
                  <a:lnTo>
                    <a:pt x="2454465" y="2829"/>
                  </a:lnTo>
                  <a:lnTo>
                    <a:pt x="244045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7743" y="2197104"/>
              <a:ext cx="2476500" cy="147320"/>
            </a:xfrm>
            <a:custGeom>
              <a:avLst/>
              <a:gdLst/>
              <a:ahLst/>
              <a:cxnLst/>
              <a:rect l="l" t="t" r="r" b="b"/>
              <a:pathLst>
                <a:path w="2476500" h="147319">
                  <a:moveTo>
                    <a:pt x="244045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2440452" y="147290"/>
                  </a:lnTo>
                  <a:lnTo>
                    <a:pt x="2454465" y="144460"/>
                  </a:lnTo>
                  <a:lnTo>
                    <a:pt x="2465909" y="136745"/>
                  </a:lnTo>
                  <a:lnTo>
                    <a:pt x="2473624" y="125302"/>
                  </a:lnTo>
                  <a:lnTo>
                    <a:pt x="2476453" y="111289"/>
                  </a:lnTo>
                  <a:lnTo>
                    <a:pt x="2476453" y="36000"/>
                  </a:lnTo>
                  <a:lnTo>
                    <a:pt x="2473624" y="21987"/>
                  </a:lnTo>
                  <a:lnTo>
                    <a:pt x="2465909" y="10544"/>
                  </a:lnTo>
                  <a:lnTo>
                    <a:pt x="2454465" y="2829"/>
                  </a:lnTo>
                  <a:lnTo>
                    <a:pt x="244045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587743" y="2517007"/>
            <a:ext cx="623570" cy="121285"/>
            <a:chOff x="587743" y="2517007"/>
            <a:chExt cx="623570" cy="121285"/>
          </a:xfrm>
        </p:grpSpPr>
        <p:sp>
          <p:nvSpPr>
            <p:cNvPr id="25" name="object 25"/>
            <p:cNvSpPr/>
            <p:nvPr/>
          </p:nvSpPr>
          <p:spPr>
            <a:xfrm>
              <a:off x="587743" y="2517007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69" h="121285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7743" y="2517007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69" h="121285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27126" y="710035"/>
            <a:ext cx="4786630" cy="193738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72720" indent="-160020">
              <a:lnSpc>
                <a:spcPct val="100000"/>
              </a:lnSpc>
              <a:spcBef>
                <a:spcPts val="275"/>
              </a:spcBef>
              <a:buClr>
                <a:srgbClr val="22373A"/>
              </a:buClr>
              <a:buFont typeface="Arial"/>
              <a:buChar char="•"/>
              <a:tabLst>
                <a:tab pos="172720" algn="l"/>
              </a:tabLst>
            </a:pPr>
            <a:r>
              <a:rPr sz="900" spc="-75" dirty="0">
                <a:latin typeface="Courier New"/>
                <a:cs typeface="Courier New"/>
              </a:rPr>
              <a:t>uv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venv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--seed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--python</a:t>
            </a:r>
            <a:r>
              <a:rPr sz="900" spc="-70" dirty="0">
                <a:latin typeface="Courier New"/>
                <a:cs typeface="Courier New"/>
              </a:rPr>
              <a:t> 3.8 </a:t>
            </a:r>
            <a:r>
              <a:rPr sz="900" spc="-75" dirty="0">
                <a:latin typeface="Courier New"/>
                <a:cs typeface="Courier New"/>
              </a:rPr>
              <a:t>.project1-</a:t>
            </a:r>
            <a:r>
              <a:rPr sz="900" spc="-10" dirty="0">
                <a:latin typeface="Courier New"/>
                <a:cs typeface="Courier New"/>
              </a:rPr>
              <a:t>venv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3.8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named</a:t>
            </a:r>
            <a:endParaRPr sz="900" dirty="0">
              <a:latin typeface="Arial"/>
              <a:cs typeface="Arial"/>
            </a:endParaRPr>
          </a:p>
          <a:p>
            <a:pPr marL="172720">
              <a:lnSpc>
                <a:spcPct val="100000"/>
              </a:lnSpc>
              <a:spcBef>
                <a:spcPts val="175"/>
              </a:spcBef>
            </a:pPr>
            <a:r>
              <a:rPr sz="900" spc="-75" dirty="0">
                <a:latin typeface="Courier New"/>
                <a:cs typeface="Courier New"/>
              </a:rPr>
              <a:t>.project1-</a:t>
            </a:r>
            <a:r>
              <a:rPr sz="900" spc="-10" dirty="0">
                <a:latin typeface="Courier New"/>
                <a:cs typeface="Courier New"/>
              </a:rPr>
              <a:t>venv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160020" marR="20955" indent="-147955">
              <a:lnSpc>
                <a:spcPct val="116199"/>
              </a:lnSpc>
              <a:buFont typeface="Arial"/>
              <a:buChar char="•"/>
              <a:tabLst>
                <a:tab pos="160020" algn="l"/>
                <a:tab pos="172085" algn="l"/>
              </a:tabLst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900" spc="-75" dirty="0">
                <a:latin typeface="Courier New"/>
                <a:cs typeface="Courier New"/>
              </a:rPr>
              <a:t>source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.project1-</a:t>
            </a:r>
            <a:r>
              <a:rPr sz="900" spc="-60" dirty="0">
                <a:latin typeface="Courier New"/>
                <a:cs typeface="Courier New"/>
              </a:rPr>
              <a:t>venv/bin/activate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Activate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.project1-venv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r>
              <a:rPr sz="900" spc="1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(You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environment).</a:t>
            </a:r>
            <a:endParaRPr sz="900" dirty="0">
              <a:latin typeface="Arial"/>
              <a:cs typeface="Arial"/>
            </a:endParaRPr>
          </a:p>
          <a:p>
            <a:pPr marL="160020" marR="96520" indent="-147955">
              <a:lnSpc>
                <a:spcPct val="116199"/>
              </a:lnSpc>
              <a:buFont typeface="Arial"/>
              <a:buChar char="•"/>
              <a:tabLst>
                <a:tab pos="160020" algn="l"/>
                <a:tab pos="172085" algn="l"/>
              </a:tabLst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900" spc="-70" dirty="0">
                <a:latin typeface="Courier New"/>
                <a:cs typeface="Courier New"/>
              </a:rPr>
              <a:t>pip install </a:t>
            </a:r>
            <a:r>
              <a:rPr sz="900" spc="-40" dirty="0">
                <a:latin typeface="Courier New"/>
                <a:cs typeface="Courier New"/>
              </a:rPr>
              <a:t>jupyter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current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(You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activate 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first).</a:t>
            </a:r>
            <a:endParaRPr sz="900" dirty="0">
              <a:latin typeface="Arial"/>
              <a:cs typeface="Arial"/>
            </a:endParaRPr>
          </a:p>
          <a:p>
            <a:pPr marL="172720" indent="-160020">
              <a:lnSpc>
                <a:spcPct val="100000"/>
              </a:lnSpc>
              <a:spcBef>
                <a:spcPts val="170"/>
              </a:spcBef>
              <a:buClr>
                <a:srgbClr val="22373A"/>
              </a:buClr>
              <a:buFont typeface="Arial"/>
              <a:buChar char="•"/>
              <a:tabLst>
                <a:tab pos="172720" algn="l"/>
              </a:tabLst>
            </a:pPr>
            <a:r>
              <a:rPr sz="900" spc="-70" dirty="0">
                <a:latin typeface="Courier New"/>
                <a:cs typeface="Courier New"/>
              </a:rPr>
              <a:t>pip install </a:t>
            </a:r>
            <a:r>
              <a:rPr sz="900" spc="-35" dirty="0">
                <a:latin typeface="Courier New"/>
                <a:cs typeface="Courier New"/>
              </a:rPr>
              <a:t>pandas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Pandas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current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endParaRPr sz="900" dirty="0">
              <a:latin typeface="Arial"/>
              <a:cs typeface="Arial"/>
            </a:endParaRPr>
          </a:p>
          <a:p>
            <a:pPr marL="157480" marR="92710" indent="-145415">
              <a:lnSpc>
                <a:spcPct val="116199"/>
              </a:lnSpc>
              <a:buFont typeface="Arial"/>
              <a:buChar char="•"/>
              <a:tabLst>
                <a:tab pos="157480" algn="l"/>
                <a:tab pos="172085" algn="l"/>
              </a:tabLst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900" spc="-70" dirty="0">
                <a:latin typeface="Courier New"/>
                <a:cs typeface="Courier New"/>
              </a:rPr>
              <a:t>pip install </a:t>
            </a:r>
            <a:r>
              <a:rPr sz="900" spc="-75" dirty="0">
                <a:latin typeface="Courier New"/>
                <a:cs typeface="Courier New"/>
              </a:rPr>
              <a:t>numpy==1.21.0</a:t>
            </a:r>
            <a:r>
              <a:rPr sz="900" spc="-44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specific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version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package.</a:t>
            </a:r>
            <a:r>
              <a:rPr sz="900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(In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case,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Numpy 1.21.0).</a:t>
            </a:r>
            <a:endParaRPr sz="900" dirty="0">
              <a:latin typeface="Arial"/>
              <a:cs typeface="Arial"/>
            </a:endParaRPr>
          </a:p>
          <a:p>
            <a:pPr marL="160020" marR="59055" indent="-147955">
              <a:lnSpc>
                <a:spcPct val="116199"/>
              </a:lnSpc>
              <a:buFont typeface="Arial"/>
              <a:buChar char="•"/>
              <a:tabLst>
                <a:tab pos="160020" algn="l"/>
                <a:tab pos="172085" algn="l"/>
              </a:tabLst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900" spc="-70" dirty="0">
                <a:latin typeface="Courier New"/>
                <a:cs typeface="Courier New"/>
              </a:rPr>
              <a:t>jupyter notebook </a:t>
            </a:r>
            <a:r>
              <a:rPr sz="900" spc="-75" dirty="0">
                <a:latin typeface="Courier New"/>
                <a:cs typeface="Courier New"/>
              </a:rPr>
              <a:t>--</a:t>
            </a:r>
            <a:r>
              <a:rPr sz="900" spc="-70" dirty="0">
                <a:latin typeface="Courier New"/>
                <a:cs typeface="Courier New"/>
              </a:rPr>
              <a:t>port=8888 </a:t>
            </a:r>
            <a:r>
              <a:rPr sz="900" spc="-75" dirty="0">
                <a:latin typeface="Courier New"/>
                <a:cs typeface="Courier New"/>
              </a:rPr>
              <a:t>--ip=0.0.0.0</a:t>
            </a:r>
            <a:r>
              <a:rPr sz="900" spc="-44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8</a:t>
            </a:r>
            <a:r>
              <a:rPr lang="es-ES" sz="900" spc="-20">
                <a:solidFill>
                  <a:srgbClr val="22373A"/>
                </a:solidFill>
                <a:latin typeface="Arial"/>
                <a:cs typeface="Arial"/>
              </a:rPr>
              <a:t>888</a:t>
            </a:r>
            <a:r>
              <a:rPr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listen 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addresses.</a:t>
            </a:r>
            <a:endParaRPr sz="900" dirty="0">
              <a:latin typeface="Arial"/>
              <a:cs typeface="Arial"/>
            </a:endParaRPr>
          </a:p>
          <a:p>
            <a:pPr marL="172720" indent="-160020">
              <a:lnSpc>
                <a:spcPct val="100000"/>
              </a:lnSpc>
              <a:spcBef>
                <a:spcPts val="175"/>
              </a:spcBef>
              <a:buClr>
                <a:srgbClr val="22373A"/>
              </a:buClr>
              <a:buFont typeface="Arial"/>
              <a:buChar char="•"/>
              <a:tabLst>
                <a:tab pos="172720" algn="l"/>
              </a:tabLst>
            </a:pPr>
            <a:r>
              <a:rPr sz="900" spc="-50" dirty="0">
                <a:latin typeface="Courier New"/>
                <a:cs typeface="Courier New"/>
              </a:rPr>
              <a:t>deactivate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Deactivate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 current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29" name="object 2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3234963"/>
              <a:ext cx="5434330" cy="5080"/>
            </a:xfrm>
            <a:custGeom>
              <a:avLst/>
              <a:gdLst/>
              <a:ahLst/>
              <a:cxnLst/>
              <a:rect l="l" t="t" r="r" b="b"/>
              <a:pathLst>
                <a:path w="5434330" h="5080">
                  <a:moveTo>
                    <a:pt x="0" y="5060"/>
                  </a:moveTo>
                  <a:lnTo>
                    <a:pt x="0" y="0"/>
                  </a:lnTo>
                  <a:lnTo>
                    <a:pt x="5433995" y="0"/>
                  </a:lnTo>
                  <a:lnTo>
                    <a:pt x="543399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Commands</a:t>
            </a:r>
            <a:r>
              <a:rPr spc="45" dirty="0"/>
              <a:t> </a:t>
            </a:r>
            <a:r>
              <a:rPr dirty="0"/>
              <a:t>to</a:t>
            </a:r>
            <a:r>
              <a:rPr spc="50" dirty="0"/>
              <a:t> </a:t>
            </a:r>
            <a:r>
              <a:rPr spc="-25" dirty="0"/>
              <a:t>remember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10497" y="1387822"/>
            <a:ext cx="504190" cy="147320"/>
            <a:chOff x="2810497" y="1387822"/>
            <a:chExt cx="504190" cy="147320"/>
          </a:xfrm>
        </p:grpSpPr>
        <p:sp>
          <p:nvSpPr>
            <p:cNvPr id="4" name="object 4"/>
            <p:cNvSpPr/>
            <p:nvPr/>
          </p:nvSpPr>
          <p:spPr>
            <a:xfrm>
              <a:off x="2810497" y="1387822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7" y="147290"/>
                  </a:lnTo>
                  <a:lnTo>
                    <a:pt x="481590" y="144460"/>
                  </a:lnTo>
                  <a:lnTo>
                    <a:pt x="493033" y="136745"/>
                  </a:lnTo>
                  <a:lnTo>
                    <a:pt x="500748" y="125302"/>
                  </a:lnTo>
                  <a:lnTo>
                    <a:pt x="503577" y="11128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10497" y="1387822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7" y="147290"/>
                  </a:lnTo>
                  <a:lnTo>
                    <a:pt x="481590" y="144460"/>
                  </a:lnTo>
                  <a:lnTo>
                    <a:pt x="493033" y="136745"/>
                  </a:lnTo>
                  <a:lnTo>
                    <a:pt x="500748" y="125302"/>
                  </a:lnTo>
                  <a:lnTo>
                    <a:pt x="503577" y="11128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994827" y="1547156"/>
            <a:ext cx="504190" cy="147320"/>
            <a:chOff x="1994827" y="1547156"/>
            <a:chExt cx="504190" cy="147320"/>
          </a:xfrm>
        </p:grpSpPr>
        <p:sp>
          <p:nvSpPr>
            <p:cNvPr id="7" name="object 7"/>
            <p:cNvSpPr/>
            <p:nvPr/>
          </p:nvSpPr>
          <p:spPr>
            <a:xfrm>
              <a:off x="1994827" y="1547156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7" y="147290"/>
                  </a:lnTo>
                  <a:lnTo>
                    <a:pt x="481590" y="144460"/>
                  </a:lnTo>
                  <a:lnTo>
                    <a:pt x="493033" y="136745"/>
                  </a:lnTo>
                  <a:lnTo>
                    <a:pt x="500748" y="125302"/>
                  </a:lnTo>
                  <a:lnTo>
                    <a:pt x="503577" y="11128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94827" y="1547156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7" y="147290"/>
                  </a:lnTo>
                  <a:lnTo>
                    <a:pt x="481590" y="144460"/>
                  </a:lnTo>
                  <a:lnTo>
                    <a:pt x="493033" y="136745"/>
                  </a:lnTo>
                  <a:lnTo>
                    <a:pt x="500748" y="125302"/>
                  </a:lnTo>
                  <a:lnTo>
                    <a:pt x="503577" y="11128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87743" y="1387822"/>
            <a:ext cx="1460500" cy="625475"/>
            <a:chOff x="587743" y="1387822"/>
            <a:chExt cx="1460500" cy="625475"/>
          </a:xfrm>
        </p:grpSpPr>
        <p:sp>
          <p:nvSpPr>
            <p:cNvPr id="10" name="object 10"/>
            <p:cNvSpPr/>
            <p:nvPr/>
          </p:nvSpPr>
          <p:spPr>
            <a:xfrm>
              <a:off x="587743" y="1387822"/>
              <a:ext cx="862330" cy="147320"/>
            </a:xfrm>
            <a:custGeom>
              <a:avLst/>
              <a:gdLst/>
              <a:ahLst/>
              <a:cxnLst/>
              <a:rect l="l" t="t" r="r" b="b"/>
              <a:pathLst>
                <a:path w="862330" h="147319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826282" y="147290"/>
                  </a:lnTo>
                  <a:lnTo>
                    <a:pt x="840295" y="144460"/>
                  </a:lnTo>
                  <a:lnTo>
                    <a:pt x="851738" y="136745"/>
                  </a:lnTo>
                  <a:lnTo>
                    <a:pt x="859453" y="125302"/>
                  </a:lnTo>
                  <a:lnTo>
                    <a:pt x="862282" y="111289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7743" y="1387822"/>
              <a:ext cx="862330" cy="147320"/>
            </a:xfrm>
            <a:custGeom>
              <a:avLst/>
              <a:gdLst/>
              <a:ahLst/>
              <a:cxnLst/>
              <a:rect l="l" t="t" r="r" b="b"/>
              <a:pathLst>
                <a:path w="862330" h="147319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826282" y="147290"/>
                  </a:lnTo>
                  <a:lnTo>
                    <a:pt x="840295" y="144460"/>
                  </a:lnTo>
                  <a:lnTo>
                    <a:pt x="851738" y="136745"/>
                  </a:lnTo>
                  <a:lnTo>
                    <a:pt x="859453" y="125302"/>
                  </a:lnTo>
                  <a:lnTo>
                    <a:pt x="862282" y="111289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7743" y="1547156"/>
              <a:ext cx="683260" cy="147320"/>
            </a:xfrm>
            <a:custGeom>
              <a:avLst/>
              <a:gdLst/>
              <a:ahLst/>
              <a:cxnLst/>
              <a:rect l="l" t="t" r="r" b="b"/>
              <a:pathLst>
                <a:path w="683260" h="147319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646930" y="147290"/>
                  </a:lnTo>
                  <a:lnTo>
                    <a:pt x="660943" y="144460"/>
                  </a:lnTo>
                  <a:lnTo>
                    <a:pt x="672386" y="136745"/>
                  </a:lnTo>
                  <a:lnTo>
                    <a:pt x="680101" y="125302"/>
                  </a:lnTo>
                  <a:lnTo>
                    <a:pt x="682930" y="111289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7743" y="1547156"/>
              <a:ext cx="683260" cy="147320"/>
            </a:xfrm>
            <a:custGeom>
              <a:avLst/>
              <a:gdLst/>
              <a:ahLst/>
              <a:cxnLst/>
              <a:rect l="l" t="t" r="r" b="b"/>
              <a:pathLst>
                <a:path w="683260" h="147319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646930" y="147290"/>
                  </a:lnTo>
                  <a:lnTo>
                    <a:pt x="660943" y="144460"/>
                  </a:lnTo>
                  <a:lnTo>
                    <a:pt x="672386" y="136745"/>
                  </a:lnTo>
                  <a:lnTo>
                    <a:pt x="680101" y="125302"/>
                  </a:lnTo>
                  <a:lnTo>
                    <a:pt x="682930" y="111289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7743" y="1707737"/>
              <a:ext cx="324485" cy="121285"/>
            </a:xfrm>
            <a:custGeom>
              <a:avLst/>
              <a:gdLst/>
              <a:ahLst/>
              <a:cxnLst/>
              <a:rect l="l" t="t" r="r" b="b"/>
              <a:pathLst>
                <a:path w="324484" h="121285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88225" y="120757"/>
                  </a:lnTo>
                  <a:lnTo>
                    <a:pt x="302238" y="117928"/>
                  </a:lnTo>
                  <a:lnTo>
                    <a:pt x="313681" y="110213"/>
                  </a:lnTo>
                  <a:lnTo>
                    <a:pt x="321396" y="98770"/>
                  </a:lnTo>
                  <a:lnTo>
                    <a:pt x="324225" y="84757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7743" y="1707737"/>
              <a:ext cx="324485" cy="121285"/>
            </a:xfrm>
            <a:custGeom>
              <a:avLst/>
              <a:gdLst/>
              <a:ahLst/>
              <a:cxnLst/>
              <a:rect l="l" t="t" r="r" b="b"/>
              <a:pathLst>
                <a:path w="324484" h="121285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88225" y="120757"/>
                  </a:lnTo>
                  <a:lnTo>
                    <a:pt x="302238" y="117928"/>
                  </a:lnTo>
                  <a:lnTo>
                    <a:pt x="313681" y="110213"/>
                  </a:lnTo>
                  <a:lnTo>
                    <a:pt x="321396" y="98770"/>
                  </a:lnTo>
                  <a:lnTo>
                    <a:pt x="324225" y="84757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7743" y="1857613"/>
              <a:ext cx="1460500" cy="155575"/>
            </a:xfrm>
            <a:custGeom>
              <a:avLst/>
              <a:gdLst/>
              <a:ahLst/>
              <a:cxnLst/>
              <a:rect l="l" t="t" r="r" b="b"/>
              <a:pathLst>
                <a:path w="1460500" h="155575">
                  <a:moveTo>
                    <a:pt x="142412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424123" y="155489"/>
                  </a:lnTo>
                  <a:lnTo>
                    <a:pt x="1438136" y="152659"/>
                  </a:lnTo>
                  <a:lnTo>
                    <a:pt x="1449579" y="144944"/>
                  </a:lnTo>
                  <a:lnTo>
                    <a:pt x="1457294" y="133501"/>
                  </a:lnTo>
                  <a:lnTo>
                    <a:pt x="1460123" y="119488"/>
                  </a:lnTo>
                  <a:lnTo>
                    <a:pt x="1460123" y="36000"/>
                  </a:lnTo>
                  <a:lnTo>
                    <a:pt x="1457294" y="21987"/>
                  </a:lnTo>
                  <a:lnTo>
                    <a:pt x="1449579" y="10544"/>
                  </a:lnTo>
                  <a:lnTo>
                    <a:pt x="1438136" y="2829"/>
                  </a:lnTo>
                  <a:lnTo>
                    <a:pt x="142412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7743" y="1857613"/>
              <a:ext cx="1460500" cy="155575"/>
            </a:xfrm>
            <a:custGeom>
              <a:avLst/>
              <a:gdLst/>
              <a:ahLst/>
              <a:cxnLst/>
              <a:rect l="l" t="t" r="r" b="b"/>
              <a:pathLst>
                <a:path w="1460500" h="155575">
                  <a:moveTo>
                    <a:pt x="142412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424123" y="155489"/>
                  </a:lnTo>
                  <a:lnTo>
                    <a:pt x="1438136" y="152659"/>
                  </a:lnTo>
                  <a:lnTo>
                    <a:pt x="1449579" y="144944"/>
                  </a:lnTo>
                  <a:lnTo>
                    <a:pt x="1457294" y="133501"/>
                  </a:lnTo>
                  <a:lnTo>
                    <a:pt x="1460123" y="119488"/>
                  </a:lnTo>
                  <a:lnTo>
                    <a:pt x="1460123" y="36000"/>
                  </a:lnTo>
                  <a:lnTo>
                    <a:pt x="1457294" y="21987"/>
                  </a:lnTo>
                  <a:lnTo>
                    <a:pt x="1449579" y="10544"/>
                  </a:lnTo>
                  <a:lnTo>
                    <a:pt x="1438136" y="2829"/>
                  </a:lnTo>
                  <a:lnTo>
                    <a:pt x="142412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922471" y="1857613"/>
            <a:ext cx="1221105" cy="155575"/>
            <a:chOff x="3922471" y="1857613"/>
            <a:chExt cx="1221105" cy="155575"/>
          </a:xfrm>
        </p:grpSpPr>
        <p:sp>
          <p:nvSpPr>
            <p:cNvPr id="19" name="object 19"/>
            <p:cNvSpPr/>
            <p:nvPr/>
          </p:nvSpPr>
          <p:spPr>
            <a:xfrm>
              <a:off x="3922471" y="1857613"/>
              <a:ext cx="1221105" cy="155575"/>
            </a:xfrm>
            <a:custGeom>
              <a:avLst/>
              <a:gdLst/>
              <a:ahLst/>
              <a:cxnLst/>
              <a:rect l="l" t="t" r="r" b="b"/>
              <a:pathLst>
                <a:path w="1221104" h="155575">
                  <a:moveTo>
                    <a:pt x="1184986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84986" y="155489"/>
                  </a:lnTo>
                  <a:lnTo>
                    <a:pt x="1198999" y="152659"/>
                  </a:lnTo>
                  <a:lnTo>
                    <a:pt x="1210442" y="144944"/>
                  </a:lnTo>
                  <a:lnTo>
                    <a:pt x="1218158" y="133501"/>
                  </a:lnTo>
                  <a:lnTo>
                    <a:pt x="1220987" y="119488"/>
                  </a:lnTo>
                  <a:lnTo>
                    <a:pt x="1220987" y="36000"/>
                  </a:lnTo>
                  <a:lnTo>
                    <a:pt x="1218158" y="21987"/>
                  </a:lnTo>
                  <a:lnTo>
                    <a:pt x="1210442" y="10544"/>
                  </a:lnTo>
                  <a:lnTo>
                    <a:pt x="1198999" y="2829"/>
                  </a:lnTo>
                  <a:lnTo>
                    <a:pt x="1184986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22471" y="1857613"/>
              <a:ext cx="1221105" cy="155575"/>
            </a:xfrm>
            <a:custGeom>
              <a:avLst/>
              <a:gdLst/>
              <a:ahLst/>
              <a:cxnLst/>
              <a:rect l="l" t="t" r="r" b="b"/>
              <a:pathLst>
                <a:path w="1221104" h="155575">
                  <a:moveTo>
                    <a:pt x="1184986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84986" y="155489"/>
                  </a:lnTo>
                  <a:lnTo>
                    <a:pt x="1198999" y="152659"/>
                  </a:lnTo>
                  <a:lnTo>
                    <a:pt x="1210442" y="144944"/>
                  </a:lnTo>
                  <a:lnTo>
                    <a:pt x="1218158" y="133501"/>
                  </a:lnTo>
                  <a:lnTo>
                    <a:pt x="1220987" y="119488"/>
                  </a:lnTo>
                  <a:lnTo>
                    <a:pt x="1220987" y="36000"/>
                  </a:lnTo>
                  <a:lnTo>
                    <a:pt x="1218158" y="21987"/>
                  </a:lnTo>
                  <a:lnTo>
                    <a:pt x="1210442" y="10544"/>
                  </a:lnTo>
                  <a:lnTo>
                    <a:pt x="1198999" y="2829"/>
                  </a:lnTo>
                  <a:lnTo>
                    <a:pt x="1184986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27126" y="1334722"/>
            <a:ext cx="4761865" cy="66294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72720" indent="-160020">
              <a:lnSpc>
                <a:spcPct val="100000"/>
              </a:lnSpc>
              <a:spcBef>
                <a:spcPts val="275"/>
              </a:spcBef>
              <a:buClr>
                <a:srgbClr val="22373A"/>
              </a:buClr>
              <a:buFont typeface="Arial"/>
              <a:buChar char="•"/>
              <a:tabLst>
                <a:tab pos="172720" algn="l"/>
              </a:tabLst>
            </a:pPr>
            <a:r>
              <a:rPr sz="900" spc="-75" dirty="0">
                <a:latin typeface="Courier New"/>
                <a:cs typeface="Courier New"/>
              </a:rPr>
              <a:t>mkdir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project1</a:t>
            </a:r>
            <a:r>
              <a:rPr sz="900" spc="-44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named</a:t>
            </a:r>
            <a:r>
              <a:rPr sz="9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project1</a:t>
            </a:r>
            <a:r>
              <a:rPr sz="900" spc="-445" dirty="0"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72720" indent="-160020">
              <a:lnSpc>
                <a:spcPct val="100000"/>
              </a:lnSpc>
              <a:spcBef>
                <a:spcPts val="175"/>
              </a:spcBef>
              <a:buClr>
                <a:srgbClr val="22373A"/>
              </a:buClr>
              <a:buFont typeface="Arial"/>
              <a:buChar char="•"/>
              <a:tabLst>
                <a:tab pos="172720" algn="l"/>
              </a:tabLst>
            </a:pPr>
            <a:r>
              <a:rPr sz="900" spc="-75" dirty="0">
                <a:latin typeface="Courier New"/>
                <a:cs typeface="Courier New"/>
              </a:rPr>
              <a:t>cd</a:t>
            </a:r>
            <a:r>
              <a:rPr sz="900" spc="-65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project1</a:t>
            </a:r>
            <a:r>
              <a:rPr sz="900" spc="-44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Move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project1</a:t>
            </a:r>
            <a:r>
              <a:rPr sz="900" spc="-130" dirty="0"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directory.</a:t>
            </a:r>
            <a:endParaRPr sz="900">
              <a:latin typeface="Arial"/>
              <a:cs typeface="Arial"/>
            </a:endParaRPr>
          </a:p>
          <a:p>
            <a:pPr marL="172720" indent="-160020">
              <a:lnSpc>
                <a:spcPct val="100000"/>
              </a:lnSpc>
              <a:spcBef>
                <a:spcPts val="175"/>
              </a:spcBef>
              <a:buClr>
                <a:srgbClr val="22373A"/>
              </a:buClr>
              <a:buFont typeface="Arial"/>
              <a:buChar char="•"/>
              <a:tabLst>
                <a:tab pos="172720" algn="l"/>
              </a:tabLst>
            </a:pPr>
            <a:r>
              <a:rPr sz="900" spc="-75" dirty="0">
                <a:latin typeface="Courier New"/>
                <a:cs typeface="Courier New"/>
              </a:rPr>
              <a:t>cd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..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Move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parent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directory.</a:t>
            </a:r>
            <a:endParaRPr sz="900">
              <a:latin typeface="Arial"/>
              <a:cs typeface="Arial"/>
            </a:endParaRPr>
          </a:p>
          <a:p>
            <a:pPr marL="172720" indent="-160020">
              <a:lnSpc>
                <a:spcPct val="100000"/>
              </a:lnSpc>
              <a:spcBef>
                <a:spcPts val="170"/>
              </a:spcBef>
              <a:buClr>
                <a:srgbClr val="22373A"/>
              </a:buClr>
              <a:buFont typeface="Arial"/>
              <a:buChar char="•"/>
              <a:tabLst>
                <a:tab pos="172720" algn="l"/>
              </a:tabLst>
            </a:pPr>
            <a:r>
              <a:rPr sz="900" spc="-70" dirty="0">
                <a:latin typeface="Courier New"/>
                <a:cs typeface="Courier New"/>
              </a:rPr>
              <a:t>cat </a:t>
            </a:r>
            <a:r>
              <a:rPr sz="900" spc="-75" dirty="0">
                <a:latin typeface="Courier New"/>
                <a:cs typeface="Courier New"/>
              </a:rPr>
              <a:t>.ssh/aws-</a:t>
            </a:r>
            <a:r>
              <a:rPr sz="900" spc="-50" dirty="0">
                <a:latin typeface="Courier New"/>
                <a:cs typeface="Courier New"/>
              </a:rPr>
              <a:t>keypair.pub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Show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contents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located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.ssh/aws-</a:t>
            </a:r>
            <a:r>
              <a:rPr sz="900" spc="-40" dirty="0">
                <a:latin typeface="Courier New"/>
                <a:cs typeface="Courier New"/>
              </a:rPr>
              <a:t>keypair.pub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23" name="object 23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0" y="3234963"/>
              <a:ext cx="5542915" cy="5080"/>
            </a:xfrm>
            <a:custGeom>
              <a:avLst/>
              <a:gdLst/>
              <a:ahLst/>
              <a:cxnLst/>
              <a:rect l="l" t="t" r="r" b="b"/>
              <a:pathLst>
                <a:path w="5542915" h="5080">
                  <a:moveTo>
                    <a:pt x="0" y="5060"/>
                  </a:moveTo>
                  <a:lnTo>
                    <a:pt x="0" y="0"/>
                  </a:lnTo>
                  <a:lnTo>
                    <a:pt x="5542717" y="0"/>
                  </a:lnTo>
                  <a:lnTo>
                    <a:pt x="554271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167"/>
            <a:ext cx="706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6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Conclusion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056"/>
            <a:ext cx="2505710" cy="5080"/>
            <a:chOff x="1627403" y="1647056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056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056"/>
              <a:ext cx="2411095" cy="5080"/>
            </a:xfrm>
            <a:custGeom>
              <a:avLst/>
              <a:gdLst/>
              <a:ahLst/>
              <a:cxnLst/>
              <a:rect l="l" t="t" r="r" b="b"/>
              <a:pathLst>
                <a:path w="2411095" h="5080">
                  <a:moveTo>
                    <a:pt x="0" y="5060"/>
                  </a:moveTo>
                  <a:lnTo>
                    <a:pt x="0" y="0"/>
                  </a:lnTo>
                  <a:lnTo>
                    <a:pt x="2410702" y="0"/>
                  </a:lnTo>
                  <a:lnTo>
                    <a:pt x="241070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9278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RECAP: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Summary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of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70" dirty="0">
                <a:solidFill>
                  <a:srgbClr val="F9F9F9"/>
                </a:solidFill>
                <a:latin typeface="Arial"/>
                <a:cs typeface="Arial"/>
              </a:rPr>
              <a:t>session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4335" y="1291572"/>
            <a:ext cx="31718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0" dirty="0">
                <a:solidFill>
                  <a:srgbClr val="22373A"/>
                </a:solidFill>
                <a:latin typeface="Arial"/>
                <a:cs typeface="Arial"/>
              </a:rPr>
              <a:t>1.</a:t>
            </a:r>
            <a:r>
              <a:rPr sz="900" b="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b="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b="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35" dirty="0">
                <a:solidFill>
                  <a:srgbClr val="22373A"/>
                </a:solidFill>
                <a:latin typeface="Arial"/>
                <a:cs typeface="Arial"/>
              </a:rPr>
              <a:t>learned</a:t>
            </a:r>
            <a:r>
              <a:rPr sz="900" b="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b="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b="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b="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20" dirty="0">
                <a:solidFill>
                  <a:srgbClr val="22373A"/>
                </a:solidFill>
                <a:latin typeface="Arial"/>
                <a:cs typeface="Arial"/>
              </a:rPr>
              <a:t>AWS,</a:t>
            </a:r>
            <a:r>
              <a:rPr sz="900" b="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20" dirty="0">
                <a:solidFill>
                  <a:srgbClr val="22373A"/>
                </a:solidFill>
                <a:latin typeface="Arial"/>
                <a:cs typeface="Arial"/>
              </a:rPr>
              <a:t>specifically</a:t>
            </a:r>
            <a:r>
              <a:rPr sz="900" b="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20" dirty="0">
                <a:solidFill>
                  <a:srgbClr val="22373A"/>
                </a:solidFill>
                <a:latin typeface="Arial"/>
                <a:cs typeface="Arial"/>
              </a:rPr>
              <a:t>EC2.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651500" cy="5080"/>
            </a:xfrm>
            <a:custGeom>
              <a:avLst/>
              <a:gdLst/>
              <a:ahLst/>
              <a:cxnLst/>
              <a:rect l="l" t="t" r="r" b="b"/>
              <a:pathLst>
                <a:path w="5651500" h="5080">
                  <a:moveTo>
                    <a:pt x="0" y="5060"/>
                  </a:moveTo>
                  <a:lnTo>
                    <a:pt x="0" y="0"/>
                  </a:lnTo>
                  <a:lnTo>
                    <a:pt x="5651351" y="0"/>
                  </a:lnTo>
                  <a:lnTo>
                    <a:pt x="565135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RECAP:</a:t>
            </a:r>
            <a:r>
              <a:rPr spc="20" dirty="0"/>
              <a:t> </a:t>
            </a:r>
            <a:r>
              <a:rPr spc="-35" dirty="0"/>
              <a:t>Summary</a:t>
            </a:r>
            <a:r>
              <a:rPr spc="2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70" dirty="0"/>
              <a:t>session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4335" y="1291572"/>
            <a:ext cx="5039360" cy="560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4940" indent="-14224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154940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learned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AWS,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specifically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EC2.</a:t>
            </a:r>
            <a:endParaRPr sz="900">
              <a:latin typeface="Arial"/>
              <a:cs typeface="Arial"/>
            </a:endParaRPr>
          </a:p>
          <a:p>
            <a:pPr marL="15240" marR="5080" indent="142240">
              <a:lnSpc>
                <a:spcPct val="116199"/>
              </a:lnSpc>
              <a:spcBef>
                <a:spcPts val="625"/>
              </a:spcBef>
              <a:buAutoNum type="arabicPeriod"/>
              <a:tabLst>
                <a:tab pos="157480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learned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deploy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with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uv.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651500" cy="5080"/>
            </a:xfrm>
            <a:custGeom>
              <a:avLst/>
              <a:gdLst/>
              <a:ahLst/>
              <a:cxnLst/>
              <a:rect l="l" t="t" r="r" b="b"/>
              <a:pathLst>
                <a:path w="5651500" h="5080">
                  <a:moveTo>
                    <a:pt x="0" y="5060"/>
                  </a:moveTo>
                  <a:lnTo>
                    <a:pt x="0" y="0"/>
                  </a:lnTo>
                  <a:lnTo>
                    <a:pt x="5651351" y="0"/>
                  </a:lnTo>
                  <a:lnTo>
                    <a:pt x="565135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RECAP:</a:t>
            </a:r>
            <a:r>
              <a:rPr spc="20" dirty="0"/>
              <a:t> </a:t>
            </a:r>
            <a:r>
              <a:rPr spc="-35" dirty="0"/>
              <a:t>Summary</a:t>
            </a:r>
            <a:r>
              <a:rPr spc="2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70" dirty="0"/>
              <a:t>session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4335" y="1291572"/>
            <a:ext cx="5039360" cy="799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4940" indent="-14224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154940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learned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AWS,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specifically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EC2.</a:t>
            </a:r>
            <a:endParaRPr sz="900">
              <a:latin typeface="Arial"/>
              <a:cs typeface="Arial"/>
            </a:endParaRPr>
          </a:p>
          <a:p>
            <a:pPr marL="15240" marR="5080" indent="142240">
              <a:lnSpc>
                <a:spcPct val="116199"/>
              </a:lnSpc>
              <a:spcBef>
                <a:spcPts val="625"/>
              </a:spcBef>
              <a:buAutoNum type="arabicPeriod"/>
              <a:tabLst>
                <a:tab pos="157480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learned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deploy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with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uv.</a:t>
            </a:r>
            <a:endParaRPr sz="900">
              <a:latin typeface="Arial"/>
              <a:cs typeface="Arial"/>
            </a:endParaRPr>
          </a:p>
          <a:p>
            <a:pPr marL="157480" indent="-142240">
              <a:lnSpc>
                <a:spcPct val="100000"/>
              </a:lnSpc>
              <a:spcBef>
                <a:spcPts val="805"/>
              </a:spcBef>
              <a:buAutoNum type="arabicPeriod"/>
              <a:tabLst>
                <a:tab pos="157480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learned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about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groups,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pairs,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the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SSH.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651500" cy="5080"/>
            </a:xfrm>
            <a:custGeom>
              <a:avLst/>
              <a:gdLst/>
              <a:ahLst/>
              <a:cxnLst/>
              <a:rect l="l" t="t" r="r" b="b"/>
              <a:pathLst>
                <a:path w="5651500" h="5080">
                  <a:moveTo>
                    <a:pt x="0" y="5060"/>
                  </a:moveTo>
                  <a:lnTo>
                    <a:pt x="0" y="0"/>
                  </a:lnTo>
                  <a:lnTo>
                    <a:pt x="5651351" y="0"/>
                  </a:lnTo>
                  <a:lnTo>
                    <a:pt x="565135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1868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Why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5" dirty="0">
                <a:solidFill>
                  <a:srgbClr val="F9F9F9"/>
                </a:solidFill>
                <a:latin typeface="Arial"/>
                <a:cs typeface="Arial"/>
              </a:rPr>
              <a:t>use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Jupyter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on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F9F9F9"/>
                </a:solidFill>
                <a:latin typeface="Arial"/>
                <a:cs typeface="Arial"/>
              </a:rPr>
              <a:t>Cloud?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1023856"/>
            <a:ext cx="4799330" cy="560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Cases</a:t>
            </a:r>
            <a:endParaRPr sz="900">
              <a:latin typeface="Arial"/>
              <a:cs typeface="Arial"/>
            </a:endParaRPr>
          </a:p>
          <a:p>
            <a:pPr marL="240029" marR="5080" indent="-147955">
              <a:lnSpc>
                <a:spcPct val="116199"/>
              </a:lnSpc>
              <a:spcBef>
                <a:spcPts val="625"/>
              </a:spcBef>
              <a:buChar char="•"/>
              <a:tabLst>
                <a:tab pos="240029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Datasets: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dataset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1000GB),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power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essential.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868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10" dirty="0"/>
              <a:t> </a:t>
            </a:r>
            <a:r>
              <a:rPr spc="-45" dirty="0"/>
              <a:t>use</a:t>
            </a:r>
            <a:r>
              <a:rPr spc="10" dirty="0"/>
              <a:t> </a:t>
            </a:r>
            <a:r>
              <a:rPr spc="-20" dirty="0"/>
              <a:t>Jupyter</a:t>
            </a:r>
            <a:r>
              <a:rPr spc="15" dirty="0"/>
              <a:t> </a:t>
            </a:r>
            <a:r>
              <a:rPr dirty="0"/>
              <a:t>on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40" dirty="0"/>
              <a:t>Cloud?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23856"/>
            <a:ext cx="5008245" cy="95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Cases</a:t>
            </a:r>
            <a:endParaRPr sz="900">
              <a:latin typeface="Arial"/>
              <a:cs typeface="Arial"/>
            </a:endParaRPr>
          </a:p>
          <a:p>
            <a:pPr marL="240029" marR="213995" indent="-147955">
              <a:lnSpc>
                <a:spcPct val="116199"/>
              </a:lnSpc>
              <a:spcBef>
                <a:spcPts val="625"/>
              </a:spcBef>
              <a:buChar char="•"/>
              <a:tabLst>
                <a:tab pos="240029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Datasets: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dataset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1000GB),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power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essential.</a:t>
            </a:r>
            <a:endParaRPr sz="900">
              <a:latin typeface="Arial"/>
              <a:cs typeface="Arial"/>
            </a:endParaRPr>
          </a:p>
          <a:p>
            <a:pPr marL="240029" marR="5080" indent="-147955">
              <a:lnSpc>
                <a:spcPct val="116199"/>
              </a:lnSpc>
              <a:spcBef>
                <a:spcPts val="630"/>
              </a:spcBef>
              <a:buChar char="•"/>
              <a:tabLst>
                <a:tab pos="240029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Computational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Requirements: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models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require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GPUs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high-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memory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machines,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which can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rented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via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AWS.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868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10" dirty="0"/>
              <a:t> </a:t>
            </a:r>
            <a:r>
              <a:rPr spc="-45" dirty="0"/>
              <a:t>use</a:t>
            </a:r>
            <a:r>
              <a:rPr spc="10" dirty="0"/>
              <a:t> </a:t>
            </a:r>
            <a:r>
              <a:rPr spc="-20" dirty="0"/>
              <a:t>Jupyter</a:t>
            </a:r>
            <a:r>
              <a:rPr spc="15" dirty="0"/>
              <a:t> </a:t>
            </a:r>
            <a:r>
              <a:rPr dirty="0"/>
              <a:t>on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40" dirty="0"/>
              <a:t>Cloud?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23856"/>
            <a:ext cx="5008245" cy="1356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Cases</a:t>
            </a:r>
            <a:endParaRPr sz="900">
              <a:latin typeface="Arial"/>
              <a:cs typeface="Arial"/>
            </a:endParaRPr>
          </a:p>
          <a:p>
            <a:pPr marL="240029" marR="213995" indent="-147955">
              <a:lnSpc>
                <a:spcPct val="116199"/>
              </a:lnSpc>
              <a:spcBef>
                <a:spcPts val="625"/>
              </a:spcBef>
              <a:buChar char="•"/>
              <a:tabLst>
                <a:tab pos="240029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Datasets: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dataset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1000GB),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power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essential.</a:t>
            </a:r>
            <a:endParaRPr sz="900">
              <a:latin typeface="Arial"/>
              <a:cs typeface="Arial"/>
            </a:endParaRPr>
          </a:p>
          <a:p>
            <a:pPr marL="240029" marR="5080" indent="-147955">
              <a:lnSpc>
                <a:spcPct val="116199"/>
              </a:lnSpc>
              <a:spcBef>
                <a:spcPts val="630"/>
              </a:spcBef>
              <a:buChar char="•"/>
              <a:tabLst>
                <a:tab pos="240029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Computational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Requirements: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models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require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GPUs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high-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memory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machines,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which can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rented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via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AWS.</a:t>
            </a:r>
            <a:endParaRPr sz="900">
              <a:latin typeface="Arial"/>
              <a:cs typeface="Arial"/>
            </a:endParaRPr>
          </a:p>
          <a:p>
            <a:pPr marL="240029" marR="124460" indent="-147955">
              <a:lnSpc>
                <a:spcPct val="116199"/>
              </a:lnSpc>
              <a:spcBef>
                <a:spcPts val="625"/>
              </a:spcBef>
              <a:buChar char="•"/>
              <a:tabLst>
                <a:tab pos="240029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Collaboration:</a:t>
            </a:r>
            <a:r>
              <a:rPr sz="9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give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others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3773</Words>
  <Application>Microsoft Macintosh PowerPoint</Application>
  <PresentationFormat>Personalizado</PresentationFormat>
  <Paragraphs>393</Paragraphs>
  <Slides>81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81</vt:i4>
      </vt:variant>
    </vt:vector>
  </HeadingPairs>
  <TitlesOfParts>
    <vt:vector size="85" baseType="lpstr">
      <vt:lpstr>Aptos</vt:lpstr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Website deployment</vt:lpstr>
      <vt:lpstr>Cloud services everywhere</vt:lpstr>
      <vt:lpstr>Cloud services everywhere</vt:lpstr>
      <vt:lpstr>Amazon Web Services</vt:lpstr>
      <vt:lpstr>Amazon Web Services: EC2</vt:lpstr>
      <vt:lpstr>Presentación de PowerPoint</vt:lpstr>
      <vt:lpstr>A remote terminal through SSH</vt:lpstr>
      <vt:lpstr>A remote terminal through SSH</vt:lpstr>
      <vt:lpstr>A remote terminal through SSH</vt:lpstr>
      <vt:lpstr>A remote terminal through SSH</vt:lpstr>
      <vt:lpstr>How does SSH work?</vt:lpstr>
      <vt:lpstr>How does SSH work?</vt:lpstr>
      <vt:lpstr>How does SSH work?</vt:lpstr>
      <vt:lpstr>What do you mean by client and server?</vt:lpstr>
      <vt:lpstr>What do you mean by client and server?</vt:lpstr>
      <vt:lpstr>Presentación de PowerPoint</vt:lpstr>
      <vt:lpstr>Presentación de PowerPoint</vt:lpstr>
      <vt:lpstr>Presentación de PowerPoint</vt:lpstr>
      <vt:lpstr>Presentación de PowerPoint</vt:lpstr>
      <vt:lpstr>Ports</vt:lpstr>
      <vt:lpstr>Ports</vt:lpstr>
      <vt:lpstr>Security groups</vt:lpstr>
      <vt:lpstr>Security groups</vt:lpstr>
      <vt:lpstr>Security groups</vt:lpstr>
      <vt:lpstr>Presentación de PowerPoint</vt:lpstr>
      <vt:lpstr>Presentación de PowerPoint</vt:lpstr>
      <vt:lpstr>Presentación de PowerPoint</vt:lpstr>
      <vt:lpstr>Presentación de PowerPoint</vt:lpstr>
      <vt:lpstr>Goals for today</vt:lpstr>
      <vt:lpstr>Goals for today</vt:lpstr>
      <vt:lpstr>Presentación de PowerPoint</vt:lpstr>
      <vt:lpstr>Presentación de PowerPoint</vt:lpstr>
      <vt:lpstr>Presentación de PowerPoint</vt:lpstr>
      <vt:lpstr>Logging in from now on</vt:lpstr>
      <vt:lpstr>Logging in from now on</vt:lpstr>
      <vt:lpstr>Available courses</vt:lpstr>
      <vt:lpstr>Available courses: AWS Cloud Foundation Course</vt:lpstr>
      <vt:lpstr>Available courses: AWS Learner Lab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Creating an SSH Key Pair</vt:lpstr>
      <vt:lpstr>Creating an SSH Key Pair</vt:lpstr>
      <vt:lpstr>Importing our generated key pair</vt:lpstr>
      <vt:lpstr>Creating an EC2 instance</vt:lpstr>
      <vt:lpstr>Security Group</vt:lpstr>
      <vt:lpstr>Connecting to the instance</vt:lpstr>
      <vt:lpstr>Presentación de PowerPoint</vt:lpstr>
      <vt:lpstr>Managing Python environments with uv</vt:lpstr>
      <vt:lpstr>Presentación de PowerPoint</vt:lpstr>
      <vt:lpstr>Why use uv?</vt:lpstr>
      <vt:lpstr>Why use uv?</vt:lpstr>
      <vt:lpstr>Installing uv</vt:lpstr>
      <vt:lpstr>Creating two example uv Projects</vt:lpstr>
      <vt:lpstr>Creating two example uv Projects</vt:lpstr>
      <vt:lpstr>Working with the environments</vt:lpstr>
      <vt:lpstr>Working with the environments</vt:lpstr>
      <vt:lpstr>Running Jupyter Notebook (I)</vt:lpstr>
      <vt:lpstr>Running Jupyter Notebook (I)</vt:lpstr>
      <vt:lpstr>Opening the port 8888</vt:lpstr>
      <vt:lpstr>Running Jupyter Notebook (II)</vt:lpstr>
      <vt:lpstr>Accessing the Jupyter Notebook</vt:lpstr>
      <vt:lpstr>Accessing the Jupyter Notebook</vt:lpstr>
      <vt:lpstr>Running python code in the notebook</vt:lpstr>
      <vt:lpstr>Commands to remember</vt:lpstr>
      <vt:lpstr>Commands to remember</vt:lpstr>
      <vt:lpstr>Presentación de PowerPoint</vt:lpstr>
      <vt:lpstr>1. We have learned the about services in AWS, specifically EC2.</vt:lpstr>
      <vt:lpstr>RECAP: Summary of the session</vt:lpstr>
      <vt:lpstr>RECAP: Summary of the session</vt:lpstr>
      <vt:lpstr>Presentación de PowerPoint</vt:lpstr>
      <vt:lpstr>Why use Jupyter on the Cloud?</vt:lpstr>
      <vt:lpstr>Why use Jupyter on the Cloud?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Performance and Distributed Computing for Big Data - Unit 3: Hands-On AWS Setup</dc:title>
  <dc:creator>Ferran Aran Domingo ` `%%%`#`&amp;12_`__~~~ౡ氀猀攀</dc:creator>
  <cp:keywords>Cloud Computing, AWS, EC2, Jupyter, Security Groups</cp:keywords>
  <cp:lastModifiedBy>Francesc Xavier Solsona Tehas</cp:lastModifiedBy>
  <cp:revision>1</cp:revision>
  <dcterms:created xsi:type="dcterms:W3CDTF">2025-05-19T16:09:11Z</dcterms:created>
  <dcterms:modified xsi:type="dcterms:W3CDTF">2026-02-27T18:28:32Z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2025-02-26T00:00:00Z</vt:filetime>
  </property>
  <property fmtid="{D5CDD505-2E9C-101B-9397-08002B2CF9AE}" pid="3" name="Creator">
    <vt:lpwstr>LaTeX via pandoc</vt:lpwstr>
  </property>
  <property fmtid="{D5CDD505-2E9C-101B-9397-08002B2CF9AE}" pid="4" name="Producer">
    <vt:lpwstr>xdvipdfmx (20240210)</vt:lpwstr>
  </property>
  <property fmtid="{D5CDD505-2E9C-101B-9397-08002B2CF9AE}" pid="5" name="LastSaved">
    <vt:filetime>2025-02-26T00:00:00Z</vt:filetime>
  </property>
</Properties>
</file>