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Default Extension="png" ContentType="image/png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438340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386587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126" y="830735"/>
            <a:ext cx="4987925" cy="169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ferran.aran@udl.cat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s://campusvirtual.urv.cat/mod/resource/view.php?id=4045388" TargetMode="External"/><Relationship Id="rId4" Type="http://schemas.openxmlformats.org/officeDocument/2006/relationships/hyperlink" Target="https://hdbc-17705110-mdbs.github.io/HandsOnLabs/session5.html" TargetMode="Externa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hdbc-17705110-mdbs.github.io/HandsOnLabs/guide2.html" TargetMode="Externa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ampusvirtual.urv.cat/mod/resource/view.php?id=4045388" TargetMode="External"/><Relationship Id="rId3" Type="http://schemas.openxmlformats.org/officeDocument/2006/relationships/hyperlink" Target="https://hdbc-17705110-mdbs.github.io/HandsOnLabs/session5.html" TargetMode="Externa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73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7294" y="987055"/>
            <a:ext cx="3799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dirty="0" sz="1100" spc="-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 b="1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dirty="0" sz="1100" spc="-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1100" spc="-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dirty="0" sz="1100" spc="-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 b="1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dirty="0" sz="1100" spc="-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1100" spc="-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dirty="0" sz="1100" spc="-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294" y="1242941"/>
            <a:ext cx="1262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dirty="0" sz="10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dirty="0" sz="1000" spc="1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10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dirty="0" sz="10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/>
              <a:t>Ferran</a:t>
            </a:r>
            <a:r>
              <a:rPr dirty="0" sz="800" spc="15"/>
              <a:t> </a:t>
            </a:r>
            <a:r>
              <a:rPr dirty="0" sz="800"/>
              <a:t>Aran</a:t>
            </a:r>
            <a:r>
              <a:rPr dirty="0" sz="800" spc="20"/>
              <a:t> </a:t>
            </a:r>
            <a:r>
              <a:rPr dirty="0" sz="800"/>
              <a:t>Domingo</a:t>
            </a:r>
            <a:r>
              <a:rPr dirty="0" sz="800" spc="20"/>
              <a:t> </a:t>
            </a:r>
            <a:r>
              <a:rPr dirty="0" sz="800" spc="-20">
                <a:hlinkClick r:id="rId2"/>
              </a:rPr>
              <a:t>ferran.aran@udl.cat</a:t>
            </a:r>
            <a:endParaRPr sz="800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800"/>
          </a:p>
          <a:p>
            <a:pPr marL="12700">
              <a:lnSpc>
                <a:spcPct val="100000"/>
              </a:lnSpc>
            </a:pPr>
            <a:r>
              <a:rPr dirty="0" sz="600"/>
              <a:t>Universitat</a:t>
            </a:r>
            <a:r>
              <a:rPr dirty="0" sz="600" spc="20"/>
              <a:t> </a:t>
            </a:r>
            <a:r>
              <a:rPr dirty="0" sz="600"/>
              <a:t>Rovira</a:t>
            </a:r>
            <a:r>
              <a:rPr dirty="0" sz="600" spc="25"/>
              <a:t> </a:t>
            </a:r>
            <a:r>
              <a:rPr dirty="0" sz="600"/>
              <a:t>i</a:t>
            </a:r>
            <a:r>
              <a:rPr dirty="0" sz="600" spc="25"/>
              <a:t> </a:t>
            </a:r>
            <a:r>
              <a:rPr dirty="0" sz="600"/>
              <a:t>Virgili</a:t>
            </a:r>
            <a:r>
              <a:rPr dirty="0" sz="600" spc="25"/>
              <a:t> </a:t>
            </a:r>
            <a:r>
              <a:rPr dirty="0" sz="600"/>
              <a:t>and</a:t>
            </a:r>
            <a:r>
              <a:rPr dirty="0" sz="600" spc="25"/>
              <a:t> </a:t>
            </a:r>
            <a:r>
              <a:rPr dirty="0" sz="600"/>
              <a:t>Universitat</a:t>
            </a:r>
            <a:r>
              <a:rPr dirty="0" sz="600" spc="20"/>
              <a:t> </a:t>
            </a:r>
            <a:r>
              <a:rPr dirty="0" sz="600"/>
              <a:t>de</a:t>
            </a:r>
            <a:r>
              <a:rPr dirty="0" sz="600" spc="25"/>
              <a:t> </a:t>
            </a:r>
            <a:r>
              <a:rPr dirty="0" sz="600" spc="-10"/>
              <a:t>Lleida</a:t>
            </a:r>
            <a:endParaRPr sz="600"/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101600" cy="5080"/>
            </a:xfrm>
            <a:custGeom>
              <a:avLst/>
              <a:gdLst/>
              <a:ahLst/>
              <a:cxnLst/>
              <a:rect l="l" t="t" r="r" b="b"/>
              <a:pathLst>
                <a:path w="101600" h="5080">
                  <a:moveTo>
                    <a:pt x="0" y="5060"/>
                  </a:moveTo>
                  <a:lnTo>
                    <a:pt x="0" y="0"/>
                  </a:lnTo>
                  <a:lnTo>
                    <a:pt x="101075" y="0"/>
                  </a:lnTo>
                  <a:lnTo>
                    <a:pt x="10107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14703" y="1375167"/>
            <a:ext cx="1014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Cloud</a:t>
            </a:r>
            <a:r>
              <a:rPr dirty="0" sz="1100" spc="-20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45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functions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 descr="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27403" y="1647056"/>
              <a:ext cx="44450" cy="5080"/>
            </a:xfrm>
            <a:custGeom>
              <a:avLst/>
              <a:gdLst/>
              <a:ahLst/>
              <a:cxnLst/>
              <a:rect l="l" t="t" r="r" b="b"/>
              <a:pathLst>
                <a:path w="44450" h="5080">
                  <a:moveTo>
                    <a:pt x="0" y="5060"/>
                  </a:moveTo>
                  <a:lnTo>
                    <a:pt x="0" y="0"/>
                  </a:lnTo>
                  <a:lnTo>
                    <a:pt x="43960" y="0"/>
                  </a:lnTo>
                  <a:lnTo>
                    <a:pt x="439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Cloud</a:t>
            </a:r>
            <a:r>
              <a:rPr dirty="0" spc="5"/>
              <a:t> </a:t>
            </a:r>
            <a:r>
              <a:rPr dirty="0" spc="-40"/>
              <a:t>functions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1207494"/>
            <a:ext cx="4995545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0" b="1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900" spc="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computing,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allowing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developers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provisioning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managing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202565" cy="5080"/>
            </a:xfrm>
            <a:custGeom>
              <a:avLst/>
              <a:gdLst/>
              <a:ahLst/>
              <a:cxnLst/>
              <a:rect l="l" t="t" r="r" b="b"/>
              <a:pathLst>
                <a:path w="202565" h="5080">
                  <a:moveTo>
                    <a:pt x="0" y="5060"/>
                  </a:moveTo>
                  <a:lnTo>
                    <a:pt x="0" y="0"/>
                  </a:lnTo>
                  <a:lnTo>
                    <a:pt x="202063" y="0"/>
                  </a:lnTo>
                  <a:lnTo>
                    <a:pt x="202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Cloud</a:t>
            </a:r>
            <a:r>
              <a:rPr dirty="0" spc="5"/>
              <a:t> </a:t>
            </a:r>
            <a:r>
              <a:rPr dirty="0" spc="-40"/>
              <a:t>functions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1207494"/>
            <a:ext cx="4995545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Cloud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0" b="1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900" spc="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computing,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allowing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developers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provisioning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or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managing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9994" y="1628114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13AF3C"/>
                </a:solidFill>
                <a:latin typeface="Arial"/>
                <a:cs typeface="Arial"/>
              </a:rPr>
              <a:t>Example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9994" y="1792541"/>
            <a:ext cx="5039995" cy="337820"/>
          </a:xfrm>
          <a:prstGeom prst="rect">
            <a:avLst/>
          </a:prstGeom>
          <a:solidFill>
            <a:srgbClr val="E4E6E6"/>
          </a:solidFill>
        </p:spPr>
        <p:txBody>
          <a:bodyPr wrap="square" lIns="0" tIns="2540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2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Automatically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patient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uploads,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alerts,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updating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medical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dashboards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without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management.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202565" cy="5080"/>
            </a:xfrm>
            <a:custGeom>
              <a:avLst/>
              <a:gdLst/>
              <a:ahLst/>
              <a:cxnLst/>
              <a:rect l="l" t="t" r="r" b="b"/>
              <a:pathLst>
                <a:path w="202565" h="5080">
                  <a:moveTo>
                    <a:pt x="0" y="5060"/>
                  </a:moveTo>
                  <a:lnTo>
                    <a:pt x="0" y="0"/>
                  </a:lnTo>
                  <a:lnTo>
                    <a:pt x="202063" y="0"/>
                  </a:lnTo>
                  <a:lnTo>
                    <a:pt x="202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8526" y="59834"/>
            <a:ext cx="659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60" b="1">
                <a:solidFill>
                  <a:srgbClr val="F9F9F9"/>
                </a:solidFill>
                <a:latin typeface="Arial"/>
                <a:cs typeface="Arial"/>
              </a:rPr>
              <a:t>Serverless?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82" y="853517"/>
            <a:ext cx="4031855" cy="128603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265273" y="2273527"/>
            <a:ext cx="12299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3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dirty="0" sz="800" spc="1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5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303530" cy="5080"/>
            </a:xfrm>
            <a:custGeom>
              <a:avLst/>
              <a:gdLst/>
              <a:ahLst/>
              <a:cxnLst/>
              <a:rect l="l" t="t" r="r" b="b"/>
              <a:pathLst>
                <a:path w="303530" h="5080">
                  <a:moveTo>
                    <a:pt x="0" y="5060"/>
                  </a:moveTo>
                  <a:lnTo>
                    <a:pt x="0" y="0"/>
                  </a:lnTo>
                  <a:lnTo>
                    <a:pt x="303138" y="0"/>
                  </a:lnTo>
                  <a:lnTo>
                    <a:pt x="3031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8526" y="59834"/>
            <a:ext cx="5632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solidFill>
                  <a:srgbClr val="F9F9F9"/>
                </a:solidFill>
                <a:latin typeface="Arial"/>
                <a:cs typeface="Arial"/>
              </a:rPr>
              <a:t>Providers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69" y="709151"/>
            <a:ext cx="4031871" cy="157476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201100" y="2417888"/>
            <a:ext cx="13582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3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dirty="0" sz="800" spc="1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5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404495" cy="5080"/>
            </a:xfrm>
            <a:custGeom>
              <a:avLst/>
              <a:gdLst/>
              <a:ahLst/>
              <a:cxnLst/>
              <a:rect l="l" t="t" r="r" b="b"/>
              <a:pathLst>
                <a:path w="404495" h="5080">
                  <a:moveTo>
                    <a:pt x="0" y="5060"/>
                  </a:moveTo>
                  <a:lnTo>
                    <a:pt x="0" y="0"/>
                  </a:lnTo>
                  <a:lnTo>
                    <a:pt x="404213" y="0"/>
                  </a:lnTo>
                  <a:lnTo>
                    <a:pt x="4042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14703" y="1375865"/>
            <a:ext cx="895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AWS</a:t>
            </a:r>
            <a:r>
              <a:rPr dirty="0" sz="1100" spc="-35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Lambda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 descr="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27403" y="1647755"/>
              <a:ext cx="175895" cy="5080"/>
            </a:xfrm>
            <a:custGeom>
              <a:avLst/>
              <a:gdLst/>
              <a:ahLst/>
              <a:cxnLst/>
              <a:rect l="l" t="t" r="r" b="b"/>
              <a:pathLst>
                <a:path w="175894" h="5080">
                  <a:moveTo>
                    <a:pt x="0" y="5060"/>
                  </a:moveTo>
                  <a:lnTo>
                    <a:pt x="0" y="0"/>
                  </a:lnTo>
                  <a:lnTo>
                    <a:pt x="175805" y="0"/>
                  </a:lnTo>
                  <a:lnTo>
                    <a:pt x="1758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17462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9F9F9"/>
                </a:solidFill>
                <a:latin typeface="Arial"/>
                <a:cs typeface="Arial"/>
              </a:rPr>
              <a:t>Introduction</a:t>
            </a:r>
            <a:r>
              <a:rPr dirty="0" sz="1000" spc="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dirty="0" sz="1000" spc="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dirty="0" sz="1000" spc="1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Lambda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40004" y="937069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Lambda?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0004" y="1101496"/>
            <a:ext cx="2520315" cy="41846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6695" indent="-147320">
              <a:lnSpc>
                <a:spcPct val="100000"/>
              </a:lnSpc>
              <a:spcBef>
                <a:spcPts val="650"/>
              </a:spcBef>
              <a:buChar char="•"/>
              <a:tabLst>
                <a:tab pos="22669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Event-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driven,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sz="900">
              <a:latin typeface="Arial"/>
              <a:cs typeface="Arial"/>
            </a:endParaRPr>
          </a:p>
          <a:p>
            <a:pPr marL="2266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26695" algn="l"/>
              </a:tabLst>
            </a:pP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Runs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05459" cy="5080"/>
            </a:xfrm>
            <a:custGeom>
              <a:avLst/>
              <a:gdLst/>
              <a:ahLst/>
              <a:cxnLst/>
              <a:rect l="l" t="t" r="r" b="b"/>
              <a:pathLst>
                <a:path w="505459" h="5080">
                  <a:moveTo>
                    <a:pt x="0" y="5060"/>
                  </a:moveTo>
                  <a:lnTo>
                    <a:pt x="0" y="0"/>
                  </a:lnTo>
                  <a:lnTo>
                    <a:pt x="505289" y="0"/>
                  </a:lnTo>
                  <a:lnTo>
                    <a:pt x="5052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4625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/>
              <a:t>AWS</a:t>
            </a:r>
            <a:r>
              <a:rPr dirty="0" spc="10"/>
              <a:t> </a:t>
            </a:r>
            <a:r>
              <a:rPr dirty="0" spc="-20"/>
              <a:t>Lambda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0004" y="937069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Lambda?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0004" y="1101496"/>
            <a:ext cx="2520315" cy="41846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6695" indent="-147320">
              <a:lnSpc>
                <a:spcPct val="100000"/>
              </a:lnSpc>
              <a:spcBef>
                <a:spcPts val="650"/>
              </a:spcBef>
              <a:buChar char="•"/>
              <a:tabLst>
                <a:tab pos="22669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Event-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driven,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sz="900">
              <a:latin typeface="Arial"/>
              <a:cs typeface="Arial"/>
            </a:endParaRPr>
          </a:p>
          <a:p>
            <a:pPr marL="2266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26695" algn="l"/>
              </a:tabLst>
            </a:pP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Runs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triggers.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0004" y="1618119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benefits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0004" y="1782559"/>
            <a:ext cx="2520315" cy="41846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2885" indent="-143510">
              <a:lnSpc>
                <a:spcPct val="100000"/>
              </a:lnSpc>
              <a:spcBef>
                <a:spcPts val="650"/>
              </a:spcBef>
              <a:buChar char="•"/>
              <a:tabLst>
                <a:tab pos="222885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Automatic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scaling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availability.</a:t>
            </a:r>
            <a:endParaRPr sz="900">
              <a:latin typeface="Arial"/>
              <a:cs typeface="Arial"/>
            </a:endParaRPr>
          </a:p>
          <a:p>
            <a:pPr marL="2266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26695" algn="l"/>
              </a:tabLst>
            </a:pP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per-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billing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model.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505459" cy="5080"/>
            </a:xfrm>
            <a:custGeom>
              <a:avLst/>
              <a:gdLst/>
              <a:ahLst/>
              <a:cxnLst/>
              <a:rect l="l" t="t" r="r" b="b"/>
              <a:pathLst>
                <a:path w="505459" h="5080">
                  <a:moveTo>
                    <a:pt x="0" y="5060"/>
                  </a:moveTo>
                  <a:lnTo>
                    <a:pt x="0" y="0"/>
                  </a:lnTo>
                  <a:lnTo>
                    <a:pt x="505289" y="0"/>
                  </a:lnTo>
                  <a:lnTo>
                    <a:pt x="5052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4625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/>
              <a:t>AWS</a:t>
            </a:r>
            <a:r>
              <a:rPr dirty="0" spc="10"/>
              <a:t> </a:t>
            </a:r>
            <a:r>
              <a:rPr dirty="0" spc="-20"/>
              <a:t>Lambda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0004" y="937069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Lambda?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0004" y="1101496"/>
            <a:ext cx="2520315" cy="41846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6695" indent="-147320">
              <a:lnSpc>
                <a:spcPct val="100000"/>
              </a:lnSpc>
              <a:spcBef>
                <a:spcPts val="650"/>
              </a:spcBef>
              <a:buChar char="•"/>
              <a:tabLst>
                <a:tab pos="22669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Event-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driven,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sz="900">
              <a:latin typeface="Arial"/>
              <a:cs typeface="Arial"/>
            </a:endParaRPr>
          </a:p>
          <a:p>
            <a:pPr marL="2266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26695" algn="l"/>
              </a:tabLst>
            </a:pP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Runs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triggers.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0004" y="1618119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benefits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0004" y="1782559"/>
            <a:ext cx="2520315" cy="41846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2885" indent="-143510">
              <a:lnSpc>
                <a:spcPct val="100000"/>
              </a:lnSpc>
              <a:spcBef>
                <a:spcPts val="650"/>
              </a:spcBef>
              <a:buChar char="•"/>
              <a:tabLst>
                <a:tab pos="222885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Automatic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scaling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availability.</a:t>
            </a:r>
            <a:endParaRPr sz="900">
              <a:latin typeface="Arial"/>
              <a:cs typeface="Arial"/>
            </a:endParaRPr>
          </a:p>
          <a:p>
            <a:pPr marL="2266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26695" algn="l"/>
              </a:tabLst>
            </a:pP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per-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billing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model.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99994" y="937069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30" b="1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dirty="0" sz="900" spc="-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 b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cases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99994" y="1101483"/>
            <a:ext cx="2520315" cy="735330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227329" marR="396240" indent="-147955">
              <a:lnSpc>
                <a:spcPct val="116199"/>
              </a:lnSpc>
              <a:spcBef>
                <a:spcPts val="475"/>
              </a:spcBef>
              <a:buChar char="•"/>
              <a:tabLst>
                <a:tab pos="227329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medical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imaging).</a:t>
            </a:r>
            <a:endParaRPr sz="900">
              <a:latin typeface="Arial"/>
              <a:cs typeface="Arial"/>
            </a:endParaRPr>
          </a:p>
          <a:p>
            <a:pPr marL="227329" marR="559435" indent="-147955">
              <a:lnSpc>
                <a:spcPct val="116199"/>
              </a:lnSpc>
              <a:buChar char="•"/>
              <a:tabLst>
                <a:tab pos="227329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Backend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mobile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health applications.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505459" cy="5080"/>
            </a:xfrm>
            <a:custGeom>
              <a:avLst/>
              <a:gdLst/>
              <a:ahLst/>
              <a:cxnLst/>
              <a:rect l="l" t="t" r="r" b="b"/>
              <a:pathLst>
                <a:path w="505459" h="5080">
                  <a:moveTo>
                    <a:pt x="0" y="5060"/>
                  </a:moveTo>
                  <a:lnTo>
                    <a:pt x="0" y="0"/>
                  </a:lnTo>
                  <a:lnTo>
                    <a:pt x="505289" y="0"/>
                  </a:lnTo>
                  <a:lnTo>
                    <a:pt x="5052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4625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/>
              <a:t>AWS</a:t>
            </a:r>
            <a:r>
              <a:rPr dirty="0" spc="10"/>
              <a:t> </a:t>
            </a:r>
            <a:r>
              <a:rPr dirty="0" spc="-20"/>
              <a:t>Lambda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0004" y="937069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3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Lambda?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0004" y="1101496"/>
            <a:ext cx="2520315" cy="41846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6695" indent="-147320">
              <a:lnSpc>
                <a:spcPct val="100000"/>
              </a:lnSpc>
              <a:spcBef>
                <a:spcPts val="650"/>
              </a:spcBef>
              <a:buChar char="•"/>
              <a:tabLst>
                <a:tab pos="22669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Event-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driven,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sz="900">
              <a:latin typeface="Arial"/>
              <a:cs typeface="Arial"/>
            </a:endParaRPr>
          </a:p>
          <a:p>
            <a:pPr marL="2266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26695" algn="l"/>
              </a:tabLst>
            </a:pP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Runs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triggers.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0004" y="1618119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benefits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0004" y="1782559"/>
            <a:ext cx="2520315" cy="41846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2885" indent="-143510">
              <a:lnSpc>
                <a:spcPct val="100000"/>
              </a:lnSpc>
              <a:spcBef>
                <a:spcPts val="650"/>
              </a:spcBef>
              <a:buChar char="•"/>
              <a:tabLst>
                <a:tab pos="222885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Automatic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scaling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availability.</a:t>
            </a:r>
            <a:endParaRPr sz="900">
              <a:latin typeface="Arial"/>
              <a:cs typeface="Arial"/>
            </a:endParaRPr>
          </a:p>
          <a:p>
            <a:pPr marL="2266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26695" algn="l"/>
              </a:tabLst>
            </a:pP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Pay-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per-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billing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model.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99994" y="937069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30" b="1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dirty="0" sz="900" spc="-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 b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cases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99994" y="1101483"/>
            <a:ext cx="2520315" cy="735330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227329" marR="396240" indent="-147955">
              <a:lnSpc>
                <a:spcPct val="116199"/>
              </a:lnSpc>
              <a:spcBef>
                <a:spcPts val="475"/>
              </a:spcBef>
              <a:buChar char="•"/>
              <a:tabLst>
                <a:tab pos="227329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(e.g.,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medical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imaging).</a:t>
            </a:r>
            <a:endParaRPr sz="900">
              <a:latin typeface="Arial"/>
              <a:cs typeface="Arial"/>
            </a:endParaRPr>
          </a:p>
          <a:p>
            <a:pPr marL="227329" marR="559435" indent="-147955">
              <a:lnSpc>
                <a:spcPct val="116199"/>
              </a:lnSpc>
              <a:buChar char="•"/>
              <a:tabLst>
                <a:tab pos="227329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Backend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web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mobile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health applications.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99994" y="1935416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30" b="1">
                <a:solidFill>
                  <a:srgbClr val="22373A"/>
                </a:solidFill>
                <a:latin typeface="Arial"/>
                <a:cs typeface="Arial"/>
              </a:rPr>
              <a:t>Supported</a:t>
            </a:r>
            <a:r>
              <a:rPr dirty="0" sz="9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languages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999994" y="2099843"/>
            <a:ext cx="2520315" cy="396240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227329" marR="102870" indent="-147955">
              <a:lnSpc>
                <a:spcPct val="116199"/>
              </a:lnSpc>
              <a:spcBef>
                <a:spcPts val="475"/>
              </a:spcBef>
              <a:buChar char="•"/>
              <a:tabLst>
                <a:tab pos="227329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Python,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Node.js,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Java,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Ruby,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.NET,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more.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0" y="3234963"/>
              <a:ext cx="505459" cy="5080"/>
            </a:xfrm>
            <a:custGeom>
              <a:avLst/>
              <a:gdLst/>
              <a:ahLst/>
              <a:cxnLst/>
              <a:rect l="l" t="t" r="r" b="b"/>
              <a:pathLst>
                <a:path w="505459" h="5080">
                  <a:moveTo>
                    <a:pt x="0" y="5060"/>
                  </a:moveTo>
                  <a:lnTo>
                    <a:pt x="0" y="0"/>
                  </a:lnTo>
                  <a:lnTo>
                    <a:pt x="505289" y="0"/>
                  </a:lnTo>
                  <a:lnTo>
                    <a:pt x="5052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8526" y="59834"/>
            <a:ext cx="20980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dirty="0" sz="1000" spc="1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Lambda</a:t>
            </a:r>
            <a:r>
              <a:rPr dirty="0" sz="1000" spc="1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9F9F9"/>
                </a:solidFill>
                <a:latin typeface="Arial"/>
                <a:cs typeface="Arial"/>
              </a:rPr>
              <a:t>architecture</a:t>
            </a:r>
            <a:r>
              <a:rPr dirty="0" sz="1000" spc="1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30" b="1">
                <a:solidFill>
                  <a:srgbClr val="F9F9F9"/>
                </a:solidFill>
                <a:latin typeface="Arial"/>
                <a:cs typeface="Arial"/>
              </a:rPr>
              <a:t>overview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44" y="911459"/>
            <a:ext cx="4031916" cy="11701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161882" y="2215577"/>
            <a:ext cx="14363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dirty="0" sz="800" spc="1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8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Architecture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606425" cy="5080"/>
            </a:xfrm>
            <a:custGeom>
              <a:avLst/>
              <a:gdLst/>
              <a:ahLst/>
              <a:cxnLst/>
              <a:rect l="l" t="t" r="r" b="b"/>
              <a:pathLst>
                <a:path w="606425" h="5080">
                  <a:moveTo>
                    <a:pt x="0" y="5060"/>
                  </a:moveTo>
                  <a:lnTo>
                    <a:pt x="0" y="0"/>
                  </a:lnTo>
                  <a:lnTo>
                    <a:pt x="606364" y="0"/>
                  </a:lnTo>
                  <a:lnTo>
                    <a:pt x="6063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8526" y="59834"/>
            <a:ext cx="20980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dirty="0" sz="1000" spc="1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Lambda</a:t>
            </a:r>
            <a:r>
              <a:rPr dirty="0" sz="1000" spc="1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9F9F9"/>
                </a:solidFill>
                <a:latin typeface="Arial"/>
                <a:cs typeface="Arial"/>
              </a:rPr>
              <a:t>architecture</a:t>
            </a:r>
            <a:r>
              <a:rPr dirty="0" sz="1000" spc="1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30" b="1">
                <a:solidFill>
                  <a:srgbClr val="F9F9F9"/>
                </a:solidFill>
                <a:latin typeface="Arial"/>
                <a:cs typeface="Arial"/>
              </a:rPr>
              <a:t>overview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17" y="728399"/>
            <a:ext cx="4032165" cy="153627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161882" y="2398647"/>
            <a:ext cx="14363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4:</a:t>
            </a:r>
            <a:r>
              <a:rPr dirty="0" sz="800" spc="1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8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Architecture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707390" cy="5080"/>
            </a:xfrm>
            <a:custGeom>
              <a:avLst/>
              <a:gdLst/>
              <a:ahLst/>
              <a:cxnLst/>
              <a:rect l="l" t="t" r="r" b="b"/>
              <a:pathLst>
                <a:path w="707390" h="5080">
                  <a:moveTo>
                    <a:pt x="0" y="5060"/>
                  </a:moveTo>
                  <a:lnTo>
                    <a:pt x="0" y="0"/>
                  </a:lnTo>
                  <a:lnTo>
                    <a:pt x="707352" y="0"/>
                  </a:lnTo>
                  <a:lnTo>
                    <a:pt x="7073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AWS</a:t>
            </a:r>
            <a:r>
              <a:rPr dirty="0" spc="10"/>
              <a:t> </a:t>
            </a:r>
            <a:r>
              <a:rPr dirty="0" spc="-20"/>
              <a:t>Lambda</a:t>
            </a:r>
            <a:r>
              <a:rPr dirty="0" spc="15"/>
              <a:t> </a:t>
            </a:r>
            <a:r>
              <a:rPr dirty="0" spc="-25"/>
              <a:t>architecture</a:t>
            </a:r>
            <a:r>
              <a:rPr dirty="0" spc="15"/>
              <a:t> </a:t>
            </a:r>
            <a:r>
              <a:rPr dirty="0" spc="-30"/>
              <a:t>overview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690455"/>
            <a:ext cx="2819400" cy="1403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Core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(Function)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Layers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(Dependencies)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Sources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(S3,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API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Gateway,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CloudWatch,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etc.)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2373A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35" b="1">
                <a:solidFill>
                  <a:srgbClr val="22373A"/>
                </a:solidFill>
                <a:latin typeface="Arial"/>
                <a:cs typeface="Arial"/>
              </a:rPr>
              <a:t>Event-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driven</a:t>
            </a:r>
            <a:r>
              <a:rPr dirty="0" sz="900" spc="1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execution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50"/>
              </a:spcBef>
              <a:buChar char="•"/>
              <a:tabLst>
                <a:tab pos="23939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executes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Easily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integrates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808990" cy="5080"/>
            </a:xfrm>
            <a:custGeom>
              <a:avLst/>
              <a:gdLst/>
              <a:ahLst/>
              <a:cxnLst/>
              <a:rect l="l" t="t" r="r" b="b"/>
              <a:pathLst>
                <a:path w="808990" h="5080">
                  <a:moveTo>
                    <a:pt x="0" y="5060"/>
                  </a:moveTo>
                  <a:lnTo>
                    <a:pt x="0" y="0"/>
                  </a:lnTo>
                  <a:lnTo>
                    <a:pt x="808428" y="0"/>
                  </a:lnTo>
                  <a:lnTo>
                    <a:pt x="8084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AWS</a:t>
            </a:r>
            <a:r>
              <a:rPr dirty="0" spc="10"/>
              <a:t> </a:t>
            </a:r>
            <a:r>
              <a:rPr dirty="0" spc="-20"/>
              <a:t>Lambda</a:t>
            </a:r>
            <a:r>
              <a:rPr dirty="0" spc="15"/>
              <a:t> </a:t>
            </a:r>
            <a:r>
              <a:rPr dirty="0" spc="-25"/>
              <a:t>architecture</a:t>
            </a:r>
            <a:r>
              <a:rPr dirty="0" spc="15"/>
              <a:t> </a:t>
            </a:r>
            <a:r>
              <a:rPr dirty="0" spc="-30"/>
              <a:t>overview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63993" y="2151218"/>
            <a:ext cx="4032250" cy="514984"/>
            <a:chOff x="863993" y="2151218"/>
            <a:chExt cx="4032250" cy="514984"/>
          </a:xfrm>
        </p:grpSpPr>
        <p:sp>
          <p:nvSpPr>
            <p:cNvPr id="4" name="object 4" descr=""/>
            <p:cNvSpPr/>
            <p:nvPr/>
          </p:nvSpPr>
          <p:spPr>
            <a:xfrm>
              <a:off x="863993" y="2151218"/>
              <a:ext cx="4032250" cy="514984"/>
            </a:xfrm>
            <a:custGeom>
              <a:avLst/>
              <a:gdLst/>
              <a:ahLst/>
              <a:cxnLst/>
              <a:rect l="l" t="t" r="r" b="b"/>
              <a:pathLst>
                <a:path w="4032250" h="51498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0955"/>
                  </a:lnTo>
                  <a:lnTo>
                    <a:pt x="4243" y="481975"/>
                  </a:lnTo>
                  <a:lnTo>
                    <a:pt x="15816" y="499139"/>
                  </a:lnTo>
                  <a:lnTo>
                    <a:pt x="32980" y="510712"/>
                  </a:lnTo>
                  <a:lnTo>
                    <a:pt x="54000" y="514955"/>
                  </a:lnTo>
                  <a:lnTo>
                    <a:pt x="3978067" y="514955"/>
                  </a:lnTo>
                  <a:lnTo>
                    <a:pt x="3999086" y="510712"/>
                  </a:lnTo>
                  <a:lnTo>
                    <a:pt x="4016251" y="499139"/>
                  </a:lnTo>
                  <a:lnTo>
                    <a:pt x="4027823" y="481975"/>
                  </a:lnTo>
                  <a:lnTo>
                    <a:pt x="4032067" y="460955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81993" y="2169218"/>
              <a:ext cx="3996690" cy="479425"/>
            </a:xfrm>
            <a:custGeom>
              <a:avLst/>
              <a:gdLst/>
              <a:ahLst/>
              <a:cxnLst/>
              <a:rect l="l" t="t" r="r" b="b"/>
              <a:pathLst>
                <a:path w="3996690" h="47942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2955"/>
                  </a:lnTo>
                  <a:lnTo>
                    <a:pt x="2829" y="456968"/>
                  </a:lnTo>
                  <a:lnTo>
                    <a:pt x="10544" y="468411"/>
                  </a:lnTo>
                  <a:lnTo>
                    <a:pt x="21987" y="476127"/>
                  </a:lnTo>
                  <a:lnTo>
                    <a:pt x="36000" y="478956"/>
                  </a:lnTo>
                  <a:lnTo>
                    <a:pt x="3960067" y="478956"/>
                  </a:lnTo>
                  <a:lnTo>
                    <a:pt x="3974080" y="476127"/>
                  </a:lnTo>
                  <a:lnTo>
                    <a:pt x="3985523" y="468411"/>
                  </a:lnTo>
                  <a:lnTo>
                    <a:pt x="3993238" y="456968"/>
                  </a:lnTo>
                  <a:lnTo>
                    <a:pt x="3996067" y="442955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690455"/>
            <a:ext cx="3919854" cy="1863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Core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Char char="•"/>
              <a:tabLst>
                <a:tab pos="23939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(Function)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Layers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(Dependencies)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Sources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(S3,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API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Gateway,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CloudWatch,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etc.)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2373A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35" b="1">
                <a:solidFill>
                  <a:srgbClr val="22373A"/>
                </a:solidFill>
                <a:latin typeface="Arial"/>
                <a:cs typeface="Arial"/>
              </a:rPr>
              <a:t>Event-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driven</a:t>
            </a:r>
            <a:r>
              <a:rPr dirty="0" sz="900" spc="1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execution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50"/>
              </a:spcBef>
              <a:buChar char="•"/>
              <a:tabLst>
                <a:tab pos="23939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executes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Easily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integrates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"/>
              <a:cs typeface="Arial"/>
            </a:endParaRPr>
          </a:p>
          <a:p>
            <a:pPr marL="1181100" marR="5080" indent="60960">
              <a:lnSpc>
                <a:spcPct val="116199"/>
              </a:lnSpc>
            </a:pPr>
            <a:r>
              <a:rPr dirty="0" sz="900">
                <a:latin typeface="Arial"/>
                <a:cs typeface="Arial"/>
              </a:rPr>
              <a:t>Did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you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know?</a:t>
            </a:r>
            <a:r>
              <a:rPr dirty="0" sz="900" spc="10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AWS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Lambda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functions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have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maxi- </a:t>
            </a:r>
            <a:r>
              <a:rPr dirty="0" sz="900">
                <a:latin typeface="Arial"/>
                <a:cs typeface="Arial"/>
              </a:rPr>
              <a:t>mum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execution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limit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15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minutes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per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invocation.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808990" cy="5080"/>
            </a:xfrm>
            <a:custGeom>
              <a:avLst/>
              <a:gdLst/>
              <a:ahLst/>
              <a:cxnLst/>
              <a:rect l="l" t="t" r="r" b="b"/>
              <a:pathLst>
                <a:path w="808990" h="5080">
                  <a:moveTo>
                    <a:pt x="0" y="5060"/>
                  </a:moveTo>
                  <a:lnTo>
                    <a:pt x="0" y="0"/>
                  </a:lnTo>
                  <a:lnTo>
                    <a:pt x="808428" y="0"/>
                  </a:lnTo>
                  <a:lnTo>
                    <a:pt x="8084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dirty="0" spc="15"/>
              <a:t> </a:t>
            </a:r>
            <a:r>
              <a:rPr dirty="0"/>
              <a:t>AWS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15"/>
              <a:t> </a:t>
            </a:r>
            <a:r>
              <a:rPr dirty="0" spc="-50"/>
              <a:t>compares</a:t>
            </a:r>
            <a:r>
              <a:rPr dirty="0" spc="15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 spc="-25"/>
              <a:t>EC2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0004" y="1186827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0004" y="1351254"/>
            <a:ext cx="2520315" cy="89471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227329" marR="15240" indent="-147955">
              <a:lnSpc>
                <a:spcPct val="116199"/>
              </a:lnSpc>
              <a:spcBef>
                <a:spcPts val="475"/>
              </a:spcBef>
              <a:buChar char="•"/>
              <a:tabLst>
                <a:tab pos="227329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Full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(turn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on/off, upgrading).</a:t>
            </a:r>
            <a:endParaRPr sz="900">
              <a:latin typeface="Arial"/>
              <a:cs typeface="Arial"/>
            </a:endParaRPr>
          </a:p>
          <a:p>
            <a:pPr marL="223520" marR="89535" indent="-144145">
              <a:lnSpc>
                <a:spcPct val="116199"/>
              </a:lnSpc>
              <a:buChar char="•"/>
              <a:tabLst>
                <a:tab pos="223520" algn="l"/>
                <a:tab pos="226695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	Manual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(want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more?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to add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more).</a:t>
            </a:r>
            <a:endParaRPr sz="900">
              <a:latin typeface="Arial"/>
              <a:cs typeface="Arial"/>
            </a:endParaRPr>
          </a:p>
          <a:p>
            <a:pPr marL="2266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26695" algn="l"/>
              </a:tabLst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uptime.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909955" cy="5080"/>
            </a:xfrm>
            <a:custGeom>
              <a:avLst/>
              <a:gdLst/>
              <a:ahLst/>
              <a:cxnLst/>
              <a:rect l="l" t="t" r="r" b="b"/>
              <a:pathLst>
                <a:path w="909955" h="5080">
                  <a:moveTo>
                    <a:pt x="0" y="5060"/>
                  </a:moveTo>
                  <a:lnTo>
                    <a:pt x="0" y="0"/>
                  </a:lnTo>
                  <a:lnTo>
                    <a:pt x="909503" y="0"/>
                  </a:lnTo>
                  <a:lnTo>
                    <a:pt x="90950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dirty="0" spc="15"/>
              <a:t> </a:t>
            </a:r>
            <a:r>
              <a:rPr dirty="0"/>
              <a:t>AWS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15"/>
              <a:t> </a:t>
            </a:r>
            <a:r>
              <a:rPr dirty="0" spc="-50"/>
              <a:t>compares</a:t>
            </a:r>
            <a:r>
              <a:rPr dirty="0" spc="15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 spc="-25"/>
              <a:t>EC2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0004" y="1186827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0004" y="1351254"/>
            <a:ext cx="2520315" cy="89471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227329" marR="15240" indent="-147955">
              <a:lnSpc>
                <a:spcPct val="116199"/>
              </a:lnSpc>
              <a:spcBef>
                <a:spcPts val="475"/>
              </a:spcBef>
              <a:buChar char="•"/>
              <a:tabLst>
                <a:tab pos="227329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Full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control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infrastructure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(turn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on/off, upgrading).</a:t>
            </a:r>
            <a:endParaRPr sz="900">
              <a:latin typeface="Arial"/>
              <a:cs typeface="Arial"/>
            </a:endParaRPr>
          </a:p>
          <a:p>
            <a:pPr marL="223520" marR="89535" indent="-144145">
              <a:lnSpc>
                <a:spcPct val="116199"/>
              </a:lnSpc>
              <a:buChar char="•"/>
              <a:tabLst>
                <a:tab pos="223520" algn="l"/>
                <a:tab pos="226695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	Manual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(want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more?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to add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more).</a:t>
            </a:r>
            <a:endParaRPr sz="900">
              <a:latin typeface="Arial"/>
              <a:cs typeface="Arial"/>
            </a:endParaRPr>
          </a:p>
          <a:p>
            <a:pPr marL="2266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26695" algn="l"/>
              </a:tabLst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cost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uptime.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999994" y="1186827"/>
            <a:ext cx="252031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 Lambda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999994" y="1351254"/>
            <a:ext cx="2520315" cy="577215"/>
          </a:xfrm>
          <a:custGeom>
            <a:avLst/>
            <a:gdLst/>
            <a:ahLst/>
            <a:cxnLst/>
            <a:rect l="l" t="t" r="r" b="b"/>
            <a:pathLst>
              <a:path w="2520315" h="577214">
                <a:moveTo>
                  <a:pt x="2519997" y="0"/>
                </a:moveTo>
                <a:lnTo>
                  <a:pt x="0" y="0"/>
                </a:lnTo>
                <a:lnTo>
                  <a:pt x="0" y="577164"/>
                </a:lnTo>
                <a:lnTo>
                  <a:pt x="2519997" y="577164"/>
                </a:lnTo>
                <a:lnTo>
                  <a:pt x="2519997" y="0"/>
                </a:lnTo>
                <a:close/>
              </a:path>
            </a:pathLst>
          </a:custGeom>
          <a:solidFill>
            <a:srgbClr val="E4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067126" y="1421925"/>
            <a:ext cx="228727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infrastructure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(serverless).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67126" y="1581259"/>
            <a:ext cx="248856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95"/>
              </a:spcBef>
              <a:buChar char="•"/>
              <a:tabLst>
                <a:tab pos="156210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Automatic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scalability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(from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zero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thousands).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67126" y="1740580"/>
            <a:ext cx="164211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Char char="•"/>
              <a:tabLst>
                <a:tab pos="160020" algn="l"/>
              </a:tabLst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Pay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actual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execution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time.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34963"/>
              <a:ext cx="909955" cy="5080"/>
            </a:xfrm>
            <a:custGeom>
              <a:avLst/>
              <a:gdLst/>
              <a:ahLst/>
              <a:cxnLst/>
              <a:rect l="l" t="t" r="r" b="b"/>
              <a:pathLst>
                <a:path w="909955" h="5080">
                  <a:moveTo>
                    <a:pt x="0" y="5060"/>
                  </a:moveTo>
                  <a:lnTo>
                    <a:pt x="0" y="0"/>
                  </a:lnTo>
                  <a:lnTo>
                    <a:pt x="909503" y="0"/>
                  </a:lnTo>
                  <a:lnTo>
                    <a:pt x="90950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62941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Use</a:t>
            </a:r>
            <a:r>
              <a:rPr dirty="0" spc="-45"/>
              <a:t> </a:t>
            </a:r>
            <a:r>
              <a:rPr dirty="0" spc="-65"/>
              <a:t>cases</a:t>
            </a:r>
            <a:r>
              <a:rPr dirty="0"/>
              <a:t> for</a:t>
            </a:r>
            <a:r>
              <a:rPr dirty="0" spc="-30"/>
              <a:t> </a:t>
            </a:r>
            <a:r>
              <a:rPr dirty="0"/>
              <a:t>AWS</a:t>
            </a:r>
            <a:r>
              <a:rPr dirty="0" spc="-25"/>
              <a:t> </a:t>
            </a:r>
            <a:r>
              <a:rPr dirty="0" spc="-10"/>
              <a:t>Lambda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7126" y="830735"/>
            <a:ext cx="4841240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 marR="508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dirty="0" sz="9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 b="1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dirty="0" sz="900" spc="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sensor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wearable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identify irregular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patterns.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1010919" cy="5080"/>
            </a:xfrm>
            <a:custGeom>
              <a:avLst/>
              <a:gdLst/>
              <a:ahLst/>
              <a:cxnLst/>
              <a:rect l="l" t="t" r="r" b="b"/>
              <a:pathLst>
                <a:path w="1010919" h="5080">
                  <a:moveTo>
                    <a:pt x="0" y="5060"/>
                  </a:moveTo>
                  <a:lnTo>
                    <a:pt x="0" y="0"/>
                  </a:lnTo>
                  <a:lnTo>
                    <a:pt x="1010579" y="0"/>
                  </a:lnTo>
                  <a:lnTo>
                    <a:pt x="10105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62941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Use</a:t>
            </a:r>
            <a:r>
              <a:rPr dirty="0" spc="-45"/>
              <a:t> </a:t>
            </a:r>
            <a:r>
              <a:rPr dirty="0" spc="-65"/>
              <a:t>cases</a:t>
            </a:r>
            <a:r>
              <a:rPr dirty="0"/>
              <a:t> for</a:t>
            </a:r>
            <a:r>
              <a:rPr dirty="0" spc="-30"/>
              <a:t> </a:t>
            </a:r>
            <a:r>
              <a:rPr dirty="0"/>
              <a:t>AWS</a:t>
            </a:r>
            <a:r>
              <a:rPr dirty="0" spc="-25"/>
              <a:t> </a:t>
            </a:r>
            <a:r>
              <a:rPr dirty="0" spc="-10"/>
              <a:t>Lambda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0020" marR="1511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dirty="0" spc="-20" b="1">
                <a:latin typeface="Arial"/>
                <a:cs typeface="Arial"/>
              </a:rPr>
              <a:t>Real-</a:t>
            </a:r>
            <a:r>
              <a:rPr dirty="0" b="1">
                <a:latin typeface="Arial"/>
                <a:cs typeface="Arial"/>
              </a:rPr>
              <a:t>time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data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spc="-50" b="1">
                <a:latin typeface="Arial"/>
                <a:cs typeface="Arial"/>
              </a:rPr>
              <a:t>processing</a:t>
            </a:r>
            <a:r>
              <a:rPr dirty="0" spc="-50"/>
              <a:t>:</a:t>
            </a:r>
            <a:r>
              <a:rPr dirty="0" spc="95"/>
              <a:t> </a:t>
            </a:r>
            <a:r>
              <a:rPr dirty="0" spc="-20"/>
              <a:t>Lambda</a:t>
            </a:r>
            <a:r>
              <a:rPr dirty="0" spc="5"/>
              <a:t> </a:t>
            </a:r>
            <a:r>
              <a:rPr dirty="0" spc="-10"/>
              <a:t>can</a:t>
            </a:r>
            <a:r>
              <a:rPr dirty="0" spc="10"/>
              <a:t> </a:t>
            </a:r>
            <a:r>
              <a:rPr dirty="0" spc="-35"/>
              <a:t>analyze</a:t>
            </a:r>
            <a:r>
              <a:rPr dirty="0" spc="5"/>
              <a:t> </a:t>
            </a:r>
            <a:r>
              <a:rPr dirty="0" spc="-55"/>
              <a:t>sensor</a:t>
            </a:r>
            <a:r>
              <a:rPr dirty="0" spc="10"/>
              <a:t> </a:t>
            </a:r>
            <a:r>
              <a:rPr dirty="0"/>
              <a:t>data</a:t>
            </a:r>
            <a:r>
              <a:rPr dirty="0" spc="10"/>
              <a:t> </a:t>
            </a:r>
            <a:r>
              <a:rPr dirty="0"/>
              <a:t>from</a:t>
            </a:r>
            <a:r>
              <a:rPr dirty="0" spc="5"/>
              <a:t> </a:t>
            </a:r>
            <a:r>
              <a:rPr dirty="0" spc="-40"/>
              <a:t>wearable</a:t>
            </a:r>
            <a:r>
              <a:rPr dirty="0" spc="10"/>
              <a:t> </a:t>
            </a:r>
            <a:r>
              <a:rPr dirty="0" spc="-45"/>
              <a:t>devices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 spc="-10"/>
              <a:t>identify irregular</a:t>
            </a:r>
            <a:r>
              <a:rPr dirty="0" spc="-25"/>
              <a:t> </a:t>
            </a:r>
            <a:r>
              <a:rPr dirty="0" spc="-10"/>
              <a:t>patterns.</a:t>
            </a: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dirty="0" b="1">
                <a:latin typeface="Arial"/>
                <a:cs typeface="Arial"/>
              </a:rPr>
              <a:t>Data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aggregation</a:t>
            </a:r>
            <a:r>
              <a:rPr dirty="0" spc="-25"/>
              <a:t>:</a:t>
            </a:r>
            <a:r>
              <a:rPr dirty="0" spc="110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10"/>
              <a:t>can</a:t>
            </a:r>
            <a:r>
              <a:rPr dirty="0" spc="20"/>
              <a:t> </a:t>
            </a:r>
            <a:r>
              <a:rPr dirty="0"/>
              <a:t>collect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20"/>
              <a:t> </a:t>
            </a:r>
            <a:r>
              <a:rPr dirty="0"/>
              <a:t>from</a:t>
            </a:r>
            <a:r>
              <a:rPr dirty="0" spc="20"/>
              <a:t> </a:t>
            </a:r>
            <a:r>
              <a:rPr dirty="0"/>
              <a:t>multiple</a:t>
            </a:r>
            <a:r>
              <a:rPr dirty="0" spc="20"/>
              <a:t> </a:t>
            </a:r>
            <a:r>
              <a:rPr dirty="0" spc="-10"/>
              <a:t>clinical</a:t>
            </a:r>
            <a:r>
              <a:rPr dirty="0" spc="15"/>
              <a:t> </a:t>
            </a:r>
            <a:r>
              <a:rPr dirty="0"/>
              <a:t>trial</a:t>
            </a:r>
            <a:r>
              <a:rPr dirty="0" spc="20"/>
              <a:t> </a:t>
            </a:r>
            <a:r>
              <a:rPr dirty="0" spc="-20"/>
              <a:t>sites,</a:t>
            </a:r>
            <a:r>
              <a:rPr dirty="0" spc="20"/>
              <a:t> </a:t>
            </a:r>
            <a:r>
              <a:rPr dirty="0" spc="-10"/>
              <a:t>aggregating </a:t>
            </a:r>
            <a:r>
              <a:rPr dirty="0"/>
              <a:t>information</a:t>
            </a:r>
            <a:r>
              <a:rPr dirty="0" spc="-10"/>
              <a:t> </a:t>
            </a:r>
            <a:r>
              <a:rPr dirty="0"/>
              <a:t>on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5"/>
              <a:t> </a:t>
            </a:r>
            <a:r>
              <a:rPr dirty="0" spc="-30"/>
              <a:t>outcomes,</a:t>
            </a:r>
            <a:r>
              <a:rPr dirty="0" spc="-5"/>
              <a:t> </a:t>
            </a:r>
            <a:r>
              <a:rPr dirty="0" spc="-50"/>
              <a:t>adverse</a:t>
            </a:r>
            <a:r>
              <a:rPr dirty="0" spc="-5"/>
              <a:t> </a:t>
            </a:r>
            <a:r>
              <a:rPr dirty="0" spc="-30"/>
              <a:t>events,</a:t>
            </a:r>
            <a:r>
              <a:rPr dirty="0"/>
              <a:t> </a:t>
            </a:r>
            <a:r>
              <a:rPr dirty="0" spc="-10"/>
              <a:t>and</a:t>
            </a:r>
            <a:r>
              <a:rPr dirty="0" spc="-5"/>
              <a:t> </a:t>
            </a:r>
            <a:r>
              <a:rPr dirty="0"/>
              <a:t>treatment </a:t>
            </a:r>
            <a:r>
              <a:rPr dirty="0" spc="-60"/>
              <a:t>eﬀicacy</a:t>
            </a:r>
            <a:r>
              <a:rPr dirty="0" spc="-5"/>
              <a:t> </a:t>
            </a:r>
            <a:r>
              <a:rPr dirty="0" spc="-25"/>
              <a:t>preparing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35"/>
              <a:t>dashboard</a:t>
            </a:r>
            <a:r>
              <a:rPr dirty="0" spc="-5"/>
              <a:t> </a:t>
            </a:r>
            <a:r>
              <a:rPr dirty="0" spc="-25"/>
              <a:t>for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10"/>
              <a:t>researchers.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1010919" cy="5080"/>
            </a:xfrm>
            <a:custGeom>
              <a:avLst/>
              <a:gdLst/>
              <a:ahLst/>
              <a:cxnLst/>
              <a:rect l="l" t="t" r="r" b="b"/>
              <a:pathLst>
                <a:path w="1010919" h="5080">
                  <a:moveTo>
                    <a:pt x="0" y="5060"/>
                  </a:moveTo>
                  <a:lnTo>
                    <a:pt x="0" y="0"/>
                  </a:lnTo>
                  <a:lnTo>
                    <a:pt x="1010579" y="0"/>
                  </a:lnTo>
                  <a:lnTo>
                    <a:pt x="10105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62941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Use</a:t>
            </a:r>
            <a:r>
              <a:rPr dirty="0" spc="-45"/>
              <a:t> </a:t>
            </a:r>
            <a:r>
              <a:rPr dirty="0" spc="-65"/>
              <a:t>cases</a:t>
            </a:r>
            <a:r>
              <a:rPr dirty="0"/>
              <a:t> for</a:t>
            </a:r>
            <a:r>
              <a:rPr dirty="0" spc="-30"/>
              <a:t> </a:t>
            </a:r>
            <a:r>
              <a:rPr dirty="0"/>
              <a:t>AWS</a:t>
            </a:r>
            <a:r>
              <a:rPr dirty="0" spc="-25"/>
              <a:t> </a:t>
            </a:r>
            <a:r>
              <a:rPr dirty="0" spc="-10"/>
              <a:t>Lambda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0020" marR="1511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dirty="0" spc="-20" b="1">
                <a:latin typeface="Arial"/>
                <a:cs typeface="Arial"/>
              </a:rPr>
              <a:t>Real-</a:t>
            </a:r>
            <a:r>
              <a:rPr dirty="0" b="1">
                <a:latin typeface="Arial"/>
                <a:cs typeface="Arial"/>
              </a:rPr>
              <a:t>time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data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spc="-50" b="1">
                <a:latin typeface="Arial"/>
                <a:cs typeface="Arial"/>
              </a:rPr>
              <a:t>processing</a:t>
            </a:r>
            <a:r>
              <a:rPr dirty="0" spc="-50"/>
              <a:t>:</a:t>
            </a:r>
            <a:r>
              <a:rPr dirty="0" spc="95"/>
              <a:t> </a:t>
            </a:r>
            <a:r>
              <a:rPr dirty="0" spc="-20"/>
              <a:t>Lambda</a:t>
            </a:r>
            <a:r>
              <a:rPr dirty="0" spc="5"/>
              <a:t> </a:t>
            </a:r>
            <a:r>
              <a:rPr dirty="0" spc="-10"/>
              <a:t>can</a:t>
            </a:r>
            <a:r>
              <a:rPr dirty="0" spc="10"/>
              <a:t> </a:t>
            </a:r>
            <a:r>
              <a:rPr dirty="0" spc="-35"/>
              <a:t>analyze</a:t>
            </a:r>
            <a:r>
              <a:rPr dirty="0" spc="5"/>
              <a:t> </a:t>
            </a:r>
            <a:r>
              <a:rPr dirty="0" spc="-55"/>
              <a:t>sensor</a:t>
            </a:r>
            <a:r>
              <a:rPr dirty="0" spc="10"/>
              <a:t> </a:t>
            </a:r>
            <a:r>
              <a:rPr dirty="0"/>
              <a:t>data</a:t>
            </a:r>
            <a:r>
              <a:rPr dirty="0" spc="10"/>
              <a:t> </a:t>
            </a:r>
            <a:r>
              <a:rPr dirty="0"/>
              <a:t>from</a:t>
            </a:r>
            <a:r>
              <a:rPr dirty="0" spc="5"/>
              <a:t> </a:t>
            </a:r>
            <a:r>
              <a:rPr dirty="0" spc="-40"/>
              <a:t>wearable</a:t>
            </a:r>
            <a:r>
              <a:rPr dirty="0" spc="10"/>
              <a:t> </a:t>
            </a:r>
            <a:r>
              <a:rPr dirty="0" spc="-45"/>
              <a:t>devices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 spc="-10"/>
              <a:t>identify irregular</a:t>
            </a:r>
            <a:r>
              <a:rPr dirty="0" spc="-25"/>
              <a:t> </a:t>
            </a:r>
            <a:r>
              <a:rPr dirty="0" spc="-10"/>
              <a:t>patterns.</a:t>
            </a: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dirty="0" b="1">
                <a:latin typeface="Arial"/>
                <a:cs typeface="Arial"/>
              </a:rPr>
              <a:t>Data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aggregation</a:t>
            </a:r>
            <a:r>
              <a:rPr dirty="0" spc="-25"/>
              <a:t>:</a:t>
            </a:r>
            <a:r>
              <a:rPr dirty="0" spc="110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10"/>
              <a:t>can</a:t>
            </a:r>
            <a:r>
              <a:rPr dirty="0" spc="20"/>
              <a:t> </a:t>
            </a:r>
            <a:r>
              <a:rPr dirty="0"/>
              <a:t>collect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20"/>
              <a:t> </a:t>
            </a:r>
            <a:r>
              <a:rPr dirty="0"/>
              <a:t>from</a:t>
            </a:r>
            <a:r>
              <a:rPr dirty="0" spc="20"/>
              <a:t> </a:t>
            </a:r>
            <a:r>
              <a:rPr dirty="0"/>
              <a:t>multiple</a:t>
            </a:r>
            <a:r>
              <a:rPr dirty="0" spc="20"/>
              <a:t> </a:t>
            </a:r>
            <a:r>
              <a:rPr dirty="0" spc="-10"/>
              <a:t>clinical</a:t>
            </a:r>
            <a:r>
              <a:rPr dirty="0" spc="15"/>
              <a:t> </a:t>
            </a:r>
            <a:r>
              <a:rPr dirty="0"/>
              <a:t>trial</a:t>
            </a:r>
            <a:r>
              <a:rPr dirty="0" spc="20"/>
              <a:t> </a:t>
            </a:r>
            <a:r>
              <a:rPr dirty="0" spc="-20"/>
              <a:t>sites,</a:t>
            </a:r>
            <a:r>
              <a:rPr dirty="0" spc="20"/>
              <a:t> </a:t>
            </a:r>
            <a:r>
              <a:rPr dirty="0" spc="-10"/>
              <a:t>aggregating </a:t>
            </a:r>
            <a:r>
              <a:rPr dirty="0"/>
              <a:t>information</a:t>
            </a:r>
            <a:r>
              <a:rPr dirty="0" spc="-10"/>
              <a:t> </a:t>
            </a:r>
            <a:r>
              <a:rPr dirty="0"/>
              <a:t>on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5"/>
              <a:t> </a:t>
            </a:r>
            <a:r>
              <a:rPr dirty="0" spc="-30"/>
              <a:t>outcomes,</a:t>
            </a:r>
            <a:r>
              <a:rPr dirty="0" spc="-5"/>
              <a:t> </a:t>
            </a:r>
            <a:r>
              <a:rPr dirty="0" spc="-50"/>
              <a:t>adverse</a:t>
            </a:r>
            <a:r>
              <a:rPr dirty="0" spc="-5"/>
              <a:t> </a:t>
            </a:r>
            <a:r>
              <a:rPr dirty="0" spc="-30"/>
              <a:t>events,</a:t>
            </a:r>
            <a:r>
              <a:rPr dirty="0"/>
              <a:t> </a:t>
            </a:r>
            <a:r>
              <a:rPr dirty="0" spc="-10"/>
              <a:t>and</a:t>
            </a:r>
            <a:r>
              <a:rPr dirty="0" spc="-5"/>
              <a:t> </a:t>
            </a:r>
            <a:r>
              <a:rPr dirty="0"/>
              <a:t>treatment </a:t>
            </a:r>
            <a:r>
              <a:rPr dirty="0" spc="-60"/>
              <a:t>eﬀicacy</a:t>
            </a:r>
            <a:r>
              <a:rPr dirty="0" spc="-5"/>
              <a:t> </a:t>
            </a:r>
            <a:r>
              <a:rPr dirty="0" spc="-25"/>
              <a:t>preparing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35"/>
              <a:t>dashboard</a:t>
            </a:r>
            <a:r>
              <a:rPr dirty="0" spc="-5"/>
              <a:t> </a:t>
            </a:r>
            <a:r>
              <a:rPr dirty="0" spc="-25"/>
              <a:t>for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10"/>
              <a:t>researchers.</a:t>
            </a:r>
          </a:p>
          <a:p>
            <a:pPr marL="160020" marR="1143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dirty="0" b="1">
                <a:latin typeface="Arial"/>
                <a:cs typeface="Arial"/>
              </a:rPr>
              <a:t>Data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validation</a:t>
            </a:r>
            <a:r>
              <a:rPr dirty="0" spc="-20"/>
              <a:t>:</a:t>
            </a:r>
            <a:r>
              <a:rPr dirty="0" spc="85"/>
              <a:t> </a:t>
            </a:r>
            <a:r>
              <a:rPr dirty="0" spc="-20"/>
              <a:t>Lambda</a:t>
            </a:r>
            <a:r>
              <a:rPr dirty="0"/>
              <a:t> </a:t>
            </a:r>
            <a:r>
              <a:rPr dirty="0" spc="-10"/>
              <a:t>can</a:t>
            </a:r>
            <a:r>
              <a:rPr dirty="0"/>
              <a:t> </a:t>
            </a:r>
            <a:r>
              <a:rPr dirty="0" spc="-10"/>
              <a:t>validate</a:t>
            </a:r>
            <a:r>
              <a:rPr dirty="0"/>
              <a:t> lab </a:t>
            </a:r>
            <a:r>
              <a:rPr dirty="0" spc="-25"/>
              <a:t>results</a:t>
            </a:r>
            <a:r>
              <a:rPr dirty="0"/>
              <a:t> </a:t>
            </a:r>
            <a:r>
              <a:rPr dirty="0" spc="-10"/>
              <a:t>(such</a:t>
            </a:r>
            <a:r>
              <a:rPr dirty="0" spc="5"/>
              <a:t> </a:t>
            </a:r>
            <a:r>
              <a:rPr dirty="0" spc="-45"/>
              <a:t>as</a:t>
            </a:r>
            <a:r>
              <a:rPr dirty="0"/>
              <a:t> blood tests) by </a:t>
            </a:r>
            <a:r>
              <a:rPr dirty="0" spc="-25"/>
              <a:t>checking</a:t>
            </a:r>
            <a:r>
              <a:rPr dirty="0"/>
              <a:t> for </a:t>
            </a:r>
            <a:r>
              <a:rPr dirty="0" spc="-10"/>
              <a:t>outliers</a:t>
            </a:r>
            <a:r>
              <a:rPr dirty="0" spc="5"/>
              <a:t> </a:t>
            </a:r>
            <a:r>
              <a:rPr dirty="0" spc="-25"/>
              <a:t>or </a:t>
            </a:r>
            <a:r>
              <a:rPr dirty="0" spc="-35"/>
              <a:t>inconsistencies.</a:t>
            </a:r>
            <a:r>
              <a:rPr dirty="0" spc="75"/>
              <a:t> </a:t>
            </a:r>
            <a:r>
              <a:rPr dirty="0" spc="-10"/>
              <a:t>For</a:t>
            </a:r>
            <a:r>
              <a:rPr dirty="0"/>
              <a:t> </a:t>
            </a:r>
            <a:r>
              <a:rPr dirty="0" spc="-30"/>
              <a:t>example,</a:t>
            </a:r>
            <a:r>
              <a:rPr dirty="0" spc="-5"/>
              <a:t> </a:t>
            </a:r>
            <a:r>
              <a:rPr dirty="0" spc="-25"/>
              <a:t>abnormal</a:t>
            </a:r>
            <a:r>
              <a:rPr dirty="0" spc="-5"/>
              <a:t> </a:t>
            </a:r>
            <a:r>
              <a:rPr dirty="0" spc="-35"/>
              <a:t>values</a:t>
            </a:r>
            <a:r>
              <a:rPr dirty="0"/>
              <a:t> </a:t>
            </a:r>
            <a:r>
              <a:rPr dirty="0" spc="-10"/>
              <a:t>outside</a:t>
            </a:r>
            <a:r>
              <a:rPr dirty="0" spc="-5"/>
              <a:t> </a:t>
            </a:r>
            <a:r>
              <a:rPr dirty="0"/>
              <a:t>the </a:t>
            </a:r>
            <a:r>
              <a:rPr dirty="0" spc="-30"/>
              <a:t>expected</a:t>
            </a:r>
            <a:r>
              <a:rPr dirty="0" spc="-5"/>
              <a:t> </a:t>
            </a:r>
            <a:r>
              <a:rPr dirty="0" spc="-30"/>
              <a:t>range</a:t>
            </a:r>
            <a:r>
              <a:rPr dirty="0" spc="-5"/>
              <a:t> </a:t>
            </a:r>
            <a:r>
              <a:rPr dirty="0" spc="-20"/>
              <a:t>may</a:t>
            </a:r>
            <a:r>
              <a:rPr dirty="0"/>
              <a:t> </a:t>
            </a:r>
            <a:r>
              <a:rPr dirty="0" spc="-20"/>
              <a:t>require</a:t>
            </a:r>
            <a:r>
              <a:rPr dirty="0" spc="-5"/>
              <a:t> </a:t>
            </a:r>
            <a:r>
              <a:rPr dirty="0" spc="-10"/>
              <a:t>further investigation.</a:t>
            </a:r>
            <a:r>
              <a:rPr dirty="0" spc="75"/>
              <a:t> </a:t>
            </a:r>
            <a:r>
              <a:rPr dirty="0"/>
              <a:t>Alerts</a:t>
            </a:r>
            <a:r>
              <a:rPr dirty="0" spc="-5"/>
              <a:t> </a:t>
            </a:r>
            <a:r>
              <a:rPr dirty="0" spc="-10"/>
              <a:t>can</a:t>
            </a:r>
            <a:r>
              <a:rPr dirty="0" spc="-5"/>
              <a:t> </a:t>
            </a:r>
            <a:r>
              <a:rPr dirty="0"/>
              <a:t>be </a:t>
            </a:r>
            <a:r>
              <a:rPr dirty="0" spc="-10"/>
              <a:t>sent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/>
              <a:t>the lab</a:t>
            </a:r>
            <a:r>
              <a:rPr dirty="0" spc="-5"/>
              <a:t> </a:t>
            </a:r>
            <a:r>
              <a:rPr dirty="0" spc="-10"/>
              <a:t>technician</a:t>
            </a:r>
            <a:r>
              <a:rPr dirty="0" spc="-5"/>
              <a:t> </a:t>
            </a:r>
            <a:r>
              <a:rPr dirty="0"/>
              <a:t>or</a:t>
            </a:r>
            <a:r>
              <a:rPr dirty="0" spc="-5"/>
              <a:t> </a:t>
            </a:r>
            <a:r>
              <a:rPr dirty="0"/>
              <a:t>the patient’s</a:t>
            </a:r>
            <a:r>
              <a:rPr dirty="0" spc="-5"/>
              <a:t> </a:t>
            </a:r>
            <a:r>
              <a:rPr dirty="0" spc="-30"/>
              <a:t>healthcare</a:t>
            </a:r>
            <a:r>
              <a:rPr dirty="0" spc="-5"/>
              <a:t> </a:t>
            </a:r>
            <a:r>
              <a:rPr dirty="0" spc="-10"/>
              <a:t>provider.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1010919" cy="5080"/>
            </a:xfrm>
            <a:custGeom>
              <a:avLst/>
              <a:gdLst/>
              <a:ahLst/>
              <a:cxnLst/>
              <a:rect l="l" t="t" r="r" b="b"/>
              <a:pathLst>
                <a:path w="1010919" h="5080">
                  <a:moveTo>
                    <a:pt x="0" y="5060"/>
                  </a:moveTo>
                  <a:lnTo>
                    <a:pt x="0" y="0"/>
                  </a:lnTo>
                  <a:lnTo>
                    <a:pt x="1010579" y="0"/>
                  </a:lnTo>
                  <a:lnTo>
                    <a:pt x="10105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62941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Use</a:t>
            </a:r>
            <a:r>
              <a:rPr dirty="0" spc="-45"/>
              <a:t> </a:t>
            </a:r>
            <a:r>
              <a:rPr dirty="0" spc="-65"/>
              <a:t>cases</a:t>
            </a:r>
            <a:r>
              <a:rPr dirty="0"/>
              <a:t> for</a:t>
            </a:r>
            <a:r>
              <a:rPr dirty="0" spc="-30"/>
              <a:t> </a:t>
            </a:r>
            <a:r>
              <a:rPr dirty="0"/>
              <a:t>AWS</a:t>
            </a:r>
            <a:r>
              <a:rPr dirty="0" spc="-25"/>
              <a:t> </a:t>
            </a:r>
            <a:r>
              <a:rPr dirty="0" spc="-10"/>
              <a:t>Lambda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0020" marR="151130" indent="-147955">
              <a:lnSpc>
                <a:spcPct val="116199"/>
              </a:lnSpc>
              <a:spcBef>
                <a:spcPts val="100"/>
              </a:spcBef>
              <a:buFont typeface="Arial"/>
              <a:buChar char="•"/>
              <a:tabLst>
                <a:tab pos="160020" algn="l"/>
              </a:tabLst>
            </a:pPr>
            <a:r>
              <a:rPr dirty="0" spc="-20" b="1">
                <a:latin typeface="Arial"/>
                <a:cs typeface="Arial"/>
              </a:rPr>
              <a:t>Real-</a:t>
            </a:r>
            <a:r>
              <a:rPr dirty="0" b="1">
                <a:latin typeface="Arial"/>
                <a:cs typeface="Arial"/>
              </a:rPr>
              <a:t>time</a:t>
            </a:r>
            <a:r>
              <a:rPr dirty="0" spc="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data</a:t>
            </a:r>
            <a:r>
              <a:rPr dirty="0" spc="25" b="1">
                <a:latin typeface="Arial"/>
                <a:cs typeface="Arial"/>
              </a:rPr>
              <a:t> </a:t>
            </a:r>
            <a:r>
              <a:rPr dirty="0" spc="-50" b="1">
                <a:latin typeface="Arial"/>
                <a:cs typeface="Arial"/>
              </a:rPr>
              <a:t>processing</a:t>
            </a:r>
            <a:r>
              <a:rPr dirty="0" spc="-50"/>
              <a:t>:</a:t>
            </a:r>
            <a:r>
              <a:rPr dirty="0" spc="95"/>
              <a:t> </a:t>
            </a:r>
            <a:r>
              <a:rPr dirty="0" spc="-20"/>
              <a:t>Lambda</a:t>
            </a:r>
            <a:r>
              <a:rPr dirty="0" spc="5"/>
              <a:t> </a:t>
            </a:r>
            <a:r>
              <a:rPr dirty="0" spc="-10"/>
              <a:t>can</a:t>
            </a:r>
            <a:r>
              <a:rPr dirty="0" spc="10"/>
              <a:t> </a:t>
            </a:r>
            <a:r>
              <a:rPr dirty="0" spc="-35"/>
              <a:t>analyze</a:t>
            </a:r>
            <a:r>
              <a:rPr dirty="0" spc="5"/>
              <a:t> </a:t>
            </a:r>
            <a:r>
              <a:rPr dirty="0" spc="-55"/>
              <a:t>sensor</a:t>
            </a:r>
            <a:r>
              <a:rPr dirty="0" spc="10"/>
              <a:t> </a:t>
            </a:r>
            <a:r>
              <a:rPr dirty="0"/>
              <a:t>data</a:t>
            </a:r>
            <a:r>
              <a:rPr dirty="0" spc="10"/>
              <a:t> </a:t>
            </a:r>
            <a:r>
              <a:rPr dirty="0"/>
              <a:t>from</a:t>
            </a:r>
            <a:r>
              <a:rPr dirty="0" spc="5"/>
              <a:t> </a:t>
            </a:r>
            <a:r>
              <a:rPr dirty="0" spc="-40"/>
              <a:t>wearable</a:t>
            </a:r>
            <a:r>
              <a:rPr dirty="0" spc="10"/>
              <a:t> </a:t>
            </a:r>
            <a:r>
              <a:rPr dirty="0" spc="-45"/>
              <a:t>devices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10"/>
              <a:t> </a:t>
            </a:r>
            <a:r>
              <a:rPr dirty="0" spc="-10"/>
              <a:t>identify irregular</a:t>
            </a:r>
            <a:r>
              <a:rPr dirty="0" spc="-25"/>
              <a:t> </a:t>
            </a:r>
            <a:r>
              <a:rPr dirty="0" spc="-10"/>
              <a:t>patterns.</a:t>
            </a:r>
          </a:p>
          <a:p>
            <a:pPr marL="16002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dirty="0" b="1">
                <a:latin typeface="Arial"/>
                <a:cs typeface="Arial"/>
              </a:rPr>
              <a:t>Data</a:t>
            </a:r>
            <a:r>
              <a:rPr dirty="0" spc="3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aggregation</a:t>
            </a:r>
            <a:r>
              <a:rPr dirty="0" spc="-25"/>
              <a:t>:</a:t>
            </a:r>
            <a:r>
              <a:rPr dirty="0" spc="110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10"/>
              <a:t>can</a:t>
            </a:r>
            <a:r>
              <a:rPr dirty="0" spc="20"/>
              <a:t> </a:t>
            </a:r>
            <a:r>
              <a:rPr dirty="0"/>
              <a:t>collect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20"/>
              <a:t> </a:t>
            </a:r>
            <a:r>
              <a:rPr dirty="0"/>
              <a:t>from</a:t>
            </a:r>
            <a:r>
              <a:rPr dirty="0" spc="20"/>
              <a:t> </a:t>
            </a:r>
            <a:r>
              <a:rPr dirty="0"/>
              <a:t>multiple</a:t>
            </a:r>
            <a:r>
              <a:rPr dirty="0" spc="20"/>
              <a:t> </a:t>
            </a:r>
            <a:r>
              <a:rPr dirty="0" spc="-10"/>
              <a:t>clinical</a:t>
            </a:r>
            <a:r>
              <a:rPr dirty="0" spc="15"/>
              <a:t> </a:t>
            </a:r>
            <a:r>
              <a:rPr dirty="0"/>
              <a:t>trial</a:t>
            </a:r>
            <a:r>
              <a:rPr dirty="0" spc="20"/>
              <a:t> </a:t>
            </a:r>
            <a:r>
              <a:rPr dirty="0" spc="-20"/>
              <a:t>sites,</a:t>
            </a:r>
            <a:r>
              <a:rPr dirty="0" spc="20"/>
              <a:t> </a:t>
            </a:r>
            <a:r>
              <a:rPr dirty="0" spc="-10"/>
              <a:t>aggregating </a:t>
            </a:r>
            <a:r>
              <a:rPr dirty="0"/>
              <a:t>information</a:t>
            </a:r>
            <a:r>
              <a:rPr dirty="0" spc="-10"/>
              <a:t> </a:t>
            </a:r>
            <a:r>
              <a:rPr dirty="0"/>
              <a:t>on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5"/>
              <a:t> </a:t>
            </a:r>
            <a:r>
              <a:rPr dirty="0" spc="-30"/>
              <a:t>outcomes,</a:t>
            </a:r>
            <a:r>
              <a:rPr dirty="0" spc="-5"/>
              <a:t> </a:t>
            </a:r>
            <a:r>
              <a:rPr dirty="0" spc="-50"/>
              <a:t>adverse</a:t>
            </a:r>
            <a:r>
              <a:rPr dirty="0" spc="-5"/>
              <a:t> </a:t>
            </a:r>
            <a:r>
              <a:rPr dirty="0" spc="-30"/>
              <a:t>events,</a:t>
            </a:r>
            <a:r>
              <a:rPr dirty="0"/>
              <a:t> </a:t>
            </a:r>
            <a:r>
              <a:rPr dirty="0" spc="-10"/>
              <a:t>and</a:t>
            </a:r>
            <a:r>
              <a:rPr dirty="0" spc="-5"/>
              <a:t> </a:t>
            </a:r>
            <a:r>
              <a:rPr dirty="0"/>
              <a:t>treatment </a:t>
            </a:r>
            <a:r>
              <a:rPr dirty="0" spc="-60"/>
              <a:t>eﬀicacy</a:t>
            </a:r>
            <a:r>
              <a:rPr dirty="0" spc="-5"/>
              <a:t> </a:t>
            </a:r>
            <a:r>
              <a:rPr dirty="0" spc="-25"/>
              <a:t>preparing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35"/>
              <a:t>dashboard</a:t>
            </a:r>
            <a:r>
              <a:rPr dirty="0" spc="-5"/>
              <a:t> </a:t>
            </a:r>
            <a:r>
              <a:rPr dirty="0" spc="-25"/>
              <a:t>for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10"/>
              <a:t>researchers.</a:t>
            </a:r>
          </a:p>
          <a:p>
            <a:pPr marL="160020" marR="1143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160020" algn="l"/>
              </a:tabLst>
            </a:pPr>
            <a:r>
              <a:rPr dirty="0" b="1">
                <a:latin typeface="Arial"/>
                <a:cs typeface="Arial"/>
              </a:rPr>
              <a:t>Data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validation</a:t>
            </a:r>
            <a:r>
              <a:rPr dirty="0" spc="-20"/>
              <a:t>:</a:t>
            </a:r>
            <a:r>
              <a:rPr dirty="0" spc="85"/>
              <a:t> </a:t>
            </a:r>
            <a:r>
              <a:rPr dirty="0" spc="-20"/>
              <a:t>Lambda</a:t>
            </a:r>
            <a:r>
              <a:rPr dirty="0"/>
              <a:t> </a:t>
            </a:r>
            <a:r>
              <a:rPr dirty="0" spc="-10"/>
              <a:t>can</a:t>
            </a:r>
            <a:r>
              <a:rPr dirty="0"/>
              <a:t> </a:t>
            </a:r>
            <a:r>
              <a:rPr dirty="0" spc="-10"/>
              <a:t>validate</a:t>
            </a:r>
            <a:r>
              <a:rPr dirty="0"/>
              <a:t> lab </a:t>
            </a:r>
            <a:r>
              <a:rPr dirty="0" spc="-25"/>
              <a:t>results</a:t>
            </a:r>
            <a:r>
              <a:rPr dirty="0"/>
              <a:t> </a:t>
            </a:r>
            <a:r>
              <a:rPr dirty="0" spc="-10"/>
              <a:t>(such</a:t>
            </a:r>
            <a:r>
              <a:rPr dirty="0" spc="5"/>
              <a:t> </a:t>
            </a:r>
            <a:r>
              <a:rPr dirty="0" spc="-45"/>
              <a:t>as</a:t>
            </a:r>
            <a:r>
              <a:rPr dirty="0"/>
              <a:t> blood tests) by </a:t>
            </a:r>
            <a:r>
              <a:rPr dirty="0" spc="-25"/>
              <a:t>checking</a:t>
            </a:r>
            <a:r>
              <a:rPr dirty="0"/>
              <a:t> for </a:t>
            </a:r>
            <a:r>
              <a:rPr dirty="0" spc="-10"/>
              <a:t>outliers</a:t>
            </a:r>
            <a:r>
              <a:rPr dirty="0" spc="5"/>
              <a:t> </a:t>
            </a:r>
            <a:r>
              <a:rPr dirty="0" spc="-25"/>
              <a:t>or </a:t>
            </a:r>
            <a:r>
              <a:rPr dirty="0" spc="-35"/>
              <a:t>inconsistencies.</a:t>
            </a:r>
            <a:r>
              <a:rPr dirty="0" spc="75"/>
              <a:t> </a:t>
            </a:r>
            <a:r>
              <a:rPr dirty="0" spc="-10"/>
              <a:t>For</a:t>
            </a:r>
            <a:r>
              <a:rPr dirty="0"/>
              <a:t> </a:t>
            </a:r>
            <a:r>
              <a:rPr dirty="0" spc="-30"/>
              <a:t>example,</a:t>
            </a:r>
            <a:r>
              <a:rPr dirty="0" spc="-5"/>
              <a:t> </a:t>
            </a:r>
            <a:r>
              <a:rPr dirty="0" spc="-25"/>
              <a:t>abnormal</a:t>
            </a:r>
            <a:r>
              <a:rPr dirty="0" spc="-5"/>
              <a:t> </a:t>
            </a:r>
            <a:r>
              <a:rPr dirty="0" spc="-35"/>
              <a:t>values</a:t>
            </a:r>
            <a:r>
              <a:rPr dirty="0"/>
              <a:t> </a:t>
            </a:r>
            <a:r>
              <a:rPr dirty="0" spc="-10"/>
              <a:t>outside</a:t>
            </a:r>
            <a:r>
              <a:rPr dirty="0" spc="-5"/>
              <a:t> </a:t>
            </a:r>
            <a:r>
              <a:rPr dirty="0"/>
              <a:t>the </a:t>
            </a:r>
            <a:r>
              <a:rPr dirty="0" spc="-30"/>
              <a:t>expected</a:t>
            </a:r>
            <a:r>
              <a:rPr dirty="0" spc="-5"/>
              <a:t> </a:t>
            </a:r>
            <a:r>
              <a:rPr dirty="0" spc="-30"/>
              <a:t>range</a:t>
            </a:r>
            <a:r>
              <a:rPr dirty="0" spc="-5"/>
              <a:t> </a:t>
            </a:r>
            <a:r>
              <a:rPr dirty="0" spc="-20"/>
              <a:t>may</a:t>
            </a:r>
            <a:r>
              <a:rPr dirty="0"/>
              <a:t> </a:t>
            </a:r>
            <a:r>
              <a:rPr dirty="0" spc="-20"/>
              <a:t>require</a:t>
            </a:r>
            <a:r>
              <a:rPr dirty="0" spc="-5"/>
              <a:t> </a:t>
            </a:r>
            <a:r>
              <a:rPr dirty="0" spc="-10"/>
              <a:t>further investigation.</a:t>
            </a:r>
            <a:r>
              <a:rPr dirty="0" spc="75"/>
              <a:t> </a:t>
            </a:r>
            <a:r>
              <a:rPr dirty="0"/>
              <a:t>Alerts</a:t>
            </a:r>
            <a:r>
              <a:rPr dirty="0" spc="-5"/>
              <a:t> </a:t>
            </a:r>
            <a:r>
              <a:rPr dirty="0" spc="-10"/>
              <a:t>can</a:t>
            </a:r>
            <a:r>
              <a:rPr dirty="0" spc="-5"/>
              <a:t> </a:t>
            </a:r>
            <a:r>
              <a:rPr dirty="0"/>
              <a:t>be </a:t>
            </a:r>
            <a:r>
              <a:rPr dirty="0" spc="-10"/>
              <a:t>sent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/>
              <a:t>the lab</a:t>
            </a:r>
            <a:r>
              <a:rPr dirty="0" spc="-5"/>
              <a:t> </a:t>
            </a:r>
            <a:r>
              <a:rPr dirty="0" spc="-10"/>
              <a:t>technician</a:t>
            </a:r>
            <a:r>
              <a:rPr dirty="0" spc="-5"/>
              <a:t> </a:t>
            </a:r>
            <a:r>
              <a:rPr dirty="0"/>
              <a:t>or</a:t>
            </a:r>
            <a:r>
              <a:rPr dirty="0" spc="-5"/>
              <a:t> </a:t>
            </a:r>
            <a:r>
              <a:rPr dirty="0"/>
              <a:t>the patient’s</a:t>
            </a:r>
            <a:r>
              <a:rPr dirty="0" spc="-5"/>
              <a:t> </a:t>
            </a:r>
            <a:r>
              <a:rPr dirty="0" spc="-30"/>
              <a:t>healthcare</a:t>
            </a:r>
            <a:r>
              <a:rPr dirty="0" spc="-5"/>
              <a:t> </a:t>
            </a:r>
            <a:r>
              <a:rPr dirty="0" spc="-10"/>
              <a:t>provider.</a:t>
            </a:r>
          </a:p>
          <a:p>
            <a:pPr marL="160020" indent="-147320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160020" algn="l"/>
              </a:tabLst>
            </a:pPr>
            <a:r>
              <a:rPr dirty="0" b="1">
                <a:latin typeface="Arial"/>
                <a:cs typeface="Arial"/>
              </a:rPr>
              <a:t>Image</a:t>
            </a:r>
            <a:r>
              <a:rPr dirty="0" spc="15" b="1">
                <a:latin typeface="Arial"/>
                <a:cs typeface="Arial"/>
              </a:rPr>
              <a:t> </a:t>
            </a:r>
            <a:r>
              <a:rPr dirty="0" spc="-50" b="1">
                <a:latin typeface="Arial"/>
                <a:cs typeface="Arial"/>
              </a:rPr>
              <a:t>processing</a:t>
            </a:r>
            <a:r>
              <a:rPr dirty="0" spc="-50"/>
              <a:t>:</a:t>
            </a:r>
            <a:r>
              <a:rPr dirty="0" spc="90"/>
              <a:t> </a:t>
            </a:r>
            <a:r>
              <a:rPr dirty="0" spc="-20"/>
              <a:t>Lambda</a:t>
            </a:r>
            <a:r>
              <a:rPr dirty="0"/>
              <a:t> </a:t>
            </a:r>
            <a:r>
              <a:rPr dirty="0" spc="-10"/>
              <a:t>can</a:t>
            </a:r>
            <a:r>
              <a:rPr dirty="0" spc="5"/>
              <a:t> </a:t>
            </a:r>
            <a:r>
              <a:rPr dirty="0" spc="-50"/>
              <a:t>process</a:t>
            </a:r>
            <a:r>
              <a:rPr dirty="0" spc="5"/>
              <a:t> </a:t>
            </a:r>
            <a:r>
              <a:rPr dirty="0" spc="-40"/>
              <a:t>images</a:t>
            </a:r>
            <a:r>
              <a:rPr dirty="0"/>
              <a:t> to</a:t>
            </a:r>
            <a:r>
              <a:rPr dirty="0" spc="5"/>
              <a:t> </a:t>
            </a:r>
            <a:r>
              <a:rPr dirty="0"/>
              <a:t>identify </a:t>
            </a:r>
            <a:r>
              <a:rPr dirty="0" spc="-10"/>
              <a:t>patterns</a:t>
            </a:r>
            <a:r>
              <a:rPr dirty="0" spc="5"/>
              <a:t> </a:t>
            </a:r>
            <a:r>
              <a:rPr dirty="0"/>
              <a:t>or</a:t>
            </a:r>
            <a:r>
              <a:rPr dirty="0" spc="5"/>
              <a:t> </a:t>
            </a:r>
            <a:r>
              <a:rPr dirty="0" spc="-10"/>
              <a:t>anomalies.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1010919" cy="5080"/>
            </a:xfrm>
            <a:custGeom>
              <a:avLst/>
              <a:gdLst/>
              <a:ahLst/>
              <a:cxnLst/>
              <a:rect l="l" t="t" r="r" b="b"/>
              <a:pathLst>
                <a:path w="1010919" h="5080">
                  <a:moveTo>
                    <a:pt x="0" y="5060"/>
                  </a:moveTo>
                  <a:lnTo>
                    <a:pt x="0" y="0"/>
                  </a:lnTo>
                  <a:lnTo>
                    <a:pt x="1010579" y="0"/>
                  </a:lnTo>
                  <a:lnTo>
                    <a:pt x="10105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1960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Example:</a:t>
            </a:r>
            <a:r>
              <a:rPr dirty="0" spc="130"/>
              <a:t> </a:t>
            </a:r>
            <a:r>
              <a:rPr dirty="0" spc="-30"/>
              <a:t>Counting</a:t>
            </a:r>
            <a:r>
              <a:rPr dirty="0" spc="35"/>
              <a:t> </a:t>
            </a:r>
            <a:r>
              <a:rPr dirty="0" spc="-40"/>
              <a:t>cells</a:t>
            </a:r>
            <a:r>
              <a:rPr dirty="0" spc="30"/>
              <a:t> </a:t>
            </a:r>
            <a:r>
              <a:rPr dirty="0"/>
              <a:t>at</a:t>
            </a:r>
            <a:r>
              <a:rPr dirty="0" spc="35"/>
              <a:t> </a:t>
            </a:r>
            <a:r>
              <a:rPr dirty="0" spc="-30"/>
              <a:t>scale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9994" y="72268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9994" y="887107"/>
            <a:ext cx="5039995" cy="57721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37465" marR="179705">
              <a:lnSpc>
                <a:spcPct val="116199"/>
              </a:lnSpc>
              <a:spcBef>
                <a:spcPts val="475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generates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experiment.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experiment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done,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cells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results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automated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immediate.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1111885" cy="5080"/>
            </a:xfrm>
            <a:custGeom>
              <a:avLst/>
              <a:gdLst/>
              <a:ahLst/>
              <a:cxnLst/>
              <a:rect l="l" t="t" r="r" b="b"/>
              <a:pathLst>
                <a:path w="1111885" h="5080">
                  <a:moveTo>
                    <a:pt x="0" y="5060"/>
                  </a:moveTo>
                  <a:lnTo>
                    <a:pt x="0" y="0"/>
                  </a:lnTo>
                  <a:lnTo>
                    <a:pt x="1111566" y="0"/>
                  </a:lnTo>
                  <a:lnTo>
                    <a:pt x="11115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1960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Example:</a:t>
            </a:r>
            <a:r>
              <a:rPr dirty="0" spc="130"/>
              <a:t> </a:t>
            </a:r>
            <a:r>
              <a:rPr dirty="0" spc="-30"/>
              <a:t>Counting</a:t>
            </a:r>
            <a:r>
              <a:rPr dirty="0" spc="35"/>
              <a:t> </a:t>
            </a:r>
            <a:r>
              <a:rPr dirty="0" spc="-40"/>
              <a:t>cells</a:t>
            </a:r>
            <a:r>
              <a:rPr dirty="0" spc="30"/>
              <a:t> </a:t>
            </a:r>
            <a:r>
              <a:rPr dirty="0"/>
              <a:t>at</a:t>
            </a:r>
            <a:r>
              <a:rPr dirty="0" spc="35"/>
              <a:t> </a:t>
            </a:r>
            <a:r>
              <a:rPr dirty="0" spc="-30"/>
              <a:t>scale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9994" y="72268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9994" y="887107"/>
            <a:ext cx="5039995" cy="57721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37465" marR="179705">
              <a:lnSpc>
                <a:spcPct val="116199"/>
              </a:lnSpc>
              <a:spcBef>
                <a:spcPts val="475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generates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experiment.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experiment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done,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cells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results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automated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immediate.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9994" y="15629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Workflow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9994" y="1727390"/>
            <a:ext cx="5039995" cy="886460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65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1.</a:t>
            </a:r>
            <a:r>
              <a:rPr dirty="0" sz="900" spc="11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1111885" cy="5080"/>
            </a:xfrm>
            <a:custGeom>
              <a:avLst/>
              <a:gdLst/>
              <a:ahLst/>
              <a:cxnLst/>
              <a:rect l="l" t="t" r="r" b="b"/>
              <a:pathLst>
                <a:path w="1111885" h="5080">
                  <a:moveTo>
                    <a:pt x="0" y="5060"/>
                  </a:moveTo>
                  <a:lnTo>
                    <a:pt x="0" y="0"/>
                  </a:lnTo>
                  <a:lnTo>
                    <a:pt x="1111566" y="0"/>
                  </a:lnTo>
                  <a:lnTo>
                    <a:pt x="11115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1960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Example:</a:t>
            </a:r>
            <a:r>
              <a:rPr dirty="0" spc="130"/>
              <a:t> </a:t>
            </a:r>
            <a:r>
              <a:rPr dirty="0" spc="-30"/>
              <a:t>Counting</a:t>
            </a:r>
            <a:r>
              <a:rPr dirty="0" spc="35"/>
              <a:t> </a:t>
            </a:r>
            <a:r>
              <a:rPr dirty="0" spc="-40"/>
              <a:t>cells</a:t>
            </a:r>
            <a:r>
              <a:rPr dirty="0" spc="30"/>
              <a:t> </a:t>
            </a:r>
            <a:r>
              <a:rPr dirty="0"/>
              <a:t>at</a:t>
            </a:r>
            <a:r>
              <a:rPr dirty="0" spc="35"/>
              <a:t> </a:t>
            </a:r>
            <a:r>
              <a:rPr dirty="0" spc="-30"/>
              <a:t>scale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9994" y="72268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9994" y="887107"/>
            <a:ext cx="5039995" cy="57721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37465" marR="179705">
              <a:lnSpc>
                <a:spcPct val="116199"/>
              </a:lnSpc>
              <a:spcBef>
                <a:spcPts val="475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generates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experiment.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experiment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done,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cells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results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automated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immediate.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9994" y="15629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Workflow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9994" y="1727390"/>
            <a:ext cx="5039995" cy="886460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2885" indent="-14351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222885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sz="900">
              <a:latin typeface="Arial"/>
              <a:cs typeface="Arial"/>
            </a:endParaRPr>
          </a:p>
          <a:p>
            <a:pPr marL="179705" indent="-14224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179705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events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(one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per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image,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per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1111885" cy="5080"/>
            </a:xfrm>
            <a:custGeom>
              <a:avLst/>
              <a:gdLst/>
              <a:ahLst/>
              <a:cxnLst/>
              <a:rect l="l" t="t" r="r" b="b"/>
              <a:pathLst>
                <a:path w="1111885" h="5080">
                  <a:moveTo>
                    <a:pt x="0" y="5060"/>
                  </a:moveTo>
                  <a:lnTo>
                    <a:pt x="0" y="0"/>
                  </a:lnTo>
                  <a:lnTo>
                    <a:pt x="1111566" y="0"/>
                  </a:lnTo>
                  <a:lnTo>
                    <a:pt x="11115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1960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Example:</a:t>
            </a:r>
            <a:r>
              <a:rPr dirty="0" spc="130"/>
              <a:t> </a:t>
            </a:r>
            <a:r>
              <a:rPr dirty="0" spc="-30"/>
              <a:t>Counting</a:t>
            </a:r>
            <a:r>
              <a:rPr dirty="0" spc="35"/>
              <a:t> </a:t>
            </a:r>
            <a:r>
              <a:rPr dirty="0" spc="-40"/>
              <a:t>cells</a:t>
            </a:r>
            <a:r>
              <a:rPr dirty="0" spc="30"/>
              <a:t> </a:t>
            </a:r>
            <a:r>
              <a:rPr dirty="0"/>
              <a:t>at</a:t>
            </a:r>
            <a:r>
              <a:rPr dirty="0" spc="35"/>
              <a:t> </a:t>
            </a:r>
            <a:r>
              <a:rPr dirty="0" spc="-30"/>
              <a:t>scale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9994" y="72268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9994" y="887107"/>
            <a:ext cx="5039995" cy="57721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37465" marR="179705">
              <a:lnSpc>
                <a:spcPct val="116199"/>
              </a:lnSpc>
              <a:spcBef>
                <a:spcPts val="475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generates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experiment.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experiment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done,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cells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results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automated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immediate.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9994" y="15629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Workflow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9994" y="1727390"/>
            <a:ext cx="5039995" cy="886460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2885" indent="-14351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222885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sz="900">
              <a:latin typeface="Arial"/>
              <a:cs typeface="Arial"/>
            </a:endParaRPr>
          </a:p>
          <a:p>
            <a:pPr marL="179705" indent="-14224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179705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events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(one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per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image,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per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event).</a:t>
            </a:r>
            <a:endParaRPr sz="900">
              <a:latin typeface="Arial"/>
              <a:cs typeface="Arial"/>
            </a:endParaRPr>
          </a:p>
          <a:p>
            <a:pPr marL="179705" indent="-14224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179705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and count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cells.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1111885" cy="5080"/>
            </a:xfrm>
            <a:custGeom>
              <a:avLst/>
              <a:gdLst/>
              <a:ahLst/>
              <a:cxnLst/>
              <a:rect l="l" t="t" r="r" b="b"/>
              <a:pathLst>
                <a:path w="1111885" h="5080">
                  <a:moveTo>
                    <a:pt x="0" y="5060"/>
                  </a:moveTo>
                  <a:lnTo>
                    <a:pt x="0" y="0"/>
                  </a:lnTo>
                  <a:lnTo>
                    <a:pt x="1111566" y="0"/>
                  </a:lnTo>
                  <a:lnTo>
                    <a:pt x="11115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91960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Example:</a:t>
            </a:r>
            <a:r>
              <a:rPr dirty="0" spc="130"/>
              <a:t> </a:t>
            </a:r>
            <a:r>
              <a:rPr dirty="0" spc="-30"/>
              <a:t>Counting</a:t>
            </a:r>
            <a:r>
              <a:rPr dirty="0" spc="35"/>
              <a:t> </a:t>
            </a:r>
            <a:r>
              <a:rPr dirty="0" spc="-40"/>
              <a:t>cells</a:t>
            </a:r>
            <a:r>
              <a:rPr dirty="0" spc="30"/>
              <a:t> </a:t>
            </a:r>
            <a:r>
              <a:rPr dirty="0"/>
              <a:t>at</a:t>
            </a:r>
            <a:r>
              <a:rPr dirty="0" spc="35"/>
              <a:t> </a:t>
            </a:r>
            <a:r>
              <a:rPr dirty="0" spc="-30"/>
              <a:t>scale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9994" y="722680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9994" y="887107"/>
            <a:ext cx="5039995" cy="577215"/>
          </a:xfrm>
          <a:prstGeom prst="rect">
            <a:avLst/>
          </a:prstGeom>
          <a:solidFill>
            <a:srgbClr val="E4E6E6"/>
          </a:solidFill>
        </p:spPr>
        <p:txBody>
          <a:bodyPr wrap="square" lIns="0" tIns="60325" rIns="0" bIns="0" rtlCol="0" vert="horz">
            <a:spAutoFit/>
          </a:bodyPr>
          <a:lstStyle/>
          <a:p>
            <a:pPr marL="37465" marR="179705">
              <a:lnSpc>
                <a:spcPct val="116199"/>
              </a:lnSpc>
              <a:spcBef>
                <a:spcPts val="475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generates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large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experiment.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experiment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done,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cells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analyze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results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automated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immediate.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59994" y="1562963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Workflow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9994" y="1727390"/>
            <a:ext cx="5039995" cy="886460"/>
          </a:xfrm>
          <a:prstGeom prst="rect">
            <a:avLst/>
          </a:prstGeom>
          <a:solidFill>
            <a:srgbClr val="E4E6E6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2885" indent="-14351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222885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lab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sz="900">
              <a:latin typeface="Arial"/>
              <a:cs typeface="Arial"/>
            </a:endParaRPr>
          </a:p>
          <a:p>
            <a:pPr marL="179705" indent="-14224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179705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events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(one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per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image,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per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event).</a:t>
            </a:r>
            <a:endParaRPr sz="900">
              <a:latin typeface="Arial"/>
              <a:cs typeface="Arial"/>
            </a:endParaRPr>
          </a:p>
          <a:p>
            <a:pPr marL="179705" indent="-14224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179705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and count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cells.</a:t>
            </a:r>
            <a:endParaRPr sz="900">
              <a:latin typeface="Arial"/>
              <a:cs typeface="Arial"/>
            </a:endParaRPr>
          </a:p>
          <a:p>
            <a:pPr marL="177165" indent="-14224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17716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Results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stored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S3.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1111885" cy="5080"/>
            </a:xfrm>
            <a:custGeom>
              <a:avLst/>
              <a:gdLst/>
              <a:ahLst/>
              <a:cxnLst/>
              <a:rect l="l" t="t" r="r" b="b"/>
              <a:pathLst>
                <a:path w="1111885" h="5080">
                  <a:moveTo>
                    <a:pt x="0" y="5060"/>
                  </a:moveTo>
                  <a:lnTo>
                    <a:pt x="0" y="0"/>
                  </a:lnTo>
                  <a:lnTo>
                    <a:pt x="1111566" y="0"/>
                  </a:lnTo>
                  <a:lnTo>
                    <a:pt x="11115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8526" y="59834"/>
            <a:ext cx="19196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 b="1">
                <a:solidFill>
                  <a:srgbClr val="F9F9F9"/>
                </a:solidFill>
                <a:latin typeface="Arial"/>
                <a:cs typeface="Arial"/>
              </a:rPr>
              <a:t>Example:</a:t>
            </a:r>
            <a:r>
              <a:rPr dirty="0" sz="1000" spc="1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30" b="1">
                <a:solidFill>
                  <a:srgbClr val="F9F9F9"/>
                </a:solidFill>
                <a:latin typeface="Arial"/>
                <a:cs typeface="Arial"/>
              </a:rPr>
              <a:t>Counting</a:t>
            </a:r>
            <a:r>
              <a:rPr dirty="0" sz="1000" spc="3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40" b="1">
                <a:solidFill>
                  <a:srgbClr val="F9F9F9"/>
                </a:solidFill>
                <a:latin typeface="Arial"/>
                <a:cs typeface="Arial"/>
              </a:rPr>
              <a:t>cells</a:t>
            </a:r>
            <a:r>
              <a:rPr dirty="0" sz="1000" spc="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at</a:t>
            </a:r>
            <a:r>
              <a:rPr dirty="0" sz="1000" spc="3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30" b="1">
                <a:solidFill>
                  <a:srgbClr val="F9F9F9"/>
                </a:solidFill>
                <a:latin typeface="Arial"/>
                <a:cs typeface="Arial"/>
              </a:rPr>
              <a:t>scale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343" y="446926"/>
            <a:ext cx="4881318" cy="209921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236787" y="2680117"/>
            <a:ext cx="12865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4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5:</a:t>
            </a:r>
            <a:r>
              <a:rPr dirty="0" sz="800" spc="15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Health</a:t>
            </a:r>
            <a:r>
              <a:rPr dirty="0" sz="8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r>
              <a:rPr dirty="0" sz="8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Flow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1212850" cy="5080"/>
            </a:xfrm>
            <a:custGeom>
              <a:avLst/>
              <a:gdLst/>
              <a:ahLst/>
              <a:cxnLst/>
              <a:rect l="l" t="t" r="r" b="b"/>
              <a:pathLst>
                <a:path w="1212850" h="5080">
                  <a:moveTo>
                    <a:pt x="0" y="5060"/>
                  </a:moveTo>
                  <a:lnTo>
                    <a:pt x="0" y="0"/>
                  </a:lnTo>
                  <a:lnTo>
                    <a:pt x="1212642" y="0"/>
                  </a:lnTo>
                  <a:lnTo>
                    <a:pt x="12126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14703" y="1375167"/>
            <a:ext cx="1795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Lab:</a:t>
            </a:r>
            <a:r>
              <a:rPr dirty="0" sz="1100" spc="135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35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Counting</a:t>
            </a:r>
            <a:r>
              <a:rPr dirty="0" sz="1100" spc="30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50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cells</a:t>
            </a:r>
            <a:r>
              <a:rPr dirty="0" sz="1100" spc="25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at</a:t>
            </a:r>
            <a:r>
              <a:rPr dirty="0" sz="1100" spc="30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1100" spc="-45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scale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 descr="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27403" y="1647056"/>
              <a:ext cx="527685" cy="5080"/>
            </a:xfrm>
            <a:custGeom>
              <a:avLst/>
              <a:gdLst/>
              <a:ahLst/>
              <a:cxnLst/>
              <a:rect l="l" t="t" r="r" b="b"/>
              <a:pathLst>
                <a:path w="527685" h="5080">
                  <a:moveTo>
                    <a:pt x="0" y="5060"/>
                  </a:moveTo>
                  <a:lnTo>
                    <a:pt x="0" y="0"/>
                  </a:lnTo>
                  <a:lnTo>
                    <a:pt x="527416" y="0"/>
                  </a:lnTo>
                  <a:lnTo>
                    <a:pt x="5274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4489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Outline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7676" y="1359249"/>
            <a:ext cx="144873" cy="10025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7294" y="903003"/>
            <a:ext cx="4951095" cy="1562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40" b="1">
                <a:solidFill>
                  <a:srgbClr val="22373A"/>
                </a:solidFill>
                <a:latin typeface="Arial"/>
                <a:cs typeface="Arial"/>
              </a:rPr>
              <a:t>Pre-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requisites</a:t>
            </a:r>
            <a:endParaRPr sz="900">
              <a:latin typeface="Arial"/>
              <a:cs typeface="Arial"/>
            </a:endParaRPr>
          </a:p>
          <a:p>
            <a:pPr marL="235585" marR="58419" indent="-143510">
              <a:lnSpc>
                <a:spcPct val="116199"/>
              </a:lnSpc>
              <a:spcBef>
                <a:spcPts val="670"/>
              </a:spcBef>
              <a:buChar char="•"/>
              <a:tabLst>
                <a:tab pos="240029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3.13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installed.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(I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	EC2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previous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together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1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uv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managing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versions).</a:t>
            </a:r>
            <a:endParaRPr sz="900">
              <a:latin typeface="Arial"/>
              <a:cs typeface="Arial"/>
            </a:endParaRPr>
          </a:p>
          <a:p>
            <a:pPr marL="235585" marR="5080" indent="-143510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downloaded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extracted,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find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here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https://campusvirtual.urv.cat/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subject’s</a:t>
            </a:r>
            <a:r>
              <a:rPr dirty="0" sz="900" spc="1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dirty="0" sz="900" spc="1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https://hdbc-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17705110-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  <a:hlinkClick r:id="rId4"/>
              </a:rPr>
              <a:t>mdbs.github.io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2373A"/>
              </a:buClr>
              <a:buFont typeface="Arial"/>
              <a:buChar char="•"/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Goal</a:t>
            </a:r>
            <a:endParaRPr sz="900">
              <a:latin typeface="Arial"/>
              <a:cs typeface="Arial"/>
            </a:endParaRPr>
          </a:p>
          <a:p>
            <a:pPr marL="240029" marR="56515" indent="-147955">
              <a:lnSpc>
                <a:spcPct val="116199"/>
              </a:lnSpc>
              <a:spcBef>
                <a:spcPts val="670"/>
              </a:spcBef>
              <a:buChar char="•"/>
              <a:tabLst>
                <a:tab pos="240029" algn="l"/>
              </a:tabLst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 a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 to count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cells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image.</a:t>
            </a:r>
            <a:r>
              <a:rPr dirty="0" sz="900" spc="8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will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store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results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1313815" cy="5080"/>
            </a:xfrm>
            <a:custGeom>
              <a:avLst/>
              <a:gdLst/>
              <a:ahLst/>
              <a:cxnLst/>
              <a:rect l="l" t="t" r="r" b="b"/>
              <a:pathLst>
                <a:path w="1313815" h="5080">
                  <a:moveTo>
                    <a:pt x="0" y="5060"/>
                  </a:moveTo>
                  <a:lnTo>
                    <a:pt x="0" y="0"/>
                  </a:lnTo>
                  <a:lnTo>
                    <a:pt x="1313717" y="0"/>
                  </a:lnTo>
                  <a:lnTo>
                    <a:pt x="13137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4489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1002951"/>
            <a:ext cx="3546475" cy="1363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AutoNum type="arabicPeriod"/>
              <a:tabLst>
                <a:tab pos="239395" algn="l"/>
              </a:tabLst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function.</a:t>
            </a:r>
            <a:endParaRPr sz="900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5585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function.</a:t>
            </a:r>
            <a:endParaRPr sz="900">
              <a:latin typeface="Arial"/>
              <a:cs typeface="Arial"/>
            </a:endParaRPr>
          </a:p>
          <a:p>
            <a:pPr marL="233679" indent="-141605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3679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code.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publish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with 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dependencies.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input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results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output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verify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logs.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1415415" cy="5080"/>
            </a:xfrm>
            <a:custGeom>
              <a:avLst/>
              <a:gdLst/>
              <a:ahLst/>
              <a:cxnLst/>
              <a:rect l="l" t="t" r="r" b="b"/>
              <a:pathLst>
                <a:path w="1415415" h="5080">
                  <a:moveTo>
                    <a:pt x="0" y="5060"/>
                  </a:moveTo>
                  <a:lnTo>
                    <a:pt x="0" y="0"/>
                  </a:lnTo>
                  <a:lnTo>
                    <a:pt x="1414793" y="0"/>
                  </a:lnTo>
                  <a:lnTo>
                    <a:pt x="14147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5"/>
              <a:t> </a:t>
            </a:r>
            <a:r>
              <a:rPr dirty="0"/>
              <a:t>1:</a:t>
            </a:r>
            <a:r>
              <a:rPr dirty="0" spc="130"/>
              <a:t> </a:t>
            </a:r>
            <a:r>
              <a:rPr dirty="0"/>
              <a:t>Create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40"/>
              <a:t>buckets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88897" y="1314472"/>
            <a:ext cx="2273935" cy="314960"/>
            <a:chOff x="1288897" y="1314472"/>
            <a:chExt cx="2273935" cy="314960"/>
          </a:xfrm>
        </p:grpSpPr>
        <p:sp>
          <p:nvSpPr>
            <p:cNvPr id="4" name="object 4" descr=""/>
            <p:cNvSpPr/>
            <p:nvPr/>
          </p:nvSpPr>
          <p:spPr>
            <a:xfrm>
              <a:off x="1288897" y="1314472"/>
              <a:ext cx="1819275" cy="156210"/>
            </a:xfrm>
            <a:custGeom>
              <a:avLst/>
              <a:gdLst/>
              <a:ahLst/>
              <a:cxnLst/>
              <a:rect l="l" t="t" r="r" b="b"/>
              <a:pathLst>
                <a:path w="1819275" h="15620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1782827" y="155602"/>
                  </a:lnTo>
                  <a:lnTo>
                    <a:pt x="1796840" y="152773"/>
                  </a:lnTo>
                  <a:lnTo>
                    <a:pt x="1808283" y="145058"/>
                  </a:lnTo>
                  <a:lnTo>
                    <a:pt x="1815998" y="133615"/>
                  </a:lnTo>
                  <a:lnTo>
                    <a:pt x="1818827" y="119602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88897" y="1314472"/>
              <a:ext cx="1819275" cy="156210"/>
            </a:xfrm>
            <a:custGeom>
              <a:avLst/>
              <a:gdLst/>
              <a:ahLst/>
              <a:cxnLst/>
              <a:rect l="l" t="t" r="r" b="b"/>
              <a:pathLst>
                <a:path w="1819275" h="15620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1782827" y="155602"/>
                  </a:lnTo>
                  <a:lnTo>
                    <a:pt x="1796840" y="152773"/>
                  </a:lnTo>
                  <a:lnTo>
                    <a:pt x="1808283" y="145058"/>
                  </a:lnTo>
                  <a:lnTo>
                    <a:pt x="1815998" y="133615"/>
                  </a:lnTo>
                  <a:lnTo>
                    <a:pt x="1818827" y="119602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84896" y="1473806"/>
              <a:ext cx="2178050" cy="156210"/>
            </a:xfrm>
            <a:custGeom>
              <a:avLst/>
              <a:gdLst/>
              <a:ahLst/>
              <a:cxnLst/>
              <a:rect l="l" t="t" r="r" b="b"/>
              <a:pathLst>
                <a:path w="2178050" h="156210">
                  <a:moveTo>
                    <a:pt x="21415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2141532" y="155602"/>
                  </a:lnTo>
                  <a:lnTo>
                    <a:pt x="2155545" y="152773"/>
                  </a:lnTo>
                  <a:lnTo>
                    <a:pt x="2166988" y="145058"/>
                  </a:lnTo>
                  <a:lnTo>
                    <a:pt x="2174703" y="133615"/>
                  </a:lnTo>
                  <a:lnTo>
                    <a:pt x="2177532" y="119602"/>
                  </a:lnTo>
                  <a:lnTo>
                    <a:pt x="2177532" y="36000"/>
                  </a:lnTo>
                  <a:lnTo>
                    <a:pt x="2174703" y="21987"/>
                  </a:lnTo>
                  <a:lnTo>
                    <a:pt x="2166988" y="10544"/>
                  </a:lnTo>
                  <a:lnTo>
                    <a:pt x="2155545" y="2829"/>
                  </a:lnTo>
                  <a:lnTo>
                    <a:pt x="214153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84896" y="1473806"/>
              <a:ext cx="2178050" cy="156210"/>
            </a:xfrm>
            <a:custGeom>
              <a:avLst/>
              <a:gdLst/>
              <a:ahLst/>
              <a:cxnLst/>
              <a:rect l="l" t="t" r="r" b="b"/>
              <a:pathLst>
                <a:path w="2178050" h="156210">
                  <a:moveTo>
                    <a:pt x="21415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2141532" y="155602"/>
                  </a:lnTo>
                  <a:lnTo>
                    <a:pt x="2155545" y="152773"/>
                  </a:lnTo>
                  <a:lnTo>
                    <a:pt x="2166988" y="145058"/>
                  </a:lnTo>
                  <a:lnTo>
                    <a:pt x="2174703" y="133615"/>
                  </a:lnTo>
                  <a:lnTo>
                    <a:pt x="2177532" y="119602"/>
                  </a:lnTo>
                  <a:lnTo>
                    <a:pt x="2177532" y="36000"/>
                  </a:lnTo>
                  <a:lnTo>
                    <a:pt x="2174703" y="21987"/>
                  </a:lnTo>
                  <a:lnTo>
                    <a:pt x="2166988" y="10544"/>
                  </a:lnTo>
                  <a:lnTo>
                    <a:pt x="2155545" y="2829"/>
                  </a:lnTo>
                  <a:lnTo>
                    <a:pt x="21415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359994" y="1721677"/>
            <a:ext cx="2979420" cy="306070"/>
            <a:chOff x="359994" y="1721677"/>
            <a:chExt cx="2979420" cy="306070"/>
          </a:xfrm>
        </p:grpSpPr>
        <p:sp>
          <p:nvSpPr>
            <p:cNvPr id="9" name="object 9" descr=""/>
            <p:cNvSpPr/>
            <p:nvPr/>
          </p:nvSpPr>
          <p:spPr>
            <a:xfrm>
              <a:off x="1520253" y="1721677"/>
              <a:ext cx="1819275" cy="147320"/>
            </a:xfrm>
            <a:custGeom>
              <a:avLst/>
              <a:gdLst/>
              <a:ahLst/>
              <a:cxnLst/>
              <a:rect l="l" t="t" r="r" b="b"/>
              <a:pathLst>
                <a:path w="1819275" h="14731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82827" y="146720"/>
                  </a:lnTo>
                  <a:lnTo>
                    <a:pt x="1796840" y="143891"/>
                  </a:lnTo>
                  <a:lnTo>
                    <a:pt x="1808283" y="136176"/>
                  </a:lnTo>
                  <a:lnTo>
                    <a:pt x="1815998" y="124733"/>
                  </a:lnTo>
                  <a:lnTo>
                    <a:pt x="1818827" y="110720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20253" y="1721677"/>
              <a:ext cx="1819275" cy="147320"/>
            </a:xfrm>
            <a:custGeom>
              <a:avLst/>
              <a:gdLst/>
              <a:ahLst/>
              <a:cxnLst/>
              <a:rect l="l" t="t" r="r" b="b"/>
              <a:pathLst>
                <a:path w="1819275" h="14731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82827" y="146720"/>
                  </a:lnTo>
                  <a:lnTo>
                    <a:pt x="1796840" y="143891"/>
                  </a:lnTo>
                  <a:lnTo>
                    <a:pt x="1808283" y="136176"/>
                  </a:lnTo>
                  <a:lnTo>
                    <a:pt x="1815998" y="124733"/>
                  </a:lnTo>
                  <a:lnTo>
                    <a:pt x="1818827" y="110720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59994" y="1880999"/>
              <a:ext cx="2178050" cy="147320"/>
            </a:xfrm>
            <a:custGeom>
              <a:avLst/>
              <a:gdLst/>
              <a:ahLst/>
              <a:cxnLst/>
              <a:rect l="l" t="t" r="r" b="b"/>
              <a:pathLst>
                <a:path w="2178050" h="147319">
                  <a:moveTo>
                    <a:pt x="21415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2141532" y="146720"/>
                  </a:lnTo>
                  <a:lnTo>
                    <a:pt x="2155545" y="143891"/>
                  </a:lnTo>
                  <a:lnTo>
                    <a:pt x="2166988" y="136176"/>
                  </a:lnTo>
                  <a:lnTo>
                    <a:pt x="2174703" y="124733"/>
                  </a:lnTo>
                  <a:lnTo>
                    <a:pt x="2177532" y="110720"/>
                  </a:lnTo>
                  <a:lnTo>
                    <a:pt x="2177532" y="36000"/>
                  </a:lnTo>
                  <a:lnTo>
                    <a:pt x="2174703" y="21987"/>
                  </a:lnTo>
                  <a:lnTo>
                    <a:pt x="2166988" y="10544"/>
                  </a:lnTo>
                  <a:lnTo>
                    <a:pt x="2155545" y="2829"/>
                  </a:lnTo>
                  <a:lnTo>
                    <a:pt x="214153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59994" y="1880999"/>
              <a:ext cx="2178050" cy="147320"/>
            </a:xfrm>
            <a:custGeom>
              <a:avLst/>
              <a:gdLst/>
              <a:ahLst/>
              <a:cxnLst/>
              <a:rect l="l" t="t" r="r" b="b"/>
              <a:pathLst>
                <a:path w="2178050" h="147319">
                  <a:moveTo>
                    <a:pt x="21415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2141532" y="146720"/>
                  </a:lnTo>
                  <a:lnTo>
                    <a:pt x="2155545" y="143891"/>
                  </a:lnTo>
                  <a:lnTo>
                    <a:pt x="2166988" y="136176"/>
                  </a:lnTo>
                  <a:lnTo>
                    <a:pt x="2174703" y="124733"/>
                  </a:lnTo>
                  <a:lnTo>
                    <a:pt x="2177532" y="110720"/>
                  </a:lnTo>
                  <a:lnTo>
                    <a:pt x="2177532" y="36000"/>
                  </a:lnTo>
                  <a:lnTo>
                    <a:pt x="2174703" y="21987"/>
                  </a:lnTo>
                  <a:lnTo>
                    <a:pt x="2166988" y="10544"/>
                  </a:lnTo>
                  <a:lnTo>
                    <a:pt x="2155545" y="2829"/>
                  </a:lnTo>
                  <a:lnTo>
                    <a:pt x="21415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43433" y="711927"/>
            <a:ext cx="4999355" cy="1300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As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previous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session,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create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buckets,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input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output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results.</a:t>
            </a:r>
            <a:r>
              <a:rPr dirty="0" sz="900" spc="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default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set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below:</a:t>
            </a:r>
            <a:endParaRPr sz="900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Input</a:t>
            </a:r>
            <a:r>
              <a:rPr dirty="0" sz="900" spc="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bucket:</a:t>
            </a:r>
            <a:r>
              <a:rPr dirty="0" sz="900" spc="2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medical-images-raw-[YOUR-</a:t>
            </a:r>
            <a:r>
              <a:rPr dirty="0" sz="900" spc="-10">
                <a:latin typeface="Courier New"/>
                <a:cs typeface="Courier New"/>
              </a:rPr>
              <a:t>NAME]</a:t>
            </a:r>
            <a:endParaRPr sz="900">
              <a:latin typeface="Courier New"/>
              <a:cs typeface="Courier New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Output</a:t>
            </a:r>
            <a:r>
              <a:rPr dirty="0" sz="900" spc="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bucket:</a:t>
            </a:r>
            <a:r>
              <a:rPr dirty="0" sz="900" spc="3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medical-images-processed-[YOUR-</a:t>
            </a:r>
            <a:r>
              <a:rPr dirty="0" sz="900" spc="-10">
                <a:latin typeface="Courier New"/>
                <a:cs typeface="Courier New"/>
              </a:rPr>
              <a:t>NAME]</a:t>
            </a:r>
            <a:endParaRPr sz="9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  <a:spcBef>
                <a:spcPts val="8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dirty="0" sz="900" spc="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dirty="0" sz="900" spc="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6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dirty="0" sz="900" spc="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1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medical-images-raw-ferran-aran</a:t>
            </a:r>
            <a:r>
              <a:rPr dirty="0" sz="900" spc="-125"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and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75"/>
              </a:spcBef>
            </a:pPr>
            <a:r>
              <a:rPr dirty="0" sz="900" spc="-75">
                <a:latin typeface="Courier New"/>
                <a:cs typeface="Courier New"/>
              </a:rPr>
              <a:t>medical-images-processed-ferran-</a:t>
            </a:r>
            <a:r>
              <a:rPr dirty="0" sz="900" spc="-10">
                <a:latin typeface="Courier New"/>
                <a:cs typeface="Courier New"/>
              </a:rPr>
              <a:t>aran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59994" y="2116302"/>
            <a:ext cx="5039995" cy="164465"/>
          </a:xfrm>
          <a:prstGeom prst="rect">
            <a:avLst/>
          </a:prstGeom>
          <a:solidFill>
            <a:srgbClr val="CED2D3"/>
          </a:solidFill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ts val="1050"/>
              </a:lnSpc>
            </a:pPr>
            <a:r>
              <a:rPr dirty="0" sz="900" b="1">
                <a:solidFill>
                  <a:srgbClr val="EB811B"/>
                </a:solidFill>
                <a:latin typeface="Arial"/>
                <a:cs typeface="Arial"/>
              </a:rPr>
              <a:t>S3</a:t>
            </a:r>
            <a:r>
              <a:rPr dirty="0" sz="900" spc="-5" b="1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EB811B"/>
                </a:solidFill>
                <a:latin typeface="Arial"/>
                <a:cs typeface="Arial"/>
              </a:rPr>
              <a:t>Bucket</a:t>
            </a:r>
            <a:r>
              <a:rPr dirty="0" sz="900" b="1">
                <a:solidFill>
                  <a:srgbClr val="EB811B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EB811B"/>
                </a:solidFill>
                <a:latin typeface="Arial"/>
                <a:cs typeface="Arial"/>
              </a:rPr>
              <a:t>names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59994" y="2280716"/>
            <a:ext cx="5039995" cy="345440"/>
          </a:xfrm>
          <a:prstGeom prst="rect">
            <a:avLst/>
          </a:prstGeom>
          <a:solidFill>
            <a:srgbClr val="E4E6E6"/>
          </a:solidFill>
        </p:spPr>
        <p:txBody>
          <a:bodyPr wrap="square" lIns="0" tIns="508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40"/>
              </a:spcBef>
            </a:pP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bucket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must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accounts.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you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error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75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try a different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(e.g., add a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random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at 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end).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7" name="object 1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0" y="3234963"/>
              <a:ext cx="1516380" cy="5080"/>
            </a:xfrm>
            <a:custGeom>
              <a:avLst/>
              <a:gdLst/>
              <a:ahLst/>
              <a:cxnLst/>
              <a:rect l="l" t="t" r="r" b="b"/>
              <a:pathLst>
                <a:path w="1516380" h="5080">
                  <a:moveTo>
                    <a:pt x="0" y="5060"/>
                  </a:moveTo>
                  <a:lnTo>
                    <a:pt x="0" y="0"/>
                  </a:lnTo>
                  <a:lnTo>
                    <a:pt x="1515781" y="0"/>
                  </a:lnTo>
                  <a:lnTo>
                    <a:pt x="15157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0"/>
              <a:t> </a:t>
            </a:r>
            <a:r>
              <a:rPr dirty="0"/>
              <a:t>2:</a:t>
            </a:r>
            <a:r>
              <a:rPr dirty="0" spc="120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25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691170" y="682060"/>
            <a:ext cx="384175" cy="121285"/>
            <a:chOff x="1691170" y="682060"/>
            <a:chExt cx="384175" cy="121285"/>
          </a:xfrm>
        </p:grpSpPr>
        <p:sp>
          <p:nvSpPr>
            <p:cNvPr id="4" name="object 4" descr=""/>
            <p:cNvSpPr/>
            <p:nvPr/>
          </p:nvSpPr>
          <p:spPr>
            <a:xfrm>
              <a:off x="1691170" y="682060"/>
              <a:ext cx="384175" cy="121285"/>
            </a:xfrm>
            <a:custGeom>
              <a:avLst/>
              <a:gdLst/>
              <a:ahLst/>
              <a:cxnLst/>
              <a:rect l="l" t="t" r="r" b="b"/>
              <a:pathLst>
                <a:path w="384175" h="121284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348009" y="120757"/>
                  </a:lnTo>
                  <a:lnTo>
                    <a:pt x="362022" y="117928"/>
                  </a:lnTo>
                  <a:lnTo>
                    <a:pt x="373465" y="110213"/>
                  </a:lnTo>
                  <a:lnTo>
                    <a:pt x="381180" y="98770"/>
                  </a:lnTo>
                  <a:lnTo>
                    <a:pt x="384009" y="8475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91170" y="682060"/>
              <a:ext cx="384175" cy="121285"/>
            </a:xfrm>
            <a:custGeom>
              <a:avLst/>
              <a:gdLst/>
              <a:ahLst/>
              <a:cxnLst/>
              <a:rect l="l" t="t" r="r" b="b"/>
              <a:pathLst>
                <a:path w="384175" h="121284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348009" y="120757"/>
                  </a:lnTo>
                  <a:lnTo>
                    <a:pt x="362022" y="117928"/>
                  </a:lnTo>
                  <a:lnTo>
                    <a:pt x="373465" y="110213"/>
                  </a:lnTo>
                  <a:lnTo>
                    <a:pt x="381180" y="98770"/>
                  </a:lnTo>
                  <a:lnTo>
                    <a:pt x="384009" y="8475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1718" y="650374"/>
            <a:ext cx="45853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lambda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usual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result.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30" y="895129"/>
            <a:ext cx="4032138" cy="146766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298420" y="2496767"/>
            <a:ext cx="11633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6:</a:t>
            </a:r>
            <a:r>
              <a:rPr dirty="0" sz="800" spc="1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8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5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1617345" cy="5080"/>
            </a:xfrm>
            <a:custGeom>
              <a:avLst/>
              <a:gdLst/>
              <a:ahLst/>
              <a:cxnLst/>
              <a:rect l="l" t="t" r="r" b="b"/>
              <a:pathLst>
                <a:path w="1617345" h="5080">
                  <a:moveTo>
                    <a:pt x="0" y="5060"/>
                  </a:moveTo>
                  <a:lnTo>
                    <a:pt x="0" y="0"/>
                  </a:lnTo>
                  <a:lnTo>
                    <a:pt x="1616856" y="0"/>
                  </a:lnTo>
                  <a:lnTo>
                    <a:pt x="16168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8526" y="59834"/>
            <a:ext cx="21475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Step</a:t>
            </a:r>
            <a:r>
              <a:rPr dirty="0" sz="1000" spc="2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2:</a:t>
            </a:r>
            <a:r>
              <a:rPr dirty="0" sz="1000" spc="12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Create</a:t>
            </a:r>
            <a:r>
              <a:rPr dirty="0" sz="1000" spc="2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dirty="0" sz="1000" spc="2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Lambda</a:t>
            </a:r>
            <a:r>
              <a:rPr dirty="0" sz="1000" spc="2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9F9F9"/>
                </a:solidFill>
                <a:latin typeface="Arial"/>
                <a:cs typeface="Arial"/>
              </a:rPr>
              <a:t>function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294" y="693300"/>
            <a:ext cx="14611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function.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57" y="913448"/>
            <a:ext cx="4031883" cy="140642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289365" y="2453841"/>
            <a:ext cx="11817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7:</a:t>
            </a:r>
            <a:r>
              <a:rPr dirty="0" sz="800" spc="10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8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1718310" cy="5080"/>
            </a:xfrm>
            <a:custGeom>
              <a:avLst/>
              <a:gdLst/>
              <a:ahLst/>
              <a:cxnLst/>
              <a:rect l="l" t="t" r="r" b="b"/>
              <a:pathLst>
                <a:path w="1718310" h="5080">
                  <a:moveTo>
                    <a:pt x="0" y="5060"/>
                  </a:moveTo>
                  <a:lnTo>
                    <a:pt x="0" y="0"/>
                  </a:lnTo>
                  <a:lnTo>
                    <a:pt x="1717931" y="0"/>
                  </a:lnTo>
                  <a:lnTo>
                    <a:pt x="17179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0"/>
              <a:t> </a:t>
            </a:r>
            <a:r>
              <a:rPr dirty="0"/>
              <a:t>2:</a:t>
            </a:r>
            <a:r>
              <a:rPr dirty="0" spc="120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25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59994" y="562528"/>
            <a:ext cx="683260" cy="121285"/>
            <a:chOff x="359994" y="562528"/>
            <a:chExt cx="683260" cy="121285"/>
          </a:xfrm>
        </p:grpSpPr>
        <p:sp>
          <p:nvSpPr>
            <p:cNvPr id="4" name="object 4" descr=""/>
            <p:cNvSpPr/>
            <p:nvPr/>
          </p:nvSpPr>
          <p:spPr>
            <a:xfrm>
              <a:off x="359994" y="56252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59994" y="56252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3433" y="348847"/>
            <a:ext cx="4512945" cy="34417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below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matter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suggest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75"/>
              </a:spcBef>
            </a:pPr>
            <a:r>
              <a:rPr dirty="0" sz="900" spc="-75">
                <a:latin typeface="Courier New"/>
                <a:cs typeface="Courier New"/>
              </a:rPr>
              <a:t>count-</a:t>
            </a:r>
            <a:r>
              <a:rPr dirty="0" sz="900" spc="-10">
                <a:latin typeface="Courier New"/>
                <a:cs typeface="Courier New"/>
              </a:rPr>
              <a:t>cells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):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82" y="778075"/>
            <a:ext cx="4031842" cy="216234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289365" y="3074401"/>
            <a:ext cx="11817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8:</a:t>
            </a:r>
            <a:r>
              <a:rPr dirty="0" sz="800" spc="10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8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1819275" cy="5080"/>
            </a:xfrm>
            <a:custGeom>
              <a:avLst/>
              <a:gdLst/>
              <a:ahLst/>
              <a:cxnLst/>
              <a:rect l="l" t="t" r="r" b="b"/>
              <a:pathLst>
                <a:path w="1819275" h="5080">
                  <a:moveTo>
                    <a:pt x="0" y="5060"/>
                  </a:moveTo>
                  <a:lnTo>
                    <a:pt x="0" y="0"/>
                  </a:lnTo>
                  <a:lnTo>
                    <a:pt x="1819007" y="0"/>
                  </a:lnTo>
                  <a:lnTo>
                    <a:pt x="181900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0"/>
              <a:t> </a:t>
            </a:r>
            <a:r>
              <a:rPr dirty="0"/>
              <a:t>3:</a:t>
            </a:r>
            <a:r>
              <a:rPr dirty="0" spc="125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110041" y="690136"/>
            <a:ext cx="802640" cy="147955"/>
            <a:chOff x="2110041" y="690136"/>
            <a:chExt cx="802640" cy="147955"/>
          </a:xfrm>
        </p:grpSpPr>
        <p:sp>
          <p:nvSpPr>
            <p:cNvPr id="4" name="object 4" descr=""/>
            <p:cNvSpPr/>
            <p:nvPr/>
          </p:nvSpPr>
          <p:spPr>
            <a:xfrm>
              <a:off x="2110041" y="690136"/>
              <a:ext cx="802640" cy="147955"/>
            </a:xfrm>
            <a:custGeom>
              <a:avLst/>
              <a:gdLst/>
              <a:ahLst/>
              <a:cxnLst/>
              <a:rect l="l" t="t" r="r" b="b"/>
              <a:pathLst>
                <a:path w="802639" h="147955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745"/>
                  </a:lnTo>
                  <a:lnTo>
                    <a:pt x="2829" y="125758"/>
                  </a:lnTo>
                  <a:lnTo>
                    <a:pt x="10544" y="137201"/>
                  </a:lnTo>
                  <a:lnTo>
                    <a:pt x="21987" y="144916"/>
                  </a:lnTo>
                  <a:lnTo>
                    <a:pt x="36000" y="147745"/>
                  </a:lnTo>
                  <a:lnTo>
                    <a:pt x="766498" y="147745"/>
                  </a:lnTo>
                  <a:lnTo>
                    <a:pt x="780511" y="144916"/>
                  </a:lnTo>
                  <a:lnTo>
                    <a:pt x="791954" y="137201"/>
                  </a:lnTo>
                  <a:lnTo>
                    <a:pt x="799669" y="125758"/>
                  </a:lnTo>
                  <a:lnTo>
                    <a:pt x="802498" y="111745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110041" y="690136"/>
              <a:ext cx="802640" cy="147955"/>
            </a:xfrm>
            <a:custGeom>
              <a:avLst/>
              <a:gdLst/>
              <a:ahLst/>
              <a:cxnLst/>
              <a:rect l="l" t="t" r="r" b="b"/>
              <a:pathLst>
                <a:path w="802639" h="147955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745"/>
                  </a:lnTo>
                  <a:lnTo>
                    <a:pt x="2829" y="125758"/>
                  </a:lnTo>
                  <a:lnTo>
                    <a:pt x="10544" y="137201"/>
                  </a:lnTo>
                  <a:lnTo>
                    <a:pt x="21987" y="144916"/>
                  </a:lnTo>
                  <a:lnTo>
                    <a:pt x="36000" y="147745"/>
                  </a:lnTo>
                  <a:lnTo>
                    <a:pt x="766498" y="147745"/>
                  </a:lnTo>
                  <a:lnTo>
                    <a:pt x="780511" y="144916"/>
                  </a:lnTo>
                  <a:lnTo>
                    <a:pt x="791954" y="137201"/>
                  </a:lnTo>
                  <a:lnTo>
                    <a:pt x="799669" y="125758"/>
                  </a:lnTo>
                  <a:lnTo>
                    <a:pt x="802498" y="111745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478018"/>
            <a:ext cx="5066030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executed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input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bucket,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trigger.</a:t>
            </a:r>
            <a:r>
              <a:rPr dirty="0" sz="900" spc="11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1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0">
                <a:latin typeface="Courier New"/>
                <a:cs typeface="Courier New"/>
              </a:rPr>
              <a:t>+</a:t>
            </a:r>
            <a:r>
              <a:rPr dirty="0" sz="900" spc="-75">
                <a:latin typeface="Courier New"/>
                <a:cs typeface="Courier New"/>
              </a:rPr>
              <a:t> </a:t>
            </a:r>
            <a:r>
              <a:rPr dirty="0" sz="900" spc="-70">
                <a:latin typeface="Courier New"/>
                <a:cs typeface="Courier New"/>
              </a:rPr>
              <a:t>Add </a:t>
            </a:r>
            <a:r>
              <a:rPr dirty="0" sz="900" spc="-75">
                <a:latin typeface="Courier New"/>
                <a:cs typeface="Courier New"/>
              </a:rPr>
              <a:t>trigger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button.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55" y="930193"/>
            <a:ext cx="4032099" cy="158227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381427" y="2646437"/>
            <a:ext cx="9975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9:</a:t>
            </a:r>
            <a:r>
              <a:rPr dirty="0" sz="800" spc="1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trigger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1920239" cy="5080"/>
            </a:xfrm>
            <a:custGeom>
              <a:avLst/>
              <a:gdLst/>
              <a:ahLst/>
              <a:cxnLst/>
              <a:rect l="l" t="t" r="r" b="b"/>
              <a:pathLst>
                <a:path w="1920239" h="5080">
                  <a:moveTo>
                    <a:pt x="0" y="5060"/>
                  </a:moveTo>
                  <a:lnTo>
                    <a:pt x="0" y="0"/>
                  </a:lnTo>
                  <a:lnTo>
                    <a:pt x="1919995" y="0"/>
                  </a:lnTo>
                  <a:lnTo>
                    <a:pt x="1919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0"/>
              <a:t> </a:t>
            </a:r>
            <a:r>
              <a:rPr dirty="0"/>
              <a:t>3:</a:t>
            </a:r>
            <a:r>
              <a:rPr dirty="0" spc="125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25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25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997" y="430366"/>
            <a:ext cx="144873" cy="12269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7294" y="399930"/>
            <a:ext cx="472122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Start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searching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S3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below: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006" y="645368"/>
            <a:ext cx="4031999" cy="196787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353589" y="2747211"/>
            <a:ext cx="10528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3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10:</a:t>
            </a:r>
            <a:r>
              <a:rPr dirty="0" sz="800" spc="114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dirty="0" sz="8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trigger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2021205" cy="5080"/>
            </a:xfrm>
            <a:custGeom>
              <a:avLst/>
              <a:gdLst/>
              <a:ahLst/>
              <a:cxnLst/>
              <a:rect l="l" t="t" r="r" b="b"/>
              <a:pathLst>
                <a:path w="2021205" h="5080">
                  <a:moveTo>
                    <a:pt x="0" y="5060"/>
                  </a:moveTo>
                  <a:lnTo>
                    <a:pt x="0" y="0"/>
                  </a:lnTo>
                  <a:lnTo>
                    <a:pt x="2021070" y="0"/>
                  </a:lnTo>
                  <a:lnTo>
                    <a:pt x="20210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385131"/>
            <a:ext cx="4939030" cy="981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20">
              <a:lnSpc>
                <a:spcPct val="116199"/>
              </a:lnSpc>
              <a:spcBef>
                <a:spcPts val="100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Okay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we’ve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now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lambda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triggered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input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r>
              <a:rPr dirty="0" sz="900" spc="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function?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25"/>
              </a:spcBef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Since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 trigger to be an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JSON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object to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011" y="1424572"/>
            <a:ext cx="2519988" cy="118079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402636" y="2739337"/>
            <a:ext cx="9550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11:</a:t>
            </a:r>
            <a:r>
              <a:rPr dirty="0" sz="800" spc="9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tab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2122170" cy="5080"/>
            </a:xfrm>
            <a:custGeom>
              <a:avLst/>
              <a:gdLst/>
              <a:ahLst/>
              <a:cxnLst/>
              <a:rect l="l" t="t" r="r" b="b"/>
              <a:pathLst>
                <a:path w="2122170" h="5080">
                  <a:moveTo>
                    <a:pt x="0" y="5060"/>
                  </a:moveTo>
                  <a:lnTo>
                    <a:pt x="0" y="0"/>
                  </a:lnTo>
                  <a:lnTo>
                    <a:pt x="2122146" y="0"/>
                  </a:lnTo>
                  <a:lnTo>
                    <a:pt x="212214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850663"/>
            <a:ext cx="5015230" cy="1214120"/>
            <a:chOff x="372646" y="850663"/>
            <a:chExt cx="5015230" cy="1214120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856010"/>
              <a:ext cx="5004435" cy="1203325"/>
            </a:xfrm>
            <a:custGeom>
              <a:avLst/>
              <a:gdLst/>
              <a:ahLst/>
              <a:cxnLst/>
              <a:rect l="l" t="t" r="r" b="b"/>
              <a:pathLst>
                <a:path w="5004435" h="12033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66832"/>
                  </a:lnTo>
                  <a:lnTo>
                    <a:pt x="2829" y="1180845"/>
                  </a:lnTo>
                  <a:lnTo>
                    <a:pt x="10544" y="1192288"/>
                  </a:lnTo>
                  <a:lnTo>
                    <a:pt x="21987" y="1200003"/>
                  </a:lnTo>
                  <a:lnTo>
                    <a:pt x="36000" y="1202833"/>
                  </a:lnTo>
                  <a:lnTo>
                    <a:pt x="4968064" y="1202833"/>
                  </a:lnTo>
                  <a:lnTo>
                    <a:pt x="4982077" y="1200003"/>
                  </a:lnTo>
                  <a:lnTo>
                    <a:pt x="4993521" y="1192288"/>
                  </a:lnTo>
                  <a:lnTo>
                    <a:pt x="5001236" y="1180845"/>
                  </a:lnTo>
                  <a:lnTo>
                    <a:pt x="5004065" y="116683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856989"/>
              <a:ext cx="5002530" cy="1201420"/>
            </a:xfrm>
            <a:custGeom>
              <a:avLst/>
              <a:gdLst/>
              <a:ahLst/>
              <a:cxnLst/>
              <a:rect l="l" t="t" r="r" b="b"/>
              <a:pathLst>
                <a:path w="5002530" h="1201420">
                  <a:moveTo>
                    <a:pt x="0" y="116585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165853"/>
                  </a:lnTo>
                  <a:lnTo>
                    <a:pt x="4999354" y="1179485"/>
                  </a:lnTo>
                  <a:lnTo>
                    <a:pt x="4991849" y="1190617"/>
                  </a:lnTo>
                  <a:lnTo>
                    <a:pt x="4980717" y="1198122"/>
                  </a:lnTo>
                  <a:lnTo>
                    <a:pt x="4967085" y="1200874"/>
                  </a:lnTo>
                  <a:lnTo>
                    <a:pt x="35021" y="1200874"/>
                  </a:lnTo>
                  <a:lnTo>
                    <a:pt x="21389" y="1198122"/>
                  </a:lnTo>
                  <a:lnTo>
                    <a:pt x="10257" y="1190617"/>
                  </a:lnTo>
                  <a:lnTo>
                    <a:pt x="2752" y="1179485"/>
                  </a:lnTo>
                  <a:lnTo>
                    <a:pt x="0" y="116585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2492082" y="2333290"/>
            <a:ext cx="324485" cy="114300"/>
            <a:chOff x="2492082" y="2333290"/>
            <a:chExt cx="324485" cy="114300"/>
          </a:xfrm>
        </p:grpSpPr>
        <p:sp>
          <p:nvSpPr>
            <p:cNvPr id="7" name="object 7" descr=""/>
            <p:cNvSpPr/>
            <p:nvPr/>
          </p:nvSpPr>
          <p:spPr>
            <a:xfrm>
              <a:off x="2492082" y="2333290"/>
              <a:ext cx="324485" cy="114300"/>
            </a:xfrm>
            <a:custGeom>
              <a:avLst/>
              <a:gdLst/>
              <a:ahLst/>
              <a:cxnLst/>
              <a:rect l="l" t="t" r="r" b="b"/>
              <a:pathLst>
                <a:path w="324485" h="114300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288225" y="114266"/>
                  </a:lnTo>
                  <a:lnTo>
                    <a:pt x="302238" y="111437"/>
                  </a:lnTo>
                  <a:lnTo>
                    <a:pt x="313681" y="103722"/>
                  </a:lnTo>
                  <a:lnTo>
                    <a:pt x="321396" y="92279"/>
                  </a:lnTo>
                  <a:lnTo>
                    <a:pt x="324225" y="78266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492082" y="2333290"/>
              <a:ext cx="324485" cy="114300"/>
            </a:xfrm>
            <a:custGeom>
              <a:avLst/>
              <a:gdLst/>
              <a:ahLst/>
              <a:cxnLst/>
              <a:rect l="l" t="t" r="r" b="b"/>
              <a:pathLst>
                <a:path w="324485" h="114300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288225" y="114266"/>
                  </a:lnTo>
                  <a:lnTo>
                    <a:pt x="302238" y="111437"/>
                  </a:lnTo>
                  <a:lnTo>
                    <a:pt x="313681" y="103722"/>
                  </a:lnTo>
                  <a:lnTo>
                    <a:pt x="321396" y="92279"/>
                  </a:lnTo>
                  <a:lnTo>
                    <a:pt x="324225" y="78266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3007131" y="2167476"/>
            <a:ext cx="1148715" cy="280670"/>
            <a:chOff x="3007131" y="2167476"/>
            <a:chExt cx="1148715" cy="280670"/>
          </a:xfrm>
        </p:grpSpPr>
        <p:sp>
          <p:nvSpPr>
            <p:cNvPr id="10" name="object 10" descr=""/>
            <p:cNvSpPr/>
            <p:nvPr/>
          </p:nvSpPr>
          <p:spPr>
            <a:xfrm>
              <a:off x="3007131" y="2167476"/>
              <a:ext cx="862330" cy="137795"/>
            </a:xfrm>
            <a:custGeom>
              <a:avLst/>
              <a:gdLst/>
              <a:ahLst/>
              <a:cxnLst/>
              <a:rect l="l" t="t" r="r" b="b"/>
              <a:pathLst>
                <a:path w="862329" h="137794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268"/>
                  </a:lnTo>
                  <a:lnTo>
                    <a:pt x="2829" y="115281"/>
                  </a:lnTo>
                  <a:lnTo>
                    <a:pt x="10544" y="126724"/>
                  </a:lnTo>
                  <a:lnTo>
                    <a:pt x="21987" y="134439"/>
                  </a:lnTo>
                  <a:lnTo>
                    <a:pt x="36000" y="137268"/>
                  </a:lnTo>
                  <a:lnTo>
                    <a:pt x="826282" y="137268"/>
                  </a:lnTo>
                  <a:lnTo>
                    <a:pt x="840295" y="134439"/>
                  </a:lnTo>
                  <a:lnTo>
                    <a:pt x="851738" y="126724"/>
                  </a:lnTo>
                  <a:lnTo>
                    <a:pt x="859453" y="115281"/>
                  </a:lnTo>
                  <a:lnTo>
                    <a:pt x="862282" y="101268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07131" y="2167476"/>
              <a:ext cx="862330" cy="137795"/>
            </a:xfrm>
            <a:custGeom>
              <a:avLst/>
              <a:gdLst/>
              <a:ahLst/>
              <a:cxnLst/>
              <a:rect l="l" t="t" r="r" b="b"/>
              <a:pathLst>
                <a:path w="862329" h="137794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268"/>
                  </a:lnTo>
                  <a:lnTo>
                    <a:pt x="2829" y="115281"/>
                  </a:lnTo>
                  <a:lnTo>
                    <a:pt x="10544" y="126724"/>
                  </a:lnTo>
                  <a:lnTo>
                    <a:pt x="21987" y="134439"/>
                  </a:lnTo>
                  <a:lnTo>
                    <a:pt x="36000" y="137268"/>
                  </a:lnTo>
                  <a:lnTo>
                    <a:pt x="826282" y="137268"/>
                  </a:lnTo>
                  <a:lnTo>
                    <a:pt x="840295" y="134439"/>
                  </a:lnTo>
                  <a:lnTo>
                    <a:pt x="851738" y="126724"/>
                  </a:lnTo>
                  <a:lnTo>
                    <a:pt x="859453" y="115281"/>
                  </a:lnTo>
                  <a:lnTo>
                    <a:pt x="862282" y="101268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71609" y="2333290"/>
              <a:ext cx="443865" cy="114300"/>
            </a:xfrm>
            <a:custGeom>
              <a:avLst/>
              <a:gdLst/>
              <a:ahLst/>
              <a:cxnLst/>
              <a:rect l="l" t="t" r="r" b="b"/>
              <a:pathLst>
                <a:path w="443864" h="11430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407793" y="114266"/>
                  </a:lnTo>
                  <a:lnTo>
                    <a:pt x="421806" y="111437"/>
                  </a:lnTo>
                  <a:lnTo>
                    <a:pt x="433249" y="103722"/>
                  </a:lnTo>
                  <a:lnTo>
                    <a:pt x="440964" y="92279"/>
                  </a:lnTo>
                  <a:lnTo>
                    <a:pt x="443793" y="78266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71609" y="2333290"/>
              <a:ext cx="443865" cy="114300"/>
            </a:xfrm>
            <a:custGeom>
              <a:avLst/>
              <a:gdLst/>
              <a:ahLst/>
              <a:cxnLst/>
              <a:rect l="l" t="t" r="r" b="b"/>
              <a:pathLst>
                <a:path w="443864" h="11430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407793" y="114266"/>
                  </a:lnTo>
                  <a:lnTo>
                    <a:pt x="421806" y="111437"/>
                  </a:lnTo>
                  <a:lnTo>
                    <a:pt x="433249" y="103722"/>
                  </a:lnTo>
                  <a:lnTo>
                    <a:pt x="440964" y="92279"/>
                  </a:lnTo>
                  <a:lnTo>
                    <a:pt x="443793" y="78266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31539" y="2333290"/>
              <a:ext cx="324485" cy="114300"/>
            </a:xfrm>
            <a:custGeom>
              <a:avLst/>
              <a:gdLst/>
              <a:ahLst/>
              <a:cxnLst/>
              <a:rect l="l" t="t" r="r" b="b"/>
              <a:pathLst>
                <a:path w="324485" h="114300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288225" y="114266"/>
                  </a:lnTo>
                  <a:lnTo>
                    <a:pt x="302238" y="111437"/>
                  </a:lnTo>
                  <a:lnTo>
                    <a:pt x="313681" y="103722"/>
                  </a:lnTo>
                  <a:lnTo>
                    <a:pt x="321396" y="92279"/>
                  </a:lnTo>
                  <a:lnTo>
                    <a:pt x="324225" y="78266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31539" y="2333290"/>
              <a:ext cx="324485" cy="114300"/>
            </a:xfrm>
            <a:custGeom>
              <a:avLst/>
              <a:gdLst/>
              <a:ahLst/>
              <a:cxnLst/>
              <a:rect l="l" t="t" r="r" b="b"/>
              <a:pathLst>
                <a:path w="324485" h="114300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288225" y="114266"/>
                  </a:lnTo>
                  <a:lnTo>
                    <a:pt x="302238" y="111437"/>
                  </a:lnTo>
                  <a:lnTo>
                    <a:pt x="313681" y="103722"/>
                  </a:lnTo>
                  <a:lnTo>
                    <a:pt x="321396" y="92279"/>
                  </a:lnTo>
                  <a:lnTo>
                    <a:pt x="324225" y="78266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43319" y="606686"/>
            <a:ext cx="5064125" cy="2169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came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5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json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</a:pPr>
            <a:r>
              <a:rPr dirty="0" sz="800" spc="-65" b="1">
                <a:solidFill>
                  <a:srgbClr val="007021"/>
                </a:solidFill>
                <a:latin typeface="Courier New"/>
                <a:cs typeface="Courier New"/>
              </a:rPr>
              <a:t>def</a:t>
            </a:r>
            <a:r>
              <a:rPr dirty="0" sz="800" spc="-20" b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lambda_handler(event,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context):</a:t>
            </a:r>
            <a:endParaRPr sz="800">
              <a:latin typeface="Courier New"/>
              <a:cs typeface="Courier New"/>
            </a:endParaRPr>
          </a:p>
          <a:p>
            <a:pPr marL="429259">
              <a:lnSpc>
                <a:spcPct val="100000"/>
              </a:lnSpc>
              <a:spcBef>
                <a:spcPts val="70"/>
              </a:spcBef>
            </a:pPr>
            <a:r>
              <a:rPr dirty="0" sz="80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b="1">
                <a:solidFill>
                  <a:srgbClr val="FF0000"/>
                </a:solidFill>
                <a:latin typeface="Courier New"/>
                <a:cs typeface="Courier New"/>
              </a:rPr>
              <a:t>TODO</a:t>
            </a:r>
            <a:r>
              <a:rPr dirty="0" sz="800" spc="-65" b="1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implement</a:t>
            </a:r>
            <a:endParaRPr sz="800">
              <a:latin typeface="Courier New"/>
              <a:cs typeface="Courier New"/>
            </a:endParaRPr>
          </a:p>
          <a:p>
            <a:pPr marL="429259">
              <a:lnSpc>
                <a:spcPct val="100000"/>
              </a:lnSpc>
              <a:spcBef>
                <a:spcPts val="70"/>
              </a:spcBef>
            </a:pPr>
            <a:r>
              <a:rPr dirty="0" sz="800" spc="-65" b="1">
                <a:solidFill>
                  <a:srgbClr val="007021"/>
                </a:solidFill>
                <a:latin typeface="Courier New"/>
                <a:cs typeface="Courier New"/>
              </a:rPr>
              <a:t>return</a:t>
            </a:r>
            <a:r>
              <a:rPr dirty="0" sz="800" spc="-15" b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644525">
              <a:lnSpc>
                <a:spcPct val="100000"/>
              </a:lnSpc>
              <a:spcBef>
                <a:spcPts val="75"/>
              </a:spcBef>
            </a:pP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'statusCode'</a:t>
            </a:r>
            <a:r>
              <a:rPr dirty="0" sz="800" spc="-55">
                <a:latin typeface="Courier New"/>
                <a:cs typeface="Courier New"/>
              </a:rPr>
              <a:t>: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3FA070"/>
                </a:solidFill>
                <a:latin typeface="Courier New"/>
                <a:cs typeface="Courier New"/>
              </a:rPr>
              <a:t>200</a:t>
            </a:r>
            <a:r>
              <a:rPr dirty="0" sz="800" spc="-20"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  <a:p>
            <a:pPr marL="644525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'body'</a:t>
            </a:r>
            <a:r>
              <a:rPr dirty="0" sz="800" spc="-60">
                <a:latin typeface="Courier New"/>
                <a:cs typeface="Courier New"/>
              </a:rPr>
              <a:t>: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json.dumps(</a:t>
            </a: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'Hello</a:t>
            </a:r>
            <a:r>
              <a:rPr dirty="0" sz="800" spc="-25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from</a:t>
            </a:r>
            <a:r>
              <a:rPr dirty="0" sz="800" spc="-25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Lambda!'</a:t>
            </a:r>
            <a:r>
              <a:rPr dirty="0" sz="800" spc="-1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429259">
              <a:lnSpc>
                <a:spcPct val="100000"/>
              </a:lnSpc>
              <a:spcBef>
                <a:spcPts val="70"/>
              </a:spcBef>
            </a:pPr>
            <a:r>
              <a:rPr dirty="0" sz="800" spc="-50"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800">
              <a:latin typeface="Courier New"/>
              <a:cs typeface="Courier New"/>
            </a:endParaRPr>
          </a:p>
          <a:p>
            <a:pPr marL="16510" marR="5080" indent="-4445">
              <a:lnSpc>
                <a:spcPct val="116199"/>
              </a:lnSpc>
              <a:spcBef>
                <a:spcPts val="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basic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structure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function.</a:t>
            </a:r>
            <a:r>
              <a:rPr dirty="0" sz="9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lambda_handler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entry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point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receives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arguments:</a:t>
            </a:r>
            <a:r>
              <a:rPr dirty="0" sz="900" spc="1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event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latin typeface="Courier New"/>
                <a:cs typeface="Courier New"/>
              </a:rPr>
              <a:t>context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dirty="0" sz="9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event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argument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JSON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were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talking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contains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triggered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lambda.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2373A"/>
                </a:solidFill>
                <a:latin typeface="Arial"/>
                <a:cs typeface="Arial"/>
              </a:rPr>
              <a:t>anything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 we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want to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 b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dirty="0" sz="900" spc="-25" b="1">
                <a:solidFill>
                  <a:srgbClr val="22373A"/>
                </a:solidFill>
                <a:latin typeface="Arial"/>
                <a:cs typeface="Arial"/>
              </a:rPr>
              <a:t>done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 b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8" name="object 1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0" y="3234963"/>
              <a:ext cx="2223770" cy="5080"/>
            </a:xfrm>
            <a:custGeom>
              <a:avLst/>
              <a:gdLst/>
              <a:ahLst/>
              <a:cxnLst/>
              <a:rect l="l" t="t" r="r" b="b"/>
              <a:pathLst>
                <a:path w="2223770" h="5080">
                  <a:moveTo>
                    <a:pt x="0" y="5060"/>
                  </a:moveTo>
                  <a:lnTo>
                    <a:pt x="0" y="0"/>
                  </a:lnTo>
                  <a:lnTo>
                    <a:pt x="2223221" y="0"/>
                  </a:lnTo>
                  <a:lnTo>
                    <a:pt x="22232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1201234"/>
            <a:ext cx="5015230" cy="1214120"/>
            <a:chOff x="372646" y="1201234"/>
            <a:chExt cx="5015230" cy="1214120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1206581"/>
              <a:ext cx="5004435" cy="1203325"/>
            </a:xfrm>
            <a:custGeom>
              <a:avLst/>
              <a:gdLst/>
              <a:ahLst/>
              <a:cxnLst/>
              <a:rect l="l" t="t" r="r" b="b"/>
              <a:pathLst>
                <a:path w="5004435" h="12033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66832"/>
                  </a:lnTo>
                  <a:lnTo>
                    <a:pt x="2829" y="1180845"/>
                  </a:lnTo>
                  <a:lnTo>
                    <a:pt x="10544" y="1192288"/>
                  </a:lnTo>
                  <a:lnTo>
                    <a:pt x="21987" y="1200003"/>
                  </a:lnTo>
                  <a:lnTo>
                    <a:pt x="36000" y="1202833"/>
                  </a:lnTo>
                  <a:lnTo>
                    <a:pt x="4968064" y="1202833"/>
                  </a:lnTo>
                  <a:lnTo>
                    <a:pt x="4982077" y="1200003"/>
                  </a:lnTo>
                  <a:lnTo>
                    <a:pt x="4993521" y="1192288"/>
                  </a:lnTo>
                  <a:lnTo>
                    <a:pt x="5001236" y="1180845"/>
                  </a:lnTo>
                  <a:lnTo>
                    <a:pt x="5004065" y="116683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1207560"/>
              <a:ext cx="5002530" cy="1201420"/>
            </a:xfrm>
            <a:custGeom>
              <a:avLst/>
              <a:gdLst/>
              <a:ahLst/>
              <a:cxnLst/>
              <a:rect l="l" t="t" r="r" b="b"/>
              <a:pathLst>
                <a:path w="5002530" h="1201420">
                  <a:moveTo>
                    <a:pt x="0" y="116585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165853"/>
                  </a:lnTo>
                  <a:lnTo>
                    <a:pt x="4999354" y="1179485"/>
                  </a:lnTo>
                  <a:lnTo>
                    <a:pt x="4991849" y="1190617"/>
                  </a:lnTo>
                  <a:lnTo>
                    <a:pt x="4980717" y="1198122"/>
                  </a:lnTo>
                  <a:lnTo>
                    <a:pt x="4967085" y="1200874"/>
                  </a:lnTo>
                  <a:lnTo>
                    <a:pt x="35021" y="1200874"/>
                  </a:lnTo>
                  <a:lnTo>
                    <a:pt x="21389" y="1198122"/>
                  </a:lnTo>
                  <a:lnTo>
                    <a:pt x="10257" y="1190617"/>
                  </a:lnTo>
                  <a:lnTo>
                    <a:pt x="2752" y="1179485"/>
                  </a:lnTo>
                  <a:lnTo>
                    <a:pt x="0" y="116585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957257"/>
            <a:ext cx="2803525" cy="1369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Let’s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event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looks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it: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5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json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800">
              <a:latin typeface="Courier New"/>
              <a:cs typeface="Courier New"/>
            </a:endParaRPr>
          </a:p>
          <a:p>
            <a:pPr marL="425450" marR="542290" indent="-215265">
              <a:lnSpc>
                <a:spcPct val="107400"/>
              </a:lnSpc>
              <a:spcBef>
                <a:spcPts val="5"/>
              </a:spcBef>
            </a:pPr>
            <a:r>
              <a:rPr dirty="0" sz="800" spc="-65" b="1">
                <a:solidFill>
                  <a:srgbClr val="007021"/>
                </a:solidFill>
                <a:latin typeface="Courier New"/>
                <a:cs typeface="Courier New"/>
              </a:rPr>
              <a:t>def</a:t>
            </a:r>
            <a:r>
              <a:rPr dirty="0" sz="800" spc="-20" b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lambda_handler(event,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context): </a:t>
            </a:r>
            <a:r>
              <a:rPr dirty="0" sz="800" spc="-55">
                <a:solidFill>
                  <a:srgbClr val="007F00"/>
                </a:solidFill>
                <a:latin typeface="Courier New"/>
                <a:cs typeface="Courier New"/>
              </a:rPr>
              <a:t>print</a:t>
            </a:r>
            <a:r>
              <a:rPr dirty="0" sz="800" spc="-55">
                <a:latin typeface="Courier New"/>
                <a:cs typeface="Courier New"/>
              </a:rPr>
              <a:t>(json.dumps(event,</a:t>
            </a:r>
            <a:r>
              <a:rPr dirty="0" sz="80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indent</a:t>
            </a:r>
            <a:r>
              <a:rPr dirty="0" sz="800" spc="-6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6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dirty="0" sz="800" spc="-60">
                <a:latin typeface="Courier New"/>
                <a:cs typeface="Courier New"/>
              </a:rPr>
              <a:t>)) </a:t>
            </a:r>
            <a:r>
              <a:rPr dirty="0" sz="800" spc="-65" b="1">
                <a:solidFill>
                  <a:srgbClr val="007021"/>
                </a:solidFill>
                <a:latin typeface="Courier New"/>
                <a:cs typeface="Courier New"/>
              </a:rPr>
              <a:t>return</a:t>
            </a:r>
            <a:r>
              <a:rPr dirty="0" sz="800" spc="-15" b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640080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'statusCode'</a:t>
            </a:r>
            <a:r>
              <a:rPr dirty="0" sz="800" spc="-55">
                <a:latin typeface="Courier New"/>
                <a:cs typeface="Courier New"/>
              </a:rPr>
              <a:t>: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3FA070"/>
                </a:solidFill>
                <a:latin typeface="Courier New"/>
                <a:cs typeface="Courier New"/>
              </a:rPr>
              <a:t>200</a:t>
            </a:r>
            <a:r>
              <a:rPr dirty="0" sz="800" spc="-20"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  <a:p>
            <a:pPr marL="640080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'body'</a:t>
            </a:r>
            <a:r>
              <a:rPr dirty="0" sz="800" spc="-60">
                <a:latin typeface="Courier New"/>
                <a:cs typeface="Courier New"/>
              </a:rPr>
              <a:t>: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json.dumps(</a:t>
            </a: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'Hello</a:t>
            </a:r>
            <a:r>
              <a:rPr dirty="0" sz="800" spc="-25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from</a:t>
            </a:r>
            <a:r>
              <a:rPr dirty="0" sz="800" spc="-25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3F70A0"/>
                </a:solidFill>
                <a:latin typeface="Courier New"/>
                <a:cs typeface="Courier New"/>
              </a:rPr>
              <a:t>Lambda!'</a:t>
            </a:r>
            <a:r>
              <a:rPr dirty="0" sz="800" spc="-5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425450">
              <a:lnSpc>
                <a:spcPct val="100000"/>
              </a:lnSpc>
              <a:spcBef>
                <a:spcPts val="70"/>
              </a:spcBef>
            </a:pPr>
            <a:r>
              <a:rPr dirty="0" sz="800" spc="-50"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2324735" cy="5080"/>
            </a:xfrm>
            <a:custGeom>
              <a:avLst/>
              <a:gdLst/>
              <a:ahLst/>
              <a:cxnLst/>
              <a:rect l="l" t="t" r="r" b="b"/>
              <a:pathLst>
                <a:path w="2324735" h="5080">
                  <a:moveTo>
                    <a:pt x="0" y="5060"/>
                  </a:moveTo>
                  <a:lnTo>
                    <a:pt x="0" y="0"/>
                  </a:lnTo>
                  <a:lnTo>
                    <a:pt x="2324209" y="0"/>
                  </a:lnTo>
                  <a:lnTo>
                    <a:pt x="23242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513338" y="502653"/>
            <a:ext cx="384175" cy="146050"/>
            <a:chOff x="4513338" y="502653"/>
            <a:chExt cx="384175" cy="146050"/>
          </a:xfrm>
        </p:grpSpPr>
        <p:sp>
          <p:nvSpPr>
            <p:cNvPr id="4" name="object 4" descr=""/>
            <p:cNvSpPr/>
            <p:nvPr/>
          </p:nvSpPr>
          <p:spPr>
            <a:xfrm>
              <a:off x="4513338" y="502653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513338" y="502653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448287"/>
            <a:ext cx="5065395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happy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code,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“save”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Deploy</a:t>
            </a:r>
            <a:r>
              <a:rPr dirty="0" sz="900" spc="-140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button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as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20" y="850416"/>
            <a:ext cx="4031763" cy="169179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454554" y="2676193"/>
            <a:ext cx="8509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12:</a:t>
            </a:r>
            <a:r>
              <a:rPr dirty="0" sz="800" spc="114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2425700" cy="5080"/>
            </a:xfrm>
            <a:custGeom>
              <a:avLst/>
              <a:gdLst/>
              <a:ahLst/>
              <a:cxnLst/>
              <a:rect l="l" t="t" r="r" b="b"/>
              <a:pathLst>
                <a:path w="2425700" h="5080">
                  <a:moveTo>
                    <a:pt x="0" y="5060"/>
                  </a:moveTo>
                  <a:lnTo>
                    <a:pt x="0" y="0"/>
                  </a:lnTo>
                  <a:lnTo>
                    <a:pt x="2425284" y="0"/>
                  </a:lnTo>
                  <a:lnTo>
                    <a:pt x="24252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59994" y="712403"/>
            <a:ext cx="1819275" cy="156210"/>
            <a:chOff x="359994" y="712403"/>
            <a:chExt cx="1819275" cy="156210"/>
          </a:xfrm>
        </p:grpSpPr>
        <p:sp>
          <p:nvSpPr>
            <p:cNvPr id="4" name="object 4" descr=""/>
            <p:cNvSpPr/>
            <p:nvPr/>
          </p:nvSpPr>
          <p:spPr>
            <a:xfrm>
              <a:off x="359994" y="712403"/>
              <a:ext cx="1819275" cy="156210"/>
            </a:xfrm>
            <a:custGeom>
              <a:avLst/>
              <a:gdLst/>
              <a:ahLst/>
              <a:cxnLst/>
              <a:rect l="l" t="t" r="r" b="b"/>
              <a:pathLst>
                <a:path w="1819275" h="15620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1782827" y="155602"/>
                  </a:lnTo>
                  <a:lnTo>
                    <a:pt x="1796840" y="152773"/>
                  </a:lnTo>
                  <a:lnTo>
                    <a:pt x="1808283" y="145058"/>
                  </a:lnTo>
                  <a:lnTo>
                    <a:pt x="1815998" y="133615"/>
                  </a:lnTo>
                  <a:lnTo>
                    <a:pt x="1818827" y="119602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59994" y="712403"/>
              <a:ext cx="1819275" cy="156210"/>
            </a:xfrm>
            <a:custGeom>
              <a:avLst/>
              <a:gdLst/>
              <a:ahLst/>
              <a:cxnLst/>
              <a:rect l="l" t="t" r="r" b="b"/>
              <a:pathLst>
                <a:path w="1819275" h="15620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1782827" y="155602"/>
                  </a:lnTo>
                  <a:lnTo>
                    <a:pt x="1796840" y="152773"/>
                  </a:lnTo>
                  <a:lnTo>
                    <a:pt x="1808283" y="145058"/>
                  </a:lnTo>
                  <a:lnTo>
                    <a:pt x="1815998" y="133615"/>
                  </a:lnTo>
                  <a:lnTo>
                    <a:pt x="1818827" y="119602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3863251" y="721865"/>
            <a:ext cx="384175" cy="146050"/>
            <a:chOff x="3863251" y="721865"/>
            <a:chExt cx="384175" cy="146050"/>
          </a:xfrm>
        </p:grpSpPr>
        <p:sp>
          <p:nvSpPr>
            <p:cNvPr id="7" name="object 7" descr=""/>
            <p:cNvSpPr/>
            <p:nvPr/>
          </p:nvSpPr>
          <p:spPr>
            <a:xfrm>
              <a:off x="3863251" y="721865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348009" y="145467"/>
                  </a:lnTo>
                  <a:lnTo>
                    <a:pt x="362022" y="142638"/>
                  </a:lnTo>
                  <a:lnTo>
                    <a:pt x="373465" y="134923"/>
                  </a:lnTo>
                  <a:lnTo>
                    <a:pt x="381180" y="123480"/>
                  </a:lnTo>
                  <a:lnTo>
                    <a:pt x="384009" y="10946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63251" y="721865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348009" y="145467"/>
                  </a:lnTo>
                  <a:lnTo>
                    <a:pt x="362022" y="142638"/>
                  </a:lnTo>
                  <a:lnTo>
                    <a:pt x="373465" y="134923"/>
                  </a:lnTo>
                  <a:lnTo>
                    <a:pt x="381180" y="123480"/>
                  </a:lnTo>
                  <a:lnTo>
                    <a:pt x="384009" y="10946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457881" y="1120178"/>
            <a:ext cx="623570" cy="146685"/>
            <a:chOff x="2457881" y="1120178"/>
            <a:chExt cx="623570" cy="146685"/>
          </a:xfrm>
        </p:grpSpPr>
        <p:sp>
          <p:nvSpPr>
            <p:cNvPr id="10" name="object 10" descr=""/>
            <p:cNvSpPr/>
            <p:nvPr/>
          </p:nvSpPr>
          <p:spPr>
            <a:xfrm>
              <a:off x="2457881" y="1120178"/>
              <a:ext cx="623570" cy="146685"/>
            </a:xfrm>
            <a:custGeom>
              <a:avLst/>
              <a:gdLst/>
              <a:ahLst/>
              <a:cxnLst/>
              <a:rect l="l" t="t" r="r" b="b"/>
              <a:pathLst>
                <a:path w="623569" h="1466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587145" y="146151"/>
                  </a:lnTo>
                  <a:lnTo>
                    <a:pt x="601158" y="143322"/>
                  </a:lnTo>
                  <a:lnTo>
                    <a:pt x="612602" y="135607"/>
                  </a:lnTo>
                  <a:lnTo>
                    <a:pt x="620317" y="124164"/>
                  </a:lnTo>
                  <a:lnTo>
                    <a:pt x="623146" y="110151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57881" y="1120178"/>
              <a:ext cx="623570" cy="146685"/>
            </a:xfrm>
            <a:custGeom>
              <a:avLst/>
              <a:gdLst/>
              <a:ahLst/>
              <a:cxnLst/>
              <a:rect l="l" t="t" r="r" b="b"/>
              <a:pathLst>
                <a:path w="623569" h="1466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587145" y="146151"/>
                  </a:lnTo>
                  <a:lnTo>
                    <a:pt x="601158" y="143322"/>
                  </a:lnTo>
                  <a:lnTo>
                    <a:pt x="612602" y="135607"/>
                  </a:lnTo>
                  <a:lnTo>
                    <a:pt x="620317" y="124164"/>
                  </a:lnTo>
                  <a:lnTo>
                    <a:pt x="623146" y="110151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3748659" y="1118925"/>
            <a:ext cx="1400810" cy="147955"/>
            <a:chOff x="3748659" y="1118925"/>
            <a:chExt cx="1400810" cy="147955"/>
          </a:xfrm>
        </p:grpSpPr>
        <p:sp>
          <p:nvSpPr>
            <p:cNvPr id="13" name="object 13" descr=""/>
            <p:cNvSpPr/>
            <p:nvPr/>
          </p:nvSpPr>
          <p:spPr>
            <a:xfrm>
              <a:off x="3748659" y="1118925"/>
              <a:ext cx="1400810" cy="147955"/>
            </a:xfrm>
            <a:custGeom>
              <a:avLst/>
              <a:gdLst/>
              <a:ahLst/>
              <a:cxnLst/>
              <a:rect l="l" t="t" r="r" b="b"/>
              <a:pathLst>
                <a:path w="1400810" h="147955">
                  <a:moveTo>
                    <a:pt x="136433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403"/>
                  </a:lnTo>
                  <a:lnTo>
                    <a:pt x="2829" y="125416"/>
                  </a:lnTo>
                  <a:lnTo>
                    <a:pt x="10544" y="136859"/>
                  </a:lnTo>
                  <a:lnTo>
                    <a:pt x="21987" y="144574"/>
                  </a:lnTo>
                  <a:lnTo>
                    <a:pt x="36000" y="147403"/>
                  </a:lnTo>
                  <a:lnTo>
                    <a:pt x="1364339" y="147403"/>
                  </a:lnTo>
                  <a:lnTo>
                    <a:pt x="1378352" y="144574"/>
                  </a:lnTo>
                  <a:lnTo>
                    <a:pt x="1389795" y="136859"/>
                  </a:lnTo>
                  <a:lnTo>
                    <a:pt x="1397510" y="125416"/>
                  </a:lnTo>
                  <a:lnTo>
                    <a:pt x="1400339" y="111403"/>
                  </a:lnTo>
                  <a:lnTo>
                    <a:pt x="1400339" y="36000"/>
                  </a:lnTo>
                  <a:lnTo>
                    <a:pt x="1397510" y="21987"/>
                  </a:lnTo>
                  <a:lnTo>
                    <a:pt x="1389795" y="10544"/>
                  </a:lnTo>
                  <a:lnTo>
                    <a:pt x="1378352" y="2829"/>
                  </a:lnTo>
                  <a:lnTo>
                    <a:pt x="136433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748659" y="1118925"/>
              <a:ext cx="1400810" cy="147955"/>
            </a:xfrm>
            <a:custGeom>
              <a:avLst/>
              <a:gdLst/>
              <a:ahLst/>
              <a:cxnLst/>
              <a:rect l="l" t="t" r="r" b="b"/>
              <a:pathLst>
                <a:path w="1400810" h="147955">
                  <a:moveTo>
                    <a:pt x="136433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403"/>
                  </a:lnTo>
                  <a:lnTo>
                    <a:pt x="2829" y="125416"/>
                  </a:lnTo>
                  <a:lnTo>
                    <a:pt x="10544" y="136859"/>
                  </a:lnTo>
                  <a:lnTo>
                    <a:pt x="21987" y="144574"/>
                  </a:lnTo>
                  <a:lnTo>
                    <a:pt x="36000" y="147403"/>
                  </a:lnTo>
                  <a:lnTo>
                    <a:pt x="1364339" y="147403"/>
                  </a:lnTo>
                  <a:lnTo>
                    <a:pt x="1378352" y="144574"/>
                  </a:lnTo>
                  <a:lnTo>
                    <a:pt x="1389795" y="136859"/>
                  </a:lnTo>
                  <a:lnTo>
                    <a:pt x="1397510" y="125416"/>
                  </a:lnTo>
                  <a:lnTo>
                    <a:pt x="1400339" y="111403"/>
                  </a:lnTo>
                  <a:lnTo>
                    <a:pt x="1400339" y="36000"/>
                  </a:lnTo>
                  <a:lnTo>
                    <a:pt x="1397510" y="21987"/>
                  </a:lnTo>
                  <a:lnTo>
                    <a:pt x="1389795" y="10544"/>
                  </a:lnTo>
                  <a:lnTo>
                    <a:pt x="1378352" y="2829"/>
                  </a:lnTo>
                  <a:lnTo>
                    <a:pt x="136433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41718" y="348847"/>
            <a:ext cx="5067300" cy="1061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 marR="102870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 trigger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 by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uploading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input bucket.</a:t>
            </a:r>
            <a:r>
              <a:rPr dirty="0" sz="900" spc="7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 visiting the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in the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and clicking on the input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900">
              <a:latin typeface="Arial"/>
              <a:cs typeface="Arial"/>
            </a:endParaRPr>
          </a:p>
          <a:p>
            <a:pPr marL="17780" marR="5080" indent="12065">
              <a:lnSpc>
                <a:spcPct val="116199"/>
              </a:lnSpc>
            </a:pPr>
            <a:r>
              <a:rPr dirty="0" sz="900" spc="-75">
                <a:latin typeface="Courier New"/>
                <a:cs typeface="Courier New"/>
              </a:rPr>
              <a:t>medical-images-raw-[YOUR-NAME]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earlier.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Upload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upload.</a:t>
            </a:r>
            <a:endParaRPr sz="900">
              <a:latin typeface="Arial"/>
              <a:cs typeface="Arial"/>
            </a:endParaRPr>
          </a:p>
          <a:p>
            <a:pPr marL="17780" marR="111760" indent="-5715">
              <a:lnSpc>
                <a:spcPct val="116199"/>
              </a:lnSpc>
              <a:spcBef>
                <a:spcPts val="625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back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lambda,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Monitoring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View logs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in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CloudWatch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logs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056" y="1490156"/>
            <a:ext cx="3023904" cy="1191346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2227110" y="2815474"/>
            <a:ext cx="13061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13:</a:t>
            </a:r>
            <a:r>
              <a:rPr dirty="0" sz="800" spc="1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CloudWatch</a:t>
            </a:r>
            <a:r>
              <a:rPr dirty="0" sz="8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logs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9" name="object 19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0" y="3234963"/>
              <a:ext cx="2526665" cy="5080"/>
            </a:xfrm>
            <a:custGeom>
              <a:avLst/>
              <a:gdLst/>
              <a:ahLst/>
              <a:cxnLst/>
              <a:rect l="l" t="t" r="r" b="b"/>
              <a:pathLst>
                <a:path w="2526665" h="5080">
                  <a:moveTo>
                    <a:pt x="0" y="5060"/>
                  </a:moveTo>
                  <a:lnTo>
                    <a:pt x="0" y="0"/>
                  </a:lnTo>
                  <a:lnTo>
                    <a:pt x="2526360" y="0"/>
                  </a:lnTo>
                  <a:lnTo>
                    <a:pt x="25263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456509"/>
            <a:ext cx="34169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latest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log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stream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logs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57" y="698841"/>
            <a:ext cx="4031899" cy="18578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227110" y="2690646"/>
            <a:ext cx="13061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14:</a:t>
            </a:r>
            <a:r>
              <a:rPr dirty="0" sz="800" spc="1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CloudWatch</a:t>
            </a:r>
            <a:r>
              <a:rPr dirty="0" sz="8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logs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2627630" cy="5080"/>
            </a:xfrm>
            <a:custGeom>
              <a:avLst/>
              <a:gdLst/>
              <a:ahLst/>
              <a:cxnLst/>
              <a:rect l="l" t="t" r="r" b="b"/>
              <a:pathLst>
                <a:path w="2627630" h="5080">
                  <a:moveTo>
                    <a:pt x="0" y="5060"/>
                  </a:moveTo>
                  <a:lnTo>
                    <a:pt x="0" y="0"/>
                  </a:lnTo>
                  <a:lnTo>
                    <a:pt x="2627435" y="0"/>
                  </a:lnTo>
                  <a:lnTo>
                    <a:pt x="26274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94" y="535714"/>
            <a:ext cx="5065395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went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well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0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event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printed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logs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JSON. There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lots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 information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interested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 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couple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fields;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object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key.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005" y="959940"/>
            <a:ext cx="3023992" cy="149484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227110" y="2588754"/>
            <a:ext cx="13061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15:</a:t>
            </a:r>
            <a:r>
              <a:rPr dirty="0" sz="800" spc="1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CloudWatch</a:t>
            </a:r>
            <a:r>
              <a:rPr dirty="0" sz="8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logs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2728595" cy="5080"/>
            </a:xfrm>
            <a:custGeom>
              <a:avLst/>
              <a:gdLst/>
              <a:ahLst/>
              <a:cxnLst/>
              <a:rect l="l" t="t" r="r" b="b"/>
              <a:pathLst>
                <a:path w="2728595" h="5080">
                  <a:moveTo>
                    <a:pt x="0" y="5060"/>
                  </a:moveTo>
                  <a:lnTo>
                    <a:pt x="0" y="0"/>
                  </a:lnTo>
                  <a:lnTo>
                    <a:pt x="2728423" y="0"/>
                  </a:lnTo>
                  <a:lnTo>
                    <a:pt x="27284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93914" y="999856"/>
            <a:ext cx="563880" cy="146050"/>
            <a:chOff x="1093914" y="999856"/>
            <a:chExt cx="563880" cy="146050"/>
          </a:xfrm>
        </p:grpSpPr>
        <p:sp>
          <p:nvSpPr>
            <p:cNvPr id="4" name="object 4" descr=""/>
            <p:cNvSpPr/>
            <p:nvPr/>
          </p:nvSpPr>
          <p:spPr>
            <a:xfrm>
              <a:off x="1093914" y="999856"/>
              <a:ext cx="563880" cy="146050"/>
            </a:xfrm>
            <a:custGeom>
              <a:avLst/>
              <a:gdLst/>
              <a:ahLst/>
              <a:cxnLst/>
              <a:rect l="l" t="t" r="r" b="b"/>
              <a:pathLst>
                <a:path w="563880" h="14605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27362" y="145467"/>
                  </a:lnTo>
                  <a:lnTo>
                    <a:pt x="541374" y="142638"/>
                  </a:lnTo>
                  <a:lnTo>
                    <a:pt x="552817" y="134923"/>
                  </a:lnTo>
                  <a:lnTo>
                    <a:pt x="560533" y="123480"/>
                  </a:lnTo>
                  <a:lnTo>
                    <a:pt x="563362" y="109467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93914" y="999856"/>
              <a:ext cx="563880" cy="146050"/>
            </a:xfrm>
            <a:custGeom>
              <a:avLst/>
              <a:gdLst/>
              <a:ahLst/>
              <a:cxnLst/>
              <a:rect l="l" t="t" r="r" b="b"/>
              <a:pathLst>
                <a:path w="563880" h="14605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27362" y="145467"/>
                  </a:lnTo>
                  <a:lnTo>
                    <a:pt x="541374" y="142638"/>
                  </a:lnTo>
                  <a:lnTo>
                    <a:pt x="552817" y="134923"/>
                  </a:lnTo>
                  <a:lnTo>
                    <a:pt x="560533" y="123480"/>
                  </a:lnTo>
                  <a:lnTo>
                    <a:pt x="563362" y="109467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280223" y="1237591"/>
            <a:ext cx="324485" cy="123189"/>
            <a:chOff x="1280223" y="1237591"/>
            <a:chExt cx="324485" cy="123189"/>
          </a:xfrm>
        </p:grpSpPr>
        <p:sp>
          <p:nvSpPr>
            <p:cNvPr id="7" name="object 7" descr=""/>
            <p:cNvSpPr/>
            <p:nvPr/>
          </p:nvSpPr>
          <p:spPr>
            <a:xfrm>
              <a:off x="1280223" y="1237591"/>
              <a:ext cx="324485" cy="123189"/>
            </a:xfrm>
            <a:custGeom>
              <a:avLst/>
              <a:gdLst/>
              <a:ahLst/>
              <a:cxnLst/>
              <a:rect l="l" t="t" r="r" b="b"/>
              <a:pathLst>
                <a:path w="324484" h="123190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88225" y="122693"/>
                  </a:lnTo>
                  <a:lnTo>
                    <a:pt x="302238" y="119864"/>
                  </a:lnTo>
                  <a:lnTo>
                    <a:pt x="313681" y="112148"/>
                  </a:lnTo>
                  <a:lnTo>
                    <a:pt x="321396" y="100705"/>
                  </a:lnTo>
                  <a:lnTo>
                    <a:pt x="324225" y="86692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80223" y="1237591"/>
              <a:ext cx="324485" cy="123189"/>
            </a:xfrm>
            <a:custGeom>
              <a:avLst/>
              <a:gdLst/>
              <a:ahLst/>
              <a:cxnLst/>
              <a:rect l="l" t="t" r="r" b="b"/>
              <a:pathLst>
                <a:path w="324484" h="123190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88225" y="122693"/>
                  </a:lnTo>
                  <a:lnTo>
                    <a:pt x="302238" y="119864"/>
                  </a:lnTo>
                  <a:lnTo>
                    <a:pt x="313681" y="112148"/>
                  </a:lnTo>
                  <a:lnTo>
                    <a:pt x="321396" y="100705"/>
                  </a:lnTo>
                  <a:lnTo>
                    <a:pt x="324225" y="86692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372646" y="1769776"/>
            <a:ext cx="5015230" cy="953135"/>
            <a:chOff x="372646" y="1769776"/>
            <a:chExt cx="5015230" cy="953135"/>
          </a:xfrm>
        </p:grpSpPr>
        <p:sp>
          <p:nvSpPr>
            <p:cNvPr id="10" name="object 10" descr=""/>
            <p:cNvSpPr/>
            <p:nvPr/>
          </p:nvSpPr>
          <p:spPr>
            <a:xfrm>
              <a:off x="377994" y="1775124"/>
              <a:ext cx="5004435" cy="942340"/>
            </a:xfrm>
            <a:custGeom>
              <a:avLst/>
              <a:gdLst/>
              <a:ahLst/>
              <a:cxnLst/>
              <a:rect l="l" t="t" r="r" b="b"/>
              <a:pathLst>
                <a:path w="5004435" h="94233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06036"/>
                  </a:lnTo>
                  <a:lnTo>
                    <a:pt x="2829" y="920049"/>
                  </a:lnTo>
                  <a:lnTo>
                    <a:pt x="10544" y="931492"/>
                  </a:lnTo>
                  <a:lnTo>
                    <a:pt x="21987" y="939207"/>
                  </a:lnTo>
                  <a:lnTo>
                    <a:pt x="36000" y="942036"/>
                  </a:lnTo>
                  <a:lnTo>
                    <a:pt x="4968064" y="942036"/>
                  </a:lnTo>
                  <a:lnTo>
                    <a:pt x="4982077" y="939207"/>
                  </a:lnTo>
                  <a:lnTo>
                    <a:pt x="4993521" y="931492"/>
                  </a:lnTo>
                  <a:lnTo>
                    <a:pt x="5001236" y="920049"/>
                  </a:lnTo>
                  <a:lnTo>
                    <a:pt x="5004065" y="90603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8973" y="1776103"/>
              <a:ext cx="5002530" cy="940435"/>
            </a:xfrm>
            <a:custGeom>
              <a:avLst/>
              <a:gdLst/>
              <a:ahLst/>
              <a:cxnLst/>
              <a:rect l="l" t="t" r="r" b="b"/>
              <a:pathLst>
                <a:path w="5002530" h="940435">
                  <a:moveTo>
                    <a:pt x="0" y="90505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905057"/>
                  </a:lnTo>
                  <a:lnTo>
                    <a:pt x="4999354" y="918689"/>
                  </a:lnTo>
                  <a:lnTo>
                    <a:pt x="4991849" y="929821"/>
                  </a:lnTo>
                  <a:lnTo>
                    <a:pt x="4980717" y="937326"/>
                  </a:lnTo>
                  <a:lnTo>
                    <a:pt x="4967085" y="940078"/>
                  </a:lnTo>
                  <a:lnTo>
                    <a:pt x="35021" y="940078"/>
                  </a:lnTo>
                  <a:lnTo>
                    <a:pt x="21389" y="937326"/>
                  </a:lnTo>
                  <a:lnTo>
                    <a:pt x="10257" y="929821"/>
                  </a:lnTo>
                  <a:lnTo>
                    <a:pt x="2752" y="918689"/>
                  </a:lnTo>
                  <a:lnTo>
                    <a:pt x="0" y="90505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41718" y="626837"/>
            <a:ext cx="5073650" cy="200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7780" marR="150495">
              <a:lnSpc>
                <a:spcPct val="116199"/>
              </a:lnSpc>
              <a:spcBef>
                <a:spcPts val="100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Okay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information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bucket,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template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"/>
                <a:cs typeface="Arial"/>
              </a:rPr>
              <a:t>accesses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dirty="0" sz="900" spc="-70">
                <a:solidFill>
                  <a:srgbClr val="22373A"/>
                </a:solidFill>
                <a:latin typeface="Arial"/>
                <a:cs typeface="Arial"/>
              </a:rPr>
              <a:t>saves</a:t>
            </a:r>
            <a:r>
              <a:rPr dirty="0" sz="900" spc="7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7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7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8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processed</a:t>
            </a:r>
            <a:r>
              <a:rPr dirty="0" sz="900" spc="-110"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  <a:p>
            <a:pPr marL="17780" marR="5080" indent="-5715">
              <a:lnSpc>
                <a:spcPct val="116199"/>
              </a:lnSpc>
              <a:spcBef>
                <a:spcPts val="62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boto3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library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interact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previous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session.</a:t>
            </a:r>
            <a:r>
              <a:rPr dirty="0" sz="9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your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“Code”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code.</a:t>
            </a:r>
            <a:r>
              <a:rPr dirty="0" sz="900" spc="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dirty="0" sz="9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3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 b="1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dirty="0" sz="9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bucket name</a:t>
            </a:r>
            <a:r>
              <a:rPr dirty="0" sz="900" spc="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(note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2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slides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fit):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Arial"/>
              <a:cs typeface="Arial"/>
            </a:endParaRPr>
          </a:p>
          <a:p>
            <a:pPr marL="215900" marR="4207510">
              <a:lnSpc>
                <a:spcPct val="107400"/>
              </a:lnSpc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65">
                <a:latin typeface="Courier New"/>
                <a:cs typeface="Courier New"/>
              </a:rPr>
              <a:t>boto3 </a:t>
            </a: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json </a:t>
            </a: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os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urllib.parse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</a:pPr>
            <a:r>
              <a:rPr dirty="0" sz="800" spc="-50">
                <a:latin typeface="Courier New"/>
                <a:cs typeface="Courier New"/>
              </a:rPr>
              <a:t>s3</a:t>
            </a:r>
            <a:r>
              <a:rPr dirty="0" sz="800" spc="-7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1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boto3.client(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's3'</a:t>
            </a:r>
            <a:r>
              <a:rPr dirty="0" sz="800" spc="-1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0" y="3234963"/>
              <a:ext cx="2829560" cy="5080"/>
            </a:xfrm>
            <a:custGeom>
              <a:avLst/>
              <a:gdLst/>
              <a:ahLst/>
              <a:cxnLst/>
              <a:rect l="l" t="t" r="r" b="b"/>
              <a:pathLst>
                <a:path w="2829560" h="5080">
                  <a:moveTo>
                    <a:pt x="0" y="5060"/>
                  </a:moveTo>
                  <a:lnTo>
                    <a:pt x="0" y="0"/>
                  </a:lnTo>
                  <a:lnTo>
                    <a:pt x="2829499" y="0"/>
                  </a:lnTo>
                  <a:lnTo>
                    <a:pt x="282949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488177"/>
            <a:ext cx="5015230" cy="2400935"/>
            <a:chOff x="372646" y="488177"/>
            <a:chExt cx="5015230" cy="2400935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493524"/>
              <a:ext cx="5004435" cy="2390140"/>
            </a:xfrm>
            <a:custGeom>
              <a:avLst/>
              <a:gdLst/>
              <a:ahLst/>
              <a:cxnLst/>
              <a:rect l="l" t="t" r="r" b="b"/>
              <a:pathLst>
                <a:path w="5004435" h="239014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353929"/>
                  </a:lnTo>
                  <a:lnTo>
                    <a:pt x="2829" y="2367942"/>
                  </a:lnTo>
                  <a:lnTo>
                    <a:pt x="10544" y="2379385"/>
                  </a:lnTo>
                  <a:lnTo>
                    <a:pt x="21987" y="2387100"/>
                  </a:lnTo>
                  <a:lnTo>
                    <a:pt x="36000" y="2389929"/>
                  </a:lnTo>
                  <a:lnTo>
                    <a:pt x="4968064" y="2389929"/>
                  </a:lnTo>
                  <a:lnTo>
                    <a:pt x="4982077" y="2387100"/>
                  </a:lnTo>
                  <a:lnTo>
                    <a:pt x="4993521" y="2379385"/>
                  </a:lnTo>
                  <a:lnTo>
                    <a:pt x="5001236" y="2367942"/>
                  </a:lnTo>
                  <a:lnTo>
                    <a:pt x="5004065" y="2353929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494504"/>
              <a:ext cx="5002530" cy="2388235"/>
            </a:xfrm>
            <a:custGeom>
              <a:avLst/>
              <a:gdLst/>
              <a:ahLst/>
              <a:cxnLst/>
              <a:rect l="l" t="t" r="r" b="b"/>
              <a:pathLst>
                <a:path w="5002530" h="2388235">
                  <a:moveTo>
                    <a:pt x="0" y="2352950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352950"/>
                  </a:lnTo>
                  <a:lnTo>
                    <a:pt x="4999354" y="2366582"/>
                  </a:lnTo>
                  <a:lnTo>
                    <a:pt x="4991849" y="2377714"/>
                  </a:lnTo>
                  <a:lnTo>
                    <a:pt x="4980717" y="2385219"/>
                  </a:lnTo>
                  <a:lnTo>
                    <a:pt x="4967085" y="2387971"/>
                  </a:lnTo>
                  <a:lnTo>
                    <a:pt x="35021" y="2387971"/>
                  </a:lnTo>
                  <a:lnTo>
                    <a:pt x="21389" y="2385219"/>
                  </a:lnTo>
                  <a:lnTo>
                    <a:pt x="10257" y="2377714"/>
                  </a:lnTo>
                  <a:lnTo>
                    <a:pt x="2752" y="2366582"/>
                  </a:lnTo>
                  <a:lnTo>
                    <a:pt x="0" y="2352950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45299" y="548398"/>
            <a:ext cx="4897755" cy="225171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800" spc="-65" b="1">
                <a:solidFill>
                  <a:srgbClr val="007021"/>
                </a:solidFill>
                <a:latin typeface="Courier New"/>
                <a:cs typeface="Courier New"/>
              </a:rPr>
              <a:t>def</a:t>
            </a:r>
            <a:r>
              <a:rPr dirty="0" sz="800" spc="-20" b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lambda_handler(event,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context):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0"/>
              </a:spcBef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Extract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bucket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and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image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info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from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event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latin typeface="Courier New"/>
                <a:cs typeface="Courier New"/>
              </a:rPr>
              <a:t>bucket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40">
                <a:latin typeface="Courier New"/>
                <a:cs typeface="Courier New"/>
              </a:rPr>
              <a:t>event[</a:t>
            </a:r>
            <a:r>
              <a:rPr dirty="0" sz="800" spc="-40">
                <a:solidFill>
                  <a:srgbClr val="3F70A0"/>
                </a:solidFill>
                <a:latin typeface="Courier New"/>
                <a:cs typeface="Courier New"/>
              </a:rPr>
              <a:t>'Records'</a:t>
            </a:r>
            <a:r>
              <a:rPr dirty="0" sz="800" spc="-40">
                <a:latin typeface="Courier New"/>
                <a:cs typeface="Courier New"/>
              </a:rPr>
              <a:t>][</a:t>
            </a:r>
            <a:r>
              <a:rPr dirty="0" sz="800" spc="-4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40">
                <a:latin typeface="Courier New"/>
                <a:cs typeface="Courier New"/>
              </a:rPr>
              <a:t>][</a:t>
            </a:r>
            <a:r>
              <a:rPr dirty="0" sz="800" spc="-40">
                <a:solidFill>
                  <a:srgbClr val="3F70A0"/>
                </a:solidFill>
                <a:latin typeface="Courier New"/>
                <a:cs typeface="Courier New"/>
              </a:rPr>
              <a:t>'s3'</a:t>
            </a:r>
            <a:r>
              <a:rPr dirty="0" sz="800" spc="-40">
                <a:latin typeface="Courier New"/>
                <a:cs typeface="Courier New"/>
              </a:rPr>
              <a:t>][</a:t>
            </a:r>
            <a:r>
              <a:rPr dirty="0" sz="800" spc="-40">
                <a:solidFill>
                  <a:srgbClr val="3F70A0"/>
                </a:solidFill>
                <a:latin typeface="Courier New"/>
                <a:cs typeface="Courier New"/>
              </a:rPr>
              <a:t>'bucket'</a:t>
            </a:r>
            <a:r>
              <a:rPr dirty="0" sz="800" spc="-40">
                <a:latin typeface="Courier New"/>
                <a:cs typeface="Courier New"/>
              </a:rPr>
              <a:t>][</a:t>
            </a:r>
            <a:r>
              <a:rPr dirty="0" sz="800" spc="-40">
                <a:solidFill>
                  <a:srgbClr val="3F70A0"/>
                </a:solidFill>
                <a:latin typeface="Courier New"/>
                <a:cs typeface="Courier New"/>
              </a:rPr>
              <a:t>'name'</a:t>
            </a:r>
            <a:r>
              <a:rPr dirty="0" sz="800" spc="-40">
                <a:latin typeface="Courier New"/>
                <a:cs typeface="Courier New"/>
              </a:rPr>
              <a:t>]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5"/>
              </a:spcBef>
            </a:pPr>
            <a:r>
              <a:rPr dirty="0" sz="800" spc="-50">
                <a:latin typeface="Courier New"/>
                <a:cs typeface="Courier New"/>
              </a:rPr>
              <a:t>key</a:t>
            </a:r>
            <a:r>
              <a:rPr dirty="0" sz="800" spc="-7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1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45">
                <a:latin typeface="Courier New"/>
                <a:cs typeface="Courier New"/>
              </a:rPr>
              <a:t>urllib.parse.unquote_plus(event[</a:t>
            </a:r>
            <a:r>
              <a:rPr dirty="0" sz="800" spc="-45">
                <a:solidFill>
                  <a:srgbClr val="3F70A0"/>
                </a:solidFill>
                <a:latin typeface="Courier New"/>
                <a:cs typeface="Courier New"/>
              </a:rPr>
              <a:t>'Records'</a:t>
            </a:r>
            <a:r>
              <a:rPr dirty="0" sz="800" spc="-45">
                <a:latin typeface="Courier New"/>
                <a:cs typeface="Courier New"/>
              </a:rPr>
              <a:t>][</a:t>
            </a:r>
            <a:r>
              <a:rPr dirty="0" sz="800" spc="-45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45">
                <a:latin typeface="Courier New"/>
                <a:cs typeface="Courier New"/>
              </a:rPr>
              <a:t>][</a:t>
            </a:r>
            <a:r>
              <a:rPr dirty="0" sz="800" spc="-45">
                <a:solidFill>
                  <a:srgbClr val="3F70A0"/>
                </a:solidFill>
                <a:latin typeface="Courier New"/>
                <a:cs typeface="Courier New"/>
              </a:rPr>
              <a:t>'s3'</a:t>
            </a:r>
            <a:r>
              <a:rPr dirty="0" sz="800" spc="-45">
                <a:latin typeface="Courier New"/>
                <a:cs typeface="Courier New"/>
              </a:rPr>
              <a:t>][</a:t>
            </a:r>
            <a:r>
              <a:rPr dirty="0" sz="800" spc="-45">
                <a:solidFill>
                  <a:srgbClr val="3F70A0"/>
                </a:solidFill>
                <a:latin typeface="Courier New"/>
                <a:cs typeface="Courier New"/>
              </a:rPr>
              <a:t>'object'</a:t>
            </a:r>
            <a:r>
              <a:rPr dirty="0" sz="800" spc="-45">
                <a:latin typeface="Courier New"/>
                <a:cs typeface="Courier New"/>
              </a:rPr>
              <a:t>][</a:t>
            </a:r>
            <a:r>
              <a:rPr dirty="0" sz="800" spc="-45">
                <a:solidFill>
                  <a:srgbClr val="3F70A0"/>
                </a:solidFill>
                <a:latin typeface="Courier New"/>
                <a:cs typeface="Courier New"/>
              </a:rPr>
              <a:t>'key'</a:t>
            </a:r>
            <a:r>
              <a:rPr dirty="0" sz="800" spc="-45">
                <a:latin typeface="Courier New"/>
                <a:cs typeface="Courier New"/>
              </a:rPr>
              <a:t>])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Download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image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from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raw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endParaRPr sz="800">
              <a:latin typeface="Courier New"/>
              <a:cs typeface="Courier New"/>
            </a:endParaRPr>
          </a:p>
          <a:p>
            <a:pPr marL="227329" marR="2136140">
              <a:lnSpc>
                <a:spcPct val="107400"/>
              </a:lnSpc>
            </a:pPr>
            <a:r>
              <a:rPr dirty="0" sz="800" spc="-55">
                <a:latin typeface="Courier New"/>
                <a:cs typeface="Courier New"/>
              </a:rPr>
              <a:t>download_path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f'/tmp/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60">
                <a:latin typeface="Courier New"/>
                <a:cs typeface="Courier New"/>
              </a:rPr>
              <a:t>os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.</a:t>
            </a:r>
            <a:r>
              <a:rPr dirty="0" sz="800" spc="-60">
                <a:latin typeface="Courier New"/>
                <a:cs typeface="Courier New"/>
              </a:rPr>
              <a:t>path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.</a:t>
            </a:r>
            <a:r>
              <a:rPr dirty="0" sz="800" spc="-60">
                <a:latin typeface="Courier New"/>
                <a:cs typeface="Courier New"/>
              </a:rPr>
              <a:t>basename(key)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' </a:t>
            </a:r>
            <a:r>
              <a:rPr dirty="0" sz="800" spc="-55">
                <a:latin typeface="Courier New"/>
                <a:cs typeface="Courier New"/>
              </a:rPr>
              <a:t>s3.download_file(bucket,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key,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download_path)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Upload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image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to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processed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bucket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latin typeface="Courier New"/>
                <a:cs typeface="Courier New"/>
              </a:rPr>
              <a:t>result_bucket</a:t>
            </a:r>
            <a:r>
              <a:rPr dirty="0" sz="800" spc="-5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5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'medical-images-processed-[YOUR-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NAME]'</a:t>
            </a:r>
            <a:r>
              <a:rPr dirty="0" sz="800" spc="385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Replace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with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your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bucket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60A0AF"/>
                </a:solidFill>
                <a:latin typeface="Courier New"/>
                <a:cs typeface="Courier New"/>
              </a:rPr>
              <a:t>name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5"/>
              </a:spcBef>
            </a:pPr>
            <a:r>
              <a:rPr dirty="0" sz="800" spc="-60">
                <a:latin typeface="Courier New"/>
                <a:cs typeface="Courier New"/>
              </a:rPr>
              <a:t>s3.upload_file(download_path,</a:t>
            </a:r>
            <a:r>
              <a:rPr dirty="0" sz="800" spc="-10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result_bucket,</a:t>
            </a:r>
            <a:r>
              <a:rPr dirty="0" sz="800" spc="-5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key</a:t>
            </a:r>
            <a:r>
              <a:rPr dirty="0" sz="800" spc="-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dirty="0" sz="800" spc="-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"-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processed.png"</a:t>
            </a:r>
            <a:r>
              <a:rPr dirty="0" sz="800" spc="-1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</a:pPr>
            <a:r>
              <a:rPr dirty="0" sz="800" spc="-65" b="1">
                <a:solidFill>
                  <a:srgbClr val="007021"/>
                </a:solidFill>
                <a:latin typeface="Courier New"/>
                <a:cs typeface="Courier New"/>
              </a:rPr>
              <a:t>return</a:t>
            </a:r>
            <a:r>
              <a:rPr dirty="0" sz="800" spc="-15" b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442595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'statusCode'</a:t>
            </a:r>
            <a:r>
              <a:rPr dirty="0" sz="800" spc="-55">
                <a:latin typeface="Courier New"/>
                <a:cs typeface="Courier New"/>
              </a:rPr>
              <a:t>: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3FA070"/>
                </a:solidFill>
                <a:latin typeface="Courier New"/>
                <a:cs typeface="Courier New"/>
              </a:rPr>
              <a:t>200</a:t>
            </a:r>
            <a:r>
              <a:rPr dirty="0" sz="800" spc="-20"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  <a:p>
            <a:pPr marL="442595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'body'</a:t>
            </a:r>
            <a:r>
              <a:rPr dirty="0" sz="800" spc="-60">
                <a:latin typeface="Courier New"/>
                <a:cs typeface="Courier New"/>
              </a:rPr>
              <a:t>: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json.dumps(</a:t>
            </a:r>
            <a:r>
              <a:rPr dirty="0" sz="800" spc="-55">
                <a:solidFill>
                  <a:srgbClr val="BA6687"/>
                </a:solidFill>
                <a:latin typeface="Courier New"/>
                <a:cs typeface="Courier New"/>
              </a:rPr>
              <a:t>f"Processed</a:t>
            </a:r>
            <a:r>
              <a:rPr dirty="0" sz="800" spc="-15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60">
                <a:latin typeface="Courier New"/>
                <a:cs typeface="Courier New"/>
              </a:rPr>
              <a:t>key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,</a:t>
            </a:r>
            <a:r>
              <a:rPr dirty="0" sz="800" spc="-15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found</a:t>
            </a:r>
            <a:r>
              <a:rPr dirty="0" sz="800" spc="-15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55">
                <a:latin typeface="Courier New"/>
                <a:cs typeface="Courier New"/>
              </a:rPr>
              <a:t>cell_count</a:t>
            </a: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15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A6687"/>
                </a:solidFill>
                <a:latin typeface="Courier New"/>
                <a:cs typeface="Courier New"/>
              </a:rPr>
              <a:t>cells."</a:t>
            </a:r>
            <a:r>
              <a:rPr dirty="0" sz="800" spc="-1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0"/>
              </a:spcBef>
            </a:pPr>
            <a:r>
              <a:rPr dirty="0" sz="800" spc="-50"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2931160" cy="5080"/>
            </a:xfrm>
            <a:custGeom>
              <a:avLst/>
              <a:gdLst/>
              <a:ahLst/>
              <a:cxnLst/>
              <a:rect l="l" t="t" r="r" b="b"/>
              <a:pathLst>
                <a:path w="2931160" h="5080">
                  <a:moveTo>
                    <a:pt x="0" y="5060"/>
                  </a:moveTo>
                  <a:lnTo>
                    <a:pt x="0" y="0"/>
                  </a:lnTo>
                  <a:lnTo>
                    <a:pt x="2930574" y="0"/>
                  </a:lnTo>
                  <a:lnTo>
                    <a:pt x="293057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59994" y="746378"/>
            <a:ext cx="1819275" cy="306070"/>
            <a:chOff x="359994" y="746378"/>
            <a:chExt cx="1819275" cy="306070"/>
          </a:xfrm>
        </p:grpSpPr>
        <p:sp>
          <p:nvSpPr>
            <p:cNvPr id="4" name="object 4" descr=""/>
            <p:cNvSpPr/>
            <p:nvPr/>
          </p:nvSpPr>
          <p:spPr>
            <a:xfrm>
              <a:off x="1362646" y="746378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62646" y="746378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59994" y="896249"/>
              <a:ext cx="1819275" cy="156210"/>
            </a:xfrm>
            <a:custGeom>
              <a:avLst/>
              <a:gdLst/>
              <a:ahLst/>
              <a:cxnLst/>
              <a:rect l="l" t="t" r="r" b="b"/>
              <a:pathLst>
                <a:path w="1819275" h="15620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1782827" y="155602"/>
                  </a:lnTo>
                  <a:lnTo>
                    <a:pt x="1796840" y="152773"/>
                  </a:lnTo>
                  <a:lnTo>
                    <a:pt x="1808283" y="145058"/>
                  </a:lnTo>
                  <a:lnTo>
                    <a:pt x="1815998" y="133615"/>
                  </a:lnTo>
                  <a:lnTo>
                    <a:pt x="1818827" y="119602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59994" y="896249"/>
              <a:ext cx="1819275" cy="156210"/>
            </a:xfrm>
            <a:custGeom>
              <a:avLst/>
              <a:gdLst/>
              <a:ahLst/>
              <a:cxnLst/>
              <a:rect l="l" t="t" r="r" b="b"/>
              <a:pathLst>
                <a:path w="1819275" h="15620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1782827" y="155602"/>
                  </a:lnTo>
                  <a:lnTo>
                    <a:pt x="1796840" y="152773"/>
                  </a:lnTo>
                  <a:lnTo>
                    <a:pt x="1808283" y="145058"/>
                  </a:lnTo>
                  <a:lnTo>
                    <a:pt x="1815998" y="133615"/>
                  </a:lnTo>
                  <a:lnTo>
                    <a:pt x="1818827" y="119602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3865575" y="1144699"/>
            <a:ext cx="563880" cy="146050"/>
            <a:chOff x="3865575" y="1144699"/>
            <a:chExt cx="563880" cy="146050"/>
          </a:xfrm>
        </p:grpSpPr>
        <p:sp>
          <p:nvSpPr>
            <p:cNvPr id="9" name="object 9" descr=""/>
            <p:cNvSpPr/>
            <p:nvPr/>
          </p:nvSpPr>
          <p:spPr>
            <a:xfrm>
              <a:off x="3865575" y="1144699"/>
              <a:ext cx="563880" cy="146050"/>
            </a:xfrm>
            <a:custGeom>
              <a:avLst/>
              <a:gdLst/>
              <a:ahLst/>
              <a:cxnLst/>
              <a:rect l="l" t="t" r="r" b="b"/>
              <a:pathLst>
                <a:path w="563879" h="14605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27362" y="145467"/>
                  </a:lnTo>
                  <a:lnTo>
                    <a:pt x="541374" y="142638"/>
                  </a:lnTo>
                  <a:lnTo>
                    <a:pt x="552817" y="134923"/>
                  </a:lnTo>
                  <a:lnTo>
                    <a:pt x="560533" y="123480"/>
                  </a:lnTo>
                  <a:lnTo>
                    <a:pt x="563362" y="109467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65575" y="1144699"/>
              <a:ext cx="563880" cy="146050"/>
            </a:xfrm>
            <a:custGeom>
              <a:avLst/>
              <a:gdLst/>
              <a:ahLst/>
              <a:cxnLst/>
              <a:rect l="l" t="t" r="r" b="b"/>
              <a:pathLst>
                <a:path w="563879" h="14605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527362" y="145467"/>
                  </a:lnTo>
                  <a:lnTo>
                    <a:pt x="541374" y="142638"/>
                  </a:lnTo>
                  <a:lnTo>
                    <a:pt x="552817" y="134923"/>
                  </a:lnTo>
                  <a:lnTo>
                    <a:pt x="560533" y="123480"/>
                  </a:lnTo>
                  <a:lnTo>
                    <a:pt x="563362" y="109467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653567" y="1304023"/>
            <a:ext cx="862330" cy="146685"/>
            <a:chOff x="653567" y="1304023"/>
            <a:chExt cx="862330" cy="146685"/>
          </a:xfrm>
        </p:grpSpPr>
        <p:sp>
          <p:nvSpPr>
            <p:cNvPr id="12" name="object 12" descr=""/>
            <p:cNvSpPr/>
            <p:nvPr/>
          </p:nvSpPr>
          <p:spPr>
            <a:xfrm>
              <a:off x="653567" y="1304023"/>
              <a:ext cx="862330" cy="146685"/>
            </a:xfrm>
            <a:custGeom>
              <a:avLst/>
              <a:gdLst/>
              <a:ahLst/>
              <a:cxnLst/>
              <a:rect l="l" t="t" r="r" b="b"/>
              <a:pathLst>
                <a:path w="862330" h="146684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826282" y="146151"/>
                  </a:lnTo>
                  <a:lnTo>
                    <a:pt x="840295" y="143322"/>
                  </a:lnTo>
                  <a:lnTo>
                    <a:pt x="851738" y="135607"/>
                  </a:lnTo>
                  <a:lnTo>
                    <a:pt x="859453" y="124164"/>
                  </a:lnTo>
                  <a:lnTo>
                    <a:pt x="862282" y="110151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53567" y="1304023"/>
              <a:ext cx="862330" cy="146685"/>
            </a:xfrm>
            <a:custGeom>
              <a:avLst/>
              <a:gdLst/>
              <a:ahLst/>
              <a:cxnLst/>
              <a:rect l="l" t="t" r="r" b="b"/>
              <a:pathLst>
                <a:path w="862330" h="146684">
                  <a:moveTo>
                    <a:pt x="8262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826282" y="146151"/>
                  </a:lnTo>
                  <a:lnTo>
                    <a:pt x="840295" y="143322"/>
                  </a:lnTo>
                  <a:lnTo>
                    <a:pt x="851738" y="135607"/>
                  </a:lnTo>
                  <a:lnTo>
                    <a:pt x="859453" y="124164"/>
                  </a:lnTo>
                  <a:lnTo>
                    <a:pt x="862282" y="110151"/>
                  </a:lnTo>
                  <a:lnTo>
                    <a:pt x="862282" y="36000"/>
                  </a:lnTo>
                  <a:lnTo>
                    <a:pt x="859453" y="21987"/>
                  </a:lnTo>
                  <a:lnTo>
                    <a:pt x="851738" y="10544"/>
                  </a:lnTo>
                  <a:lnTo>
                    <a:pt x="840295" y="2829"/>
                  </a:lnTo>
                  <a:lnTo>
                    <a:pt x="8262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47294" y="692013"/>
            <a:ext cx="4898390" cy="74295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again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Deploy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changes,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75"/>
              </a:spcBef>
            </a:pPr>
            <a:r>
              <a:rPr dirty="0" sz="900" spc="-75">
                <a:latin typeface="Courier New"/>
                <a:cs typeface="Courier New"/>
              </a:rPr>
              <a:t>medical-images-raw-[YOUR-NAME]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trigger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2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went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well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processed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suﬀix</a:t>
            </a:r>
            <a:r>
              <a:rPr dirty="0" sz="900" spc="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-processed.png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below: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005" y="1542483"/>
            <a:ext cx="3024002" cy="756000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2236228" y="2432455"/>
            <a:ext cx="12877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16:</a:t>
            </a:r>
            <a:r>
              <a:rPr dirty="0" sz="800" spc="1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5">
                <a:solidFill>
                  <a:srgbClr val="22373A"/>
                </a:solidFill>
                <a:latin typeface="Arial"/>
                <a:cs typeface="Arial"/>
              </a:rPr>
              <a:t>Processed</a:t>
            </a:r>
            <a:r>
              <a:rPr dirty="0" sz="8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8" name="object 1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0" y="3234963"/>
              <a:ext cx="3032125" cy="5080"/>
            </a:xfrm>
            <a:custGeom>
              <a:avLst/>
              <a:gdLst/>
              <a:ahLst/>
              <a:cxnLst/>
              <a:rect l="l" t="t" r="r" b="b"/>
              <a:pathLst>
                <a:path w="3032125" h="5080">
                  <a:moveTo>
                    <a:pt x="0" y="5060"/>
                  </a:moveTo>
                  <a:lnTo>
                    <a:pt x="0" y="0"/>
                  </a:lnTo>
                  <a:lnTo>
                    <a:pt x="3031650" y="0"/>
                  </a:lnTo>
                  <a:lnTo>
                    <a:pt x="30316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25"/>
              <a:t> </a:t>
            </a:r>
            <a:r>
              <a:rPr dirty="0"/>
              <a:t>3:</a:t>
            </a:r>
            <a:r>
              <a:rPr dirty="0" spc="130"/>
              <a:t> </a:t>
            </a:r>
            <a:r>
              <a:rPr dirty="0" spc="-10"/>
              <a:t>Add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 spc="-10"/>
              <a:t>trigger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lambda</a:t>
            </a:r>
            <a:r>
              <a:rPr dirty="0" spc="25"/>
              <a:t> </a:t>
            </a:r>
            <a:r>
              <a:rPr dirty="0" spc="-20"/>
              <a:t>function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1718" y="1132301"/>
            <a:ext cx="4792345" cy="1118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Great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that:</a:t>
            </a:r>
            <a:endParaRPr sz="9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45110" algn="l"/>
              </a:tabLst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triggered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 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input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5110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Downloads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input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5110" algn="l"/>
              </a:tabLst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Uploads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output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  <a:p>
            <a:pPr marL="17780" marR="5080" indent="-5715">
              <a:lnSpc>
                <a:spcPct val="116199"/>
              </a:lnSpc>
              <a:spcBef>
                <a:spcPts val="630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design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Arial"/>
                <a:cs typeface="Arial"/>
              </a:rPr>
              <a:t>processes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count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cells,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we’re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happy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code.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3133090" cy="5080"/>
            </a:xfrm>
            <a:custGeom>
              <a:avLst/>
              <a:gdLst/>
              <a:ahLst/>
              <a:cxnLst/>
              <a:rect l="l" t="t" r="r" b="b"/>
              <a:pathLst>
                <a:path w="3133090" h="5080">
                  <a:moveTo>
                    <a:pt x="0" y="5060"/>
                  </a:moveTo>
                  <a:lnTo>
                    <a:pt x="0" y="0"/>
                  </a:lnTo>
                  <a:lnTo>
                    <a:pt x="3132637" y="0"/>
                  </a:lnTo>
                  <a:lnTo>
                    <a:pt x="31326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4047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5"/>
              <a:t> </a:t>
            </a:r>
            <a:r>
              <a:rPr dirty="0"/>
              <a:t>4:</a:t>
            </a:r>
            <a:r>
              <a:rPr dirty="0" spc="145"/>
              <a:t> </a:t>
            </a:r>
            <a:r>
              <a:rPr dirty="0"/>
              <a:t>Write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0"/>
              <a:t>Lambda</a:t>
            </a:r>
            <a:r>
              <a:rPr dirty="0" spc="40"/>
              <a:t> </a:t>
            </a:r>
            <a:r>
              <a:rPr dirty="0" spc="-25"/>
              <a:t>function</a:t>
            </a:r>
            <a:r>
              <a:rPr dirty="0" spc="40"/>
              <a:t> </a:t>
            </a:r>
            <a:r>
              <a:rPr dirty="0" spc="-20"/>
              <a:t>code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029155" y="1123979"/>
            <a:ext cx="504190" cy="147320"/>
            <a:chOff x="2029155" y="1123979"/>
            <a:chExt cx="504190" cy="147320"/>
          </a:xfrm>
        </p:grpSpPr>
        <p:sp>
          <p:nvSpPr>
            <p:cNvPr id="4" name="object 4" descr=""/>
            <p:cNvSpPr/>
            <p:nvPr/>
          </p:nvSpPr>
          <p:spPr>
            <a:xfrm>
              <a:off x="2029155" y="1123979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029155" y="1123979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89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372646" y="1496844"/>
            <a:ext cx="5015230" cy="713105"/>
            <a:chOff x="372646" y="1496844"/>
            <a:chExt cx="5015230" cy="713105"/>
          </a:xfrm>
        </p:grpSpPr>
        <p:sp>
          <p:nvSpPr>
            <p:cNvPr id="7" name="object 7" descr=""/>
            <p:cNvSpPr/>
            <p:nvPr/>
          </p:nvSpPr>
          <p:spPr>
            <a:xfrm>
              <a:off x="377994" y="1502192"/>
              <a:ext cx="5004435" cy="702310"/>
            </a:xfrm>
            <a:custGeom>
              <a:avLst/>
              <a:gdLst/>
              <a:ahLst/>
              <a:cxnLst/>
              <a:rect l="l" t="t" r="r" b="b"/>
              <a:pathLst>
                <a:path w="5004435" h="70231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66091"/>
                  </a:lnTo>
                  <a:lnTo>
                    <a:pt x="2829" y="680104"/>
                  </a:lnTo>
                  <a:lnTo>
                    <a:pt x="10544" y="691547"/>
                  </a:lnTo>
                  <a:lnTo>
                    <a:pt x="21987" y="699262"/>
                  </a:lnTo>
                  <a:lnTo>
                    <a:pt x="36000" y="702091"/>
                  </a:lnTo>
                  <a:lnTo>
                    <a:pt x="4968064" y="702091"/>
                  </a:lnTo>
                  <a:lnTo>
                    <a:pt x="4982077" y="699262"/>
                  </a:lnTo>
                  <a:lnTo>
                    <a:pt x="4993521" y="691547"/>
                  </a:lnTo>
                  <a:lnTo>
                    <a:pt x="5001236" y="680104"/>
                  </a:lnTo>
                  <a:lnTo>
                    <a:pt x="5004065" y="66609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78973" y="1503171"/>
              <a:ext cx="5002530" cy="700405"/>
            </a:xfrm>
            <a:custGeom>
              <a:avLst/>
              <a:gdLst/>
              <a:ahLst/>
              <a:cxnLst/>
              <a:rect l="l" t="t" r="r" b="b"/>
              <a:pathLst>
                <a:path w="5002530" h="700405">
                  <a:moveTo>
                    <a:pt x="0" y="66511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665112"/>
                  </a:lnTo>
                  <a:lnTo>
                    <a:pt x="4999354" y="678744"/>
                  </a:lnTo>
                  <a:lnTo>
                    <a:pt x="4991849" y="689876"/>
                  </a:lnTo>
                  <a:lnTo>
                    <a:pt x="4980717" y="697381"/>
                  </a:lnTo>
                  <a:lnTo>
                    <a:pt x="4967085" y="700133"/>
                  </a:lnTo>
                  <a:lnTo>
                    <a:pt x="35021" y="700133"/>
                  </a:lnTo>
                  <a:lnTo>
                    <a:pt x="21389" y="697381"/>
                  </a:lnTo>
                  <a:lnTo>
                    <a:pt x="10257" y="689876"/>
                  </a:lnTo>
                  <a:lnTo>
                    <a:pt x="2752" y="678744"/>
                  </a:lnTo>
                  <a:lnTo>
                    <a:pt x="0" y="66511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47294" y="752198"/>
            <a:ext cx="5010785" cy="1851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Lets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up 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jupyter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new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reminder,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you can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activate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(in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sample</a:t>
            </a:r>
            <a:r>
              <a:rPr dirty="0" sz="900" spc="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project2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Session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3)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start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commands: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00">
              <a:latin typeface="Arial"/>
              <a:cs typeface="Arial"/>
            </a:endParaRPr>
          </a:p>
          <a:p>
            <a:pPr marL="210185" marR="1943100">
              <a:lnSpc>
                <a:spcPct val="107400"/>
              </a:lnSpc>
              <a:spcBef>
                <a:spcPts val="5"/>
              </a:spcBef>
            </a:pPr>
            <a:r>
              <a:rPr dirty="0" sz="800" spc="-50">
                <a:solidFill>
                  <a:srgbClr val="05287C"/>
                </a:solidFill>
                <a:latin typeface="Courier New"/>
                <a:cs typeface="Courier New"/>
              </a:rPr>
              <a:t>ssh</a:t>
            </a:r>
            <a:r>
              <a:rPr dirty="0" sz="800" spc="3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dirty="0" sz="800" spc="3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.ssh/aws-keypair</a:t>
            </a:r>
            <a:r>
              <a:rPr dirty="0" sz="800" spc="3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ec2-user@</a:t>
            </a:r>
            <a:r>
              <a:rPr dirty="0" sz="800" spc="-60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dirty="0" sz="800" spc="-60">
                <a:latin typeface="Courier New"/>
                <a:cs typeface="Courier New"/>
              </a:rPr>
              <a:t>your-ec2-public-</a:t>
            </a:r>
            <a:r>
              <a:rPr dirty="0" sz="800" spc="-55">
                <a:latin typeface="Courier New"/>
                <a:cs typeface="Courier New"/>
              </a:rPr>
              <a:t>ip</a:t>
            </a:r>
            <a:r>
              <a:rPr dirty="0" sz="800" spc="-55">
                <a:solidFill>
                  <a:srgbClr val="666666"/>
                </a:solidFill>
                <a:latin typeface="Courier New"/>
                <a:cs typeface="Courier New"/>
              </a:rPr>
              <a:t>&gt; </a:t>
            </a:r>
            <a:r>
              <a:rPr dirty="0" sz="800" spc="-5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800" spc="-6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project2</a:t>
            </a:r>
            <a:endParaRPr sz="800">
              <a:latin typeface="Courier New"/>
              <a:cs typeface="Courier New"/>
            </a:endParaRPr>
          </a:p>
          <a:p>
            <a:pPr marL="210185" marR="2588260">
              <a:lnSpc>
                <a:spcPct val="107400"/>
              </a:lnSpc>
            </a:pPr>
            <a:r>
              <a:rPr dirty="0" sz="800" spc="-6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dirty="0" sz="800" spc="6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.project2-</a:t>
            </a:r>
            <a:r>
              <a:rPr dirty="0" sz="800" spc="-10">
                <a:latin typeface="Courier New"/>
                <a:cs typeface="Courier New"/>
              </a:rPr>
              <a:t>venv/bin/activate </a:t>
            </a:r>
            <a:r>
              <a:rPr dirty="0" sz="800" spc="-60">
                <a:latin typeface="Courier New"/>
                <a:cs typeface="Courier New"/>
              </a:rPr>
              <a:t>jupyter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notebook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dirty="0" sz="800" spc="-50">
                <a:solidFill>
                  <a:srgbClr val="7C8E28"/>
                </a:solidFill>
                <a:latin typeface="Courier New"/>
                <a:cs typeface="Courier New"/>
              </a:rPr>
              <a:t>ip</a:t>
            </a:r>
            <a:r>
              <a:rPr dirty="0" sz="800" spc="-2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0.0.0.0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dirty="0" sz="800" spc="-55">
                <a:solidFill>
                  <a:srgbClr val="7C8E28"/>
                </a:solidFill>
                <a:latin typeface="Courier New"/>
                <a:cs typeface="Courier New"/>
              </a:rPr>
              <a:t>port</a:t>
            </a:r>
            <a:r>
              <a:rPr dirty="0" sz="800" spc="-2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8888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17780">
              <a:lnSpc>
                <a:spcPct val="116199"/>
              </a:lnSpc>
            </a:pP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second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guide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subject’s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notebook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r>
              <a:rPr dirty="0" sz="900" spc="2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Link</a:t>
            </a:r>
            <a:r>
              <a:rPr dirty="0" sz="9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here</a:t>
            </a:r>
            <a:r>
              <a:rPr dirty="0" sz="900" spc="1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https://hdbc-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  <a:hlinkClick r:id="rId2"/>
              </a:rPr>
              <a:t>17705110-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mdbs.github.io/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34963"/>
              <a:ext cx="3234055" cy="5080"/>
            </a:xfrm>
            <a:custGeom>
              <a:avLst/>
              <a:gdLst/>
              <a:ahLst/>
              <a:cxnLst/>
              <a:rect l="l" t="t" r="r" b="b"/>
              <a:pathLst>
                <a:path w="3234055" h="5080">
                  <a:moveTo>
                    <a:pt x="0" y="5060"/>
                  </a:moveTo>
                  <a:lnTo>
                    <a:pt x="0" y="0"/>
                  </a:lnTo>
                  <a:lnTo>
                    <a:pt x="3233713" y="0"/>
                  </a:lnTo>
                  <a:lnTo>
                    <a:pt x="32337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4047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5"/>
              <a:t> </a:t>
            </a:r>
            <a:r>
              <a:rPr dirty="0"/>
              <a:t>4:</a:t>
            </a:r>
            <a:r>
              <a:rPr dirty="0" spc="145"/>
              <a:t> </a:t>
            </a:r>
            <a:r>
              <a:rPr dirty="0"/>
              <a:t>Write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0"/>
              <a:t>Lambda</a:t>
            </a:r>
            <a:r>
              <a:rPr dirty="0" spc="40"/>
              <a:t> </a:t>
            </a:r>
            <a:r>
              <a:rPr dirty="0" spc="-25"/>
              <a:t>function</a:t>
            </a:r>
            <a:r>
              <a:rPr dirty="0" spc="40"/>
              <a:t> </a:t>
            </a:r>
            <a:r>
              <a:rPr dirty="0" spc="-20"/>
              <a:t>code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1718" y="348847"/>
            <a:ext cx="4864735" cy="74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 marR="57150" indent="-5715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 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downloaded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extracted,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notebook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start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function.</a:t>
            </a:r>
            <a:endParaRPr sz="900">
              <a:latin typeface="Arial"/>
              <a:cs typeface="Arial"/>
            </a:endParaRPr>
          </a:p>
          <a:p>
            <a:pPr marL="17780" marR="5080" indent="-4445">
              <a:lnSpc>
                <a:spcPct val="116199"/>
              </a:lnSpc>
              <a:spcBef>
                <a:spcPts val="62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server,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drag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drop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window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shown below: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069" y="1149300"/>
            <a:ext cx="3023864" cy="153297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300046" y="2816249"/>
            <a:ext cx="11601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17:</a:t>
            </a:r>
            <a:r>
              <a:rPr dirty="0" sz="800" spc="1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dirty="0" sz="8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3335020" cy="5080"/>
            </a:xfrm>
            <a:custGeom>
              <a:avLst/>
              <a:gdLst/>
              <a:ahLst/>
              <a:cxnLst/>
              <a:rect l="l" t="t" r="r" b="b"/>
              <a:pathLst>
                <a:path w="3335020" h="5080">
                  <a:moveTo>
                    <a:pt x="0" y="5060"/>
                  </a:moveTo>
                  <a:lnTo>
                    <a:pt x="0" y="0"/>
                  </a:lnTo>
                  <a:lnTo>
                    <a:pt x="3334788" y="0"/>
                  </a:lnTo>
                  <a:lnTo>
                    <a:pt x="333478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4047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5"/>
              <a:t> </a:t>
            </a:r>
            <a:r>
              <a:rPr dirty="0"/>
              <a:t>4:</a:t>
            </a:r>
            <a:r>
              <a:rPr dirty="0" spc="145"/>
              <a:t> </a:t>
            </a:r>
            <a:r>
              <a:rPr dirty="0"/>
              <a:t>Write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0"/>
              <a:t>Lambda</a:t>
            </a:r>
            <a:r>
              <a:rPr dirty="0" spc="40"/>
              <a:t> </a:t>
            </a:r>
            <a:r>
              <a:rPr dirty="0" spc="-25"/>
              <a:t>function</a:t>
            </a:r>
            <a:r>
              <a:rPr dirty="0" spc="40"/>
              <a:t> </a:t>
            </a:r>
            <a:r>
              <a:rPr dirty="0" spc="-20"/>
              <a:t>code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683164"/>
            <a:ext cx="5015230" cy="443865"/>
            <a:chOff x="372646" y="683164"/>
            <a:chExt cx="5015230" cy="443865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688511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689490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5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372646" y="1442212"/>
            <a:ext cx="5015230" cy="1490980"/>
            <a:chOff x="372646" y="1442212"/>
            <a:chExt cx="5015230" cy="1490980"/>
          </a:xfrm>
        </p:grpSpPr>
        <p:sp>
          <p:nvSpPr>
            <p:cNvPr id="7" name="object 7" descr=""/>
            <p:cNvSpPr/>
            <p:nvPr/>
          </p:nvSpPr>
          <p:spPr>
            <a:xfrm>
              <a:off x="377994" y="1447559"/>
              <a:ext cx="5004435" cy="1480185"/>
            </a:xfrm>
            <a:custGeom>
              <a:avLst/>
              <a:gdLst/>
              <a:ahLst/>
              <a:cxnLst/>
              <a:rect l="l" t="t" r="r" b="b"/>
              <a:pathLst>
                <a:path w="5004435" h="148018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443925"/>
                  </a:lnTo>
                  <a:lnTo>
                    <a:pt x="2829" y="1457938"/>
                  </a:lnTo>
                  <a:lnTo>
                    <a:pt x="10544" y="1469381"/>
                  </a:lnTo>
                  <a:lnTo>
                    <a:pt x="21987" y="1477097"/>
                  </a:lnTo>
                  <a:lnTo>
                    <a:pt x="36000" y="1479926"/>
                  </a:lnTo>
                  <a:lnTo>
                    <a:pt x="4968064" y="1479926"/>
                  </a:lnTo>
                  <a:lnTo>
                    <a:pt x="4982077" y="1477097"/>
                  </a:lnTo>
                  <a:lnTo>
                    <a:pt x="4993521" y="1469381"/>
                  </a:lnTo>
                  <a:lnTo>
                    <a:pt x="5001236" y="1457938"/>
                  </a:lnTo>
                  <a:lnTo>
                    <a:pt x="5004065" y="14439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78973" y="1448538"/>
              <a:ext cx="5002530" cy="1478280"/>
            </a:xfrm>
            <a:custGeom>
              <a:avLst/>
              <a:gdLst/>
              <a:ahLst/>
              <a:cxnLst/>
              <a:rect l="l" t="t" r="r" b="b"/>
              <a:pathLst>
                <a:path w="5002530" h="1478280">
                  <a:moveTo>
                    <a:pt x="0" y="14429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442946"/>
                  </a:lnTo>
                  <a:lnTo>
                    <a:pt x="4999354" y="1456578"/>
                  </a:lnTo>
                  <a:lnTo>
                    <a:pt x="4991849" y="1467710"/>
                  </a:lnTo>
                  <a:lnTo>
                    <a:pt x="4980717" y="1475215"/>
                  </a:lnTo>
                  <a:lnTo>
                    <a:pt x="4967085" y="1477967"/>
                  </a:lnTo>
                  <a:lnTo>
                    <a:pt x="35021" y="1477967"/>
                  </a:lnTo>
                  <a:lnTo>
                    <a:pt x="21389" y="1475215"/>
                  </a:lnTo>
                  <a:lnTo>
                    <a:pt x="10257" y="1467710"/>
                  </a:lnTo>
                  <a:lnTo>
                    <a:pt x="2752" y="1456578"/>
                  </a:lnTo>
                  <a:lnTo>
                    <a:pt x="0" y="14429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43433" y="439186"/>
            <a:ext cx="4226560" cy="2390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Next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install 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dependencies.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</a:pPr>
            <a:r>
              <a:rPr dirty="0" sz="800" spc="-55">
                <a:solidFill>
                  <a:srgbClr val="666666"/>
                </a:solidFill>
                <a:latin typeface="Courier New"/>
                <a:cs typeface="Courier New"/>
              </a:rPr>
              <a:t>!</a:t>
            </a:r>
            <a:r>
              <a:rPr dirty="0" sz="800" spc="-55">
                <a:latin typeface="Courier New"/>
                <a:cs typeface="Courier New"/>
              </a:rPr>
              <a:t>pip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install</a:t>
            </a:r>
            <a:r>
              <a:rPr dirty="0" sz="800" spc="-10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matplotlib</a:t>
            </a:r>
            <a:r>
              <a:rPr dirty="0" sz="800" spc="-1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opencv</a:t>
            </a:r>
            <a:r>
              <a:rPr dirty="0" sz="800" spc="-6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dirty="0" sz="800" spc="-10">
                <a:latin typeface="Courier New"/>
                <a:cs typeface="Courier New"/>
              </a:rPr>
              <a:t>python</a:t>
            </a:r>
            <a:endParaRPr sz="8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  <a:spcBef>
                <a:spcPts val="75"/>
              </a:spcBef>
            </a:pPr>
            <a:r>
              <a:rPr dirty="0" sz="800" spc="-60">
                <a:solidFill>
                  <a:srgbClr val="666666"/>
                </a:solidFill>
                <a:latin typeface="Courier New"/>
                <a:cs typeface="Courier New"/>
              </a:rPr>
              <a:t>!</a:t>
            </a:r>
            <a:r>
              <a:rPr dirty="0" sz="800" spc="-60">
                <a:latin typeface="Courier New"/>
                <a:cs typeface="Courier New"/>
              </a:rPr>
              <a:t>sudo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dnf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install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mesa</a:t>
            </a:r>
            <a:r>
              <a:rPr dirty="0" sz="800" spc="-6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dirty="0" sz="800" spc="-60">
                <a:latin typeface="Courier New"/>
                <a:cs typeface="Courier New"/>
              </a:rPr>
              <a:t>libGL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dirty="0" sz="800" spc="-50">
                <a:latin typeface="Courier New"/>
                <a:cs typeface="Courier New"/>
              </a:rPr>
              <a:t>y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 load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display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cv2</a:t>
            </a:r>
            <a:endParaRPr sz="8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  <a:spcBef>
                <a:spcPts val="70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matplotlib.pyplot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60" b="1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dirty="0" sz="800" spc="-2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plt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Load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sample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image</a:t>
            </a:r>
            <a:endParaRPr sz="8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latin typeface="Courier New"/>
                <a:cs typeface="Courier New"/>
              </a:rPr>
              <a:t>image_path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12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'image-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1.png'</a:t>
            </a:r>
            <a:r>
              <a:rPr dirty="0" sz="800" spc="32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 Replace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with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your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 image </a:t>
            </a:r>
            <a:r>
              <a:rPr dirty="0" sz="800" spc="-20" i="1">
                <a:solidFill>
                  <a:srgbClr val="60A0AF"/>
                </a:solidFill>
                <a:latin typeface="Courier New"/>
                <a:cs typeface="Courier New"/>
              </a:rPr>
              <a:t>path</a:t>
            </a:r>
            <a:endParaRPr sz="8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latin typeface="Courier New"/>
                <a:cs typeface="Courier New"/>
              </a:rPr>
              <a:t>image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cv2.imread(image_path)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Display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image</a:t>
            </a:r>
            <a:endParaRPr sz="800">
              <a:latin typeface="Courier New"/>
              <a:cs typeface="Courier New"/>
            </a:endParaRPr>
          </a:p>
          <a:p>
            <a:pPr marL="213995" marR="1316355">
              <a:lnSpc>
                <a:spcPct val="107400"/>
              </a:lnSpc>
            </a:pPr>
            <a:r>
              <a:rPr dirty="0" sz="800" spc="-60">
                <a:latin typeface="Courier New"/>
                <a:cs typeface="Courier New"/>
              </a:rPr>
              <a:t>plt.imshow(cv2.cvtColor(image,</a:t>
            </a:r>
            <a:r>
              <a:rPr dirty="0" sz="800" spc="17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cv2.COLOR_BGR2RGB)) </a:t>
            </a:r>
            <a:r>
              <a:rPr dirty="0" sz="800" spc="-10">
                <a:latin typeface="Courier New"/>
                <a:cs typeface="Courier New"/>
              </a:rPr>
              <a:t>plt.show()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34963"/>
              <a:ext cx="3435985" cy="5080"/>
            </a:xfrm>
            <a:custGeom>
              <a:avLst/>
              <a:gdLst/>
              <a:ahLst/>
              <a:cxnLst/>
              <a:rect l="l" t="t" r="r" b="b"/>
              <a:pathLst>
                <a:path w="3435985" h="5080">
                  <a:moveTo>
                    <a:pt x="0" y="5060"/>
                  </a:moveTo>
                  <a:lnTo>
                    <a:pt x="0" y="0"/>
                  </a:lnTo>
                  <a:lnTo>
                    <a:pt x="3435864" y="0"/>
                  </a:lnTo>
                  <a:lnTo>
                    <a:pt x="34358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4047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5"/>
              <a:t> </a:t>
            </a:r>
            <a:r>
              <a:rPr dirty="0"/>
              <a:t>4:</a:t>
            </a:r>
            <a:r>
              <a:rPr dirty="0" spc="145"/>
              <a:t> </a:t>
            </a:r>
            <a:r>
              <a:rPr dirty="0"/>
              <a:t>Write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0"/>
              <a:t>Lambda</a:t>
            </a:r>
            <a:r>
              <a:rPr dirty="0" spc="40"/>
              <a:t> </a:t>
            </a:r>
            <a:r>
              <a:rPr dirty="0" spc="-25"/>
              <a:t>function</a:t>
            </a:r>
            <a:r>
              <a:rPr dirty="0" spc="40"/>
              <a:t> </a:t>
            </a:r>
            <a:r>
              <a:rPr dirty="0" spc="-20"/>
              <a:t>code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934135"/>
            <a:ext cx="5015230" cy="2145665"/>
            <a:chOff x="372646" y="934135"/>
            <a:chExt cx="5015230" cy="2145665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939483"/>
              <a:ext cx="5004435" cy="2134870"/>
            </a:xfrm>
            <a:custGeom>
              <a:avLst/>
              <a:gdLst/>
              <a:ahLst/>
              <a:cxnLst/>
              <a:rect l="l" t="t" r="r" b="b"/>
              <a:pathLst>
                <a:path w="5004435" h="213487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098801"/>
                  </a:lnTo>
                  <a:lnTo>
                    <a:pt x="2829" y="2112814"/>
                  </a:lnTo>
                  <a:lnTo>
                    <a:pt x="10544" y="2124257"/>
                  </a:lnTo>
                  <a:lnTo>
                    <a:pt x="21987" y="2131972"/>
                  </a:lnTo>
                  <a:lnTo>
                    <a:pt x="36000" y="2134801"/>
                  </a:lnTo>
                  <a:lnTo>
                    <a:pt x="4968064" y="2134801"/>
                  </a:lnTo>
                  <a:lnTo>
                    <a:pt x="4982077" y="2131972"/>
                  </a:lnTo>
                  <a:lnTo>
                    <a:pt x="4993521" y="2124257"/>
                  </a:lnTo>
                  <a:lnTo>
                    <a:pt x="5001236" y="2112814"/>
                  </a:lnTo>
                  <a:lnTo>
                    <a:pt x="5004065" y="209880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940462"/>
              <a:ext cx="5002530" cy="2132965"/>
            </a:xfrm>
            <a:custGeom>
              <a:avLst/>
              <a:gdLst/>
              <a:ahLst/>
              <a:cxnLst/>
              <a:rect l="l" t="t" r="r" b="b"/>
              <a:pathLst>
                <a:path w="5002530" h="2132965">
                  <a:moveTo>
                    <a:pt x="0" y="209782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097822"/>
                  </a:lnTo>
                  <a:lnTo>
                    <a:pt x="4999354" y="2111454"/>
                  </a:lnTo>
                  <a:lnTo>
                    <a:pt x="4991849" y="2122586"/>
                  </a:lnTo>
                  <a:lnTo>
                    <a:pt x="4980717" y="2130091"/>
                  </a:lnTo>
                  <a:lnTo>
                    <a:pt x="4967085" y="2132843"/>
                  </a:lnTo>
                  <a:lnTo>
                    <a:pt x="35021" y="2132843"/>
                  </a:lnTo>
                  <a:lnTo>
                    <a:pt x="21389" y="2130091"/>
                  </a:lnTo>
                  <a:lnTo>
                    <a:pt x="10257" y="2122586"/>
                  </a:lnTo>
                  <a:lnTo>
                    <a:pt x="2752" y="2111454"/>
                  </a:lnTo>
                  <a:lnTo>
                    <a:pt x="0" y="209782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1718" y="348847"/>
            <a:ext cx="4880610" cy="2628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7780" marR="5080" indent="-5715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free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to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on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whichever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want to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images.</a:t>
            </a:r>
            <a:r>
              <a:rPr dirty="0" sz="900" spc="8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Jupyter notebook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results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before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deploying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function.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now,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trust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new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cell: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Arial"/>
              <a:cs typeface="Arial"/>
            </a:endParaRPr>
          </a:p>
          <a:p>
            <a:pPr marL="215900" marR="1861185">
              <a:lnSpc>
                <a:spcPct val="107400"/>
              </a:lnSpc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3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Count</a:t>
            </a:r>
            <a:r>
              <a:rPr dirty="0" sz="800" spc="-3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cells</a:t>
            </a:r>
            <a:r>
              <a:rPr dirty="0" sz="800" spc="-3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by</a:t>
            </a:r>
            <a:r>
              <a:rPr dirty="0" sz="800" spc="-3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drawing</a:t>
            </a:r>
            <a:r>
              <a:rPr dirty="0" sz="800" spc="-3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contours</a:t>
            </a:r>
            <a:r>
              <a:rPr dirty="0" sz="800" spc="-3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around</a:t>
            </a:r>
            <a:r>
              <a:rPr dirty="0" sz="800" spc="-3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60A0AF"/>
                </a:solidFill>
                <a:latin typeface="Courier New"/>
                <a:cs typeface="Courier New"/>
              </a:rPr>
              <a:t>them </a:t>
            </a:r>
            <a:r>
              <a:rPr dirty="0" sz="800" spc="-55">
                <a:latin typeface="Courier New"/>
                <a:cs typeface="Courier New"/>
              </a:rPr>
              <a:t>gray_image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5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cv2.cvtColor(image,</a:t>
            </a:r>
            <a:r>
              <a:rPr dirty="0" sz="800" spc="-5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cv2.COLOR_BGR2GRAY) </a:t>
            </a:r>
            <a:r>
              <a:rPr dirty="0" sz="800" spc="-55">
                <a:latin typeface="Courier New"/>
                <a:cs typeface="Courier New"/>
              </a:rPr>
              <a:t>adaptive_thresh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cv2.adaptiveThreshold(</a:t>
            </a:r>
            <a:endParaRPr sz="800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latin typeface="Courier New"/>
                <a:cs typeface="Courier New"/>
              </a:rPr>
              <a:t>gray_image,</a:t>
            </a:r>
            <a:r>
              <a:rPr dirty="0" sz="800" spc="-40">
                <a:latin typeface="Courier New"/>
                <a:cs typeface="Courier New"/>
              </a:rPr>
              <a:t> </a:t>
            </a:r>
            <a:r>
              <a:rPr dirty="0" sz="800" spc="-55">
                <a:solidFill>
                  <a:srgbClr val="3FA070"/>
                </a:solidFill>
                <a:latin typeface="Courier New"/>
                <a:cs typeface="Courier New"/>
              </a:rPr>
              <a:t>255</a:t>
            </a:r>
            <a:r>
              <a:rPr dirty="0" sz="800" spc="-55">
                <a:latin typeface="Courier New"/>
                <a:cs typeface="Courier New"/>
              </a:rPr>
              <a:t>,</a:t>
            </a:r>
            <a:r>
              <a:rPr dirty="0" sz="800" spc="-40"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cv2.ADAPTIVE_THRESH_MEAN_C,</a:t>
            </a:r>
            <a:endParaRPr sz="800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75"/>
              </a:spcBef>
            </a:pPr>
            <a:r>
              <a:rPr dirty="0" sz="800" spc="-55">
                <a:latin typeface="Courier New"/>
                <a:cs typeface="Courier New"/>
              </a:rPr>
              <a:t>cv2.THRESH_BINARY_INV,</a:t>
            </a:r>
            <a:r>
              <a:rPr dirty="0" sz="800" spc="-35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65</a:t>
            </a:r>
            <a:r>
              <a:rPr dirty="0" sz="800" spc="-50">
                <a:latin typeface="Courier New"/>
                <a:cs typeface="Courier New"/>
              </a:rPr>
              <a:t>,</a:t>
            </a:r>
            <a:r>
              <a:rPr dirty="0" sz="800" spc="-35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dirty="0" sz="800" spc="-5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latin typeface="Courier New"/>
                <a:cs typeface="Courier New"/>
              </a:rPr>
              <a:t>kernel</a:t>
            </a:r>
            <a:r>
              <a:rPr dirty="0" sz="800" spc="5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5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cv2.getStructuringElement(cv2.MORPH_ELLIPSE,</a:t>
            </a:r>
            <a:r>
              <a:rPr dirty="0" sz="800" spc="5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(</a:t>
            </a:r>
            <a:r>
              <a:rPr dirty="0" sz="800" spc="-1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r>
              <a:rPr dirty="0" sz="800" spc="-10"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r>
              <a:rPr dirty="0" sz="800" spc="-10">
                <a:latin typeface="Courier New"/>
                <a:cs typeface="Courier New"/>
              </a:rPr>
              <a:t>))</a:t>
            </a:r>
            <a:endParaRPr sz="800">
              <a:latin typeface="Courier New"/>
              <a:cs typeface="Courier New"/>
            </a:endParaRPr>
          </a:p>
          <a:p>
            <a:pPr marL="215900" marR="87630">
              <a:lnSpc>
                <a:spcPct val="107400"/>
              </a:lnSpc>
            </a:pPr>
            <a:r>
              <a:rPr dirty="0" sz="800" spc="-55">
                <a:latin typeface="Courier New"/>
                <a:cs typeface="Courier New"/>
              </a:rPr>
              <a:t>morph_image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cv2.morphologyEx(adaptive_thresh,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cv2.MORPH_OPEN,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kernel,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iterations</a:t>
            </a:r>
            <a:r>
              <a:rPr dirty="0" sz="800" spc="-55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55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dirty="0" sz="800" spc="-55">
                <a:latin typeface="Courier New"/>
                <a:cs typeface="Courier New"/>
              </a:rPr>
              <a:t>) contours,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_</a:t>
            </a:r>
            <a:r>
              <a:rPr dirty="0" sz="800" spc="-11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8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cv2.findContours(</a:t>
            </a:r>
            <a:endParaRPr sz="800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latin typeface="Courier New"/>
                <a:cs typeface="Courier New"/>
              </a:rPr>
              <a:t>morph_image,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cv2.RETR_EXTERNAL,</a:t>
            </a:r>
            <a:r>
              <a:rPr dirty="0" sz="800" spc="-20">
                <a:latin typeface="Courier New"/>
                <a:cs typeface="Courier New"/>
              </a:rPr>
              <a:t> cv2.CHAIN_APPROX_SIMPLE</a:t>
            </a: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dirty="0" sz="800" spc="-5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Print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result</a:t>
            </a:r>
            <a:endParaRPr sz="800">
              <a:latin typeface="Courier New"/>
              <a:cs typeface="Courier New"/>
            </a:endParaRPr>
          </a:p>
          <a:p>
            <a:pPr marL="215900" marR="2828290">
              <a:lnSpc>
                <a:spcPct val="107400"/>
              </a:lnSpc>
            </a:pPr>
            <a:r>
              <a:rPr dirty="0" sz="800" spc="-55">
                <a:latin typeface="Courier New"/>
                <a:cs typeface="Courier New"/>
              </a:rPr>
              <a:t>cell_count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8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007F00"/>
                </a:solidFill>
                <a:latin typeface="Courier New"/>
                <a:cs typeface="Courier New"/>
              </a:rPr>
              <a:t>len</a:t>
            </a:r>
            <a:r>
              <a:rPr dirty="0" sz="800" spc="-10">
                <a:latin typeface="Courier New"/>
                <a:cs typeface="Courier New"/>
              </a:rPr>
              <a:t>(contours) </a:t>
            </a:r>
            <a:r>
              <a:rPr dirty="0" sz="800" spc="-55">
                <a:solidFill>
                  <a:srgbClr val="007F00"/>
                </a:solidFill>
                <a:latin typeface="Courier New"/>
                <a:cs typeface="Courier New"/>
              </a:rPr>
              <a:t>print</a:t>
            </a:r>
            <a:r>
              <a:rPr dirty="0" sz="800" spc="-55">
                <a:latin typeface="Courier New"/>
                <a:cs typeface="Courier New"/>
              </a:rPr>
              <a:t>(</a:t>
            </a:r>
            <a:r>
              <a:rPr dirty="0" sz="800" spc="-55">
                <a:solidFill>
                  <a:srgbClr val="BA6687"/>
                </a:solidFill>
                <a:latin typeface="Courier New"/>
                <a:cs typeface="Courier New"/>
              </a:rPr>
              <a:t>f'Cell</a:t>
            </a:r>
            <a:r>
              <a:rPr dirty="0" sz="800" spc="-25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count:</a:t>
            </a:r>
            <a:r>
              <a:rPr dirty="0" sz="800" spc="-20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60">
                <a:latin typeface="Courier New"/>
                <a:cs typeface="Courier New"/>
              </a:rPr>
              <a:t>cell_count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'</a:t>
            </a:r>
            <a:r>
              <a:rPr dirty="0" sz="800" spc="-6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3536950" cy="5080"/>
            </a:xfrm>
            <a:custGeom>
              <a:avLst/>
              <a:gdLst/>
              <a:ahLst/>
              <a:cxnLst/>
              <a:rect l="l" t="t" r="r" b="b"/>
              <a:pathLst>
                <a:path w="3536950" h="5080">
                  <a:moveTo>
                    <a:pt x="0" y="5060"/>
                  </a:moveTo>
                  <a:lnTo>
                    <a:pt x="0" y="0"/>
                  </a:lnTo>
                  <a:lnTo>
                    <a:pt x="3536851" y="0"/>
                  </a:lnTo>
                  <a:lnTo>
                    <a:pt x="35368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4047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5"/>
              <a:t> </a:t>
            </a:r>
            <a:r>
              <a:rPr dirty="0"/>
              <a:t>4:</a:t>
            </a:r>
            <a:r>
              <a:rPr dirty="0" spc="145"/>
              <a:t> </a:t>
            </a:r>
            <a:r>
              <a:rPr dirty="0"/>
              <a:t>Write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0"/>
              <a:t>Lambda</a:t>
            </a:r>
            <a:r>
              <a:rPr dirty="0" spc="40"/>
              <a:t> </a:t>
            </a:r>
            <a:r>
              <a:rPr dirty="0" spc="-25"/>
              <a:t>function</a:t>
            </a:r>
            <a:r>
              <a:rPr dirty="0" spc="40"/>
              <a:t> </a:t>
            </a:r>
            <a:r>
              <a:rPr dirty="0" spc="-20"/>
              <a:t>code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811265"/>
            <a:ext cx="5015230" cy="2153285"/>
            <a:chOff x="372646" y="811265"/>
            <a:chExt cx="5015230" cy="2153285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816612"/>
              <a:ext cx="5004435" cy="2142490"/>
            </a:xfrm>
            <a:custGeom>
              <a:avLst/>
              <a:gdLst/>
              <a:ahLst/>
              <a:cxnLst/>
              <a:rect l="l" t="t" r="r" b="b"/>
              <a:pathLst>
                <a:path w="5004435" h="214249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106089"/>
                  </a:lnTo>
                  <a:lnTo>
                    <a:pt x="2829" y="2120102"/>
                  </a:lnTo>
                  <a:lnTo>
                    <a:pt x="10544" y="2131545"/>
                  </a:lnTo>
                  <a:lnTo>
                    <a:pt x="21987" y="2139260"/>
                  </a:lnTo>
                  <a:lnTo>
                    <a:pt x="36000" y="2142089"/>
                  </a:lnTo>
                  <a:lnTo>
                    <a:pt x="4968064" y="2142089"/>
                  </a:lnTo>
                  <a:lnTo>
                    <a:pt x="4982077" y="2139260"/>
                  </a:lnTo>
                  <a:lnTo>
                    <a:pt x="4993521" y="2131545"/>
                  </a:lnTo>
                  <a:lnTo>
                    <a:pt x="5001236" y="2120102"/>
                  </a:lnTo>
                  <a:lnTo>
                    <a:pt x="5004065" y="2106089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817591"/>
              <a:ext cx="5002530" cy="2140585"/>
            </a:xfrm>
            <a:custGeom>
              <a:avLst/>
              <a:gdLst/>
              <a:ahLst/>
              <a:cxnLst/>
              <a:rect l="l" t="t" r="r" b="b"/>
              <a:pathLst>
                <a:path w="5002530" h="2140585">
                  <a:moveTo>
                    <a:pt x="0" y="2105110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105110"/>
                  </a:lnTo>
                  <a:lnTo>
                    <a:pt x="4999354" y="2118742"/>
                  </a:lnTo>
                  <a:lnTo>
                    <a:pt x="4991849" y="2129874"/>
                  </a:lnTo>
                  <a:lnTo>
                    <a:pt x="4980717" y="2137379"/>
                  </a:lnTo>
                  <a:lnTo>
                    <a:pt x="4967085" y="2140131"/>
                  </a:lnTo>
                  <a:lnTo>
                    <a:pt x="35021" y="2140131"/>
                  </a:lnTo>
                  <a:lnTo>
                    <a:pt x="21389" y="2137379"/>
                  </a:lnTo>
                  <a:lnTo>
                    <a:pt x="10257" y="2129874"/>
                  </a:lnTo>
                  <a:lnTo>
                    <a:pt x="2752" y="2118742"/>
                  </a:lnTo>
                  <a:lnTo>
                    <a:pt x="0" y="2105110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385283"/>
            <a:ext cx="4987925" cy="247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result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fine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even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better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visualize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contours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drawn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around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cells.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so,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can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following code: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dirty="0" sz="800" spc="-55">
                <a:latin typeface="Courier New"/>
                <a:cs typeface="Courier New"/>
              </a:rPr>
              <a:t>output_image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image.copy()</a:t>
            </a: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latin typeface="Courier New"/>
                <a:cs typeface="Courier New"/>
              </a:rPr>
              <a:t>cv2.drawContours(output_image,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contours,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dirty="0" sz="800" spc="-50">
                <a:latin typeface="Courier New"/>
                <a:cs typeface="Courier New"/>
              </a:rPr>
              <a:t>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(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50">
                <a:latin typeface="Courier New"/>
                <a:cs typeface="Courier New"/>
              </a:rPr>
              <a:t>,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55">
                <a:solidFill>
                  <a:srgbClr val="3FA070"/>
                </a:solidFill>
                <a:latin typeface="Courier New"/>
                <a:cs typeface="Courier New"/>
              </a:rPr>
              <a:t>255</a:t>
            </a:r>
            <a:r>
              <a:rPr dirty="0" sz="800" spc="-55">
                <a:latin typeface="Courier New"/>
                <a:cs typeface="Courier New"/>
              </a:rPr>
              <a:t>,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50">
                <a:latin typeface="Courier New"/>
                <a:cs typeface="Courier New"/>
              </a:rPr>
              <a:t>),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dirty="0" sz="800" spc="-25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Generate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images</a:t>
            </a: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latin typeface="Courier New"/>
                <a:cs typeface="Courier New"/>
              </a:rPr>
              <a:t>fig, axes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5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plt.subplots(</a:t>
            </a:r>
            <a:r>
              <a:rPr dirty="0" sz="800" spc="-55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dirty="0" sz="800" spc="-55">
                <a:latin typeface="Courier New"/>
                <a:cs typeface="Courier New"/>
              </a:rPr>
              <a:t>,</a:t>
            </a:r>
            <a:r>
              <a:rPr dirty="0" sz="800" spc="-50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dirty="0" sz="800" spc="-50">
                <a:latin typeface="Courier New"/>
                <a:cs typeface="Courier New"/>
              </a:rPr>
              <a:t>,</a:t>
            </a:r>
            <a:r>
              <a:rPr dirty="0" sz="800" spc="-55">
                <a:latin typeface="Courier New"/>
                <a:cs typeface="Courier New"/>
              </a:rPr>
              <a:t> figsize</a:t>
            </a:r>
            <a:r>
              <a:rPr dirty="0" sz="800" spc="-55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55">
                <a:latin typeface="Courier New"/>
                <a:cs typeface="Courier New"/>
              </a:rPr>
              <a:t>(</a:t>
            </a:r>
            <a:r>
              <a:rPr dirty="0" sz="800" spc="-55">
                <a:solidFill>
                  <a:srgbClr val="3FA070"/>
                </a:solidFill>
                <a:latin typeface="Courier New"/>
                <a:cs typeface="Courier New"/>
              </a:rPr>
              <a:t>12</a:t>
            </a:r>
            <a:r>
              <a:rPr dirty="0" sz="800" spc="-55">
                <a:latin typeface="Courier New"/>
                <a:cs typeface="Courier New"/>
              </a:rPr>
              <a:t>, </a:t>
            </a:r>
            <a:r>
              <a:rPr dirty="0" sz="800" spc="-25">
                <a:solidFill>
                  <a:srgbClr val="3FA070"/>
                </a:solidFill>
                <a:latin typeface="Courier New"/>
                <a:cs typeface="Courier New"/>
              </a:rPr>
              <a:t>6</a:t>
            </a:r>
            <a:r>
              <a:rPr dirty="0" sz="800" spc="-25">
                <a:latin typeface="Courier New"/>
                <a:cs typeface="Courier New"/>
              </a:rPr>
              <a:t>))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Courier New"/>
              <a:cs typeface="Courier New"/>
            </a:endParaRPr>
          </a:p>
          <a:p>
            <a:pPr marL="210185" marR="1866264">
              <a:lnSpc>
                <a:spcPct val="107400"/>
              </a:lnSpc>
            </a:pPr>
            <a:r>
              <a:rPr dirty="0" sz="800" spc="-60">
                <a:latin typeface="Courier New"/>
                <a:cs typeface="Courier New"/>
              </a:rPr>
              <a:t>axes[</a:t>
            </a:r>
            <a:r>
              <a:rPr dirty="0" sz="800" spc="-6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60">
                <a:latin typeface="Courier New"/>
                <a:cs typeface="Courier New"/>
              </a:rPr>
              <a:t>].imshow(cv2.cvtColor(image,</a:t>
            </a:r>
            <a:r>
              <a:rPr dirty="0" sz="800" spc="20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cv2.COLOR_BGR2RGB)) axes[</a:t>
            </a:r>
            <a:r>
              <a:rPr dirty="0" sz="800" spc="-6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60">
                <a:latin typeface="Courier New"/>
                <a:cs typeface="Courier New"/>
              </a:rPr>
              <a:t>].set_title(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'Original</a:t>
            </a:r>
            <a:r>
              <a:rPr dirty="0" sz="800" spc="145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Image'</a:t>
            </a:r>
            <a:r>
              <a:rPr dirty="0" sz="800" spc="-10">
                <a:latin typeface="Courier New"/>
                <a:cs typeface="Courier New"/>
              </a:rPr>
              <a:t>) axes[</a:t>
            </a:r>
            <a:r>
              <a:rPr dirty="0" sz="800" spc="-1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10">
                <a:latin typeface="Courier New"/>
                <a:cs typeface="Courier New"/>
              </a:rPr>
              <a:t>].axis(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'off'</a:t>
            </a:r>
            <a:r>
              <a:rPr dirty="0" sz="800" spc="-1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Courier New"/>
              <a:cs typeface="Courier New"/>
            </a:endParaRPr>
          </a:p>
          <a:p>
            <a:pPr marL="210185" marR="1490345">
              <a:lnSpc>
                <a:spcPct val="107400"/>
              </a:lnSpc>
            </a:pPr>
            <a:r>
              <a:rPr dirty="0" sz="800" spc="-60">
                <a:latin typeface="Courier New"/>
                <a:cs typeface="Courier New"/>
              </a:rPr>
              <a:t>axes[</a:t>
            </a:r>
            <a:r>
              <a:rPr dirty="0" sz="800" spc="-6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dirty="0" sz="800" spc="-60">
                <a:latin typeface="Courier New"/>
                <a:cs typeface="Courier New"/>
              </a:rPr>
              <a:t>].imshow(cv2.cvtColor(output_image,</a:t>
            </a:r>
            <a:r>
              <a:rPr dirty="0" sz="800" spc="254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cv2.COLOR_BGR2RGB)) axes[</a:t>
            </a:r>
            <a:r>
              <a:rPr dirty="0" sz="800" spc="-6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dirty="0" sz="800" spc="-60">
                <a:latin typeface="Courier New"/>
                <a:cs typeface="Courier New"/>
              </a:rPr>
              <a:t>].set_title(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f'Contours</a:t>
            </a:r>
            <a:r>
              <a:rPr dirty="0" sz="800" spc="75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(Cells:</a:t>
            </a:r>
            <a:r>
              <a:rPr dirty="0" sz="800" spc="75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10">
                <a:latin typeface="Courier New"/>
                <a:cs typeface="Courier New"/>
              </a:rPr>
              <a:t>cell_count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10">
                <a:solidFill>
                  <a:srgbClr val="BA6687"/>
                </a:solidFill>
                <a:latin typeface="Courier New"/>
                <a:cs typeface="Courier New"/>
              </a:rPr>
              <a:t>)'</a:t>
            </a:r>
            <a:r>
              <a:rPr dirty="0" sz="800" spc="-10">
                <a:latin typeface="Courier New"/>
                <a:cs typeface="Courier New"/>
              </a:rPr>
              <a:t>) axes[</a:t>
            </a:r>
            <a:r>
              <a:rPr dirty="0" sz="800" spc="-1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dirty="0" sz="800" spc="-10">
                <a:latin typeface="Courier New"/>
                <a:cs typeface="Courier New"/>
              </a:rPr>
              <a:t>].axis(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'off'</a:t>
            </a:r>
            <a:r>
              <a:rPr dirty="0" sz="800" spc="-1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5"/>
              </a:spcBef>
            </a:pPr>
            <a:r>
              <a:rPr dirty="0" sz="800" spc="-10">
                <a:latin typeface="Courier New"/>
                <a:cs typeface="Courier New"/>
              </a:rPr>
              <a:t>plt.show()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3638550" cy="5080"/>
            </a:xfrm>
            <a:custGeom>
              <a:avLst/>
              <a:gdLst/>
              <a:ahLst/>
              <a:cxnLst/>
              <a:rect l="l" t="t" r="r" b="b"/>
              <a:pathLst>
                <a:path w="3638550" h="5080">
                  <a:moveTo>
                    <a:pt x="0" y="5060"/>
                  </a:moveTo>
                  <a:lnTo>
                    <a:pt x="0" y="0"/>
                  </a:lnTo>
                  <a:lnTo>
                    <a:pt x="3637927" y="0"/>
                  </a:lnTo>
                  <a:lnTo>
                    <a:pt x="363792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24047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Step</a:t>
            </a:r>
            <a:r>
              <a:rPr dirty="0" sz="1000" spc="3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4:</a:t>
            </a:r>
            <a:r>
              <a:rPr dirty="0" sz="1000" spc="14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Write</a:t>
            </a:r>
            <a:r>
              <a:rPr dirty="0" sz="1000" spc="4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dirty="0" sz="1000" spc="4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Lambda</a:t>
            </a:r>
            <a:r>
              <a:rPr dirty="0" sz="1000" spc="4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9F9F9"/>
                </a:solidFill>
                <a:latin typeface="Arial"/>
                <a:cs typeface="Arial"/>
              </a:rPr>
              <a:t>function</a:t>
            </a:r>
            <a:r>
              <a:rPr dirty="0" sz="1000" spc="4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code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3319" y="371520"/>
            <a:ext cx="189674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visualization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06" y="591651"/>
            <a:ext cx="4032002" cy="227490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236228" y="3000526"/>
            <a:ext cx="12877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18:</a:t>
            </a:r>
            <a:r>
              <a:rPr dirty="0" sz="800" spc="1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5">
                <a:solidFill>
                  <a:srgbClr val="22373A"/>
                </a:solidFill>
                <a:latin typeface="Arial"/>
                <a:cs typeface="Arial"/>
              </a:rPr>
              <a:t>Processed</a:t>
            </a:r>
            <a:r>
              <a:rPr dirty="0" sz="8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3739515" cy="5080"/>
            </a:xfrm>
            <a:custGeom>
              <a:avLst/>
              <a:gdLst/>
              <a:ahLst/>
              <a:cxnLst/>
              <a:rect l="l" t="t" r="r" b="b"/>
              <a:pathLst>
                <a:path w="3739515" h="5080">
                  <a:moveTo>
                    <a:pt x="0" y="5060"/>
                  </a:moveTo>
                  <a:lnTo>
                    <a:pt x="0" y="0"/>
                  </a:lnTo>
                  <a:lnTo>
                    <a:pt x="3739002" y="0"/>
                  </a:lnTo>
                  <a:lnTo>
                    <a:pt x="37390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4047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5"/>
              <a:t> </a:t>
            </a:r>
            <a:r>
              <a:rPr dirty="0"/>
              <a:t>4:</a:t>
            </a:r>
            <a:r>
              <a:rPr dirty="0" spc="145"/>
              <a:t> </a:t>
            </a:r>
            <a:r>
              <a:rPr dirty="0"/>
              <a:t>Write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0"/>
              <a:t>Lambda</a:t>
            </a:r>
            <a:r>
              <a:rPr dirty="0" spc="40"/>
              <a:t> </a:t>
            </a:r>
            <a:r>
              <a:rPr dirty="0" spc="-25"/>
              <a:t>function</a:t>
            </a:r>
            <a:r>
              <a:rPr dirty="0" spc="40"/>
              <a:t> </a:t>
            </a:r>
            <a:r>
              <a:rPr dirty="0" spc="-20"/>
              <a:t>code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1718" y="1132250"/>
            <a:ext cx="4880610" cy="1118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following:</a:t>
            </a:r>
            <a:endParaRPr sz="9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45110" algn="l"/>
              </a:tabLst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Load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image.</a:t>
            </a:r>
            <a:endParaRPr sz="9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5110" algn="l"/>
              </a:tabLst>
            </a:pP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count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cells.</a:t>
            </a:r>
            <a:endParaRPr sz="900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5110" algn="l"/>
              </a:tabLst>
            </a:pP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Generate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results.</a:t>
            </a:r>
            <a:endParaRPr sz="900">
              <a:latin typeface="Arial"/>
              <a:cs typeface="Arial"/>
            </a:endParaRPr>
          </a:p>
          <a:p>
            <a:pPr marL="17780" marR="5080" indent="-5715">
              <a:lnSpc>
                <a:spcPct val="116199"/>
              </a:lnSpc>
              <a:spcBef>
                <a:spcPts val="630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adapt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read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from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given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its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path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 write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results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3840479" cy="5080"/>
            </a:xfrm>
            <a:custGeom>
              <a:avLst/>
              <a:gdLst/>
              <a:ahLst/>
              <a:cxnLst/>
              <a:rect l="l" t="t" r="r" b="b"/>
              <a:pathLst>
                <a:path w="3840479" h="5080">
                  <a:moveTo>
                    <a:pt x="0" y="5060"/>
                  </a:moveTo>
                  <a:lnTo>
                    <a:pt x="0" y="0"/>
                  </a:lnTo>
                  <a:lnTo>
                    <a:pt x="3840078" y="0"/>
                  </a:lnTo>
                  <a:lnTo>
                    <a:pt x="38400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4047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5"/>
              <a:t> </a:t>
            </a:r>
            <a:r>
              <a:rPr dirty="0"/>
              <a:t>4:</a:t>
            </a:r>
            <a:r>
              <a:rPr dirty="0" spc="145"/>
              <a:t> </a:t>
            </a:r>
            <a:r>
              <a:rPr dirty="0"/>
              <a:t>Write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0"/>
              <a:t>Lambda</a:t>
            </a:r>
            <a:r>
              <a:rPr dirty="0" spc="40"/>
              <a:t> </a:t>
            </a:r>
            <a:r>
              <a:rPr dirty="0" spc="-25"/>
              <a:t>function</a:t>
            </a:r>
            <a:r>
              <a:rPr dirty="0" spc="40"/>
              <a:t> </a:t>
            </a:r>
            <a:r>
              <a:rPr dirty="0" spc="-20"/>
              <a:t>code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774797"/>
            <a:ext cx="5015230" cy="2277110"/>
            <a:chOff x="372646" y="774797"/>
            <a:chExt cx="5015230" cy="2277110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780145"/>
              <a:ext cx="5004435" cy="2266315"/>
            </a:xfrm>
            <a:custGeom>
              <a:avLst/>
              <a:gdLst/>
              <a:ahLst/>
              <a:cxnLst/>
              <a:rect l="l" t="t" r="r" b="b"/>
              <a:pathLst>
                <a:path w="5004435" h="226631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230161"/>
                  </a:lnTo>
                  <a:lnTo>
                    <a:pt x="2829" y="2244174"/>
                  </a:lnTo>
                  <a:lnTo>
                    <a:pt x="10544" y="2255617"/>
                  </a:lnTo>
                  <a:lnTo>
                    <a:pt x="21987" y="2263332"/>
                  </a:lnTo>
                  <a:lnTo>
                    <a:pt x="36000" y="2266161"/>
                  </a:lnTo>
                  <a:lnTo>
                    <a:pt x="4968064" y="2266161"/>
                  </a:lnTo>
                  <a:lnTo>
                    <a:pt x="4982077" y="2263332"/>
                  </a:lnTo>
                  <a:lnTo>
                    <a:pt x="4993521" y="2255617"/>
                  </a:lnTo>
                  <a:lnTo>
                    <a:pt x="5001236" y="2244174"/>
                  </a:lnTo>
                  <a:lnTo>
                    <a:pt x="5004065" y="223016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781124"/>
              <a:ext cx="5002530" cy="2264410"/>
            </a:xfrm>
            <a:custGeom>
              <a:avLst/>
              <a:gdLst/>
              <a:ahLst/>
              <a:cxnLst/>
              <a:rect l="l" t="t" r="r" b="b"/>
              <a:pathLst>
                <a:path w="5002530" h="2264410">
                  <a:moveTo>
                    <a:pt x="0" y="222918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229182"/>
                  </a:lnTo>
                  <a:lnTo>
                    <a:pt x="4999354" y="2242814"/>
                  </a:lnTo>
                  <a:lnTo>
                    <a:pt x="4991849" y="2253945"/>
                  </a:lnTo>
                  <a:lnTo>
                    <a:pt x="4980717" y="2261451"/>
                  </a:lnTo>
                  <a:lnTo>
                    <a:pt x="4967085" y="2264203"/>
                  </a:lnTo>
                  <a:lnTo>
                    <a:pt x="35021" y="2264203"/>
                  </a:lnTo>
                  <a:lnTo>
                    <a:pt x="21389" y="2261451"/>
                  </a:lnTo>
                  <a:lnTo>
                    <a:pt x="10257" y="2253945"/>
                  </a:lnTo>
                  <a:lnTo>
                    <a:pt x="2752" y="2242814"/>
                  </a:lnTo>
                  <a:lnTo>
                    <a:pt x="0" y="222918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348847"/>
            <a:ext cx="5065395" cy="2599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earlier,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then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editor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paste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(note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3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slides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fit):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0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boto3</a:t>
            </a: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cv2</a:t>
            </a: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5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numpy</a:t>
            </a:r>
            <a:r>
              <a:rPr dirty="0" sz="800" spc="-30">
                <a:latin typeface="Courier New"/>
                <a:cs typeface="Courier New"/>
              </a:rPr>
              <a:t> </a:t>
            </a:r>
            <a:r>
              <a:rPr dirty="0" sz="800" spc="-60" b="1">
                <a:solidFill>
                  <a:srgbClr val="007F00"/>
                </a:solidFill>
                <a:latin typeface="Courier New"/>
                <a:cs typeface="Courier New"/>
              </a:rPr>
              <a:t>as</a:t>
            </a:r>
            <a:r>
              <a:rPr dirty="0" sz="800" spc="-3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np</a:t>
            </a: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json</a:t>
            </a: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os</a:t>
            </a: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dirty="0" sz="800" spc="-65" b="1">
                <a:solidFill>
                  <a:srgbClr val="007F00"/>
                </a:solidFill>
                <a:latin typeface="Courier New"/>
                <a:cs typeface="Courier New"/>
              </a:rPr>
              <a:t>import</a:t>
            </a:r>
            <a:r>
              <a:rPr dirty="0" sz="800" spc="-15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urllib.parse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</a:pPr>
            <a:r>
              <a:rPr dirty="0" sz="800" spc="-50">
                <a:latin typeface="Courier New"/>
                <a:cs typeface="Courier New"/>
              </a:rPr>
              <a:t>s3</a:t>
            </a:r>
            <a:r>
              <a:rPr dirty="0" sz="800" spc="-7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1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boto3.client(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's3'</a:t>
            </a:r>
            <a:r>
              <a:rPr dirty="0" sz="800" spc="-1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5"/>
              </a:spcBef>
            </a:pPr>
            <a:r>
              <a:rPr dirty="0" sz="800" spc="-65" b="1">
                <a:solidFill>
                  <a:srgbClr val="007021"/>
                </a:solidFill>
                <a:latin typeface="Courier New"/>
                <a:cs typeface="Courier New"/>
              </a:rPr>
              <a:t>def</a:t>
            </a:r>
            <a:r>
              <a:rPr dirty="0" sz="800" spc="-20" b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lambda_handler(event,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context):</a:t>
            </a:r>
            <a:endParaRPr sz="800">
              <a:latin typeface="Courier New"/>
              <a:cs typeface="Courier New"/>
            </a:endParaRPr>
          </a:p>
          <a:p>
            <a:pPr marL="425450">
              <a:lnSpc>
                <a:spcPct val="100000"/>
              </a:lnSpc>
              <a:spcBef>
                <a:spcPts val="70"/>
              </a:spcBef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Extract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bucket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and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image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info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from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S3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event</a:t>
            </a:r>
            <a:endParaRPr sz="800">
              <a:latin typeface="Courier New"/>
              <a:cs typeface="Courier New"/>
            </a:endParaRPr>
          </a:p>
          <a:p>
            <a:pPr marL="425450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latin typeface="Courier New"/>
                <a:cs typeface="Courier New"/>
              </a:rPr>
              <a:t>bucket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40">
                <a:latin typeface="Courier New"/>
                <a:cs typeface="Courier New"/>
              </a:rPr>
              <a:t>event[</a:t>
            </a:r>
            <a:r>
              <a:rPr dirty="0" sz="800" spc="-40">
                <a:solidFill>
                  <a:srgbClr val="3F70A0"/>
                </a:solidFill>
                <a:latin typeface="Courier New"/>
                <a:cs typeface="Courier New"/>
              </a:rPr>
              <a:t>'Records'</a:t>
            </a:r>
            <a:r>
              <a:rPr dirty="0" sz="800" spc="-40">
                <a:latin typeface="Courier New"/>
                <a:cs typeface="Courier New"/>
              </a:rPr>
              <a:t>][</a:t>
            </a:r>
            <a:r>
              <a:rPr dirty="0" sz="800" spc="-4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40">
                <a:latin typeface="Courier New"/>
                <a:cs typeface="Courier New"/>
              </a:rPr>
              <a:t>][</a:t>
            </a:r>
            <a:r>
              <a:rPr dirty="0" sz="800" spc="-40">
                <a:solidFill>
                  <a:srgbClr val="3F70A0"/>
                </a:solidFill>
                <a:latin typeface="Courier New"/>
                <a:cs typeface="Courier New"/>
              </a:rPr>
              <a:t>'s3'</a:t>
            </a:r>
            <a:r>
              <a:rPr dirty="0" sz="800" spc="-40">
                <a:latin typeface="Courier New"/>
                <a:cs typeface="Courier New"/>
              </a:rPr>
              <a:t>][</a:t>
            </a:r>
            <a:r>
              <a:rPr dirty="0" sz="800" spc="-40">
                <a:solidFill>
                  <a:srgbClr val="3F70A0"/>
                </a:solidFill>
                <a:latin typeface="Courier New"/>
                <a:cs typeface="Courier New"/>
              </a:rPr>
              <a:t>'bucket'</a:t>
            </a:r>
            <a:r>
              <a:rPr dirty="0" sz="800" spc="-40">
                <a:latin typeface="Courier New"/>
                <a:cs typeface="Courier New"/>
              </a:rPr>
              <a:t>][</a:t>
            </a:r>
            <a:r>
              <a:rPr dirty="0" sz="800" spc="-40">
                <a:solidFill>
                  <a:srgbClr val="3F70A0"/>
                </a:solidFill>
                <a:latin typeface="Courier New"/>
                <a:cs typeface="Courier New"/>
              </a:rPr>
              <a:t>'name'</a:t>
            </a:r>
            <a:r>
              <a:rPr dirty="0" sz="800" spc="-40">
                <a:latin typeface="Courier New"/>
                <a:cs typeface="Courier New"/>
              </a:rPr>
              <a:t>]</a:t>
            </a:r>
            <a:endParaRPr sz="800">
              <a:latin typeface="Courier New"/>
              <a:cs typeface="Courier New"/>
            </a:endParaRPr>
          </a:p>
          <a:p>
            <a:pPr marL="425450" marR="600710">
              <a:lnSpc>
                <a:spcPct val="107400"/>
              </a:lnSpc>
            </a:pPr>
            <a:r>
              <a:rPr dirty="0" sz="800" spc="-50">
                <a:latin typeface="Courier New"/>
                <a:cs typeface="Courier New"/>
              </a:rPr>
              <a:t>key</a:t>
            </a:r>
            <a:r>
              <a:rPr dirty="0" sz="800" spc="-7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1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urllib.parse.unquote_plus(event[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'Records'</a:t>
            </a:r>
            <a:r>
              <a:rPr dirty="0" sz="800" spc="-60">
                <a:latin typeface="Courier New"/>
                <a:cs typeface="Courier New"/>
              </a:rPr>
              <a:t>][</a:t>
            </a:r>
            <a:r>
              <a:rPr dirty="0" sz="800" spc="-6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60">
                <a:latin typeface="Courier New"/>
                <a:cs typeface="Courier New"/>
              </a:rPr>
              <a:t>][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's3'</a:t>
            </a:r>
            <a:r>
              <a:rPr dirty="0" sz="800" spc="-60">
                <a:latin typeface="Courier New"/>
                <a:cs typeface="Courier New"/>
              </a:rPr>
              <a:t>][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'object'</a:t>
            </a:r>
            <a:r>
              <a:rPr dirty="0" sz="800" spc="-60">
                <a:latin typeface="Courier New"/>
                <a:cs typeface="Courier New"/>
              </a:rPr>
              <a:t>][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'key'</a:t>
            </a:r>
            <a:r>
              <a:rPr dirty="0" sz="800" spc="-60">
                <a:latin typeface="Courier New"/>
                <a:cs typeface="Courier New"/>
              </a:rPr>
              <a:t>]) </a:t>
            </a:r>
            <a:r>
              <a:rPr dirty="0" sz="800" spc="-55">
                <a:latin typeface="Courier New"/>
                <a:cs typeface="Courier New"/>
              </a:rPr>
              <a:t>original_name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40">
                <a:latin typeface="Courier New"/>
                <a:cs typeface="Courier New"/>
              </a:rPr>
              <a:t>os.path.splitext(os.path.basename(key))[</a:t>
            </a:r>
            <a:r>
              <a:rPr dirty="0" sz="800" spc="-4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40">
                <a:latin typeface="Courier New"/>
                <a:cs typeface="Courier New"/>
              </a:rPr>
              <a:t>]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425450">
              <a:lnSpc>
                <a:spcPct val="100000"/>
              </a:lnSpc>
            </a:pPr>
            <a:r>
              <a:rPr dirty="0" sz="800" spc="-55">
                <a:latin typeface="Courier New"/>
                <a:cs typeface="Courier New"/>
              </a:rPr>
              <a:t>download_path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30">
                <a:solidFill>
                  <a:srgbClr val="BA6687"/>
                </a:solidFill>
                <a:latin typeface="Courier New"/>
                <a:cs typeface="Courier New"/>
              </a:rPr>
              <a:t>f'/tmp/</a:t>
            </a:r>
            <a:r>
              <a:rPr dirty="0" sz="800" spc="-3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30">
                <a:latin typeface="Courier New"/>
                <a:cs typeface="Courier New"/>
              </a:rPr>
              <a:t>os</a:t>
            </a:r>
            <a:r>
              <a:rPr dirty="0" sz="800" spc="-30">
                <a:solidFill>
                  <a:srgbClr val="3F70A0"/>
                </a:solidFill>
                <a:latin typeface="Courier New"/>
                <a:cs typeface="Courier New"/>
              </a:rPr>
              <a:t>.</a:t>
            </a:r>
            <a:r>
              <a:rPr dirty="0" sz="800" spc="-30">
                <a:latin typeface="Courier New"/>
                <a:cs typeface="Courier New"/>
              </a:rPr>
              <a:t>path</a:t>
            </a:r>
            <a:r>
              <a:rPr dirty="0" sz="800" spc="-30">
                <a:solidFill>
                  <a:srgbClr val="3F70A0"/>
                </a:solidFill>
                <a:latin typeface="Courier New"/>
                <a:cs typeface="Courier New"/>
              </a:rPr>
              <a:t>.</a:t>
            </a:r>
            <a:r>
              <a:rPr dirty="0" sz="800" spc="-30">
                <a:latin typeface="Courier New"/>
                <a:cs typeface="Courier New"/>
              </a:rPr>
              <a:t>basename(key)</a:t>
            </a:r>
            <a:r>
              <a:rPr dirty="0" sz="800" spc="-3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30">
                <a:solidFill>
                  <a:srgbClr val="BA6687"/>
                </a:solidFill>
                <a:latin typeface="Courier New"/>
                <a:cs typeface="Courier New"/>
              </a:rPr>
              <a:t>'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3941445" cy="5080"/>
            </a:xfrm>
            <a:custGeom>
              <a:avLst/>
              <a:gdLst/>
              <a:ahLst/>
              <a:cxnLst/>
              <a:rect l="l" t="t" r="r" b="b"/>
              <a:pathLst>
                <a:path w="3941445" h="5080">
                  <a:moveTo>
                    <a:pt x="0" y="5060"/>
                  </a:moveTo>
                  <a:lnTo>
                    <a:pt x="0" y="0"/>
                  </a:lnTo>
                  <a:lnTo>
                    <a:pt x="3941066" y="0"/>
                  </a:lnTo>
                  <a:lnTo>
                    <a:pt x="39410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4047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5"/>
              <a:t> </a:t>
            </a:r>
            <a:r>
              <a:rPr dirty="0"/>
              <a:t>4:</a:t>
            </a:r>
            <a:r>
              <a:rPr dirty="0" spc="145"/>
              <a:t> </a:t>
            </a:r>
            <a:r>
              <a:rPr dirty="0"/>
              <a:t>Write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0"/>
              <a:t>Lambda</a:t>
            </a:r>
            <a:r>
              <a:rPr dirty="0" spc="40"/>
              <a:t> </a:t>
            </a:r>
            <a:r>
              <a:rPr dirty="0" spc="-25"/>
              <a:t>function</a:t>
            </a:r>
            <a:r>
              <a:rPr dirty="0" spc="40"/>
              <a:t> </a:t>
            </a:r>
            <a:r>
              <a:rPr dirty="0" spc="-20"/>
              <a:t>code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520776"/>
            <a:ext cx="5015230" cy="2335530"/>
            <a:chOff x="372646" y="520776"/>
            <a:chExt cx="5015230" cy="2335530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526123"/>
              <a:ext cx="5004435" cy="2325370"/>
            </a:xfrm>
            <a:custGeom>
              <a:avLst/>
              <a:gdLst/>
              <a:ahLst/>
              <a:cxnLst/>
              <a:rect l="l" t="t" r="r" b="b"/>
              <a:pathLst>
                <a:path w="5004435" h="232537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288742"/>
                  </a:lnTo>
                  <a:lnTo>
                    <a:pt x="2829" y="2302755"/>
                  </a:lnTo>
                  <a:lnTo>
                    <a:pt x="10544" y="2314198"/>
                  </a:lnTo>
                  <a:lnTo>
                    <a:pt x="21987" y="2321913"/>
                  </a:lnTo>
                  <a:lnTo>
                    <a:pt x="36000" y="2324743"/>
                  </a:lnTo>
                  <a:lnTo>
                    <a:pt x="4968064" y="2324743"/>
                  </a:lnTo>
                  <a:lnTo>
                    <a:pt x="4982077" y="2321913"/>
                  </a:lnTo>
                  <a:lnTo>
                    <a:pt x="4993521" y="2314198"/>
                  </a:lnTo>
                  <a:lnTo>
                    <a:pt x="5001236" y="2302755"/>
                  </a:lnTo>
                  <a:lnTo>
                    <a:pt x="5004065" y="228874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527102"/>
              <a:ext cx="5002530" cy="2322830"/>
            </a:xfrm>
            <a:custGeom>
              <a:avLst/>
              <a:gdLst/>
              <a:ahLst/>
              <a:cxnLst/>
              <a:rect l="l" t="t" r="r" b="b"/>
              <a:pathLst>
                <a:path w="5002530" h="2322830">
                  <a:moveTo>
                    <a:pt x="0" y="228776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287763"/>
                  </a:lnTo>
                  <a:lnTo>
                    <a:pt x="4999354" y="2301395"/>
                  </a:lnTo>
                  <a:lnTo>
                    <a:pt x="4991849" y="2312527"/>
                  </a:lnTo>
                  <a:lnTo>
                    <a:pt x="4980717" y="2320032"/>
                  </a:lnTo>
                  <a:lnTo>
                    <a:pt x="4967085" y="2322784"/>
                  </a:lnTo>
                  <a:lnTo>
                    <a:pt x="35021" y="2322784"/>
                  </a:lnTo>
                  <a:lnTo>
                    <a:pt x="21389" y="2320032"/>
                  </a:lnTo>
                  <a:lnTo>
                    <a:pt x="10257" y="2312527"/>
                  </a:lnTo>
                  <a:lnTo>
                    <a:pt x="2752" y="2301395"/>
                  </a:lnTo>
                  <a:lnTo>
                    <a:pt x="0" y="228776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60298" y="641705"/>
            <a:ext cx="4581525" cy="2120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95830">
              <a:lnSpc>
                <a:spcPct val="107400"/>
              </a:lnSpc>
              <a:spcBef>
                <a:spcPts val="100"/>
              </a:spcBef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Download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and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load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image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from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60A0AF"/>
                </a:solidFill>
                <a:latin typeface="Courier New"/>
                <a:cs typeface="Courier New"/>
              </a:rPr>
              <a:t>S3 </a:t>
            </a:r>
            <a:r>
              <a:rPr dirty="0" sz="800" spc="-55">
                <a:latin typeface="Courier New"/>
                <a:cs typeface="Courier New"/>
              </a:rPr>
              <a:t>s3.download_file(bucket,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key,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download_path) image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cv2.imread(download_path)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Count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cells</a:t>
            </a:r>
            <a:r>
              <a:rPr dirty="0" sz="800" spc="-3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using</a:t>
            </a:r>
            <a:r>
              <a:rPr dirty="0" sz="800" spc="-4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contours</a:t>
            </a:r>
            <a:endParaRPr sz="800">
              <a:latin typeface="Courier New"/>
              <a:cs typeface="Courier New"/>
            </a:endParaRPr>
          </a:p>
          <a:p>
            <a:pPr marL="12700" marR="1765935">
              <a:lnSpc>
                <a:spcPct val="107400"/>
              </a:lnSpc>
            </a:pPr>
            <a:r>
              <a:rPr dirty="0" sz="800" spc="-55">
                <a:latin typeface="Courier New"/>
                <a:cs typeface="Courier New"/>
              </a:rPr>
              <a:t>gray_image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5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cv2.cvtColor(image,</a:t>
            </a:r>
            <a:r>
              <a:rPr dirty="0" sz="800" spc="-5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cv2.COLOR_BGR2GRAY) </a:t>
            </a:r>
            <a:r>
              <a:rPr dirty="0" sz="800" spc="-55">
                <a:latin typeface="Courier New"/>
                <a:cs typeface="Courier New"/>
              </a:rPr>
              <a:t>adaptive_thresh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latin typeface="Courier New"/>
                <a:cs typeface="Courier New"/>
              </a:rPr>
              <a:t>cv2.adaptiveThreshold(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latin typeface="Courier New"/>
                <a:cs typeface="Courier New"/>
              </a:rPr>
              <a:t>gray_image,</a:t>
            </a:r>
            <a:r>
              <a:rPr dirty="0" sz="800" spc="-40">
                <a:latin typeface="Courier New"/>
                <a:cs typeface="Courier New"/>
              </a:rPr>
              <a:t> </a:t>
            </a:r>
            <a:r>
              <a:rPr dirty="0" sz="800" spc="-55">
                <a:solidFill>
                  <a:srgbClr val="3FA070"/>
                </a:solidFill>
                <a:latin typeface="Courier New"/>
                <a:cs typeface="Courier New"/>
              </a:rPr>
              <a:t>255</a:t>
            </a:r>
            <a:r>
              <a:rPr dirty="0" sz="800" spc="-55">
                <a:latin typeface="Courier New"/>
                <a:cs typeface="Courier New"/>
              </a:rPr>
              <a:t>,</a:t>
            </a:r>
            <a:r>
              <a:rPr dirty="0" sz="800" spc="-40">
                <a:latin typeface="Courier New"/>
                <a:cs typeface="Courier New"/>
              </a:rPr>
              <a:t> </a:t>
            </a:r>
            <a:r>
              <a:rPr dirty="0" sz="800" spc="-25">
                <a:latin typeface="Courier New"/>
                <a:cs typeface="Courier New"/>
              </a:rPr>
              <a:t>cv2.ADAPTIVE_THRESH_MEAN_C,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5"/>
              </a:spcBef>
            </a:pPr>
            <a:r>
              <a:rPr dirty="0" sz="800" spc="-55">
                <a:latin typeface="Courier New"/>
                <a:cs typeface="Courier New"/>
              </a:rPr>
              <a:t>cv2.THRESH_BINARY_INV,</a:t>
            </a:r>
            <a:r>
              <a:rPr dirty="0" sz="800" spc="-35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65</a:t>
            </a:r>
            <a:r>
              <a:rPr dirty="0" sz="800" spc="-50">
                <a:latin typeface="Courier New"/>
                <a:cs typeface="Courier New"/>
              </a:rPr>
              <a:t>,</a:t>
            </a:r>
            <a:r>
              <a:rPr dirty="0" sz="800" spc="-35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800" spc="-5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latin typeface="Courier New"/>
                <a:cs typeface="Courier New"/>
              </a:rPr>
              <a:t>kernel</a:t>
            </a:r>
            <a:r>
              <a:rPr dirty="0" sz="800" spc="5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5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cv2.getStructuringElement(cv2.MORPH_ELLIPSE,</a:t>
            </a:r>
            <a:r>
              <a:rPr dirty="0" sz="800" spc="5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(</a:t>
            </a:r>
            <a:r>
              <a:rPr dirty="0" sz="800" spc="-1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r>
              <a:rPr dirty="0" sz="800" spc="-10">
                <a:latin typeface="Courier New"/>
                <a:cs typeface="Courier New"/>
              </a:rPr>
              <a:t>,</a:t>
            </a:r>
            <a:r>
              <a:rPr dirty="0" sz="800" spc="-1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r>
              <a:rPr dirty="0" sz="800" spc="-10">
                <a:latin typeface="Courier New"/>
                <a:cs typeface="Courier New"/>
              </a:rPr>
              <a:t>))</a:t>
            </a:r>
            <a:endParaRPr sz="800">
              <a:latin typeface="Courier New"/>
              <a:cs typeface="Courier New"/>
            </a:endParaRPr>
          </a:p>
          <a:p>
            <a:pPr marL="12065">
              <a:lnSpc>
                <a:spcPct val="107400"/>
              </a:lnSpc>
            </a:pPr>
            <a:r>
              <a:rPr dirty="0" sz="800" spc="-55">
                <a:latin typeface="Courier New"/>
                <a:cs typeface="Courier New"/>
              </a:rPr>
              <a:t>morph_image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cv2.morphologyEx(adaptive_thresh,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cv2.MORPH_OPEN,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kernel,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iterations</a:t>
            </a:r>
            <a:r>
              <a:rPr dirty="0" sz="800" spc="-55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55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dirty="0" sz="800" spc="-55">
                <a:latin typeface="Courier New"/>
                <a:cs typeface="Courier New"/>
              </a:rPr>
              <a:t>) contours,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latin typeface="Courier New"/>
                <a:cs typeface="Courier New"/>
              </a:rPr>
              <a:t>_</a:t>
            </a:r>
            <a:r>
              <a:rPr dirty="0" sz="800" spc="-11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8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cv2.findContours(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latin typeface="Courier New"/>
                <a:cs typeface="Courier New"/>
              </a:rPr>
              <a:t>morph_image,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cv2.RETR_EXTERNAL,</a:t>
            </a:r>
            <a:r>
              <a:rPr dirty="0" sz="800" spc="-20">
                <a:latin typeface="Courier New"/>
                <a:cs typeface="Courier New"/>
              </a:rPr>
              <a:t> cv2.CHAIN_APPROX_SIMPLE</a:t>
            </a:r>
            <a:endParaRPr sz="800">
              <a:latin typeface="Courier New"/>
              <a:cs typeface="Courier New"/>
            </a:endParaRPr>
          </a:p>
          <a:p>
            <a:pPr marL="12065">
              <a:lnSpc>
                <a:spcPct val="100000"/>
              </a:lnSpc>
              <a:spcBef>
                <a:spcPts val="70"/>
              </a:spcBef>
            </a:pPr>
            <a:r>
              <a:rPr dirty="0" sz="800" spc="-5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065">
              <a:lnSpc>
                <a:spcPct val="100000"/>
              </a:lnSpc>
              <a:spcBef>
                <a:spcPts val="75"/>
              </a:spcBef>
            </a:pPr>
            <a:r>
              <a:rPr dirty="0" sz="800" spc="-55">
                <a:latin typeface="Courier New"/>
                <a:cs typeface="Courier New"/>
              </a:rPr>
              <a:t>cell_count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8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007F00"/>
                </a:solidFill>
                <a:latin typeface="Courier New"/>
                <a:cs typeface="Courier New"/>
              </a:rPr>
              <a:t>len</a:t>
            </a:r>
            <a:r>
              <a:rPr dirty="0" sz="800" spc="-10">
                <a:latin typeface="Courier New"/>
                <a:cs typeface="Courier New"/>
              </a:rPr>
              <a:t>(contours)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4042410" cy="5080"/>
            </a:xfrm>
            <a:custGeom>
              <a:avLst/>
              <a:gdLst/>
              <a:ahLst/>
              <a:cxnLst/>
              <a:rect l="l" t="t" r="r" b="b"/>
              <a:pathLst>
                <a:path w="4042410" h="5080">
                  <a:moveTo>
                    <a:pt x="0" y="5060"/>
                  </a:moveTo>
                  <a:lnTo>
                    <a:pt x="0" y="0"/>
                  </a:lnTo>
                  <a:lnTo>
                    <a:pt x="4042141" y="0"/>
                  </a:lnTo>
                  <a:lnTo>
                    <a:pt x="40421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404745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5"/>
              <a:t> </a:t>
            </a:r>
            <a:r>
              <a:rPr dirty="0"/>
              <a:t>4:</a:t>
            </a:r>
            <a:r>
              <a:rPr dirty="0" spc="145"/>
              <a:t> </a:t>
            </a:r>
            <a:r>
              <a:rPr dirty="0"/>
              <a:t>Write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 spc="-20"/>
              <a:t>Lambda</a:t>
            </a:r>
            <a:r>
              <a:rPr dirty="0" spc="40"/>
              <a:t> </a:t>
            </a:r>
            <a:r>
              <a:rPr dirty="0" spc="-25"/>
              <a:t>function</a:t>
            </a:r>
            <a:r>
              <a:rPr dirty="0" spc="40"/>
              <a:t> </a:t>
            </a:r>
            <a:r>
              <a:rPr dirty="0" spc="-20"/>
              <a:t>code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623032"/>
            <a:ext cx="5015230" cy="2131060"/>
            <a:chOff x="372646" y="623032"/>
            <a:chExt cx="5015230" cy="2131060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628380"/>
              <a:ext cx="5004435" cy="2120265"/>
            </a:xfrm>
            <a:custGeom>
              <a:avLst/>
              <a:gdLst/>
              <a:ahLst/>
              <a:cxnLst/>
              <a:rect l="l" t="t" r="r" b="b"/>
              <a:pathLst>
                <a:path w="5004435" h="212026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084225"/>
                  </a:lnTo>
                  <a:lnTo>
                    <a:pt x="2829" y="2098238"/>
                  </a:lnTo>
                  <a:lnTo>
                    <a:pt x="10544" y="2109681"/>
                  </a:lnTo>
                  <a:lnTo>
                    <a:pt x="21987" y="2117396"/>
                  </a:lnTo>
                  <a:lnTo>
                    <a:pt x="36000" y="2120226"/>
                  </a:lnTo>
                  <a:lnTo>
                    <a:pt x="4968064" y="2120226"/>
                  </a:lnTo>
                  <a:lnTo>
                    <a:pt x="4982077" y="2117396"/>
                  </a:lnTo>
                  <a:lnTo>
                    <a:pt x="4993521" y="2109681"/>
                  </a:lnTo>
                  <a:lnTo>
                    <a:pt x="5001236" y="2098238"/>
                  </a:lnTo>
                  <a:lnTo>
                    <a:pt x="5004065" y="20842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629359"/>
              <a:ext cx="5002530" cy="2118360"/>
            </a:xfrm>
            <a:custGeom>
              <a:avLst/>
              <a:gdLst/>
              <a:ahLst/>
              <a:cxnLst/>
              <a:rect l="l" t="t" r="r" b="b"/>
              <a:pathLst>
                <a:path w="5002530" h="2118360">
                  <a:moveTo>
                    <a:pt x="0" y="20832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083246"/>
                  </a:lnTo>
                  <a:lnTo>
                    <a:pt x="4999354" y="2096878"/>
                  </a:lnTo>
                  <a:lnTo>
                    <a:pt x="4991849" y="2108010"/>
                  </a:lnTo>
                  <a:lnTo>
                    <a:pt x="4980717" y="2115515"/>
                  </a:lnTo>
                  <a:lnTo>
                    <a:pt x="4967085" y="2118267"/>
                  </a:lnTo>
                  <a:lnTo>
                    <a:pt x="35021" y="2118267"/>
                  </a:lnTo>
                  <a:lnTo>
                    <a:pt x="21389" y="2115515"/>
                  </a:lnTo>
                  <a:lnTo>
                    <a:pt x="10257" y="2108010"/>
                  </a:lnTo>
                  <a:lnTo>
                    <a:pt x="2752" y="2096878"/>
                  </a:lnTo>
                  <a:lnTo>
                    <a:pt x="0" y="20832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60298" y="675437"/>
            <a:ext cx="4683125" cy="1990089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Draw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contours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on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a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copy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of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image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latin typeface="Courier New"/>
                <a:cs typeface="Courier New"/>
              </a:rPr>
              <a:t>output_image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7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image.copy()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800" spc="-60">
                <a:latin typeface="Courier New"/>
                <a:cs typeface="Courier New"/>
              </a:rPr>
              <a:t>cv2.drawContours(output_image,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contours,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dirty="0" sz="800" spc="-50">
                <a:latin typeface="Courier New"/>
                <a:cs typeface="Courier New"/>
              </a:rPr>
              <a:t>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(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50">
                <a:latin typeface="Courier New"/>
                <a:cs typeface="Courier New"/>
              </a:rPr>
              <a:t>,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55">
                <a:solidFill>
                  <a:srgbClr val="3FA070"/>
                </a:solidFill>
                <a:latin typeface="Courier New"/>
                <a:cs typeface="Courier New"/>
              </a:rPr>
              <a:t>255</a:t>
            </a:r>
            <a:r>
              <a:rPr dirty="0" sz="800" spc="-55">
                <a:latin typeface="Courier New"/>
                <a:cs typeface="Courier New"/>
              </a:rPr>
              <a:t>,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dirty="0" sz="800" spc="-50">
                <a:latin typeface="Courier New"/>
                <a:cs typeface="Courier New"/>
              </a:rPr>
              <a:t>),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dirty="0" sz="800" spc="-25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800">
              <a:latin typeface="Courier New"/>
              <a:cs typeface="Courier New"/>
            </a:endParaRPr>
          </a:p>
          <a:p>
            <a:pPr marL="12700" marR="845819">
              <a:lnSpc>
                <a:spcPct val="107400"/>
              </a:lnSpc>
              <a:spcBef>
                <a:spcPts val="5"/>
              </a:spcBef>
            </a:pP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Save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processed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image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and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upload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it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to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the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"processed"</a:t>
            </a:r>
            <a:r>
              <a:rPr dirty="0" sz="800" spc="-4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60A0AF"/>
                </a:solidFill>
                <a:latin typeface="Courier New"/>
                <a:cs typeface="Courier New"/>
              </a:rPr>
              <a:t>bucket </a:t>
            </a:r>
            <a:r>
              <a:rPr dirty="0" sz="800" spc="-55">
                <a:latin typeface="Courier New"/>
                <a:cs typeface="Courier New"/>
              </a:rPr>
              <a:t>result_image_name</a:t>
            </a:r>
            <a:r>
              <a:rPr dirty="0" sz="800" spc="9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9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f"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60">
                <a:latin typeface="Courier New"/>
                <a:cs typeface="Courier New"/>
              </a:rPr>
              <a:t>original_name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-processed-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60">
                <a:latin typeface="Courier New"/>
                <a:cs typeface="Courier New"/>
              </a:rPr>
              <a:t>cell_count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-cells.png" </a:t>
            </a:r>
            <a:r>
              <a:rPr dirty="0" sz="800" spc="-55">
                <a:latin typeface="Courier New"/>
                <a:cs typeface="Courier New"/>
              </a:rPr>
              <a:t>result_image_path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6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BA6687"/>
                </a:solidFill>
                <a:latin typeface="Courier New"/>
                <a:cs typeface="Courier New"/>
              </a:rPr>
              <a:t>f'/tmp/</a:t>
            </a:r>
            <a:r>
              <a:rPr dirty="0" sz="800" spc="-25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25">
                <a:latin typeface="Courier New"/>
                <a:cs typeface="Courier New"/>
              </a:rPr>
              <a:t>result_image_name</a:t>
            </a:r>
            <a:r>
              <a:rPr dirty="0" sz="800" spc="-25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25">
                <a:solidFill>
                  <a:srgbClr val="BA6687"/>
                </a:solidFill>
                <a:latin typeface="Courier New"/>
                <a:cs typeface="Courier New"/>
              </a:rPr>
              <a:t>' </a:t>
            </a:r>
            <a:r>
              <a:rPr dirty="0" sz="800" spc="-60">
                <a:latin typeface="Courier New"/>
                <a:cs typeface="Courier New"/>
              </a:rPr>
              <a:t>cv2.imwrite(result_image_path,</a:t>
            </a:r>
            <a:r>
              <a:rPr dirty="0" sz="800" spc="170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output_image)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latin typeface="Courier New"/>
                <a:cs typeface="Courier New"/>
              </a:rPr>
              <a:t>result_bucket</a:t>
            </a:r>
            <a:r>
              <a:rPr dirty="0" sz="800" spc="-50"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800" spc="-5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'medical-images-processed-[YOUR-</a:t>
            </a:r>
            <a:r>
              <a:rPr dirty="0" sz="800" spc="-10">
                <a:solidFill>
                  <a:srgbClr val="3F70A0"/>
                </a:solidFill>
                <a:latin typeface="Courier New"/>
                <a:cs typeface="Courier New"/>
              </a:rPr>
              <a:t>NAME]'</a:t>
            </a:r>
            <a:r>
              <a:rPr dirty="0" sz="800" spc="385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Replace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with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0" i="1">
                <a:solidFill>
                  <a:srgbClr val="60A0AF"/>
                </a:solidFill>
                <a:latin typeface="Courier New"/>
                <a:cs typeface="Courier New"/>
              </a:rPr>
              <a:t>your</a:t>
            </a:r>
            <a:r>
              <a:rPr dirty="0" sz="800" spc="-50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60A0AF"/>
                </a:solidFill>
                <a:latin typeface="Courier New"/>
                <a:cs typeface="Courier New"/>
              </a:rPr>
              <a:t>bucket</a:t>
            </a:r>
            <a:r>
              <a:rPr dirty="0" sz="800" spc="-55" i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60A0AF"/>
                </a:solidFill>
                <a:latin typeface="Courier New"/>
                <a:cs typeface="Courier New"/>
              </a:rPr>
              <a:t>name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latin typeface="Courier New"/>
                <a:cs typeface="Courier New"/>
              </a:rPr>
              <a:t>s3.upload_file(result_image_path,</a:t>
            </a:r>
            <a:r>
              <a:rPr dirty="0" sz="800" spc="8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result_bucket,</a:t>
            </a:r>
            <a:r>
              <a:rPr dirty="0" sz="800" spc="8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result_image_name)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65" b="1">
                <a:solidFill>
                  <a:srgbClr val="007021"/>
                </a:solidFill>
                <a:latin typeface="Courier New"/>
                <a:cs typeface="Courier New"/>
              </a:rPr>
              <a:t>return</a:t>
            </a:r>
            <a:r>
              <a:rPr dirty="0" sz="800" spc="-15" b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0"/>
              </a:spcBef>
            </a:pP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'statusCode'</a:t>
            </a:r>
            <a:r>
              <a:rPr dirty="0" sz="800" spc="-55">
                <a:latin typeface="Courier New"/>
                <a:cs typeface="Courier New"/>
              </a:rPr>
              <a:t>: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3FA070"/>
                </a:solidFill>
                <a:latin typeface="Courier New"/>
                <a:cs typeface="Courier New"/>
              </a:rPr>
              <a:t>200</a:t>
            </a:r>
            <a:r>
              <a:rPr dirty="0" sz="800" spc="-20">
                <a:latin typeface="Courier New"/>
                <a:cs typeface="Courier New"/>
              </a:rPr>
              <a:t>,</a:t>
            </a:r>
            <a:endParaRPr sz="800">
              <a:latin typeface="Courier New"/>
              <a:cs typeface="Courier New"/>
            </a:endParaRPr>
          </a:p>
          <a:p>
            <a:pPr marL="227329">
              <a:lnSpc>
                <a:spcPct val="100000"/>
              </a:lnSpc>
              <a:spcBef>
                <a:spcPts val="75"/>
              </a:spcBef>
            </a:pP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'body'</a:t>
            </a:r>
            <a:r>
              <a:rPr dirty="0" sz="800" spc="-60">
                <a:latin typeface="Courier New"/>
                <a:cs typeface="Courier New"/>
              </a:rPr>
              <a:t>:</a:t>
            </a:r>
            <a:r>
              <a:rPr dirty="0" sz="800" spc="-1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json.dumps(</a:t>
            </a:r>
            <a:r>
              <a:rPr dirty="0" sz="800" spc="-55">
                <a:solidFill>
                  <a:srgbClr val="BA6687"/>
                </a:solidFill>
                <a:latin typeface="Courier New"/>
                <a:cs typeface="Courier New"/>
              </a:rPr>
              <a:t>f"Processed</a:t>
            </a:r>
            <a:r>
              <a:rPr dirty="0" sz="800" spc="-15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60">
                <a:latin typeface="Courier New"/>
                <a:cs typeface="Courier New"/>
              </a:rPr>
              <a:t>key</a:t>
            </a:r>
            <a:r>
              <a:rPr dirty="0" sz="800" spc="-60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,</a:t>
            </a:r>
            <a:r>
              <a:rPr dirty="0" sz="800" spc="-15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found</a:t>
            </a:r>
            <a:r>
              <a:rPr dirty="0" sz="800" spc="-15">
                <a:solidFill>
                  <a:srgbClr val="BA6687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{</a:t>
            </a:r>
            <a:r>
              <a:rPr dirty="0" sz="800" spc="-55">
                <a:latin typeface="Courier New"/>
                <a:cs typeface="Courier New"/>
              </a:rPr>
              <a:t>cell_count</a:t>
            </a:r>
            <a:r>
              <a:rPr dirty="0" sz="800" spc="-55">
                <a:solidFill>
                  <a:srgbClr val="3F70A0"/>
                </a:solidFill>
                <a:latin typeface="Courier New"/>
                <a:cs typeface="Courier New"/>
              </a:rPr>
              <a:t>}</a:t>
            </a:r>
            <a:r>
              <a:rPr dirty="0" sz="800" spc="-15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A6687"/>
                </a:solidFill>
                <a:latin typeface="Courier New"/>
                <a:cs typeface="Courier New"/>
              </a:rPr>
              <a:t>cells."</a:t>
            </a:r>
            <a:r>
              <a:rPr dirty="0" sz="800" spc="-10"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800" spc="-50"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4143375" cy="5080"/>
            </a:xfrm>
            <a:custGeom>
              <a:avLst/>
              <a:gdLst/>
              <a:ahLst/>
              <a:cxnLst/>
              <a:rect l="l" t="t" r="r" b="b"/>
              <a:pathLst>
                <a:path w="4143375" h="5080">
                  <a:moveTo>
                    <a:pt x="0" y="5060"/>
                  </a:moveTo>
                  <a:lnTo>
                    <a:pt x="0" y="0"/>
                  </a:lnTo>
                  <a:lnTo>
                    <a:pt x="4143217" y="0"/>
                  </a:lnTo>
                  <a:lnTo>
                    <a:pt x="41432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24047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Step</a:t>
            </a:r>
            <a:r>
              <a:rPr dirty="0" sz="1000" spc="3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4:</a:t>
            </a:r>
            <a:r>
              <a:rPr dirty="0" sz="1000" spc="145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Write</a:t>
            </a:r>
            <a:r>
              <a:rPr dirty="0" sz="1000" spc="4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dirty="0" sz="1000" spc="4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Lambda</a:t>
            </a:r>
            <a:r>
              <a:rPr dirty="0" sz="1000" spc="4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9F9F9"/>
                </a:solidFill>
                <a:latin typeface="Arial"/>
                <a:cs typeface="Arial"/>
              </a:rPr>
              <a:t>function</a:t>
            </a:r>
            <a:r>
              <a:rPr dirty="0" sz="1000" spc="4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code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985759" y="619531"/>
            <a:ext cx="384175" cy="146050"/>
            <a:chOff x="1985759" y="619531"/>
            <a:chExt cx="384175" cy="146050"/>
          </a:xfrm>
        </p:grpSpPr>
        <p:sp>
          <p:nvSpPr>
            <p:cNvPr id="4" name="object 4" descr=""/>
            <p:cNvSpPr/>
            <p:nvPr/>
          </p:nvSpPr>
          <p:spPr>
            <a:xfrm>
              <a:off x="1985759" y="619531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985759" y="619531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587839"/>
            <a:ext cx="30714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copied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Deploy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changes.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69" y="857889"/>
            <a:ext cx="4031873" cy="156744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454554" y="2559302"/>
            <a:ext cx="8509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19:</a:t>
            </a:r>
            <a:r>
              <a:rPr dirty="0" sz="800" spc="114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4244340" cy="5080"/>
            </a:xfrm>
            <a:custGeom>
              <a:avLst/>
              <a:gdLst/>
              <a:ahLst/>
              <a:cxnLst/>
              <a:rect l="l" t="t" r="r" b="b"/>
              <a:pathLst>
                <a:path w="4244340" h="5080">
                  <a:moveTo>
                    <a:pt x="0" y="5060"/>
                  </a:moveTo>
                  <a:lnTo>
                    <a:pt x="0" y="0"/>
                  </a:lnTo>
                  <a:lnTo>
                    <a:pt x="4244292" y="0"/>
                  </a:lnTo>
                  <a:lnTo>
                    <a:pt x="42442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5"/>
              <a:t> </a:t>
            </a:r>
            <a:r>
              <a:rPr dirty="0"/>
              <a:t>5:</a:t>
            </a:r>
            <a:r>
              <a:rPr dirty="0" spc="114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 spc="-10"/>
              <a:t>and</a:t>
            </a:r>
            <a:r>
              <a:rPr dirty="0" spc="15"/>
              <a:t> </a:t>
            </a:r>
            <a:r>
              <a:rPr dirty="0" spc="-45"/>
              <a:t>publish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30"/>
              <a:t>layer</a:t>
            </a:r>
            <a:r>
              <a:rPr dirty="0" spc="15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40"/>
              <a:t>dependencies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019080" y="910134"/>
            <a:ext cx="1028065" cy="306705"/>
            <a:chOff x="4019080" y="910134"/>
            <a:chExt cx="1028065" cy="306705"/>
          </a:xfrm>
        </p:grpSpPr>
        <p:sp>
          <p:nvSpPr>
            <p:cNvPr id="4" name="object 4" descr=""/>
            <p:cNvSpPr/>
            <p:nvPr/>
          </p:nvSpPr>
          <p:spPr>
            <a:xfrm>
              <a:off x="4019080" y="910134"/>
              <a:ext cx="324485" cy="123189"/>
            </a:xfrm>
            <a:custGeom>
              <a:avLst/>
              <a:gdLst/>
              <a:ahLst/>
              <a:cxnLst/>
              <a:rect l="l" t="t" r="r" b="b"/>
              <a:pathLst>
                <a:path w="324485" h="123190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88225" y="122693"/>
                  </a:lnTo>
                  <a:lnTo>
                    <a:pt x="302238" y="119864"/>
                  </a:lnTo>
                  <a:lnTo>
                    <a:pt x="313681" y="112148"/>
                  </a:lnTo>
                  <a:lnTo>
                    <a:pt x="321396" y="100705"/>
                  </a:lnTo>
                  <a:lnTo>
                    <a:pt x="324225" y="86692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19080" y="910134"/>
              <a:ext cx="324485" cy="123189"/>
            </a:xfrm>
            <a:custGeom>
              <a:avLst/>
              <a:gdLst/>
              <a:ahLst/>
              <a:cxnLst/>
              <a:rect l="l" t="t" r="r" b="b"/>
              <a:pathLst>
                <a:path w="324485" h="123190">
                  <a:moveTo>
                    <a:pt x="2882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288225" y="122693"/>
                  </a:lnTo>
                  <a:lnTo>
                    <a:pt x="302238" y="119864"/>
                  </a:lnTo>
                  <a:lnTo>
                    <a:pt x="313681" y="112148"/>
                  </a:lnTo>
                  <a:lnTo>
                    <a:pt x="321396" y="100705"/>
                  </a:lnTo>
                  <a:lnTo>
                    <a:pt x="324225" y="86692"/>
                  </a:lnTo>
                  <a:lnTo>
                    <a:pt x="324225" y="36000"/>
                  </a:lnTo>
                  <a:lnTo>
                    <a:pt x="321396" y="21987"/>
                  </a:lnTo>
                  <a:lnTo>
                    <a:pt x="313681" y="10544"/>
                  </a:lnTo>
                  <a:lnTo>
                    <a:pt x="302238" y="2829"/>
                  </a:lnTo>
                  <a:lnTo>
                    <a:pt x="2882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244556" y="1070711"/>
              <a:ext cx="802640" cy="146050"/>
            </a:xfrm>
            <a:custGeom>
              <a:avLst/>
              <a:gdLst/>
              <a:ahLst/>
              <a:cxnLst/>
              <a:rect l="l" t="t" r="r" b="b"/>
              <a:pathLst>
                <a:path w="802639" h="14605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766498" y="146037"/>
                  </a:lnTo>
                  <a:lnTo>
                    <a:pt x="780511" y="143208"/>
                  </a:lnTo>
                  <a:lnTo>
                    <a:pt x="791954" y="135493"/>
                  </a:lnTo>
                  <a:lnTo>
                    <a:pt x="799669" y="124050"/>
                  </a:lnTo>
                  <a:lnTo>
                    <a:pt x="802498" y="110037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244556" y="1070711"/>
              <a:ext cx="802640" cy="146050"/>
            </a:xfrm>
            <a:custGeom>
              <a:avLst/>
              <a:gdLst/>
              <a:ahLst/>
              <a:cxnLst/>
              <a:rect l="l" t="t" r="r" b="b"/>
              <a:pathLst>
                <a:path w="802639" h="14605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766498" y="146037"/>
                  </a:lnTo>
                  <a:lnTo>
                    <a:pt x="780511" y="143208"/>
                  </a:lnTo>
                  <a:lnTo>
                    <a:pt x="791954" y="135493"/>
                  </a:lnTo>
                  <a:lnTo>
                    <a:pt x="799669" y="124050"/>
                  </a:lnTo>
                  <a:lnTo>
                    <a:pt x="802498" y="110037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249" y="2186453"/>
            <a:ext cx="204657" cy="14501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994" y="2365826"/>
            <a:ext cx="144873" cy="10025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0073" y="2345775"/>
            <a:ext cx="204657" cy="145012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41718" y="857024"/>
            <a:ext cx="5071110" cy="161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51435">
              <a:lnSpc>
                <a:spcPct val="116199"/>
              </a:lnSpc>
              <a:spcBef>
                <a:spcPts val="100"/>
              </a:spcBef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Lambdas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dependencies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pre-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boto3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(which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library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write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read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buckets),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dirty="0" sz="900" spc="1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opencv-python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since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included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default.</a:t>
            </a:r>
            <a:endParaRPr sz="900">
              <a:latin typeface="Arial"/>
              <a:cs typeface="Arial"/>
            </a:endParaRPr>
          </a:p>
          <a:p>
            <a:pPr marL="13970" marR="5080">
              <a:lnSpc>
                <a:spcPct val="116199"/>
              </a:lnSpc>
              <a:spcBef>
                <a:spcPts val="62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so,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dependencies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attach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function.</a:t>
            </a:r>
            <a:r>
              <a:rPr dirty="0" sz="900" spc="1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packaging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needed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dependencies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available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dirty="0" sz="900" spc="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7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runs.</a:t>
            </a:r>
            <a:endParaRPr sz="900">
              <a:latin typeface="Arial"/>
              <a:cs typeface="Arial"/>
            </a:endParaRPr>
          </a:p>
          <a:p>
            <a:pPr algn="just" marL="17780" marR="113030" indent="-5715">
              <a:lnSpc>
                <a:spcPct val="116199"/>
              </a:lnSpc>
              <a:spcBef>
                <a:spcPts val="62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CLI 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its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credentials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well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Python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3.13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6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10">
                <a:latin typeface="Courier New"/>
                <a:cs typeface="Courier New"/>
              </a:rPr>
              <a:t>zip</a:t>
            </a:r>
            <a:r>
              <a:rPr dirty="0" sz="900" spc="-2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installed.</a:t>
            </a:r>
            <a:r>
              <a:rPr dirty="0" sz="900" spc="8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previous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together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dirty="0" sz="900" spc="-75">
                <a:latin typeface="Courier New"/>
                <a:cs typeface="Courier New"/>
              </a:rPr>
              <a:t>uv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managing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python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versions.</a:t>
            </a:r>
            <a:r>
              <a:rPr dirty="0" sz="900" spc="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zip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installed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0" y="3234963"/>
              <a:ext cx="4345305" cy="5080"/>
            </a:xfrm>
            <a:custGeom>
              <a:avLst/>
              <a:gdLst/>
              <a:ahLst/>
              <a:cxnLst/>
              <a:rect l="l" t="t" r="r" b="b"/>
              <a:pathLst>
                <a:path w="4345305" h="5080">
                  <a:moveTo>
                    <a:pt x="0" y="5060"/>
                  </a:moveTo>
                  <a:lnTo>
                    <a:pt x="0" y="0"/>
                  </a:lnTo>
                  <a:lnTo>
                    <a:pt x="4345280" y="0"/>
                  </a:lnTo>
                  <a:lnTo>
                    <a:pt x="434528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5"/>
              <a:t> </a:t>
            </a:r>
            <a:r>
              <a:rPr dirty="0"/>
              <a:t>5:</a:t>
            </a:r>
            <a:r>
              <a:rPr dirty="0" spc="114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 spc="-10"/>
              <a:t>and</a:t>
            </a:r>
            <a:r>
              <a:rPr dirty="0" spc="15"/>
              <a:t> </a:t>
            </a:r>
            <a:r>
              <a:rPr dirty="0" spc="-45"/>
              <a:t>publish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30"/>
              <a:t>layer</a:t>
            </a:r>
            <a:r>
              <a:rPr dirty="0" spc="15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40"/>
              <a:t>dependencies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1137508"/>
            <a:ext cx="5015230" cy="451484"/>
            <a:chOff x="372646" y="1137508"/>
            <a:chExt cx="5015230" cy="451484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1142856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9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181"/>
                  </a:lnTo>
                  <a:lnTo>
                    <a:pt x="2829" y="418194"/>
                  </a:lnTo>
                  <a:lnTo>
                    <a:pt x="10544" y="429637"/>
                  </a:lnTo>
                  <a:lnTo>
                    <a:pt x="21987" y="437353"/>
                  </a:lnTo>
                  <a:lnTo>
                    <a:pt x="36000" y="440182"/>
                  </a:lnTo>
                  <a:lnTo>
                    <a:pt x="4968064" y="440182"/>
                  </a:lnTo>
                  <a:lnTo>
                    <a:pt x="4982077" y="437353"/>
                  </a:lnTo>
                  <a:lnTo>
                    <a:pt x="4993521" y="429637"/>
                  </a:lnTo>
                  <a:lnTo>
                    <a:pt x="5001236" y="418194"/>
                  </a:lnTo>
                  <a:lnTo>
                    <a:pt x="5004065" y="4041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1143835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4">
                  <a:moveTo>
                    <a:pt x="0" y="4032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202"/>
                  </a:lnTo>
                  <a:lnTo>
                    <a:pt x="4999354" y="416834"/>
                  </a:lnTo>
                  <a:lnTo>
                    <a:pt x="4991849" y="427966"/>
                  </a:lnTo>
                  <a:lnTo>
                    <a:pt x="4980717" y="435471"/>
                  </a:lnTo>
                  <a:lnTo>
                    <a:pt x="4967085" y="438223"/>
                  </a:lnTo>
                  <a:lnTo>
                    <a:pt x="35021" y="438223"/>
                  </a:lnTo>
                  <a:lnTo>
                    <a:pt x="21389" y="435471"/>
                  </a:lnTo>
                  <a:lnTo>
                    <a:pt x="10257" y="427966"/>
                  </a:lnTo>
                  <a:lnTo>
                    <a:pt x="2752" y="416834"/>
                  </a:lnTo>
                  <a:lnTo>
                    <a:pt x="0" y="4032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3434" y="1712157"/>
            <a:ext cx="144873" cy="100259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372646" y="1903959"/>
            <a:ext cx="5015230" cy="574675"/>
            <a:chOff x="372646" y="1903959"/>
            <a:chExt cx="5015230" cy="574675"/>
          </a:xfrm>
        </p:grpSpPr>
        <p:sp>
          <p:nvSpPr>
            <p:cNvPr id="8" name="object 8" descr=""/>
            <p:cNvSpPr/>
            <p:nvPr/>
          </p:nvSpPr>
          <p:spPr>
            <a:xfrm>
              <a:off x="377994" y="1909306"/>
              <a:ext cx="5004435" cy="563880"/>
            </a:xfrm>
            <a:custGeom>
              <a:avLst/>
              <a:gdLst/>
              <a:ahLst/>
              <a:cxnLst/>
              <a:rect l="l" t="t" r="r" b="b"/>
              <a:pathLst>
                <a:path w="5004435" h="56388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27848"/>
                  </a:lnTo>
                  <a:lnTo>
                    <a:pt x="2829" y="541861"/>
                  </a:lnTo>
                  <a:lnTo>
                    <a:pt x="10544" y="553304"/>
                  </a:lnTo>
                  <a:lnTo>
                    <a:pt x="21987" y="561020"/>
                  </a:lnTo>
                  <a:lnTo>
                    <a:pt x="36000" y="563849"/>
                  </a:lnTo>
                  <a:lnTo>
                    <a:pt x="4968064" y="563849"/>
                  </a:lnTo>
                  <a:lnTo>
                    <a:pt x="4982077" y="561020"/>
                  </a:lnTo>
                  <a:lnTo>
                    <a:pt x="4993521" y="553304"/>
                  </a:lnTo>
                  <a:lnTo>
                    <a:pt x="5001236" y="541861"/>
                  </a:lnTo>
                  <a:lnTo>
                    <a:pt x="5004065" y="527848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78973" y="1910285"/>
              <a:ext cx="5002530" cy="561975"/>
            </a:xfrm>
            <a:custGeom>
              <a:avLst/>
              <a:gdLst/>
              <a:ahLst/>
              <a:cxnLst/>
              <a:rect l="l" t="t" r="r" b="b"/>
              <a:pathLst>
                <a:path w="5002530" h="561975">
                  <a:moveTo>
                    <a:pt x="0" y="526869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26869"/>
                  </a:lnTo>
                  <a:lnTo>
                    <a:pt x="4999354" y="540501"/>
                  </a:lnTo>
                  <a:lnTo>
                    <a:pt x="4991849" y="551633"/>
                  </a:lnTo>
                  <a:lnTo>
                    <a:pt x="4980717" y="559138"/>
                  </a:lnTo>
                  <a:lnTo>
                    <a:pt x="4967085" y="561890"/>
                  </a:lnTo>
                  <a:lnTo>
                    <a:pt x="35021" y="561890"/>
                  </a:lnTo>
                  <a:lnTo>
                    <a:pt x="21389" y="559138"/>
                  </a:lnTo>
                  <a:lnTo>
                    <a:pt x="10257" y="551633"/>
                  </a:lnTo>
                  <a:lnTo>
                    <a:pt x="2752" y="540501"/>
                  </a:lnTo>
                  <a:lnTo>
                    <a:pt x="0" y="526869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47294" y="893516"/>
            <a:ext cx="4147185" cy="1482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Start by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build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 cd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>
              <a:latin typeface="Arial"/>
              <a:cs typeface="Arial"/>
            </a:endParaRPr>
          </a:p>
          <a:p>
            <a:pPr marL="210185" marR="596265">
              <a:lnSpc>
                <a:spcPct val="107400"/>
              </a:lnSpc>
            </a:pPr>
            <a:r>
              <a:rPr dirty="0" sz="800" spc="-60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dirty="0" sz="800" spc="105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7C8E28"/>
                </a:solidFill>
                <a:latin typeface="Courier New"/>
                <a:cs typeface="Courier New"/>
              </a:rPr>
              <a:t>p</a:t>
            </a:r>
            <a:r>
              <a:rPr dirty="0" sz="800" spc="11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cell-count-layer/python/lib/python3.13/site-packages/ </a:t>
            </a:r>
            <a:r>
              <a:rPr dirty="0" sz="800" spc="-5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800" spc="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cell-count-</a:t>
            </a:r>
            <a:r>
              <a:rPr dirty="0" sz="800" spc="-10">
                <a:latin typeface="Courier New"/>
                <a:cs typeface="Courier New"/>
              </a:rPr>
              <a:t>layer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 create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virtual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environment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11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uv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dependencies.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Arial"/>
              <a:cs typeface="Arial"/>
            </a:endParaRPr>
          </a:p>
          <a:p>
            <a:pPr marL="210185" marR="1510030">
              <a:lnSpc>
                <a:spcPct val="107400"/>
              </a:lnSpc>
              <a:spcBef>
                <a:spcPts val="5"/>
              </a:spcBef>
            </a:pPr>
            <a:r>
              <a:rPr dirty="0" sz="800" spc="-50">
                <a:latin typeface="Courier New"/>
                <a:cs typeface="Courier New"/>
              </a:rPr>
              <a:t>uv</a:t>
            </a:r>
            <a:r>
              <a:rPr dirty="0" sz="800" spc="-25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venv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dirty="0" sz="800" spc="-55">
                <a:solidFill>
                  <a:srgbClr val="7C8E28"/>
                </a:solidFill>
                <a:latin typeface="Courier New"/>
                <a:cs typeface="Courier New"/>
              </a:rPr>
              <a:t>seed</a:t>
            </a:r>
            <a:r>
              <a:rPr dirty="0" sz="800" spc="-2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--python</a:t>
            </a:r>
            <a:r>
              <a:rPr dirty="0" sz="800" spc="-2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3.13</a:t>
            </a:r>
            <a:r>
              <a:rPr dirty="0" sz="800" spc="-2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.cell-count-</a:t>
            </a:r>
            <a:r>
              <a:rPr dirty="0" sz="800" spc="-55">
                <a:latin typeface="Courier New"/>
                <a:cs typeface="Courier New"/>
              </a:rPr>
              <a:t>venv </a:t>
            </a:r>
            <a:r>
              <a:rPr dirty="0" sz="800" spc="-60">
                <a:solidFill>
                  <a:srgbClr val="007F00"/>
                </a:solidFill>
                <a:latin typeface="Courier New"/>
                <a:cs typeface="Courier New"/>
              </a:rPr>
              <a:t>source</a:t>
            </a:r>
            <a:r>
              <a:rPr dirty="0" sz="800" spc="7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.cell-count-</a:t>
            </a:r>
            <a:r>
              <a:rPr dirty="0" sz="800" spc="-10">
                <a:latin typeface="Courier New"/>
                <a:cs typeface="Courier New"/>
              </a:rPr>
              <a:t>venv/bin/activate</a:t>
            </a:r>
            <a:endParaRPr sz="8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dirty="0" sz="800" spc="-50">
                <a:latin typeface="Courier New"/>
                <a:cs typeface="Courier New"/>
              </a:rPr>
              <a:t>pip</a:t>
            </a:r>
            <a:r>
              <a:rPr dirty="0" sz="800" spc="35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install</a:t>
            </a:r>
            <a:r>
              <a:rPr dirty="0" sz="800" spc="35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opencv-python-headless</a:t>
            </a:r>
            <a:r>
              <a:rPr dirty="0" sz="800" spc="35"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7C8E28"/>
                </a:solidFill>
                <a:latin typeface="Courier New"/>
                <a:cs typeface="Courier New"/>
              </a:rPr>
              <a:t>t</a:t>
            </a:r>
            <a:r>
              <a:rPr dirty="0" sz="800" spc="35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python/lib/python3.13/site-</a:t>
            </a:r>
            <a:r>
              <a:rPr dirty="0" sz="800" spc="-45">
                <a:latin typeface="Courier New"/>
                <a:cs typeface="Courier New"/>
              </a:rPr>
              <a:t>packages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0" y="3234963"/>
              <a:ext cx="4446905" cy="5080"/>
            </a:xfrm>
            <a:custGeom>
              <a:avLst/>
              <a:gdLst/>
              <a:ahLst/>
              <a:cxnLst/>
              <a:rect l="l" t="t" r="r" b="b"/>
              <a:pathLst>
                <a:path w="4446905" h="5080">
                  <a:moveTo>
                    <a:pt x="0" y="5060"/>
                  </a:moveTo>
                  <a:lnTo>
                    <a:pt x="0" y="0"/>
                  </a:lnTo>
                  <a:lnTo>
                    <a:pt x="4446355" y="0"/>
                  </a:lnTo>
                  <a:lnTo>
                    <a:pt x="44463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5"/>
              <a:t> </a:t>
            </a:r>
            <a:r>
              <a:rPr dirty="0"/>
              <a:t>5:</a:t>
            </a:r>
            <a:r>
              <a:rPr dirty="0" spc="114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 spc="-10"/>
              <a:t>and</a:t>
            </a:r>
            <a:r>
              <a:rPr dirty="0" spc="15"/>
              <a:t> </a:t>
            </a:r>
            <a:r>
              <a:rPr dirty="0" spc="-45"/>
              <a:t>publish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30"/>
              <a:t>layer</a:t>
            </a:r>
            <a:r>
              <a:rPr dirty="0" spc="15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40"/>
              <a:t>dependencies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1175163"/>
            <a:ext cx="5015230" cy="311785"/>
            <a:chOff x="372646" y="1175163"/>
            <a:chExt cx="5015230" cy="311785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1180511"/>
              <a:ext cx="5004435" cy="300990"/>
            </a:xfrm>
            <a:custGeom>
              <a:avLst/>
              <a:gdLst/>
              <a:ahLst/>
              <a:cxnLst/>
              <a:rect l="l" t="t" r="r" b="b"/>
              <a:pathLst>
                <a:path w="5004435" h="30099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4825"/>
                  </a:lnTo>
                  <a:lnTo>
                    <a:pt x="2829" y="278838"/>
                  </a:lnTo>
                  <a:lnTo>
                    <a:pt x="10544" y="290281"/>
                  </a:lnTo>
                  <a:lnTo>
                    <a:pt x="21987" y="297996"/>
                  </a:lnTo>
                  <a:lnTo>
                    <a:pt x="36000" y="300825"/>
                  </a:lnTo>
                  <a:lnTo>
                    <a:pt x="4968064" y="300825"/>
                  </a:lnTo>
                  <a:lnTo>
                    <a:pt x="4982077" y="297996"/>
                  </a:lnTo>
                  <a:lnTo>
                    <a:pt x="4993521" y="290281"/>
                  </a:lnTo>
                  <a:lnTo>
                    <a:pt x="5001236" y="278838"/>
                  </a:lnTo>
                  <a:lnTo>
                    <a:pt x="5004065" y="264825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1181490"/>
              <a:ext cx="5002530" cy="299085"/>
            </a:xfrm>
            <a:custGeom>
              <a:avLst/>
              <a:gdLst/>
              <a:ahLst/>
              <a:cxnLst/>
              <a:rect l="l" t="t" r="r" b="b"/>
              <a:pathLst>
                <a:path w="5002530" h="299084">
                  <a:moveTo>
                    <a:pt x="0" y="263846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3846"/>
                  </a:lnTo>
                  <a:lnTo>
                    <a:pt x="4999354" y="277478"/>
                  </a:lnTo>
                  <a:lnTo>
                    <a:pt x="4991849" y="288610"/>
                  </a:lnTo>
                  <a:lnTo>
                    <a:pt x="4980717" y="296115"/>
                  </a:lnTo>
                  <a:lnTo>
                    <a:pt x="4967085" y="298867"/>
                  </a:lnTo>
                  <a:lnTo>
                    <a:pt x="35021" y="298867"/>
                  </a:lnTo>
                  <a:lnTo>
                    <a:pt x="21389" y="296115"/>
                  </a:lnTo>
                  <a:lnTo>
                    <a:pt x="10257" y="288610"/>
                  </a:lnTo>
                  <a:lnTo>
                    <a:pt x="2752" y="277478"/>
                  </a:lnTo>
                  <a:lnTo>
                    <a:pt x="0" y="263846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770888" y="1899397"/>
            <a:ext cx="683260" cy="139065"/>
            <a:chOff x="1770888" y="1899397"/>
            <a:chExt cx="683260" cy="139065"/>
          </a:xfrm>
        </p:grpSpPr>
        <p:sp>
          <p:nvSpPr>
            <p:cNvPr id="7" name="object 7" descr=""/>
            <p:cNvSpPr/>
            <p:nvPr/>
          </p:nvSpPr>
          <p:spPr>
            <a:xfrm>
              <a:off x="1770888" y="1899397"/>
              <a:ext cx="683260" cy="139065"/>
            </a:xfrm>
            <a:custGeom>
              <a:avLst/>
              <a:gdLst/>
              <a:ahLst/>
              <a:cxnLst/>
              <a:rect l="l" t="t" r="r" b="b"/>
              <a:pathLst>
                <a:path w="683260" h="13906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635"/>
                  </a:lnTo>
                  <a:lnTo>
                    <a:pt x="2829" y="116648"/>
                  </a:lnTo>
                  <a:lnTo>
                    <a:pt x="10544" y="128091"/>
                  </a:lnTo>
                  <a:lnTo>
                    <a:pt x="21987" y="135806"/>
                  </a:lnTo>
                  <a:lnTo>
                    <a:pt x="36000" y="138635"/>
                  </a:lnTo>
                  <a:lnTo>
                    <a:pt x="646930" y="138635"/>
                  </a:lnTo>
                  <a:lnTo>
                    <a:pt x="660943" y="135806"/>
                  </a:lnTo>
                  <a:lnTo>
                    <a:pt x="672386" y="128091"/>
                  </a:lnTo>
                  <a:lnTo>
                    <a:pt x="680101" y="116648"/>
                  </a:lnTo>
                  <a:lnTo>
                    <a:pt x="682930" y="102635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770888" y="1899397"/>
              <a:ext cx="683260" cy="139065"/>
            </a:xfrm>
            <a:custGeom>
              <a:avLst/>
              <a:gdLst/>
              <a:ahLst/>
              <a:cxnLst/>
              <a:rect l="l" t="t" r="r" b="b"/>
              <a:pathLst>
                <a:path w="683260" h="13906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635"/>
                  </a:lnTo>
                  <a:lnTo>
                    <a:pt x="2829" y="116648"/>
                  </a:lnTo>
                  <a:lnTo>
                    <a:pt x="10544" y="128091"/>
                  </a:lnTo>
                  <a:lnTo>
                    <a:pt x="21987" y="135806"/>
                  </a:lnTo>
                  <a:lnTo>
                    <a:pt x="36000" y="138635"/>
                  </a:lnTo>
                  <a:lnTo>
                    <a:pt x="646930" y="138635"/>
                  </a:lnTo>
                  <a:lnTo>
                    <a:pt x="660943" y="135806"/>
                  </a:lnTo>
                  <a:lnTo>
                    <a:pt x="672386" y="128091"/>
                  </a:lnTo>
                  <a:lnTo>
                    <a:pt x="680101" y="116648"/>
                  </a:lnTo>
                  <a:lnTo>
                    <a:pt x="682930" y="102635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372646" y="2120913"/>
            <a:ext cx="5015230" cy="320040"/>
            <a:chOff x="372646" y="2120913"/>
            <a:chExt cx="5015230" cy="320040"/>
          </a:xfrm>
        </p:grpSpPr>
        <p:sp>
          <p:nvSpPr>
            <p:cNvPr id="10" name="object 10" descr=""/>
            <p:cNvSpPr/>
            <p:nvPr/>
          </p:nvSpPr>
          <p:spPr>
            <a:xfrm>
              <a:off x="377994" y="2126260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8973" y="2127239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41718" y="931184"/>
            <a:ext cx="4932680" cy="1406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zip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layer.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dirty="0" sz="800" spc="-50">
                <a:solidFill>
                  <a:srgbClr val="05287C"/>
                </a:solidFill>
                <a:latin typeface="Courier New"/>
                <a:cs typeface="Courier New"/>
              </a:rPr>
              <a:t>zip</a:t>
            </a:r>
            <a:r>
              <a:rPr dirty="0" sz="800" spc="-7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7C8E28"/>
                </a:solidFill>
                <a:latin typeface="Courier New"/>
                <a:cs typeface="Courier New"/>
              </a:rPr>
              <a:t>r</a:t>
            </a:r>
            <a:r>
              <a:rPr dirty="0" sz="800" spc="-7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opencv.zip</a:t>
            </a:r>
            <a:r>
              <a:rPr dirty="0" sz="800" spc="-65"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python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800">
              <a:latin typeface="Courier New"/>
              <a:cs typeface="Courier New"/>
            </a:endParaRPr>
          </a:p>
          <a:p>
            <a:pPr marL="13970" marR="5080" indent="-1905">
              <a:lnSpc>
                <a:spcPct val="116199"/>
              </a:lnSpc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import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layers.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browser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we’ve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done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before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command </a:t>
            </a:r>
            <a:r>
              <a:rPr dirty="0" sz="900" spc="-20" b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dirty="0" sz="900" spc="-4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 b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dirty="0" sz="900" spc="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22373A"/>
                </a:solidFill>
                <a:latin typeface="Arial"/>
                <a:cs typeface="Arial"/>
              </a:rPr>
              <a:t>replace</a:t>
            </a:r>
            <a:r>
              <a:rPr dirty="0" sz="900" spc="10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 b="1">
                <a:latin typeface="Courier New"/>
                <a:cs typeface="Courier New"/>
              </a:rPr>
              <a:t>[YOUR-NAME]</a:t>
            </a:r>
            <a:r>
              <a:rPr dirty="0" sz="900" spc="-114" b="1"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dirty="0" sz="9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 b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dirty="0" sz="9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dirty="0" sz="800" spc="-50">
                <a:latin typeface="Courier New"/>
                <a:cs typeface="Courier New"/>
              </a:rPr>
              <a:t>aws</a:t>
            </a:r>
            <a:r>
              <a:rPr dirty="0" sz="800" spc="-5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s3</a:t>
            </a:r>
            <a:r>
              <a:rPr dirty="0" sz="800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mb</a:t>
            </a:r>
            <a:r>
              <a:rPr dirty="0" sz="80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s3://layers-bucket-</a:t>
            </a:r>
            <a:r>
              <a:rPr dirty="0" sz="800" spc="-60">
                <a:solidFill>
                  <a:srgbClr val="BC7A00"/>
                </a:solidFill>
                <a:latin typeface="Courier New"/>
                <a:cs typeface="Courier New"/>
              </a:rPr>
              <a:t>[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YOUR</a:t>
            </a:r>
            <a:r>
              <a:rPr dirty="0" sz="800" spc="-60">
                <a:solidFill>
                  <a:srgbClr val="BC7A00"/>
                </a:solidFill>
                <a:latin typeface="Courier New"/>
                <a:cs typeface="Courier New"/>
              </a:rPr>
              <a:t>-</a:t>
            </a:r>
            <a:r>
              <a:rPr dirty="0" sz="800" spc="-10">
                <a:solidFill>
                  <a:srgbClr val="BA6687"/>
                </a:solidFill>
                <a:latin typeface="Courier New"/>
                <a:cs typeface="Courier New"/>
              </a:rPr>
              <a:t>NAME</a:t>
            </a:r>
            <a:r>
              <a:rPr dirty="0" sz="800" spc="-10">
                <a:solidFill>
                  <a:srgbClr val="BC7A00"/>
                </a:solidFill>
                <a:latin typeface="Courier New"/>
                <a:cs typeface="Courier New"/>
              </a:rPr>
              <a:t>]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0" y="3234963"/>
              <a:ext cx="4547870" cy="5080"/>
            </a:xfrm>
            <a:custGeom>
              <a:avLst/>
              <a:gdLst/>
              <a:ahLst/>
              <a:cxnLst/>
              <a:rect l="l" t="t" r="r" b="b"/>
              <a:pathLst>
                <a:path w="4547870" h="5080">
                  <a:moveTo>
                    <a:pt x="0" y="5060"/>
                  </a:moveTo>
                  <a:lnTo>
                    <a:pt x="0" y="0"/>
                  </a:lnTo>
                  <a:lnTo>
                    <a:pt x="4547431" y="0"/>
                  </a:lnTo>
                  <a:lnTo>
                    <a:pt x="45474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5"/>
              <a:t> </a:t>
            </a:r>
            <a:r>
              <a:rPr dirty="0"/>
              <a:t>5:</a:t>
            </a:r>
            <a:r>
              <a:rPr dirty="0" spc="114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 spc="-10"/>
              <a:t>and</a:t>
            </a:r>
            <a:r>
              <a:rPr dirty="0" spc="15"/>
              <a:t> </a:t>
            </a:r>
            <a:r>
              <a:rPr dirty="0" spc="-45"/>
              <a:t>publish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30"/>
              <a:t>layer</a:t>
            </a:r>
            <a:r>
              <a:rPr dirty="0" spc="15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40"/>
              <a:t>dependencies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1022337"/>
            <a:ext cx="5015230" cy="320040"/>
            <a:chOff x="372646" y="1022337"/>
            <a:chExt cx="5015230" cy="320040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1027685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102866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40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372646" y="1657830"/>
            <a:ext cx="5015230" cy="713105"/>
            <a:chOff x="372646" y="1657830"/>
            <a:chExt cx="5015230" cy="713105"/>
          </a:xfrm>
        </p:grpSpPr>
        <p:sp>
          <p:nvSpPr>
            <p:cNvPr id="7" name="object 7" descr=""/>
            <p:cNvSpPr/>
            <p:nvPr/>
          </p:nvSpPr>
          <p:spPr>
            <a:xfrm>
              <a:off x="377994" y="1663177"/>
              <a:ext cx="5004435" cy="702310"/>
            </a:xfrm>
            <a:custGeom>
              <a:avLst/>
              <a:gdLst/>
              <a:ahLst/>
              <a:cxnLst/>
              <a:rect l="l" t="t" r="r" b="b"/>
              <a:pathLst>
                <a:path w="5004435" h="70231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66091"/>
                  </a:lnTo>
                  <a:lnTo>
                    <a:pt x="2829" y="680104"/>
                  </a:lnTo>
                  <a:lnTo>
                    <a:pt x="10544" y="691547"/>
                  </a:lnTo>
                  <a:lnTo>
                    <a:pt x="21987" y="699262"/>
                  </a:lnTo>
                  <a:lnTo>
                    <a:pt x="36000" y="702091"/>
                  </a:lnTo>
                  <a:lnTo>
                    <a:pt x="4968064" y="702091"/>
                  </a:lnTo>
                  <a:lnTo>
                    <a:pt x="4982077" y="699262"/>
                  </a:lnTo>
                  <a:lnTo>
                    <a:pt x="4993521" y="691547"/>
                  </a:lnTo>
                  <a:lnTo>
                    <a:pt x="5001236" y="680104"/>
                  </a:lnTo>
                  <a:lnTo>
                    <a:pt x="5004065" y="66609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78973" y="1664156"/>
              <a:ext cx="5002530" cy="700405"/>
            </a:xfrm>
            <a:custGeom>
              <a:avLst/>
              <a:gdLst/>
              <a:ahLst/>
              <a:cxnLst/>
              <a:rect l="l" t="t" r="r" b="b"/>
              <a:pathLst>
                <a:path w="5002530" h="700405">
                  <a:moveTo>
                    <a:pt x="0" y="66511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665112"/>
                  </a:lnTo>
                  <a:lnTo>
                    <a:pt x="4999354" y="678744"/>
                  </a:lnTo>
                  <a:lnTo>
                    <a:pt x="4991849" y="689876"/>
                  </a:lnTo>
                  <a:lnTo>
                    <a:pt x="4980717" y="697381"/>
                  </a:lnTo>
                  <a:lnTo>
                    <a:pt x="4967085" y="700133"/>
                  </a:lnTo>
                  <a:lnTo>
                    <a:pt x="35021" y="700133"/>
                  </a:lnTo>
                  <a:lnTo>
                    <a:pt x="21389" y="697381"/>
                  </a:lnTo>
                  <a:lnTo>
                    <a:pt x="10257" y="689876"/>
                  </a:lnTo>
                  <a:lnTo>
                    <a:pt x="2752" y="678744"/>
                  </a:lnTo>
                  <a:lnTo>
                    <a:pt x="0" y="66511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43433" y="778352"/>
            <a:ext cx="4114800" cy="1826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publish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</a:pPr>
            <a:r>
              <a:rPr dirty="0" sz="800" spc="-50">
                <a:latin typeface="Courier New"/>
                <a:cs typeface="Courier New"/>
              </a:rPr>
              <a:t>aws</a:t>
            </a:r>
            <a:r>
              <a:rPr dirty="0" sz="800" spc="-10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s3</a:t>
            </a:r>
            <a:r>
              <a:rPr dirty="0" sz="800" spc="-10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cp</a:t>
            </a:r>
            <a:r>
              <a:rPr dirty="0" sz="800" spc="-10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opencv.zip</a:t>
            </a:r>
            <a:r>
              <a:rPr dirty="0" sz="800" spc="-5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s3://layers-bucket-</a:t>
            </a:r>
            <a:r>
              <a:rPr dirty="0" sz="800" spc="-60">
                <a:solidFill>
                  <a:srgbClr val="BC7A00"/>
                </a:solidFill>
                <a:latin typeface="Courier New"/>
                <a:cs typeface="Courier New"/>
              </a:rPr>
              <a:t>[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YOUR</a:t>
            </a:r>
            <a:r>
              <a:rPr dirty="0" sz="800" spc="-60">
                <a:solidFill>
                  <a:srgbClr val="BC7A00"/>
                </a:solidFill>
                <a:latin typeface="Courier New"/>
                <a:cs typeface="Courier New"/>
              </a:rPr>
              <a:t>-</a:t>
            </a:r>
            <a:r>
              <a:rPr dirty="0" sz="800" spc="-10">
                <a:solidFill>
                  <a:srgbClr val="BA6687"/>
                </a:solidFill>
                <a:latin typeface="Courier New"/>
                <a:cs typeface="Courier New"/>
              </a:rPr>
              <a:t>NAME</a:t>
            </a:r>
            <a:r>
              <a:rPr dirty="0" sz="800" spc="-10">
                <a:solidFill>
                  <a:srgbClr val="BC7A00"/>
                </a:solidFill>
                <a:latin typeface="Courier New"/>
                <a:cs typeface="Courier New"/>
              </a:rPr>
              <a:t>]</a:t>
            </a:r>
            <a:r>
              <a:rPr dirty="0" sz="800" spc="-10">
                <a:latin typeface="Courier New"/>
                <a:cs typeface="Courier New"/>
              </a:rPr>
              <a:t>/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finally,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import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layers.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900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dirty="0" sz="800" spc="-50">
                <a:latin typeface="Courier New"/>
                <a:cs typeface="Courier New"/>
              </a:rPr>
              <a:t>aws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lambda</a:t>
            </a:r>
            <a:r>
              <a:rPr dirty="0" sz="800" spc="10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publish-layer-version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8E2100"/>
                </a:solidFill>
                <a:latin typeface="Courier New"/>
                <a:cs typeface="Courier New"/>
              </a:rPr>
              <a:t>\</a:t>
            </a:r>
            <a:endParaRPr sz="8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--layer-</a:t>
            </a:r>
            <a:r>
              <a:rPr dirty="0" sz="800" spc="-55">
                <a:solidFill>
                  <a:srgbClr val="7C8E28"/>
                </a:solidFill>
                <a:latin typeface="Courier New"/>
                <a:cs typeface="Courier New"/>
              </a:rPr>
              <a:t>name</a:t>
            </a:r>
            <a:r>
              <a:rPr dirty="0" sz="800" spc="-5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opencv</a:t>
            </a:r>
            <a:r>
              <a:rPr dirty="0" sz="800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8E2100"/>
                </a:solidFill>
                <a:latin typeface="Courier New"/>
                <a:cs typeface="Courier New"/>
              </a:rPr>
              <a:t>\</a:t>
            </a:r>
            <a:endParaRPr sz="8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--content</a:t>
            </a:r>
            <a:r>
              <a:rPr dirty="0" sz="800" spc="105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S3Bucket=layers-bucket-</a:t>
            </a:r>
            <a:r>
              <a:rPr dirty="0" sz="800" spc="-60">
                <a:solidFill>
                  <a:srgbClr val="BC7A00"/>
                </a:solidFill>
                <a:latin typeface="Courier New"/>
                <a:cs typeface="Courier New"/>
              </a:rPr>
              <a:t>[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YOUR</a:t>
            </a:r>
            <a:r>
              <a:rPr dirty="0" sz="800" spc="-60">
                <a:solidFill>
                  <a:srgbClr val="BC7A00"/>
                </a:solidFill>
                <a:latin typeface="Courier New"/>
                <a:cs typeface="Courier New"/>
              </a:rPr>
              <a:t>-</a:t>
            </a:r>
            <a:r>
              <a:rPr dirty="0" sz="800" spc="-55">
                <a:solidFill>
                  <a:srgbClr val="BA6687"/>
                </a:solidFill>
                <a:latin typeface="Courier New"/>
                <a:cs typeface="Courier New"/>
              </a:rPr>
              <a:t>NAME</a:t>
            </a:r>
            <a:r>
              <a:rPr dirty="0" sz="800" spc="-55">
                <a:solidFill>
                  <a:srgbClr val="BC7A00"/>
                </a:solidFill>
                <a:latin typeface="Courier New"/>
                <a:cs typeface="Courier New"/>
              </a:rPr>
              <a:t>]</a:t>
            </a:r>
            <a:r>
              <a:rPr dirty="0" sz="800" spc="-55">
                <a:latin typeface="Courier New"/>
                <a:cs typeface="Courier New"/>
              </a:rPr>
              <a:t>,S3Key=opencv.zip</a:t>
            </a:r>
            <a:r>
              <a:rPr dirty="0" sz="800" spc="120">
                <a:latin typeface="Courier New"/>
                <a:cs typeface="Courier New"/>
              </a:rPr>
              <a:t> </a:t>
            </a:r>
            <a:r>
              <a:rPr dirty="0" sz="800" spc="-50">
                <a:solidFill>
                  <a:srgbClr val="8E2100"/>
                </a:solidFill>
                <a:latin typeface="Courier New"/>
                <a:cs typeface="Courier New"/>
              </a:rPr>
              <a:t>\</a:t>
            </a:r>
            <a:endParaRPr sz="80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70"/>
              </a:spcBef>
            </a:pP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--compatible-runtimes</a:t>
            </a:r>
            <a:r>
              <a:rPr dirty="0" sz="800" spc="100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latin typeface="Courier New"/>
                <a:cs typeface="Courier New"/>
              </a:rPr>
              <a:t>python3.13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800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Let’s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now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34963"/>
              <a:ext cx="4648835" cy="5080"/>
            </a:xfrm>
            <a:custGeom>
              <a:avLst/>
              <a:gdLst/>
              <a:ahLst/>
              <a:cxnLst/>
              <a:rect l="l" t="t" r="r" b="b"/>
              <a:pathLst>
                <a:path w="4648835" h="5080">
                  <a:moveTo>
                    <a:pt x="0" y="5060"/>
                  </a:moveTo>
                  <a:lnTo>
                    <a:pt x="0" y="0"/>
                  </a:lnTo>
                  <a:lnTo>
                    <a:pt x="4648506" y="0"/>
                  </a:lnTo>
                  <a:lnTo>
                    <a:pt x="46485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5"/>
              <a:t> </a:t>
            </a:r>
            <a:r>
              <a:rPr dirty="0"/>
              <a:t>5:</a:t>
            </a:r>
            <a:r>
              <a:rPr dirty="0" spc="114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 spc="-10"/>
              <a:t>and</a:t>
            </a:r>
            <a:r>
              <a:rPr dirty="0" spc="15"/>
              <a:t> </a:t>
            </a:r>
            <a:r>
              <a:rPr dirty="0" spc="-45"/>
              <a:t>publish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30"/>
              <a:t>layer</a:t>
            </a:r>
            <a:r>
              <a:rPr dirty="0" spc="15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40"/>
              <a:t>dependencies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3433" y="466347"/>
            <a:ext cx="4846955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 the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and look for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function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on.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31" y="868500"/>
            <a:ext cx="4031938" cy="165563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306777" y="2658108"/>
            <a:ext cx="11468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20:</a:t>
            </a:r>
            <a:r>
              <a:rPr dirty="0" sz="800" spc="9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Lambda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4749800" cy="5080"/>
            </a:xfrm>
            <a:custGeom>
              <a:avLst/>
              <a:gdLst/>
              <a:ahLst/>
              <a:cxnLst/>
              <a:rect l="l" t="t" r="r" b="b"/>
              <a:pathLst>
                <a:path w="4749800" h="5080">
                  <a:moveTo>
                    <a:pt x="0" y="5060"/>
                  </a:moveTo>
                  <a:lnTo>
                    <a:pt x="0" y="0"/>
                  </a:lnTo>
                  <a:lnTo>
                    <a:pt x="4749494" y="0"/>
                  </a:lnTo>
                  <a:lnTo>
                    <a:pt x="474949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5"/>
              <a:t> </a:t>
            </a:r>
            <a:r>
              <a:rPr dirty="0"/>
              <a:t>5:</a:t>
            </a:r>
            <a:r>
              <a:rPr dirty="0" spc="114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 spc="-10"/>
              <a:t>and</a:t>
            </a:r>
            <a:r>
              <a:rPr dirty="0" spc="15"/>
              <a:t> </a:t>
            </a:r>
            <a:r>
              <a:rPr dirty="0" spc="-45"/>
              <a:t>publish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30"/>
              <a:t>layer</a:t>
            </a:r>
            <a:r>
              <a:rPr dirty="0" spc="15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40"/>
              <a:t>dependencies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90739" y="403212"/>
            <a:ext cx="384175" cy="146050"/>
            <a:chOff x="990739" y="403212"/>
            <a:chExt cx="384175" cy="146050"/>
          </a:xfrm>
        </p:grpSpPr>
        <p:sp>
          <p:nvSpPr>
            <p:cNvPr id="4" name="object 4" descr=""/>
            <p:cNvSpPr/>
            <p:nvPr/>
          </p:nvSpPr>
          <p:spPr>
            <a:xfrm>
              <a:off x="990739" y="403212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90739" y="403212"/>
              <a:ext cx="384175" cy="146050"/>
            </a:xfrm>
            <a:custGeom>
              <a:avLst/>
              <a:gdLst/>
              <a:ahLst/>
              <a:cxnLst/>
              <a:rect l="l" t="t" r="r" b="b"/>
              <a:pathLst>
                <a:path w="384175" h="146050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037"/>
                  </a:lnTo>
                  <a:lnTo>
                    <a:pt x="2829" y="124050"/>
                  </a:lnTo>
                  <a:lnTo>
                    <a:pt x="10544" y="135493"/>
                  </a:lnTo>
                  <a:lnTo>
                    <a:pt x="21987" y="143208"/>
                  </a:lnTo>
                  <a:lnTo>
                    <a:pt x="36000" y="146037"/>
                  </a:lnTo>
                  <a:lnTo>
                    <a:pt x="348009" y="146037"/>
                  </a:lnTo>
                  <a:lnTo>
                    <a:pt x="362022" y="143208"/>
                  </a:lnTo>
                  <a:lnTo>
                    <a:pt x="373465" y="135493"/>
                  </a:lnTo>
                  <a:lnTo>
                    <a:pt x="381180" y="124050"/>
                  </a:lnTo>
                  <a:lnTo>
                    <a:pt x="384009" y="11003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371520"/>
            <a:ext cx="277685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Layers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section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below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function’s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name.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93" y="641554"/>
            <a:ext cx="4032010" cy="216279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306777" y="2938321"/>
            <a:ext cx="11468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21:</a:t>
            </a:r>
            <a:r>
              <a:rPr dirty="0" sz="800" spc="9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Lambda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4850765" cy="5080"/>
            </a:xfrm>
            <a:custGeom>
              <a:avLst/>
              <a:gdLst/>
              <a:ahLst/>
              <a:cxnLst/>
              <a:rect l="l" t="t" r="r" b="b"/>
              <a:pathLst>
                <a:path w="4850765" h="5080">
                  <a:moveTo>
                    <a:pt x="0" y="5060"/>
                  </a:moveTo>
                  <a:lnTo>
                    <a:pt x="0" y="0"/>
                  </a:lnTo>
                  <a:lnTo>
                    <a:pt x="4850570" y="0"/>
                  </a:lnTo>
                  <a:lnTo>
                    <a:pt x="48505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5"/>
              <a:t> </a:t>
            </a:r>
            <a:r>
              <a:rPr dirty="0"/>
              <a:t>5:</a:t>
            </a:r>
            <a:r>
              <a:rPr dirty="0" spc="114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 spc="-10"/>
              <a:t>and</a:t>
            </a:r>
            <a:r>
              <a:rPr dirty="0" spc="15"/>
              <a:t> </a:t>
            </a:r>
            <a:r>
              <a:rPr dirty="0" spc="-45"/>
              <a:t>publish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30"/>
              <a:t>layer</a:t>
            </a:r>
            <a:r>
              <a:rPr dirty="0" spc="15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40"/>
              <a:t>dependencies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96925" y="516121"/>
            <a:ext cx="683260" cy="147955"/>
            <a:chOff x="796925" y="516121"/>
            <a:chExt cx="683260" cy="147955"/>
          </a:xfrm>
        </p:grpSpPr>
        <p:sp>
          <p:nvSpPr>
            <p:cNvPr id="4" name="object 4" descr=""/>
            <p:cNvSpPr/>
            <p:nvPr/>
          </p:nvSpPr>
          <p:spPr>
            <a:xfrm>
              <a:off x="796925" y="516121"/>
              <a:ext cx="683260" cy="147955"/>
            </a:xfrm>
            <a:custGeom>
              <a:avLst/>
              <a:gdLst/>
              <a:ahLst/>
              <a:cxnLst/>
              <a:rect l="l" t="t" r="r" b="b"/>
              <a:pathLst>
                <a:path w="683260" h="14795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631"/>
                  </a:lnTo>
                  <a:lnTo>
                    <a:pt x="2829" y="125644"/>
                  </a:lnTo>
                  <a:lnTo>
                    <a:pt x="10544" y="137087"/>
                  </a:lnTo>
                  <a:lnTo>
                    <a:pt x="21987" y="144802"/>
                  </a:lnTo>
                  <a:lnTo>
                    <a:pt x="36000" y="147631"/>
                  </a:lnTo>
                  <a:lnTo>
                    <a:pt x="646930" y="147631"/>
                  </a:lnTo>
                  <a:lnTo>
                    <a:pt x="660943" y="144802"/>
                  </a:lnTo>
                  <a:lnTo>
                    <a:pt x="672386" y="137087"/>
                  </a:lnTo>
                  <a:lnTo>
                    <a:pt x="680101" y="125644"/>
                  </a:lnTo>
                  <a:lnTo>
                    <a:pt x="682930" y="111631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6925" y="516121"/>
              <a:ext cx="683260" cy="147955"/>
            </a:xfrm>
            <a:custGeom>
              <a:avLst/>
              <a:gdLst/>
              <a:ahLst/>
              <a:cxnLst/>
              <a:rect l="l" t="t" r="r" b="b"/>
              <a:pathLst>
                <a:path w="683260" h="14795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631"/>
                  </a:lnTo>
                  <a:lnTo>
                    <a:pt x="2829" y="125644"/>
                  </a:lnTo>
                  <a:lnTo>
                    <a:pt x="10544" y="137087"/>
                  </a:lnTo>
                  <a:lnTo>
                    <a:pt x="21987" y="144802"/>
                  </a:lnTo>
                  <a:lnTo>
                    <a:pt x="36000" y="147631"/>
                  </a:lnTo>
                  <a:lnTo>
                    <a:pt x="646930" y="147631"/>
                  </a:lnTo>
                  <a:lnTo>
                    <a:pt x="660943" y="144802"/>
                  </a:lnTo>
                  <a:lnTo>
                    <a:pt x="672386" y="137087"/>
                  </a:lnTo>
                  <a:lnTo>
                    <a:pt x="680101" y="125644"/>
                  </a:lnTo>
                  <a:lnTo>
                    <a:pt x="682930" y="111631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486023"/>
            <a:ext cx="117792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14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0">
                <a:latin typeface="Courier New"/>
                <a:cs typeface="Courier New"/>
              </a:rPr>
              <a:t>Add a </a:t>
            </a:r>
            <a:r>
              <a:rPr dirty="0" sz="900" spc="-30">
                <a:latin typeface="Courier New"/>
                <a:cs typeface="Courier New"/>
              </a:rPr>
              <a:t>layer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57" y="756065"/>
            <a:ext cx="4031903" cy="177108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306777" y="2661118"/>
            <a:ext cx="11468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22:</a:t>
            </a:r>
            <a:r>
              <a:rPr dirty="0" sz="800" spc="9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Lambda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4951730" cy="5080"/>
            </a:xfrm>
            <a:custGeom>
              <a:avLst/>
              <a:gdLst/>
              <a:ahLst/>
              <a:cxnLst/>
              <a:rect l="l" t="t" r="r" b="b"/>
              <a:pathLst>
                <a:path w="4951730" h="5080">
                  <a:moveTo>
                    <a:pt x="0" y="5060"/>
                  </a:moveTo>
                  <a:lnTo>
                    <a:pt x="0" y="0"/>
                  </a:lnTo>
                  <a:lnTo>
                    <a:pt x="4951645" y="0"/>
                  </a:lnTo>
                  <a:lnTo>
                    <a:pt x="49516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5"/>
              <a:t> </a:t>
            </a:r>
            <a:r>
              <a:rPr dirty="0"/>
              <a:t>5:</a:t>
            </a:r>
            <a:r>
              <a:rPr dirty="0" spc="114"/>
              <a:t> </a:t>
            </a:r>
            <a:r>
              <a:rPr dirty="0"/>
              <a:t>Create</a:t>
            </a:r>
            <a:r>
              <a:rPr dirty="0" spc="20"/>
              <a:t> </a:t>
            </a:r>
            <a:r>
              <a:rPr dirty="0" spc="-10"/>
              <a:t>and</a:t>
            </a:r>
            <a:r>
              <a:rPr dirty="0" spc="15"/>
              <a:t> </a:t>
            </a:r>
            <a:r>
              <a:rPr dirty="0" spc="-45"/>
              <a:t>publish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20"/>
              <a:t>Lambda</a:t>
            </a:r>
            <a:r>
              <a:rPr dirty="0" spc="20"/>
              <a:t> </a:t>
            </a:r>
            <a:r>
              <a:rPr dirty="0" spc="-30"/>
              <a:t>layer</a:t>
            </a:r>
            <a:r>
              <a:rPr dirty="0" spc="15"/>
              <a:t> </a:t>
            </a:r>
            <a:r>
              <a:rPr dirty="0"/>
              <a:t>with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40"/>
              <a:t>dependencies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96925" y="531905"/>
            <a:ext cx="802640" cy="147320"/>
            <a:chOff x="796925" y="531905"/>
            <a:chExt cx="802640" cy="147320"/>
          </a:xfrm>
        </p:grpSpPr>
        <p:sp>
          <p:nvSpPr>
            <p:cNvPr id="4" name="object 4" descr=""/>
            <p:cNvSpPr/>
            <p:nvPr/>
          </p:nvSpPr>
          <p:spPr>
            <a:xfrm>
              <a:off x="796925" y="531905"/>
              <a:ext cx="802640" cy="147320"/>
            </a:xfrm>
            <a:custGeom>
              <a:avLst/>
              <a:gdLst/>
              <a:ahLst/>
              <a:cxnLst/>
              <a:rect l="l" t="t" r="r" b="b"/>
              <a:pathLst>
                <a:path w="802640" h="14732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766498" y="147290"/>
                  </a:lnTo>
                  <a:lnTo>
                    <a:pt x="780511" y="144460"/>
                  </a:lnTo>
                  <a:lnTo>
                    <a:pt x="791954" y="136745"/>
                  </a:lnTo>
                  <a:lnTo>
                    <a:pt x="799669" y="125302"/>
                  </a:lnTo>
                  <a:lnTo>
                    <a:pt x="802498" y="111289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6925" y="531905"/>
              <a:ext cx="802640" cy="147320"/>
            </a:xfrm>
            <a:custGeom>
              <a:avLst/>
              <a:gdLst/>
              <a:ahLst/>
              <a:cxnLst/>
              <a:rect l="l" t="t" r="r" b="b"/>
              <a:pathLst>
                <a:path w="802640" h="147320">
                  <a:moveTo>
                    <a:pt x="76649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766498" y="147290"/>
                  </a:lnTo>
                  <a:lnTo>
                    <a:pt x="780511" y="144460"/>
                  </a:lnTo>
                  <a:lnTo>
                    <a:pt x="791954" y="136745"/>
                  </a:lnTo>
                  <a:lnTo>
                    <a:pt x="799669" y="125302"/>
                  </a:lnTo>
                  <a:lnTo>
                    <a:pt x="802498" y="111289"/>
                  </a:lnTo>
                  <a:lnTo>
                    <a:pt x="802498" y="36000"/>
                  </a:lnTo>
                  <a:lnTo>
                    <a:pt x="799669" y="21987"/>
                  </a:lnTo>
                  <a:lnTo>
                    <a:pt x="791954" y="10544"/>
                  </a:lnTo>
                  <a:lnTo>
                    <a:pt x="780511" y="2829"/>
                  </a:lnTo>
                  <a:lnTo>
                    <a:pt x="76649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1264" y="531571"/>
            <a:ext cx="204657" cy="12235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47294" y="501467"/>
            <a:ext cx="412432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Custom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layers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r>
              <a:rPr dirty="0" sz="900" spc="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latin typeface="Courier New"/>
                <a:cs typeface="Courier New"/>
              </a:rPr>
              <a:t>Add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980" y="771509"/>
            <a:ext cx="4032055" cy="174019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306777" y="2645675"/>
            <a:ext cx="11468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23:</a:t>
            </a:r>
            <a:r>
              <a:rPr dirty="0" sz="800" spc="9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Lambda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layer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0" y="3234963"/>
              <a:ext cx="5053330" cy="5080"/>
            </a:xfrm>
            <a:custGeom>
              <a:avLst/>
              <a:gdLst/>
              <a:ahLst/>
              <a:cxnLst/>
              <a:rect l="l" t="t" r="r" b="b"/>
              <a:pathLst>
                <a:path w="5053330" h="5080">
                  <a:moveTo>
                    <a:pt x="0" y="5060"/>
                  </a:moveTo>
                  <a:lnTo>
                    <a:pt x="0" y="0"/>
                  </a:lnTo>
                  <a:lnTo>
                    <a:pt x="5052721" y="0"/>
                  </a:lnTo>
                  <a:lnTo>
                    <a:pt x="50527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0"/>
              <a:t> </a:t>
            </a:r>
            <a:r>
              <a:rPr dirty="0"/>
              <a:t>6:</a:t>
            </a:r>
            <a:r>
              <a:rPr dirty="0" spc="130"/>
              <a:t> </a:t>
            </a:r>
            <a:r>
              <a:rPr dirty="0" spc="-20"/>
              <a:t>Upload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40"/>
              <a:t>images</a:t>
            </a:r>
            <a:r>
              <a:rPr dirty="0" spc="30"/>
              <a:t> </a:t>
            </a:r>
            <a:r>
              <a:rPr dirty="0"/>
              <a:t>to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/>
              <a:t>input</a:t>
            </a:r>
            <a:r>
              <a:rPr dirty="0" spc="30"/>
              <a:t> </a:t>
            </a:r>
            <a:r>
              <a:rPr dirty="0" spc="-20"/>
              <a:t>bucket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2646" y="1746047"/>
            <a:ext cx="5015230" cy="320040"/>
            <a:chOff x="372646" y="1746047"/>
            <a:chExt cx="5015230" cy="320040"/>
          </a:xfrm>
        </p:grpSpPr>
        <p:sp>
          <p:nvSpPr>
            <p:cNvPr id="4" name="object 4" descr=""/>
            <p:cNvSpPr/>
            <p:nvPr/>
          </p:nvSpPr>
          <p:spPr>
            <a:xfrm>
              <a:off x="377994" y="1751394"/>
              <a:ext cx="5004435" cy="309880"/>
            </a:xfrm>
            <a:custGeom>
              <a:avLst/>
              <a:gdLst/>
              <a:ahLst/>
              <a:cxnLst/>
              <a:rect l="l" t="t" r="r" b="b"/>
              <a:pathLst>
                <a:path w="5004435" h="30988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328"/>
                  </a:lnTo>
                  <a:lnTo>
                    <a:pt x="2829" y="287341"/>
                  </a:lnTo>
                  <a:lnTo>
                    <a:pt x="10544" y="298784"/>
                  </a:lnTo>
                  <a:lnTo>
                    <a:pt x="21987" y="306499"/>
                  </a:lnTo>
                  <a:lnTo>
                    <a:pt x="36000" y="309328"/>
                  </a:lnTo>
                  <a:lnTo>
                    <a:pt x="4968064" y="309328"/>
                  </a:lnTo>
                  <a:lnTo>
                    <a:pt x="4982077" y="306499"/>
                  </a:lnTo>
                  <a:lnTo>
                    <a:pt x="4993521" y="298784"/>
                  </a:lnTo>
                  <a:lnTo>
                    <a:pt x="5001236" y="287341"/>
                  </a:lnTo>
                  <a:lnTo>
                    <a:pt x="5004065" y="273328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8973" y="1752374"/>
              <a:ext cx="5002530" cy="307975"/>
            </a:xfrm>
            <a:custGeom>
              <a:avLst/>
              <a:gdLst/>
              <a:ahLst/>
              <a:cxnLst/>
              <a:rect l="l" t="t" r="r" b="b"/>
              <a:pathLst>
                <a:path w="5002530" h="307975">
                  <a:moveTo>
                    <a:pt x="0" y="27234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348"/>
                  </a:lnTo>
                  <a:lnTo>
                    <a:pt x="4999354" y="285980"/>
                  </a:lnTo>
                  <a:lnTo>
                    <a:pt x="4991849" y="297112"/>
                  </a:lnTo>
                  <a:lnTo>
                    <a:pt x="4980717" y="304617"/>
                  </a:lnTo>
                  <a:lnTo>
                    <a:pt x="4967085" y="307369"/>
                  </a:lnTo>
                  <a:lnTo>
                    <a:pt x="35021" y="307369"/>
                  </a:lnTo>
                  <a:lnTo>
                    <a:pt x="21389" y="304617"/>
                  </a:lnTo>
                  <a:lnTo>
                    <a:pt x="10257" y="297112"/>
                  </a:lnTo>
                  <a:lnTo>
                    <a:pt x="2752" y="285980"/>
                  </a:lnTo>
                  <a:lnTo>
                    <a:pt x="0" y="27234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3319" y="921744"/>
            <a:ext cx="5069840" cy="1537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 marR="140335">
              <a:lnSpc>
                <a:spcPct val="116199"/>
              </a:lnSpc>
              <a:spcBef>
                <a:spcPts val="100"/>
              </a:spcBef>
            </a:pP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cell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found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virtual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campus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https://campusvirtual.urv.cat/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subject’s</a:t>
            </a:r>
            <a:r>
              <a:rPr dirty="0" sz="900" spc="1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dirty="0" sz="900" spc="1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https://hdbc-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17705110-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  <a:hlinkClick r:id="rId3"/>
              </a:rPr>
              <a:t>mdbs.github.io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 upload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them to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did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before,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this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dirty="0" sz="800" spc="-50">
                <a:latin typeface="Courier New"/>
                <a:cs typeface="Courier New"/>
              </a:rPr>
              <a:t>aws</a:t>
            </a:r>
            <a:r>
              <a:rPr dirty="0" sz="800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s3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50">
                <a:latin typeface="Courier New"/>
                <a:cs typeface="Courier New"/>
              </a:rPr>
              <a:t>cp</a:t>
            </a:r>
            <a:r>
              <a:rPr dirty="0" sz="800">
                <a:latin typeface="Courier New"/>
                <a:cs typeface="Courier New"/>
              </a:rPr>
              <a:t> </a:t>
            </a:r>
            <a:r>
              <a:rPr dirty="0" sz="800" spc="-55">
                <a:latin typeface="Courier New"/>
                <a:cs typeface="Courier New"/>
              </a:rPr>
              <a:t>./cell_images</a:t>
            </a:r>
            <a:r>
              <a:rPr dirty="0" sz="800" spc="5">
                <a:latin typeface="Courier New"/>
                <a:cs typeface="Courier New"/>
              </a:rPr>
              <a:t> </a:t>
            </a:r>
            <a:r>
              <a:rPr dirty="0" sz="800" spc="-60">
                <a:latin typeface="Courier New"/>
                <a:cs typeface="Courier New"/>
              </a:rPr>
              <a:t>s3://medical-images-raw-</a:t>
            </a:r>
            <a:r>
              <a:rPr dirty="0" sz="800" spc="-60">
                <a:solidFill>
                  <a:srgbClr val="BC7A00"/>
                </a:solidFill>
                <a:latin typeface="Courier New"/>
                <a:cs typeface="Courier New"/>
              </a:rPr>
              <a:t>[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YOUR</a:t>
            </a:r>
            <a:r>
              <a:rPr dirty="0" sz="800" spc="-60">
                <a:solidFill>
                  <a:srgbClr val="BC7A00"/>
                </a:solidFill>
                <a:latin typeface="Courier New"/>
                <a:cs typeface="Courier New"/>
              </a:rPr>
              <a:t>-</a:t>
            </a:r>
            <a:r>
              <a:rPr dirty="0" sz="800" spc="-60">
                <a:solidFill>
                  <a:srgbClr val="BA6687"/>
                </a:solidFill>
                <a:latin typeface="Courier New"/>
                <a:cs typeface="Courier New"/>
              </a:rPr>
              <a:t>NAME</a:t>
            </a:r>
            <a:r>
              <a:rPr dirty="0" sz="800" spc="-60">
                <a:solidFill>
                  <a:srgbClr val="BC7A00"/>
                </a:solidFill>
                <a:latin typeface="Courier New"/>
                <a:cs typeface="Courier New"/>
              </a:rPr>
              <a:t>]</a:t>
            </a:r>
            <a:r>
              <a:rPr dirty="0" sz="800" spc="-60">
                <a:latin typeface="Courier New"/>
                <a:cs typeface="Courier New"/>
              </a:rPr>
              <a:t>/</a:t>
            </a:r>
            <a:r>
              <a:rPr dirty="0" sz="800"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dirty="0" sz="800" spc="-10">
                <a:solidFill>
                  <a:srgbClr val="7C8E28"/>
                </a:solidFill>
                <a:latin typeface="Courier New"/>
                <a:cs typeface="Courier New"/>
              </a:rPr>
              <a:t>recursive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800">
              <a:latin typeface="Courier New"/>
              <a:cs typeface="Courier New"/>
            </a:endParaRPr>
          </a:p>
          <a:p>
            <a:pPr marL="16510" marR="81915" indent="-4445">
              <a:lnSpc>
                <a:spcPct val="116199"/>
              </a:lnSpc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slide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contains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screenshot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general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download,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extract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images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3234963"/>
              <a:ext cx="5154295" cy="5080"/>
            </a:xfrm>
            <a:custGeom>
              <a:avLst/>
              <a:gdLst/>
              <a:ahLst/>
              <a:cxnLst/>
              <a:rect l="l" t="t" r="r" b="b"/>
              <a:pathLst>
                <a:path w="5154295" h="5080">
                  <a:moveTo>
                    <a:pt x="0" y="5060"/>
                  </a:moveTo>
                  <a:lnTo>
                    <a:pt x="0" y="0"/>
                  </a:lnTo>
                  <a:lnTo>
                    <a:pt x="5153708" y="0"/>
                  </a:lnTo>
                  <a:lnTo>
                    <a:pt x="51537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8526" y="59834"/>
            <a:ext cx="27616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Step</a:t>
            </a:r>
            <a:r>
              <a:rPr dirty="0" sz="1000" spc="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6:</a:t>
            </a:r>
            <a:r>
              <a:rPr dirty="0" sz="1000" spc="1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Upload</a:t>
            </a:r>
            <a:r>
              <a:rPr dirty="0" sz="1000" spc="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dirty="0" sz="1000" spc="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40" b="1">
                <a:solidFill>
                  <a:srgbClr val="F9F9F9"/>
                </a:solidFill>
                <a:latin typeface="Arial"/>
                <a:cs typeface="Arial"/>
              </a:rPr>
              <a:t>images</a:t>
            </a:r>
            <a:r>
              <a:rPr dirty="0" sz="1000" spc="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dirty="0" sz="1000" spc="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dirty="0" sz="1000" spc="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9F9F9"/>
                </a:solidFill>
                <a:latin typeface="Arial"/>
                <a:cs typeface="Arial"/>
              </a:rPr>
              <a:t>input</a:t>
            </a:r>
            <a:r>
              <a:rPr dirty="0" sz="1000" spc="30" b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9F9F9"/>
                </a:solidFill>
                <a:latin typeface="Arial"/>
                <a:cs typeface="Arial"/>
              </a:rPr>
              <a:t>bucket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69" y="385686"/>
            <a:ext cx="4031881" cy="222168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279446" y="2741357"/>
            <a:ext cx="12014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24:</a:t>
            </a:r>
            <a:r>
              <a:rPr dirty="0" sz="800" spc="1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Upload</a:t>
            </a:r>
            <a:r>
              <a:rPr dirty="0" sz="8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3234963"/>
              <a:ext cx="5255260" cy="5080"/>
            </a:xfrm>
            <a:custGeom>
              <a:avLst/>
              <a:gdLst/>
              <a:ahLst/>
              <a:cxnLst/>
              <a:rect l="l" t="t" r="r" b="b"/>
              <a:pathLst>
                <a:path w="5255260" h="5080">
                  <a:moveTo>
                    <a:pt x="0" y="5060"/>
                  </a:moveTo>
                  <a:lnTo>
                    <a:pt x="0" y="0"/>
                  </a:lnTo>
                  <a:lnTo>
                    <a:pt x="5254784" y="0"/>
                  </a:lnTo>
                  <a:lnTo>
                    <a:pt x="52547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30"/>
              <a:t> </a:t>
            </a:r>
            <a:r>
              <a:rPr dirty="0"/>
              <a:t>6:</a:t>
            </a:r>
            <a:r>
              <a:rPr dirty="0" spc="130"/>
              <a:t> </a:t>
            </a:r>
            <a:r>
              <a:rPr dirty="0" spc="-20"/>
              <a:t>Upload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40"/>
              <a:t>images</a:t>
            </a:r>
            <a:r>
              <a:rPr dirty="0" spc="30"/>
              <a:t> </a:t>
            </a:r>
            <a:r>
              <a:rPr dirty="0"/>
              <a:t>to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/>
              <a:t>input</a:t>
            </a:r>
            <a:r>
              <a:rPr dirty="0" spc="30"/>
              <a:t> </a:t>
            </a:r>
            <a:r>
              <a:rPr dirty="0" spc="-20"/>
              <a:t>bucket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840723" y="586038"/>
            <a:ext cx="1819275" cy="156210"/>
            <a:chOff x="2840723" y="586038"/>
            <a:chExt cx="1819275" cy="156210"/>
          </a:xfrm>
        </p:grpSpPr>
        <p:sp>
          <p:nvSpPr>
            <p:cNvPr id="4" name="object 4" descr=""/>
            <p:cNvSpPr/>
            <p:nvPr/>
          </p:nvSpPr>
          <p:spPr>
            <a:xfrm>
              <a:off x="2840723" y="586038"/>
              <a:ext cx="1819275" cy="156210"/>
            </a:xfrm>
            <a:custGeom>
              <a:avLst/>
              <a:gdLst/>
              <a:ahLst/>
              <a:cxnLst/>
              <a:rect l="l" t="t" r="r" b="b"/>
              <a:pathLst>
                <a:path w="1819275" h="15620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1782827" y="155602"/>
                  </a:lnTo>
                  <a:lnTo>
                    <a:pt x="1796840" y="152773"/>
                  </a:lnTo>
                  <a:lnTo>
                    <a:pt x="1808283" y="145058"/>
                  </a:lnTo>
                  <a:lnTo>
                    <a:pt x="1815998" y="133615"/>
                  </a:lnTo>
                  <a:lnTo>
                    <a:pt x="1818827" y="119602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40723" y="586038"/>
              <a:ext cx="1819275" cy="156210"/>
            </a:xfrm>
            <a:custGeom>
              <a:avLst/>
              <a:gdLst/>
              <a:ahLst/>
              <a:cxnLst/>
              <a:rect l="l" t="t" r="r" b="b"/>
              <a:pathLst>
                <a:path w="1819275" h="156209">
                  <a:moveTo>
                    <a:pt x="178282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1782827" y="155602"/>
                  </a:lnTo>
                  <a:lnTo>
                    <a:pt x="1796840" y="152773"/>
                  </a:lnTo>
                  <a:lnTo>
                    <a:pt x="1808283" y="145058"/>
                  </a:lnTo>
                  <a:lnTo>
                    <a:pt x="1815998" y="133615"/>
                  </a:lnTo>
                  <a:lnTo>
                    <a:pt x="1818827" y="119602"/>
                  </a:lnTo>
                  <a:lnTo>
                    <a:pt x="1818827" y="36000"/>
                  </a:lnTo>
                  <a:lnTo>
                    <a:pt x="1815998" y="21987"/>
                  </a:lnTo>
                  <a:lnTo>
                    <a:pt x="1808283" y="10544"/>
                  </a:lnTo>
                  <a:lnTo>
                    <a:pt x="1796840" y="2829"/>
                  </a:lnTo>
                  <a:lnTo>
                    <a:pt x="178282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541125"/>
            <a:ext cx="5033010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input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10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medical-images-raw-[YOUR-NAME]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see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uploaded.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95" y="965460"/>
            <a:ext cx="4031822" cy="148391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227770" y="2583356"/>
            <a:ext cx="13049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25:</a:t>
            </a:r>
            <a:r>
              <a:rPr dirty="0" sz="800" spc="9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5356225" cy="5080"/>
            </a:xfrm>
            <a:custGeom>
              <a:avLst/>
              <a:gdLst/>
              <a:ahLst/>
              <a:cxnLst/>
              <a:rect l="l" t="t" r="r" b="b"/>
              <a:pathLst>
                <a:path w="5356225" h="5080">
                  <a:moveTo>
                    <a:pt x="0" y="5060"/>
                  </a:moveTo>
                  <a:lnTo>
                    <a:pt x="0" y="0"/>
                  </a:lnTo>
                  <a:lnTo>
                    <a:pt x="5355859" y="0"/>
                  </a:lnTo>
                  <a:lnTo>
                    <a:pt x="535585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0"/>
              <a:t> </a:t>
            </a:r>
            <a:r>
              <a:rPr dirty="0"/>
              <a:t>7:</a:t>
            </a:r>
            <a:r>
              <a:rPr dirty="0" spc="105"/>
              <a:t> </a:t>
            </a:r>
            <a:r>
              <a:rPr dirty="0" spc="-25"/>
              <a:t>Check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35"/>
              <a:t>results</a:t>
            </a:r>
            <a:r>
              <a:rPr dirty="0" spc="10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output</a:t>
            </a:r>
            <a:r>
              <a:rPr dirty="0" spc="15"/>
              <a:t> </a:t>
            </a:r>
            <a:r>
              <a:rPr dirty="0" spc="-25"/>
              <a:t>bucket</a:t>
            </a:r>
            <a:r>
              <a:rPr dirty="0" spc="10"/>
              <a:t> </a:t>
            </a:r>
            <a:r>
              <a:rPr dirty="0" spc="-10"/>
              <a:t>and</a:t>
            </a:r>
            <a:r>
              <a:rPr dirty="0" spc="10"/>
              <a:t> </a:t>
            </a:r>
            <a:r>
              <a:rPr dirty="0" spc="-10"/>
              <a:t>verify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20"/>
              <a:t>Lambda</a:t>
            </a:r>
            <a:r>
              <a:rPr dirty="0" spc="10"/>
              <a:t> </a:t>
            </a:r>
            <a:r>
              <a:rPr dirty="0" spc="-20"/>
              <a:t>logs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470825" y="919871"/>
            <a:ext cx="2178050" cy="156210"/>
            <a:chOff x="1470825" y="919871"/>
            <a:chExt cx="2178050" cy="156210"/>
          </a:xfrm>
        </p:grpSpPr>
        <p:sp>
          <p:nvSpPr>
            <p:cNvPr id="4" name="object 4" descr=""/>
            <p:cNvSpPr/>
            <p:nvPr/>
          </p:nvSpPr>
          <p:spPr>
            <a:xfrm>
              <a:off x="1470825" y="919871"/>
              <a:ext cx="2178050" cy="156210"/>
            </a:xfrm>
            <a:custGeom>
              <a:avLst/>
              <a:gdLst/>
              <a:ahLst/>
              <a:cxnLst/>
              <a:rect l="l" t="t" r="r" b="b"/>
              <a:pathLst>
                <a:path w="2178050" h="156209">
                  <a:moveTo>
                    <a:pt x="21415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2141532" y="155602"/>
                  </a:lnTo>
                  <a:lnTo>
                    <a:pt x="2155545" y="152773"/>
                  </a:lnTo>
                  <a:lnTo>
                    <a:pt x="2166988" y="145058"/>
                  </a:lnTo>
                  <a:lnTo>
                    <a:pt x="2174703" y="133615"/>
                  </a:lnTo>
                  <a:lnTo>
                    <a:pt x="2177532" y="119602"/>
                  </a:lnTo>
                  <a:lnTo>
                    <a:pt x="2177532" y="36000"/>
                  </a:lnTo>
                  <a:lnTo>
                    <a:pt x="2174703" y="21987"/>
                  </a:lnTo>
                  <a:lnTo>
                    <a:pt x="2166988" y="10544"/>
                  </a:lnTo>
                  <a:lnTo>
                    <a:pt x="2155545" y="2829"/>
                  </a:lnTo>
                  <a:lnTo>
                    <a:pt x="214153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70825" y="919871"/>
              <a:ext cx="2178050" cy="156210"/>
            </a:xfrm>
            <a:custGeom>
              <a:avLst/>
              <a:gdLst/>
              <a:ahLst/>
              <a:cxnLst/>
              <a:rect l="l" t="t" r="r" b="b"/>
              <a:pathLst>
                <a:path w="2178050" h="156209">
                  <a:moveTo>
                    <a:pt x="214153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602"/>
                  </a:lnTo>
                  <a:lnTo>
                    <a:pt x="2829" y="133615"/>
                  </a:lnTo>
                  <a:lnTo>
                    <a:pt x="10544" y="145058"/>
                  </a:lnTo>
                  <a:lnTo>
                    <a:pt x="21987" y="152773"/>
                  </a:lnTo>
                  <a:lnTo>
                    <a:pt x="36000" y="155602"/>
                  </a:lnTo>
                  <a:lnTo>
                    <a:pt x="2141532" y="155602"/>
                  </a:lnTo>
                  <a:lnTo>
                    <a:pt x="2155545" y="152773"/>
                  </a:lnTo>
                  <a:lnTo>
                    <a:pt x="2166988" y="145058"/>
                  </a:lnTo>
                  <a:lnTo>
                    <a:pt x="2174703" y="133615"/>
                  </a:lnTo>
                  <a:lnTo>
                    <a:pt x="2177532" y="119602"/>
                  </a:lnTo>
                  <a:lnTo>
                    <a:pt x="2177532" y="36000"/>
                  </a:lnTo>
                  <a:lnTo>
                    <a:pt x="2174703" y="21987"/>
                  </a:lnTo>
                  <a:lnTo>
                    <a:pt x="2166988" y="10544"/>
                  </a:lnTo>
                  <a:lnTo>
                    <a:pt x="2155545" y="2829"/>
                  </a:lnTo>
                  <a:lnTo>
                    <a:pt x="214153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294" y="476647"/>
            <a:ext cx="5006340" cy="583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9554">
              <a:lnSpc>
                <a:spcPct val="116199"/>
              </a:lnSpc>
              <a:spcBef>
                <a:spcPts val="1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we’ve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done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correctly,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triggered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image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uploaded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input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bucket,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processed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output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bucket.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 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check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S3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bucket</a:t>
            </a:r>
            <a:r>
              <a:rPr dirty="0" sz="900" spc="1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medical-images-processed-[YOUR-NAME]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something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" y="1167781"/>
            <a:ext cx="4031798" cy="134606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215629" y="2647834"/>
            <a:ext cx="13290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2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26:</a:t>
            </a:r>
            <a:r>
              <a:rPr dirty="0" sz="800" spc="12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35">
                <a:solidFill>
                  <a:srgbClr val="22373A"/>
                </a:solidFill>
                <a:latin typeface="Arial"/>
                <a:cs typeface="Arial"/>
              </a:rPr>
              <a:t>Processed</a:t>
            </a:r>
            <a:r>
              <a:rPr dirty="0" sz="8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5457190" cy="5080"/>
            </a:xfrm>
            <a:custGeom>
              <a:avLst/>
              <a:gdLst/>
              <a:ahLst/>
              <a:cxnLst/>
              <a:rect l="l" t="t" r="r" b="b"/>
              <a:pathLst>
                <a:path w="5457190" h="5080">
                  <a:moveTo>
                    <a:pt x="0" y="5060"/>
                  </a:moveTo>
                  <a:lnTo>
                    <a:pt x="0" y="0"/>
                  </a:lnTo>
                  <a:lnTo>
                    <a:pt x="5456935" y="0"/>
                  </a:lnTo>
                  <a:lnTo>
                    <a:pt x="54569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0"/>
              <a:t> </a:t>
            </a:r>
            <a:r>
              <a:rPr dirty="0"/>
              <a:t>7:</a:t>
            </a:r>
            <a:r>
              <a:rPr dirty="0" spc="105"/>
              <a:t> </a:t>
            </a:r>
            <a:r>
              <a:rPr dirty="0" spc="-25"/>
              <a:t>Check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35"/>
              <a:t>results</a:t>
            </a:r>
            <a:r>
              <a:rPr dirty="0" spc="10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output</a:t>
            </a:r>
            <a:r>
              <a:rPr dirty="0" spc="15"/>
              <a:t> </a:t>
            </a:r>
            <a:r>
              <a:rPr dirty="0" spc="-25"/>
              <a:t>bucket</a:t>
            </a:r>
            <a:r>
              <a:rPr dirty="0" spc="10"/>
              <a:t> </a:t>
            </a:r>
            <a:r>
              <a:rPr dirty="0" spc="-10"/>
              <a:t>and</a:t>
            </a:r>
            <a:r>
              <a:rPr dirty="0" spc="10"/>
              <a:t> </a:t>
            </a:r>
            <a:r>
              <a:rPr dirty="0" spc="-10"/>
              <a:t>verify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20"/>
              <a:t>Lambda</a:t>
            </a:r>
            <a:r>
              <a:rPr dirty="0" spc="10"/>
              <a:t> </a:t>
            </a:r>
            <a:r>
              <a:rPr dirty="0" spc="-20"/>
              <a:t>logs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650782" y="403212"/>
            <a:ext cx="623570" cy="146685"/>
            <a:chOff x="2650782" y="403212"/>
            <a:chExt cx="623570" cy="146685"/>
          </a:xfrm>
        </p:grpSpPr>
        <p:sp>
          <p:nvSpPr>
            <p:cNvPr id="4" name="object 4" descr=""/>
            <p:cNvSpPr/>
            <p:nvPr/>
          </p:nvSpPr>
          <p:spPr>
            <a:xfrm>
              <a:off x="2650782" y="403212"/>
              <a:ext cx="623570" cy="146685"/>
            </a:xfrm>
            <a:custGeom>
              <a:avLst/>
              <a:gdLst/>
              <a:ahLst/>
              <a:cxnLst/>
              <a:rect l="l" t="t" r="r" b="b"/>
              <a:pathLst>
                <a:path w="623570" h="1466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587145" y="146151"/>
                  </a:lnTo>
                  <a:lnTo>
                    <a:pt x="601158" y="143322"/>
                  </a:lnTo>
                  <a:lnTo>
                    <a:pt x="612602" y="135607"/>
                  </a:lnTo>
                  <a:lnTo>
                    <a:pt x="620317" y="124164"/>
                  </a:lnTo>
                  <a:lnTo>
                    <a:pt x="623146" y="110151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650782" y="403212"/>
              <a:ext cx="623570" cy="146685"/>
            </a:xfrm>
            <a:custGeom>
              <a:avLst/>
              <a:gdLst/>
              <a:ahLst/>
              <a:cxnLst/>
              <a:rect l="l" t="t" r="r" b="b"/>
              <a:pathLst>
                <a:path w="623570" h="14668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151"/>
                  </a:lnTo>
                  <a:lnTo>
                    <a:pt x="2829" y="124164"/>
                  </a:lnTo>
                  <a:lnTo>
                    <a:pt x="10544" y="135607"/>
                  </a:lnTo>
                  <a:lnTo>
                    <a:pt x="21987" y="143322"/>
                  </a:lnTo>
                  <a:lnTo>
                    <a:pt x="36000" y="146151"/>
                  </a:lnTo>
                  <a:lnTo>
                    <a:pt x="587145" y="146151"/>
                  </a:lnTo>
                  <a:lnTo>
                    <a:pt x="601158" y="143322"/>
                  </a:lnTo>
                  <a:lnTo>
                    <a:pt x="612602" y="135607"/>
                  </a:lnTo>
                  <a:lnTo>
                    <a:pt x="620317" y="124164"/>
                  </a:lnTo>
                  <a:lnTo>
                    <a:pt x="623146" y="110151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359994" y="562528"/>
            <a:ext cx="683260" cy="121285"/>
            <a:chOff x="359994" y="562528"/>
            <a:chExt cx="683260" cy="121285"/>
          </a:xfrm>
        </p:grpSpPr>
        <p:sp>
          <p:nvSpPr>
            <p:cNvPr id="7" name="object 7" descr=""/>
            <p:cNvSpPr/>
            <p:nvPr/>
          </p:nvSpPr>
          <p:spPr>
            <a:xfrm>
              <a:off x="359994" y="56252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59994" y="562528"/>
              <a:ext cx="683260" cy="121285"/>
            </a:xfrm>
            <a:custGeom>
              <a:avLst/>
              <a:gdLst/>
              <a:ahLst/>
              <a:cxnLst/>
              <a:rect l="l" t="t" r="r" b="b"/>
              <a:pathLst>
                <a:path w="683260" h="121284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646930" y="120757"/>
                  </a:lnTo>
                  <a:lnTo>
                    <a:pt x="660943" y="117928"/>
                  </a:lnTo>
                  <a:lnTo>
                    <a:pt x="672386" y="110213"/>
                  </a:lnTo>
                  <a:lnTo>
                    <a:pt x="680101" y="98770"/>
                  </a:lnTo>
                  <a:lnTo>
                    <a:pt x="682930" y="84757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43433" y="348847"/>
            <a:ext cx="4411980" cy="34417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9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latin typeface="Courier New"/>
                <a:cs typeface="Courier New"/>
              </a:rPr>
              <a:t>Monitoring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dirty="0" sz="900" spc="9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plot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175"/>
              </a:spcBef>
            </a:pPr>
            <a:r>
              <a:rPr dirty="0" sz="900" spc="-75">
                <a:latin typeface="Courier New"/>
                <a:cs typeface="Courier New"/>
              </a:rPr>
              <a:t>Invocations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Arial"/>
                <a:cs typeface="Arial"/>
              </a:rPr>
              <a:t>shows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times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triggered.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012" y="775602"/>
            <a:ext cx="3527977" cy="19256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158441" y="2835273"/>
            <a:ext cx="14433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27:</a:t>
            </a:r>
            <a:r>
              <a:rPr dirty="0" sz="800" spc="95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Lambda </a:t>
            </a:r>
            <a:r>
              <a:rPr dirty="0" sz="800" spc="-10">
                <a:solidFill>
                  <a:srgbClr val="22373A"/>
                </a:solidFill>
                <a:latin typeface="Arial"/>
                <a:cs typeface="Arial"/>
              </a:rPr>
              <a:t>invocations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3" name="object 13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0" y="3234963"/>
              <a:ext cx="5558155" cy="5080"/>
            </a:xfrm>
            <a:custGeom>
              <a:avLst/>
              <a:gdLst/>
              <a:ahLst/>
              <a:cxnLst/>
              <a:rect l="l" t="t" r="r" b="b"/>
              <a:pathLst>
                <a:path w="5558155" h="5080">
                  <a:moveTo>
                    <a:pt x="0" y="5060"/>
                  </a:moveTo>
                  <a:lnTo>
                    <a:pt x="0" y="0"/>
                  </a:lnTo>
                  <a:lnTo>
                    <a:pt x="5557922" y="0"/>
                  </a:lnTo>
                  <a:lnTo>
                    <a:pt x="55579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dirty="0" spc="10"/>
              <a:t> </a:t>
            </a:r>
            <a:r>
              <a:rPr dirty="0"/>
              <a:t>7:</a:t>
            </a:r>
            <a:r>
              <a:rPr dirty="0" spc="105"/>
              <a:t> </a:t>
            </a:r>
            <a:r>
              <a:rPr dirty="0" spc="-25"/>
              <a:t>Check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35"/>
              <a:t>results</a:t>
            </a:r>
            <a:r>
              <a:rPr dirty="0" spc="10"/>
              <a:t> </a:t>
            </a:r>
            <a:r>
              <a:rPr dirty="0"/>
              <a:t>in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output</a:t>
            </a:r>
            <a:r>
              <a:rPr dirty="0" spc="15"/>
              <a:t> </a:t>
            </a:r>
            <a:r>
              <a:rPr dirty="0" spc="-25"/>
              <a:t>bucket</a:t>
            </a:r>
            <a:r>
              <a:rPr dirty="0" spc="10"/>
              <a:t> </a:t>
            </a:r>
            <a:r>
              <a:rPr dirty="0" spc="-10"/>
              <a:t>and</a:t>
            </a:r>
            <a:r>
              <a:rPr dirty="0" spc="10"/>
              <a:t> </a:t>
            </a:r>
            <a:r>
              <a:rPr dirty="0" spc="-10"/>
              <a:t>verify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20"/>
              <a:t>Lambda</a:t>
            </a:r>
            <a:r>
              <a:rPr dirty="0" spc="10"/>
              <a:t> </a:t>
            </a:r>
            <a:r>
              <a:rPr dirty="0" spc="-20"/>
              <a:t>logs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492122" y="553064"/>
            <a:ext cx="1400810" cy="147955"/>
            <a:chOff x="1492122" y="553064"/>
            <a:chExt cx="1400810" cy="147955"/>
          </a:xfrm>
        </p:grpSpPr>
        <p:sp>
          <p:nvSpPr>
            <p:cNvPr id="4" name="object 4" descr=""/>
            <p:cNvSpPr/>
            <p:nvPr/>
          </p:nvSpPr>
          <p:spPr>
            <a:xfrm>
              <a:off x="1492122" y="553064"/>
              <a:ext cx="1400810" cy="147955"/>
            </a:xfrm>
            <a:custGeom>
              <a:avLst/>
              <a:gdLst/>
              <a:ahLst/>
              <a:cxnLst/>
              <a:rect l="l" t="t" r="r" b="b"/>
              <a:pathLst>
                <a:path w="1400810" h="147954">
                  <a:moveTo>
                    <a:pt x="136433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403"/>
                  </a:lnTo>
                  <a:lnTo>
                    <a:pt x="2829" y="125416"/>
                  </a:lnTo>
                  <a:lnTo>
                    <a:pt x="10544" y="136859"/>
                  </a:lnTo>
                  <a:lnTo>
                    <a:pt x="21987" y="144574"/>
                  </a:lnTo>
                  <a:lnTo>
                    <a:pt x="36000" y="147403"/>
                  </a:lnTo>
                  <a:lnTo>
                    <a:pt x="1364339" y="147403"/>
                  </a:lnTo>
                  <a:lnTo>
                    <a:pt x="1378352" y="144574"/>
                  </a:lnTo>
                  <a:lnTo>
                    <a:pt x="1389795" y="136859"/>
                  </a:lnTo>
                  <a:lnTo>
                    <a:pt x="1397510" y="125416"/>
                  </a:lnTo>
                  <a:lnTo>
                    <a:pt x="1400339" y="111403"/>
                  </a:lnTo>
                  <a:lnTo>
                    <a:pt x="1400339" y="36000"/>
                  </a:lnTo>
                  <a:lnTo>
                    <a:pt x="1397510" y="21987"/>
                  </a:lnTo>
                  <a:lnTo>
                    <a:pt x="1389795" y="10544"/>
                  </a:lnTo>
                  <a:lnTo>
                    <a:pt x="1378352" y="2829"/>
                  </a:lnTo>
                  <a:lnTo>
                    <a:pt x="136433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92122" y="553064"/>
              <a:ext cx="1400810" cy="147955"/>
            </a:xfrm>
            <a:custGeom>
              <a:avLst/>
              <a:gdLst/>
              <a:ahLst/>
              <a:cxnLst/>
              <a:rect l="l" t="t" r="r" b="b"/>
              <a:pathLst>
                <a:path w="1400810" h="147954">
                  <a:moveTo>
                    <a:pt x="136433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403"/>
                  </a:lnTo>
                  <a:lnTo>
                    <a:pt x="2829" y="125416"/>
                  </a:lnTo>
                  <a:lnTo>
                    <a:pt x="10544" y="136859"/>
                  </a:lnTo>
                  <a:lnTo>
                    <a:pt x="21987" y="144574"/>
                  </a:lnTo>
                  <a:lnTo>
                    <a:pt x="36000" y="147403"/>
                  </a:lnTo>
                  <a:lnTo>
                    <a:pt x="1364339" y="147403"/>
                  </a:lnTo>
                  <a:lnTo>
                    <a:pt x="1378352" y="144574"/>
                  </a:lnTo>
                  <a:lnTo>
                    <a:pt x="1389795" y="136859"/>
                  </a:lnTo>
                  <a:lnTo>
                    <a:pt x="1397510" y="125416"/>
                  </a:lnTo>
                  <a:lnTo>
                    <a:pt x="1400339" y="111403"/>
                  </a:lnTo>
                  <a:lnTo>
                    <a:pt x="1400339" y="36000"/>
                  </a:lnTo>
                  <a:lnTo>
                    <a:pt x="1397510" y="21987"/>
                  </a:lnTo>
                  <a:lnTo>
                    <a:pt x="1389795" y="10544"/>
                  </a:lnTo>
                  <a:lnTo>
                    <a:pt x="1378352" y="2829"/>
                  </a:lnTo>
                  <a:lnTo>
                    <a:pt x="136433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1718" y="499951"/>
            <a:ext cx="4970780" cy="344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 marR="5080" indent="-5715">
              <a:lnSpc>
                <a:spcPct val="116199"/>
              </a:lnSpc>
              <a:spcBef>
                <a:spcPts val="100"/>
              </a:spcBef>
            </a:pP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900" spc="1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View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logs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in</a:t>
            </a:r>
            <a:r>
              <a:rPr dirty="0" sz="900" spc="-70">
                <a:latin typeface="Courier New"/>
                <a:cs typeface="Courier New"/>
              </a:rPr>
              <a:t> </a:t>
            </a:r>
            <a:r>
              <a:rPr dirty="0" sz="900" spc="-75">
                <a:latin typeface="Courier New"/>
                <a:cs typeface="Courier New"/>
              </a:rPr>
              <a:t>CloudWatch</a:t>
            </a:r>
            <a:r>
              <a:rPr dirty="0" sz="900" spc="-135"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95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dirty="0" sz="9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logs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function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dirty="0" sz="9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did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earlier.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069" y="902083"/>
            <a:ext cx="4031872" cy="158846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322258" y="2624529"/>
            <a:ext cx="11156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solidFill>
                  <a:srgbClr val="22373A"/>
                </a:solidFill>
                <a:latin typeface="Arial"/>
                <a:cs typeface="Arial"/>
              </a:rPr>
              <a:t>Figure</a:t>
            </a:r>
            <a:r>
              <a:rPr dirty="0" sz="800" spc="1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2373A"/>
                </a:solidFill>
                <a:latin typeface="Arial"/>
                <a:cs typeface="Arial"/>
              </a:rPr>
              <a:t>28:</a:t>
            </a:r>
            <a:r>
              <a:rPr dirty="0" sz="800" spc="100" b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22373A"/>
                </a:solidFill>
                <a:latin typeface="Arial"/>
                <a:cs typeface="Arial"/>
              </a:rPr>
              <a:t>Lambda </a:t>
            </a:r>
            <a:r>
              <a:rPr dirty="0" sz="800" spc="-20">
                <a:solidFill>
                  <a:srgbClr val="22373A"/>
                </a:solidFill>
                <a:latin typeface="Arial"/>
                <a:cs typeface="Arial"/>
              </a:rPr>
              <a:t>logs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3234963"/>
              <a:ext cx="5659120" cy="5080"/>
            </a:xfrm>
            <a:custGeom>
              <a:avLst/>
              <a:gdLst/>
              <a:ahLst/>
              <a:cxnLst/>
              <a:rect l="l" t="t" r="r" b="b"/>
              <a:pathLst>
                <a:path w="5659120" h="5080">
                  <a:moveTo>
                    <a:pt x="0" y="5060"/>
                  </a:moveTo>
                  <a:lnTo>
                    <a:pt x="0" y="0"/>
                  </a:lnTo>
                  <a:lnTo>
                    <a:pt x="5658998" y="0"/>
                  </a:lnTo>
                  <a:lnTo>
                    <a:pt x="56589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14703" y="1374341"/>
            <a:ext cx="4121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b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Recap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 descr="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27403" y="1646231"/>
              <a:ext cx="2461895" cy="5080"/>
            </a:xfrm>
            <a:custGeom>
              <a:avLst/>
              <a:gdLst/>
              <a:ahLst/>
              <a:cxnLst/>
              <a:rect l="l" t="t" r="r" b="b"/>
              <a:pathLst>
                <a:path w="2461895" h="5080">
                  <a:moveTo>
                    <a:pt x="0" y="5060"/>
                  </a:moveTo>
                  <a:lnTo>
                    <a:pt x="0" y="0"/>
                  </a:lnTo>
                  <a:lnTo>
                    <a:pt x="2461276" y="0"/>
                  </a:lnTo>
                  <a:lnTo>
                    <a:pt x="246127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solidFill>
                  <a:srgbClr val="F9F9F9"/>
                </a:solidFill>
                <a:latin typeface="Arial"/>
                <a:cs typeface="Arial"/>
              </a:rPr>
              <a:t>Recap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7126" y="1291572"/>
            <a:ext cx="430720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95"/>
              </a:spcBef>
              <a:buChar char="•"/>
              <a:tabLst>
                <a:tab pos="156210" algn="l"/>
              </a:tabLst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runs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846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Recap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7126" y="1268885"/>
            <a:ext cx="4773930" cy="50355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275"/>
              </a:spcBef>
              <a:buChar char="•"/>
              <a:tabLst>
                <a:tab pos="156210" algn="l"/>
              </a:tabLst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runs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events.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triggered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events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various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sources,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S3,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API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Gateway,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CloudWatch.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8460" cy="1778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Recap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7126" y="1268885"/>
            <a:ext cx="4826635" cy="82232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275"/>
              </a:spcBef>
              <a:buChar char="•"/>
              <a:tabLst>
                <a:tab pos="156210" algn="l"/>
              </a:tabLst>
            </a:pP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serverless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runs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code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22373A"/>
                </a:solidFill>
                <a:latin typeface="Arial"/>
                <a:cs typeface="Arial"/>
              </a:rPr>
              <a:t>response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events.</a:t>
            </a:r>
            <a:endParaRPr sz="900">
              <a:latin typeface="Arial"/>
              <a:cs typeface="Arial"/>
            </a:endParaRPr>
          </a:p>
          <a:p>
            <a:pPr marL="160020" marR="57150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triggered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events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from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various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0">
                <a:solidFill>
                  <a:srgbClr val="22373A"/>
                </a:solidFill>
                <a:latin typeface="Arial"/>
                <a:cs typeface="Arial"/>
              </a:rPr>
              <a:t>sources,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such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S3,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API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Gateway,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CloudWatch.</a:t>
            </a:r>
            <a:endParaRPr sz="900">
              <a:latin typeface="Arial"/>
              <a:cs typeface="Arial"/>
            </a:endParaRPr>
          </a:p>
          <a:p>
            <a:pPr marL="160020" marR="5080" indent="-147955">
              <a:lnSpc>
                <a:spcPct val="116199"/>
              </a:lnSpc>
              <a:buChar char="•"/>
              <a:tabLst>
                <a:tab pos="160020" algn="l"/>
              </a:tabLst>
            </a:pP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Lambda</a:t>
            </a:r>
            <a:r>
              <a:rPr dirty="0" sz="9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functions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be </a:t>
            </a:r>
            <a:r>
              <a:rPr dirty="0" sz="900" spc="-55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for </a:t>
            </a:r>
            <a:r>
              <a:rPr dirty="0" sz="900" spc="-20">
                <a:solidFill>
                  <a:srgbClr val="22373A"/>
                </a:solidFill>
                <a:latin typeface="Arial"/>
                <a:cs typeface="Arial"/>
              </a:rPr>
              <a:t>real-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time data </a:t>
            </a:r>
            <a:r>
              <a:rPr dirty="0" sz="900" spc="-35">
                <a:solidFill>
                  <a:srgbClr val="22373A"/>
                </a:solidFill>
                <a:latin typeface="Arial"/>
                <a:cs typeface="Arial"/>
              </a:rPr>
              <a:t>processing,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data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aggregation,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 data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validation,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Arial"/>
                <a:cs typeface="Arial"/>
              </a:rPr>
              <a:t>image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45">
                <a:solidFill>
                  <a:srgbClr val="22373A"/>
                </a:solidFill>
                <a:latin typeface="Arial"/>
                <a:cs typeface="Arial"/>
              </a:rPr>
              <a:t>processing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dirty="0" sz="9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30">
                <a:solidFill>
                  <a:srgbClr val="22373A"/>
                </a:solidFill>
                <a:latin typeface="Arial"/>
                <a:cs typeface="Arial"/>
              </a:rPr>
              <a:t>healthcare</a:t>
            </a:r>
            <a:r>
              <a:rPr dirty="0" sz="9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 descr="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Ferran Aran Domingo ` `%%%`#`&amp;12_`__~~~ౡ氀猀攀</dc:creator>
  <cp:keywords>Cloud Computing, AWS, Healtcare, Cloud Computing in Healthcare</cp:keywords>
  <dc:title>High Performance and Distributed Computing for Big Data - Unit 3: AWS - Lambda</dc:title>
  <dcterms:created xsi:type="dcterms:W3CDTF">2025-05-19T16:10:14Z</dcterms:created>
  <dcterms:modified xsi:type="dcterms:W3CDTF">2025-05-19T16:10:14Z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2025-03-18T00:00:00Z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2025-03-18T00:00:00Z</vt:filetime>
  </property>
</Properties>
</file>