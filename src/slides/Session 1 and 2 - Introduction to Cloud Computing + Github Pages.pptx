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3" r:id="rId166"/>
    <p:sldId id="420" r:id="rId167"/>
    <p:sldId id="421" r:id="rId168"/>
    <p:sldId id="422" r:id="rId169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CFC36-1F88-194C-8E78-04B891770C48}" v="2" dt="2026-02-14T18:22:56.92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>
      <p:cViewPr varScale="1">
        <p:scale>
          <a:sx n="202" d="100"/>
          <a:sy n="202" d="100"/>
        </p:scale>
        <p:origin x="44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microsoft.com/office/2016/11/relationships/changesInfo" Target="changesInfos/changesInfo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microsoft.com/office/2015/10/relationships/revisionInfo" Target="revisionInfo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 Xavier Solsona Tehas" userId="1f95e2c3-a25c-4efc-a37b-de93ab79e53c" providerId="ADAL" clId="{C51773D9-DD29-5A84-A509-762D3F3EA38B}"/>
    <pc:docChg chg="undo custSel addSld modSld">
      <pc:chgData name="Francesc Xavier Solsona Tehas" userId="1f95e2c3-a25c-4efc-a37b-de93ab79e53c" providerId="ADAL" clId="{C51773D9-DD29-5A84-A509-762D3F3EA38B}" dt="2026-02-14T18:22:59.818" v="55" actId="14100"/>
      <pc:docMkLst>
        <pc:docMk/>
      </pc:docMkLst>
      <pc:sldChg chg="modSp mod">
        <pc:chgData name="Francesc Xavier Solsona Tehas" userId="1f95e2c3-a25c-4efc-a37b-de93ab79e53c" providerId="ADAL" clId="{C51773D9-DD29-5A84-A509-762D3F3EA38B}" dt="2026-02-14T18:22:59.818" v="55" actId="14100"/>
        <pc:sldMkLst>
          <pc:docMk/>
          <pc:sldMk cId="0" sldId="256"/>
        </pc:sldMkLst>
        <pc:spChg chg="mod">
          <ac:chgData name="Francesc Xavier Solsona Tehas" userId="1f95e2c3-a25c-4efc-a37b-de93ab79e53c" providerId="ADAL" clId="{C51773D9-DD29-5A84-A509-762D3F3EA38B}" dt="2026-02-13T19:02:09.827" v="1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Francesc Xavier Solsona Tehas" userId="1f95e2c3-a25c-4efc-a37b-de93ab79e53c" providerId="ADAL" clId="{C51773D9-DD29-5A84-A509-762D3F3EA38B}" dt="2026-02-14T18:22:59.818" v="55" actId="14100"/>
          <ac:spMkLst>
            <pc:docMk/>
            <pc:sldMk cId="0" sldId="256"/>
            <ac:spMk id="6" creationId="{00000000-0000-0000-0000-000000000000}"/>
          </ac:spMkLst>
        </pc:spChg>
      </pc:sldChg>
      <pc:sldChg chg="delSp add mod">
        <pc:chgData name="Francesc Xavier Solsona Tehas" userId="1f95e2c3-a25c-4efc-a37b-de93ab79e53c" providerId="ADAL" clId="{C51773D9-DD29-5A84-A509-762D3F3EA38B}" dt="2026-02-13T19:04:17.665" v="21" actId="478"/>
        <pc:sldMkLst>
          <pc:docMk/>
          <pc:sldMk cId="1523218821" sldId="423"/>
        </pc:sldMkLst>
        <pc:picChg chg="del">
          <ac:chgData name="Francesc Xavier Solsona Tehas" userId="1f95e2c3-a25c-4efc-a37b-de93ab79e53c" providerId="ADAL" clId="{C51773D9-DD29-5A84-A509-762D3F3EA38B}" dt="2026-02-13T19:04:17.665" v="21" actId="478"/>
          <ac:picMkLst>
            <pc:docMk/>
            <pc:sldMk cId="1523218821" sldId="423"/>
            <ac:picMk id="4" creationId="{3C922D21-AED6-ED3B-7280-C5A184F904D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351536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376682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7304" y="630854"/>
            <a:ext cx="5208270" cy="2111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erran.aran@udl.ca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e/ZTY3MEiPJ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e/ZTY3MEiPJ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e/ZTY3MEiPJb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6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iot-analytics.com/global-cloud-project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hyperlink" Target="https://haveibeenpwned.com/" TargetMode="External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hyperlink" Target="https://haveibeenpwned.com/" TargetMode="Externa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github.com/" TargetMode="External"/><Relationship Id="rId2" Type="http://schemas.openxmlformats.org/officeDocument/2006/relationships/hyperlink" Target="https://github.com/signup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dbc-17705110-mdbs.github.io/HandsOnLabs/hol1.html" TargetMode="Externa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" Target="slide136.xml"/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" Target="slide168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" Target="slide168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" Target="slide159.xml"/><Relationship Id="rId1" Type="http://schemas.openxmlformats.org/officeDocument/2006/relationships/slideLayout" Target="../slideLayouts/slideLayout5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" Target="slide161.xml"/><Relationship Id="rId1" Type="http://schemas.openxmlformats.org/officeDocument/2006/relationships/slideLayout" Target="../slideLayouts/slideLayout5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hyperlink" Target="https://hdbc-17705110-mdbs.github.io/HandsOnLabs/hol1.html" TargetMode="Externa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hyperlink" Target="https://hdbc-17705110-mdbs.github.io/HandsOnLabs/quiz1.html" TargetMode="External"/><Relationship Id="rId2" Type="http://schemas.openxmlformats.org/officeDocument/2006/relationships/hyperlink" Target="https://hdbc-17705110-mdbs.github.io/HandsOnLabs/hol1.html" TargetMode="Externa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" y="204036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7294" y="987055"/>
            <a:ext cx="379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1242941"/>
            <a:ext cx="13779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sz="10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10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10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ubTitle" idx="4"/>
          </p:nvPr>
        </p:nvSpPr>
        <p:spPr>
          <a:xfrm>
            <a:off x="347294" y="1824239"/>
            <a:ext cx="1926006" cy="376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800" spc="-10" dirty="0"/>
              <a:t>Ferran</a:t>
            </a:r>
            <a:r>
              <a:rPr lang="es-ES" sz="800" spc="15" dirty="0"/>
              <a:t> </a:t>
            </a:r>
            <a:r>
              <a:rPr lang="es-ES" sz="800" dirty="0"/>
              <a:t>Aran</a:t>
            </a:r>
            <a:r>
              <a:rPr lang="es-ES" sz="800" spc="20" dirty="0"/>
              <a:t> </a:t>
            </a:r>
            <a:r>
              <a:rPr lang="es-ES" sz="800" dirty="0"/>
              <a:t>Domingo</a:t>
            </a:r>
            <a:r>
              <a:rPr lang="es-ES" sz="800" spc="20" dirty="0"/>
              <a:t> </a:t>
            </a:r>
            <a:r>
              <a:rPr lang="es-ES" sz="800" spc="-20" dirty="0">
                <a:hlinkClick r:id="rId2"/>
              </a:rPr>
              <a:t>ferran.aran@udl.cat</a:t>
            </a:r>
            <a:endParaRPr lang="es-ES" sz="800" dirty="0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800" dirty="0"/>
          </a:p>
          <a:p>
            <a:pPr marL="12700">
              <a:lnSpc>
                <a:spcPct val="100000"/>
              </a:lnSpc>
            </a:pP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Rovira</a:t>
            </a:r>
            <a:r>
              <a:rPr sz="600" spc="25" dirty="0"/>
              <a:t> </a:t>
            </a:r>
            <a:r>
              <a:rPr sz="600" dirty="0"/>
              <a:t>i</a:t>
            </a:r>
            <a:r>
              <a:rPr sz="600" spc="25" dirty="0"/>
              <a:t> </a:t>
            </a:r>
            <a:r>
              <a:rPr sz="600" dirty="0"/>
              <a:t>Virgili</a:t>
            </a:r>
            <a:r>
              <a:rPr sz="600" spc="25" dirty="0"/>
              <a:t> </a:t>
            </a:r>
            <a:r>
              <a:rPr sz="600" dirty="0"/>
              <a:t>and</a:t>
            </a:r>
            <a:r>
              <a:rPr sz="600" spc="25" dirty="0"/>
              <a:t> </a:t>
            </a:r>
            <a:r>
              <a:rPr sz="600" dirty="0"/>
              <a:t>Universitat</a:t>
            </a:r>
            <a:r>
              <a:rPr sz="600" spc="20" dirty="0"/>
              <a:t> </a:t>
            </a:r>
            <a:r>
              <a:rPr sz="600" dirty="0"/>
              <a:t>de</a:t>
            </a:r>
            <a:r>
              <a:rPr sz="600" spc="25" dirty="0"/>
              <a:t> </a:t>
            </a:r>
            <a:r>
              <a:rPr sz="600" spc="-10" dirty="0"/>
              <a:t>Lleida</a:t>
            </a:r>
            <a:endParaRPr sz="600" dirty="0"/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18110" cy="5080"/>
            </a:xfrm>
            <a:custGeom>
              <a:avLst/>
              <a:gdLst/>
              <a:ahLst/>
              <a:cxnLst/>
              <a:rect l="l" t="t" r="r" b="b"/>
              <a:pathLst>
                <a:path w="118110" h="5080">
                  <a:moveTo>
                    <a:pt x="0" y="5060"/>
                  </a:moveTo>
                  <a:lnTo>
                    <a:pt x="0" y="0"/>
                  </a:lnTo>
                  <a:lnTo>
                    <a:pt x="117511" y="0"/>
                  </a:lnTo>
                  <a:lnTo>
                    <a:pt x="1175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5913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this</a:t>
            </a:r>
            <a:r>
              <a:rPr sz="1000" b="1" spc="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F9F9F9"/>
                </a:solidFill>
                <a:latin typeface="Arial"/>
                <a:cs typeface="Arial"/>
              </a:rPr>
              <a:t>course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about?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6291" y="708515"/>
            <a:ext cx="3128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</a:rPr>
              <a:t>High</a:t>
            </a:r>
            <a:r>
              <a:rPr sz="900" spc="-5" dirty="0">
                <a:solidFill>
                  <a:srgbClr val="22373A"/>
                </a:solidFill>
              </a:rPr>
              <a:t> </a:t>
            </a:r>
            <a:r>
              <a:rPr sz="900" spc="-30" dirty="0">
                <a:solidFill>
                  <a:srgbClr val="22373A"/>
                </a:solidFill>
              </a:rPr>
              <a:t>Performance</a:t>
            </a:r>
            <a:r>
              <a:rPr sz="900" dirty="0">
                <a:solidFill>
                  <a:srgbClr val="22373A"/>
                </a:solidFill>
              </a:rPr>
              <a:t> </a:t>
            </a:r>
            <a:r>
              <a:rPr sz="900" spc="-10" dirty="0">
                <a:solidFill>
                  <a:srgbClr val="22373A"/>
                </a:solidFill>
              </a:rPr>
              <a:t>and</a:t>
            </a:r>
            <a:r>
              <a:rPr sz="900" spc="-5" dirty="0">
                <a:solidFill>
                  <a:srgbClr val="22373A"/>
                </a:solidFill>
              </a:rPr>
              <a:t> </a:t>
            </a:r>
            <a:r>
              <a:rPr sz="900" spc="-10" dirty="0">
                <a:solidFill>
                  <a:srgbClr val="22373A"/>
                </a:solidFill>
              </a:rPr>
              <a:t>Distributed</a:t>
            </a:r>
            <a:r>
              <a:rPr sz="900" dirty="0">
                <a:solidFill>
                  <a:srgbClr val="22373A"/>
                </a:solidFill>
              </a:rPr>
              <a:t> </a:t>
            </a:r>
            <a:r>
              <a:rPr sz="900" spc="-25" dirty="0">
                <a:solidFill>
                  <a:srgbClr val="22373A"/>
                </a:solidFill>
              </a:rPr>
              <a:t>Computing</a:t>
            </a:r>
            <a:r>
              <a:rPr sz="900" spc="-5" dirty="0">
                <a:solidFill>
                  <a:srgbClr val="22373A"/>
                </a:solidFill>
              </a:rPr>
              <a:t> </a:t>
            </a:r>
            <a:r>
              <a:rPr sz="900" dirty="0">
                <a:solidFill>
                  <a:srgbClr val="22373A"/>
                </a:solidFill>
              </a:rPr>
              <a:t>for Big</a:t>
            </a:r>
            <a:r>
              <a:rPr sz="900" spc="-5" dirty="0">
                <a:solidFill>
                  <a:srgbClr val="22373A"/>
                </a:solidFill>
              </a:rPr>
              <a:t> </a:t>
            </a:r>
            <a:r>
              <a:rPr sz="900" spc="-20" dirty="0">
                <a:solidFill>
                  <a:srgbClr val="22373A"/>
                </a:solidFill>
              </a:rPr>
              <a:t>Data</a:t>
            </a:r>
            <a:endParaRPr sz="900"/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5585" cy="5080"/>
            </a:xfrm>
            <a:custGeom>
              <a:avLst/>
              <a:gdLst/>
              <a:ahLst/>
              <a:cxnLst/>
              <a:rect l="l" t="t" r="r" b="b"/>
              <a:pathLst>
                <a:path w="235585" h="5080">
                  <a:moveTo>
                    <a:pt x="0" y="5060"/>
                  </a:moveTo>
                  <a:lnTo>
                    <a:pt x="0" y="0"/>
                  </a:lnTo>
                  <a:lnTo>
                    <a:pt x="235110" y="0"/>
                  </a:lnTo>
                  <a:lnTo>
                    <a:pt x="2351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20" dirty="0"/>
              <a:t> </a:t>
            </a:r>
            <a:r>
              <a:rPr spc="-25" dirty="0"/>
              <a:t>is</a:t>
            </a:r>
            <a:r>
              <a:rPr spc="20" dirty="0"/>
              <a:t> </a:t>
            </a:r>
            <a:r>
              <a:rPr spc="-10" dirty="0"/>
              <a:t>this</a:t>
            </a:r>
            <a:r>
              <a:rPr spc="25" dirty="0"/>
              <a:t> </a:t>
            </a:r>
            <a:r>
              <a:rPr spc="-50" dirty="0"/>
              <a:t>course</a:t>
            </a:r>
            <a:r>
              <a:rPr spc="20" dirty="0"/>
              <a:t> </a:t>
            </a:r>
            <a:r>
              <a:rPr spc="-20" dirty="0"/>
              <a:t>about?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6291" y="708515"/>
            <a:ext cx="3128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for Big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47115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High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Performance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111542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supercomputers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parallel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techniques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solve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computational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problems.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35585" cy="5080"/>
            </a:xfrm>
            <a:custGeom>
              <a:avLst/>
              <a:gdLst/>
              <a:ahLst/>
              <a:cxnLst/>
              <a:rect l="l" t="t" r="r" b="b"/>
              <a:pathLst>
                <a:path w="235585" h="5080">
                  <a:moveTo>
                    <a:pt x="0" y="5060"/>
                  </a:moveTo>
                  <a:lnTo>
                    <a:pt x="0" y="0"/>
                  </a:lnTo>
                  <a:lnTo>
                    <a:pt x="235110" y="0"/>
                  </a:lnTo>
                  <a:lnTo>
                    <a:pt x="2351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20" dirty="0"/>
              <a:t> </a:t>
            </a:r>
            <a:r>
              <a:rPr spc="-25" dirty="0"/>
              <a:t>is</a:t>
            </a:r>
            <a:r>
              <a:rPr spc="20" dirty="0"/>
              <a:t> </a:t>
            </a:r>
            <a:r>
              <a:rPr spc="-10" dirty="0"/>
              <a:t>this</a:t>
            </a:r>
            <a:r>
              <a:rPr spc="25" dirty="0"/>
              <a:t> </a:t>
            </a:r>
            <a:r>
              <a:rPr spc="-50" dirty="0"/>
              <a:t>course</a:t>
            </a:r>
            <a:r>
              <a:rPr spc="20" dirty="0"/>
              <a:t> </a:t>
            </a:r>
            <a:r>
              <a:rPr spc="-20" dirty="0"/>
              <a:t>about?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6291" y="708515"/>
            <a:ext cx="3128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for Big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47115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High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Performance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111542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supercomputers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parallel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techniques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solve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computational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problems.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1547761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Distributed</a:t>
            </a:r>
            <a:r>
              <a:rPr sz="900" b="1" spc="-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Computing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1712188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concept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multiple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interconnected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achieve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goal.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235585" cy="5080"/>
            </a:xfrm>
            <a:custGeom>
              <a:avLst/>
              <a:gdLst/>
              <a:ahLst/>
              <a:cxnLst/>
              <a:rect l="l" t="t" r="r" b="b"/>
              <a:pathLst>
                <a:path w="235585" h="5080">
                  <a:moveTo>
                    <a:pt x="0" y="5060"/>
                  </a:moveTo>
                  <a:lnTo>
                    <a:pt x="0" y="0"/>
                  </a:lnTo>
                  <a:lnTo>
                    <a:pt x="235110" y="0"/>
                  </a:lnTo>
                  <a:lnTo>
                    <a:pt x="2351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20" dirty="0"/>
              <a:t> </a:t>
            </a:r>
            <a:r>
              <a:rPr spc="-25" dirty="0"/>
              <a:t>is</a:t>
            </a:r>
            <a:r>
              <a:rPr spc="20" dirty="0"/>
              <a:t> </a:t>
            </a:r>
            <a:r>
              <a:rPr spc="-10" dirty="0"/>
              <a:t>this</a:t>
            </a:r>
            <a:r>
              <a:rPr spc="25" dirty="0"/>
              <a:t> </a:t>
            </a:r>
            <a:r>
              <a:rPr spc="-50" dirty="0"/>
              <a:t>course</a:t>
            </a:r>
            <a:r>
              <a:rPr spc="20" dirty="0"/>
              <a:t> </a:t>
            </a:r>
            <a:r>
              <a:rPr spc="-20" dirty="0"/>
              <a:t>about?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6291" y="708515"/>
            <a:ext cx="3128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for Big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47115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High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Performance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111542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supercomputers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parallel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techniques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solve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computational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problems.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1547761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Distributed</a:t>
            </a:r>
            <a:r>
              <a:rPr sz="900" b="1" spc="-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Computing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1712188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concept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multiple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interconnected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achieve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common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goal.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994" y="2148535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994" y="2312962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leads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diﬀicult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235585" cy="5080"/>
            </a:xfrm>
            <a:custGeom>
              <a:avLst/>
              <a:gdLst/>
              <a:ahLst/>
              <a:cxnLst/>
              <a:rect l="l" t="t" r="r" b="b"/>
              <a:pathLst>
                <a:path w="235585" h="5080">
                  <a:moveTo>
                    <a:pt x="0" y="5060"/>
                  </a:moveTo>
                  <a:lnTo>
                    <a:pt x="0" y="0"/>
                  </a:lnTo>
                  <a:lnTo>
                    <a:pt x="235110" y="0"/>
                  </a:lnTo>
                  <a:lnTo>
                    <a:pt x="2351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Who</a:t>
            </a:r>
            <a:r>
              <a:rPr spc="30" dirty="0"/>
              <a:t> </a:t>
            </a:r>
            <a:r>
              <a:rPr dirty="0"/>
              <a:t>am</a:t>
            </a:r>
            <a:r>
              <a:rPr spc="35" dirty="0"/>
              <a:t> </a:t>
            </a:r>
            <a:r>
              <a:rPr spc="-25" dirty="0"/>
              <a:t>I?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751094"/>
            <a:ext cx="503428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My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Ferran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Aran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I’m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Engineer.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I’m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currently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my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PhD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thesis,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Reinforcement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Learning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optimize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energy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consumption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industrial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processes.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My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experience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spans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academia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industry,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often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times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applying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research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53060" cy="5080"/>
            </a:xfrm>
            <a:custGeom>
              <a:avLst/>
              <a:gdLst/>
              <a:ahLst/>
              <a:cxnLst/>
              <a:rect l="l" t="t" r="r" b="b"/>
              <a:pathLst>
                <a:path w="353060" h="5080">
                  <a:moveTo>
                    <a:pt x="0" y="5060"/>
                  </a:moveTo>
                  <a:lnTo>
                    <a:pt x="0" y="0"/>
                  </a:lnTo>
                  <a:lnTo>
                    <a:pt x="352621" y="0"/>
                  </a:lnTo>
                  <a:lnTo>
                    <a:pt x="3526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Who</a:t>
            </a:r>
            <a:r>
              <a:rPr spc="30" dirty="0"/>
              <a:t> </a:t>
            </a:r>
            <a:r>
              <a:rPr dirty="0"/>
              <a:t>am</a:t>
            </a:r>
            <a:r>
              <a:rPr spc="35" dirty="0"/>
              <a:t> </a:t>
            </a:r>
            <a:r>
              <a:rPr spc="-25" dirty="0"/>
              <a:t>I?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2939" rIns="0" bIns="0" rtlCol="0">
            <a:spAutoFit/>
          </a:bodyPr>
          <a:lstStyle/>
          <a:p>
            <a:pPr marL="128270" marR="40005" indent="3810">
              <a:lnSpc>
                <a:spcPct val="116199"/>
              </a:lnSpc>
              <a:spcBef>
                <a:spcPts val="100"/>
              </a:spcBef>
            </a:pPr>
            <a:r>
              <a:rPr dirty="0"/>
              <a:t>My </a:t>
            </a:r>
            <a:r>
              <a:rPr spc="-30" dirty="0"/>
              <a:t>name</a:t>
            </a:r>
            <a:r>
              <a:rPr spc="5" dirty="0"/>
              <a:t> </a:t>
            </a:r>
            <a:r>
              <a:rPr dirty="0"/>
              <a:t>is </a:t>
            </a:r>
            <a:r>
              <a:rPr b="1" spc="-20" dirty="0">
                <a:latin typeface="Arial"/>
                <a:cs typeface="Arial"/>
              </a:rPr>
              <a:t>Ferran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Aran</a:t>
            </a:r>
            <a:r>
              <a:rPr dirty="0"/>
              <a:t>,</a:t>
            </a:r>
            <a:r>
              <a:rPr spc="5" dirty="0"/>
              <a:t> </a:t>
            </a:r>
            <a:r>
              <a:rPr dirty="0"/>
              <a:t>and I’m</a:t>
            </a:r>
            <a:r>
              <a:rPr spc="5" dirty="0"/>
              <a:t> </a:t>
            </a:r>
            <a:r>
              <a:rPr dirty="0"/>
              <a:t>a </a:t>
            </a:r>
            <a:r>
              <a:rPr spc="-20" dirty="0"/>
              <a:t>Computer</a:t>
            </a:r>
            <a:r>
              <a:rPr spc="5" dirty="0"/>
              <a:t> </a:t>
            </a:r>
            <a:r>
              <a:rPr spc="-25" dirty="0"/>
              <a:t>Engineer.</a:t>
            </a:r>
            <a:r>
              <a:rPr spc="85" dirty="0"/>
              <a:t> </a:t>
            </a:r>
            <a:r>
              <a:rPr dirty="0"/>
              <a:t>I’m</a:t>
            </a:r>
            <a:r>
              <a:rPr spc="5" dirty="0"/>
              <a:t> </a:t>
            </a:r>
            <a:r>
              <a:rPr dirty="0"/>
              <a:t>currently </a:t>
            </a:r>
            <a:r>
              <a:rPr spc="-10" dirty="0"/>
              <a:t>working</a:t>
            </a:r>
            <a:r>
              <a:rPr spc="5" dirty="0"/>
              <a:t> </a:t>
            </a:r>
            <a:r>
              <a:rPr dirty="0"/>
              <a:t>on my</a:t>
            </a:r>
            <a:r>
              <a:rPr spc="5" dirty="0"/>
              <a:t> </a:t>
            </a:r>
            <a:r>
              <a:rPr dirty="0"/>
              <a:t>PhD </a:t>
            </a:r>
            <a:r>
              <a:rPr spc="-10" dirty="0"/>
              <a:t>thesis, </a:t>
            </a:r>
            <a:r>
              <a:rPr spc="-30" dirty="0"/>
              <a:t>where</a:t>
            </a:r>
            <a:r>
              <a:rPr spc="15" dirty="0"/>
              <a:t> </a:t>
            </a:r>
            <a:r>
              <a:rPr dirty="0"/>
              <a:t>I</a:t>
            </a:r>
            <a:r>
              <a:rPr spc="20" dirty="0"/>
              <a:t> </a:t>
            </a:r>
            <a:r>
              <a:rPr spc="-10" dirty="0"/>
              <a:t>apply</a:t>
            </a:r>
            <a:r>
              <a:rPr spc="20" dirty="0"/>
              <a:t> </a:t>
            </a:r>
            <a:r>
              <a:rPr spc="-30" dirty="0"/>
              <a:t>Reinforcement</a:t>
            </a:r>
            <a:r>
              <a:rPr spc="20" dirty="0"/>
              <a:t> </a:t>
            </a:r>
            <a:r>
              <a:rPr spc="-25" dirty="0"/>
              <a:t>Learning</a:t>
            </a:r>
            <a:r>
              <a:rPr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10" dirty="0"/>
              <a:t>optimize</a:t>
            </a:r>
            <a:r>
              <a:rPr spc="20" dirty="0"/>
              <a:t> </a:t>
            </a:r>
            <a:r>
              <a:rPr spc="-35" dirty="0"/>
              <a:t>energy</a:t>
            </a:r>
            <a:r>
              <a:rPr spc="20" dirty="0"/>
              <a:t> </a:t>
            </a:r>
            <a:r>
              <a:rPr spc="-20" dirty="0"/>
              <a:t>consumption</a:t>
            </a:r>
            <a:r>
              <a:rPr spc="20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dirty="0"/>
              <a:t>industrial</a:t>
            </a:r>
            <a:r>
              <a:rPr spc="15" dirty="0"/>
              <a:t> </a:t>
            </a:r>
            <a:r>
              <a:rPr spc="-50" dirty="0"/>
              <a:t>processes.</a:t>
            </a:r>
            <a:r>
              <a:rPr spc="110" dirty="0"/>
              <a:t> </a:t>
            </a:r>
            <a:r>
              <a:rPr spc="-25" dirty="0"/>
              <a:t>My </a:t>
            </a:r>
            <a:r>
              <a:rPr spc="-40" dirty="0"/>
              <a:t>experience</a:t>
            </a:r>
            <a:r>
              <a:rPr spc="5" dirty="0"/>
              <a:t> </a:t>
            </a:r>
            <a:r>
              <a:rPr spc="-50" dirty="0"/>
              <a:t>spans</a:t>
            </a:r>
            <a:r>
              <a:rPr spc="10" dirty="0"/>
              <a:t> </a:t>
            </a:r>
            <a:r>
              <a:rPr dirty="0"/>
              <a:t>both</a:t>
            </a:r>
            <a:r>
              <a:rPr spc="10" dirty="0"/>
              <a:t> </a:t>
            </a:r>
            <a:r>
              <a:rPr spc="-40" dirty="0"/>
              <a:t>academia</a:t>
            </a:r>
            <a:r>
              <a:rPr spc="1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industry,</a:t>
            </a:r>
            <a:r>
              <a:rPr spc="5" dirty="0"/>
              <a:t> </a:t>
            </a:r>
            <a:r>
              <a:rPr dirty="0"/>
              <a:t>often</a:t>
            </a:r>
            <a:r>
              <a:rPr spc="10" dirty="0"/>
              <a:t> </a:t>
            </a:r>
            <a:r>
              <a:rPr spc="-10" dirty="0"/>
              <a:t>times</a:t>
            </a:r>
            <a:r>
              <a:rPr spc="10" dirty="0"/>
              <a:t> </a:t>
            </a:r>
            <a:r>
              <a:rPr spc="-10" dirty="0"/>
              <a:t>applying</a:t>
            </a:r>
            <a:r>
              <a:rPr spc="10" dirty="0"/>
              <a:t> </a:t>
            </a:r>
            <a:r>
              <a:rPr spc="-45" dirty="0"/>
              <a:t>research</a:t>
            </a:r>
            <a:r>
              <a:rPr spc="10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30" dirty="0"/>
              <a:t>real-</a:t>
            </a:r>
            <a:r>
              <a:rPr spc="-10" dirty="0"/>
              <a:t>world</a:t>
            </a:r>
            <a:r>
              <a:rPr spc="10" dirty="0"/>
              <a:t> </a:t>
            </a:r>
            <a:r>
              <a:rPr spc="-10" dirty="0"/>
              <a:t>applications.</a:t>
            </a:r>
          </a:p>
          <a:p>
            <a:pPr marL="132080" marR="5080" indent="-4445">
              <a:lnSpc>
                <a:spcPct val="116199"/>
              </a:lnSpc>
              <a:spcBef>
                <a:spcPts val="625"/>
              </a:spcBef>
            </a:pPr>
            <a:r>
              <a:rPr dirty="0"/>
              <a:t>After</a:t>
            </a:r>
            <a:r>
              <a:rPr spc="10" dirty="0"/>
              <a:t> </a:t>
            </a:r>
            <a:r>
              <a:rPr spc="-25" dirty="0"/>
              <a:t>earning</a:t>
            </a:r>
            <a:r>
              <a:rPr spc="10" dirty="0"/>
              <a:t> </a:t>
            </a:r>
            <a:r>
              <a:rPr dirty="0"/>
              <a:t>my</a:t>
            </a:r>
            <a:r>
              <a:rPr spc="10" dirty="0"/>
              <a:t> </a:t>
            </a:r>
            <a:r>
              <a:rPr spc="-40" dirty="0"/>
              <a:t>degree,</a:t>
            </a:r>
            <a:r>
              <a:rPr spc="10" dirty="0"/>
              <a:t> </a:t>
            </a:r>
            <a:r>
              <a:rPr dirty="0"/>
              <a:t>I</a:t>
            </a:r>
            <a:r>
              <a:rPr spc="10" dirty="0"/>
              <a:t> </a:t>
            </a:r>
            <a:r>
              <a:rPr spc="-10" dirty="0"/>
              <a:t>spent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40" dirty="0"/>
              <a:t>year</a:t>
            </a:r>
            <a:r>
              <a:rPr spc="10" dirty="0"/>
              <a:t> </a:t>
            </a:r>
            <a:r>
              <a:rPr dirty="0"/>
              <a:t>at</a:t>
            </a:r>
            <a:r>
              <a:rPr spc="15" dirty="0"/>
              <a:t> </a:t>
            </a:r>
            <a:r>
              <a:rPr b="1" spc="-20" dirty="0">
                <a:latin typeface="Arial"/>
                <a:cs typeface="Arial"/>
              </a:rPr>
              <a:t>Universitat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Lleida</a:t>
            </a:r>
            <a:r>
              <a:rPr spc="-20" dirty="0"/>
              <a:t>,</a:t>
            </a:r>
            <a:r>
              <a:rPr spc="15" dirty="0"/>
              <a:t> </a:t>
            </a:r>
            <a:r>
              <a:rPr spc="-10" dirty="0"/>
              <a:t>collaborating</a:t>
            </a:r>
            <a:r>
              <a:rPr spc="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25" dirty="0"/>
              <a:t>medical</a:t>
            </a:r>
            <a:r>
              <a:rPr spc="10" dirty="0"/>
              <a:t> </a:t>
            </a:r>
            <a:r>
              <a:rPr dirty="0"/>
              <a:t>clinic</a:t>
            </a:r>
            <a:r>
              <a:rPr spc="10" dirty="0"/>
              <a:t> </a:t>
            </a:r>
            <a:r>
              <a:rPr spc="-25" dirty="0"/>
              <a:t>to </a:t>
            </a:r>
            <a:r>
              <a:rPr dirty="0"/>
              <a:t>optimize </a:t>
            </a:r>
            <a:r>
              <a:rPr spc="-30" dirty="0"/>
              <a:t>surgery</a:t>
            </a:r>
            <a:r>
              <a:rPr spc="5" dirty="0"/>
              <a:t> </a:t>
            </a:r>
            <a:r>
              <a:rPr spc="-50" dirty="0"/>
              <a:t>schedules</a:t>
            </a:r>
            <a:r>
              <a:rPr spc="5" dirty="0"/>
              <a:t> </a:t>
            </a:r>
            <a:r>
              <a:rPr spc="-20" dirty="0"/>
              <a:t>using</a:t>
            </a:r>
            <a:r>
              <a:rPr spc="5" dirty="0"/>
              <a:t> </a:t>
            </a:r>
            <a:r>
              <a:rPr spc="-10" dirty="0"/>
              <a:t>mathematical</a:t>
            </a:r>
            <a:r>
              <a:rPr dirty="0"/>
              <a:t> </a:t>
            </a:r>
            <a:r>
              <a:rPr spc="-20" dirty="0"/>
              <a:t>models.</a:t>
            </a:r>
            <a:r>
              <a:rPr spc="90" dirty="0"/>
              <a:t> </a:t>
            </a:r>
            <a:r>
              <a:rPr dirty="0"/>
              <a:t>Then,</a:t>
            </a:r>
            <a:r>
              <a:rPr spc="5" dirty="0"/>
              <a:t> </a:t>
            </a:r>
            <a:r>
              <a:rPr dirty="0"/>
              <a:t>I </a:t>
            </a:r>
            <a:r>
              <a:rPr spc="-10" dirty="0"/>
              <a:t>joined</a:t>
            </a:r>
            <a:r>
              <a:rPr spc="5" dirty="0"/>
              <a:t> </a:t>
            </a:r>
            <a:r>
              <a:rPr dirty="0"/>
              <a:t>GFT</a:t>
            </a:r>
            <a:r>
              <a:rPr spc="5" dirty="0"/>
              <a:t> </a:t>
            </a:r>
            <a:r>
              <a:rPr spc="-35" dirty="0"/>
              <a:t>Technologies,</a:t>
            </a:r>
            <a:r>
              <a:rPr spc="5" dirty="0"/>
              <a:t> </a:t>
            </a:r>
            <a:r>
              <a:rPr spc="-30" dirty="0"/>
              <a:t>where</a:t>
            </a:r>
            <a:r>
              <a:rPr spc="5" dirty="0"/>
              <a:t> </a:t>
            </a:r>
            <a:r>
              <a:rPr spc="-20" dirty="0"/>
              <a:t>I’ve </a:t>
            </a:r>
            <a:r>
              <a:rPr spc="-35" dirty="0"/>
              <a:t>been</a:t>
            </a:r>
            <a:r>
              <a:rPr spc="-5" dirty="0"/>
              <a:t> </a:t>
            </a:r>
            <a:r>
              <a:rPr spc="-10" dirty="0"/>
              <a:t>working</a:t>
            </a:r>
            <a:r>
              <a:rPr dirty="0"/>
              <a:t> for</a:t>
            </a:r>
            <a:r>
              <a:rPr spc="-5" dirty="0"/>
              <a:t> </a:t>
            </a:r>
            <a:r>
              <a:rPr dirty="0"/>
              <a:t>the last two</a:t>
            </a:r>
            <a:r>
              <a:rPr spc="-5" dirty="0"/>
              <a:t> </a:t>
            </a:r>
            <a:r>
              <a:rPr spc="-60" dirty="0"/>
              <a:t>years</a:t>
            </a:r>
            <a:r>
              <a:rPr dirty="0"/>
              <a:t> and</a:t>
            </a:r>
            <a:r>
              <a:rPr spc="-5" dirty="0"/>
              <a:t> </a:t>
            </a:r>
            <a:r>
              <a:rPr spc="-10" dirty="0"/>
              <a:t>recently</a:t>
            </a:r>
            <a:r>
              <a:rPr dirty="0"/>
              <a:t> </a:t>
            </a:r>
            <a:r>
              <a:rPr spc="-10" dirty="0"/>
              <a:t>started</a:t>
            </a:r>
            <a:r>
              <a:rPr dirty="0"/>
              <a:t> my</a:t>
            </a:r>
            <a:r>
              <a:rPr spc="-5" dirty="0"/>
              <a:t> </a:t>
            </a:r>
            <a:r>
              <a:rPr dirty="0"/>
              <a:t>PhD </a:t>
            </a:r>
            <a:r>
              <a:rPr spc="-10" dirty="0"/>
              <a:t>research.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53060" cy="5080"/>
            </a:xfrm>
            <a:custGeom>
              <a:avLst/>
              <a:gdLst/>
              <a:ahLst/>
              <a:cxnLst/>
              <a:rect l="l" t="t" r="r" b="b"/>
              <a:pathLst>
                <a:path w="353060" h="5080">
                  <a:moveTo>
                    <a:pt x="0" y="5060"/>
                  </a:moveTo>
                  <a:lnTo>
                    <a:pt x="0" y="0"/>
                  </a:lnTo>
                  <a:lnTo>
                    <a:pt x="352621" y="0"/>
                  </a:lnTo>
                  <a:lnTo>
                    <a:pt x="3526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Who</a:t>
            </a:r>
            <a:r>
              <a:rPr spc="30" dirty="0"/>
              <a:t> </a:t>
            </a:r>
            <a:r>
              <a:rPr dirty="0"/>
              <a:t>am</a:t>
            </a:r>
            <a:r>
              <a:rPr spc="35" dirty="0"/>
              <a:t> </a:t>
            </a:r>
            <a:r>
              <a:rPr spc="-25" dirty="0"/>
              <a:t>I?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2939" rIns="0" bIns="0" rtlCol="0">
            <a:spAutoFit/>
          </a:bodyPr>
          <a:lstStyle/>
          <a:p>
            <a:pPr marL="128270" marR="40005" indent="3810">
              <a:lnSpc>
                <a:spcPct val="116199"/>
              </a:lnSpc>
              <a:spcBef>
                <a:spcPts val="100"/>
              </a:spcBef>
            </a:pPr>
            <a:r>
              <a:rPr dirty="0"/>
              <a:t>My </a:t>
            </a:r>
            <a:r>
              <a:rPr spc="-30" dirty="0"/>
              <a:t>name</a:t>
            </a:r>
            <a:r>
              <a:rPr spc="5" dirty="0"/>
              <a:t> </a:t>
            </a:r>
            <a:r>
              <a:rPr dirty="0"/>
              <a:t>is </a:t>
            </a:r>
            <a:r>
              <a:rPr b="1" spc="-20" dirty="0">
                <a:latin typeface="Arial"/>
                <a:cs typeface="Arial"/>
              </a:rPr>
              <a:t>Ferran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Aran</a:t>
            </a:r>
            <a:r>
              <a:rPr dirty="0"/>
              <a:t>,</a:t>
            </a:r>
            <a:r>
              <a:rPr spc="5" dirty="0"/>
              <a:t> </a:t>
            </a:r>
            <a:r>
              <a:rPr dirty="0"/>
              <a:t>and I’m</a:t>
            </a:r>
            <a:r>
              <a:rPr spc="5" dirty="0"/>
              <a:t> </a:t>
            </a:r>
            <a:r>
              <a:rPr dirty="0"/>
              <a:t>a </a:t>
            </a:r>
            <a:r>
              <a:rPr spc="-20" dirty="0"/>
              <a:t>Computer</a:t>
            </a:r>
            <a:r>
              <a:rPr spc="5" dirty="0"/>
              <a:t> </a:t>
            </a:r>
            <a:r>
              <a:rPr spc="-25" dirty="0"/>
              <a:t>Engineer.</a:t>
            </a:r>
            <a:r>
              <a:rPr spc="85" dirty="0"/>
              <a:t> </a:t>
            </a:r>
            <a:r>
              <a:rPr dirty="0"/>
              <a:t>I’m</a:t>
            </a:r>
            <a:r>
              <a:rPr spc="5" dirty="0"/>
              <a:t> </a:t>
            </a:r>
            <a:r>
              <a:rPr dirty="0"/>
              <a:t>currently </a:t>
            </a:r>
            <a:r>
              <a:rPr spc="-10" dirty="0"/>
              <a:t>working</a:t>
            </a:r>
            <a:r>
              <a:rPr spc="5" dirty="0"/>
              <a:t> </a:t>
            </a:r>
            <a:r>
              <a:rPr dirty="0"/>
              <a:t>on my</a:t>
            </a:r>
            <a:r>
              <a:rPr spc="5" dirty="0"/>
              <a:t> </a:t>
            </a:r>
            <a:r>
              <a:rPr dirty="0"/>
              <a:t>PhD </a:t>
            </a:r>
            <a:r>
              <a:rPr spc="-10" dirty="0"/>
              <a:t>thesis, </a:t>
            </a:r>
            <a:r>
              <a:rPr spc="-30" dirty="0"/>
              <a:t>where</a:t>
            </a:r>
            <a:r>
              <a:rPr spc="15" dirty="0"/>
              <a:t> </a:t>
            </a:r>
            <a:r>
              <a:rPr dirty="0"/>
              <a:t>I</a:t>
            </a:r>
            <a:r>
              <a:rPr spc="20" dirty="0"/>
              <a:t> </a:t>
            </a:r>
            <a:r>
              <a:rPr spc="-10" dirty="0"/>
              <a:t>apply</a:t>
            </a:r>
            <a:r>
              <a:rPr spc="20" dirty="0"/>
              <a:t> </a:t>
            </a:r>
            <a:r>
              <a:rPr spc="-30" dirty="0"/>
              <a:t>Reinforcement</a:t>
            </a:r>
            <a:r>
              <a:rPr spc="20" dirty="0"/>
              <a:t> </a:t>
            </a:r>
            <a:r>
              <a:rPr spc="-25" dirty="0"/>
              <a:t>Learning</a:t>
            </a:r>
            <a:r>
              <a:rPr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10" dirty="0"/>
              <a:t>optimize</a:t>
            </a:r>
            <a:r>
              <a:rPr spc="20" dirty="0"/>
              <a:t> </a:t>
            </a:r>
            <a:r>
              <a:rPr spc="-35" dirty="0"/>
              <a:t>energy</a:t>
            </a:r>
            <a:r>
              <a:rPr spc="20" dirty="0"/>
              <a:t> </a:t>
            </a:r>
            <a:r>
              <a:rPr spc="-20" dirty="0"/>
              <a:t>consumption</a:t>
            </a:r>
            <a:r>
              <a:rPr spc="20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dirty="0"/>
              <a:t>industrial</a:t>
            </a:r>
            <a:r>
              <a:rPr spc="15" dirty="0"/>
              <a:t> </a:t>
            </a:r>
            <a:r>
              <a:rPr spc="-50" dirty="0"/>
              <a:t>processes.</a:t>
            </a:r>
            <a:r>
              <a:rPr spc="110" dirty="0"/>
              <a:t> </a:t>
            </a:r>
            <a:r>
              <a:rPr spc="-25" dirty="0"/>
              <a:t>My </a:t>
            </a:r>
            <a:r>
              <a:rPr spc="-40" dirty="0"/>
              <a:t>experience</a:t>
            </a:r>
            <a:r>
              <a:rPr spc="5" dirty="0"/>
              <a:t> </a:t>
            </a:r>
            <a:r>
              <a:rPr spc="-50" dirty="0"/>
              <a:t>spans</a:t>
            </a:r>
            <a:r>
              <a:rPr spc="10" dirty="0"/>
              <a:t> </a:t>
            </a:r>
            <a:r>
              <a:rPr dirty="0"/>
              <a:t>both</a:t>
            </a:r>
            <a:r>
              <a:rPr spc="10" dirty="0"/>
              <a:t> </a:t>
            </a:r>
            <a:r>
              <a:rPr spc="-40" dirty="0"/>
              <a:t>academia</a:t>
            </a:r>
            <a:r>
              <a:rPr spc="1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industry,</a:t>
            </a:r>
            <a:r>
              <a:rPr spc="5" dirty="0"/>
              <a:t> </a:t>
            </a:r>
            <a:r>
              <a:rPr dirty="0"/>
              <a:t>often</a:t>
            </a:r>
            <a:r>
              <a:rPr spc="10" dirty="0"/>
              <a:t> </a:t>
            </a:r>
            <a:r>
              <a:rPr spc="-10" dirty="0"/>
              <a:t>times</a:t>
            </a:r>
            <a:r>
              <a:rPr spc="10" dirty="0"/>
              <a:t> </a:t>
            </a:r>
            <a:r>
              <a:rPr spc="-10" dirty="0"/>
              <a:t>applying</a:t>
            </a:r>
            <a:r>
              <a:rPr spc="10" dirty="0"/>
              <a:t> </a:t>
            </a:r>
            <a:r>
              <a:rPr spc="-45" dirty="0"/>
              <a:t>research</a:t>
            </a:r>
            <a:r>
              <a:rPr spc="10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30" dirty="0"/>
              <a:t>real-</a:t>
            </a:r>
            <a:r>
              <a:rPr spc="-10" dirty="0"/>
              <a:t>world</a:t>
            </a:r>
            <a:r>
              <a:rPr spc="10" dirty="0"/>
              <a:t> </a:t>
            </a:r>
            <a:r>
              <a:rPr spc="-10" dirty="0"/>
              <a:t>applications.</a:t>
            </a:r>
          </a:p>
          <a:p>
            <a:pPr marL="132080" marR="5080" indent="-4445">
              <a:lnSpc>
                <a:spcPct val="116199"/>
              </a:lnSpc>
              <a:spcBef>
                <a:spcPts val="625"/>
              </a:spcBef>
            </a:pPr>
            <a:r>
              <a:rPr dirty="0"/>
              <a:t>After</a:t>
            </a:r>
            <a:r>
              <a:rPr spc="10" dirty="0"/>
              <a:t> </a:t>
            </a:r>
            <a:r>
              <a:rPr spc="-25" dirty="0"/>
              <a:t>earning</a:t>
            </a:r>
            <a:r>
              <a:rPr spc="10" dirty="0"/>
              <a:t> </a:t>
            </a:r>
            <a:r>
              <a:rPr dirty="0"/>
              <a:t>my</a:t>
            </a:r>
            <a:r>
              <a:rPr spc="10" dirty="0"/>
              <a:t> </a:t>
            </a:r>
            <a:r>
              <a:rPr spc="-40" dirty="0"/>
              <a:t>degree,</a:t>
            </a:r>
            <a:r>
              <a:rPr spc="10" dirty="0"/>
              <a:t> </a:t>
            </a:r>
            <a:r>
              <a:rPr dirty="0"/>
              <a:t>I</a:t>
            </a:r>
            <a:r>
              <a:rPr spc="10" dirty="0"/>
              <a:t> </a:t>
            </a:r>
            <a:r>
              <a:rPr spc="-10" dirty="0"/>
              <a:t>spent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40" dirty="0"/>
              <a:t>year</a:t>
            </a:r>
            <a:r>
              <a:rPr spc="10" dirty="0"/>
              <a:t> </a:t>
            </a:r>
            <a:r>
              <a:rPr dirty="0"/>
              <a:t>at</a:t>
            </a:r>
            <a:r>
              <a:rPr spc="15" dirty="0"/>
              <a:t> </a:t>
            </a:r>
            <a:r>
              <a:rPr b="1" spc="-20" dirty="0">
                <a:latin typeface="Arial"/>
                <a:cs typeface="Arial"/>
              </a:rPr>
              <a:t>Universitat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Lleida</a:t>
            </a:r>
            <a:r>
              <a:rPr spc="-20" dirty="0"/>
              <a:t>,</a:t>
            </a:r>
            <a:r>
              <a:rPr spc="15" dirty="0"/>
              <a:t> </a:t>
            </a:r>
            <a:r>
              <a:rPr spc="-10" dirty="0"/>
              <a:t>collaborating</a:t>
            </a:r>
            <a:r>
              <a:rPr spc="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25" dirty="0"/>
              <a:t>medical</a:t>
            </a:r>
            <a:r>
              <a:rPr spc="10" dirty="0"/>
              <a:t> </a:t>
            </a:r>
            <a:r>
              <a:rPr dirty="0"/>
              <a:t>clinic</a:t>
            </a:r>
            <a:r>
              <a:rPr spc="10" dirty="0"/>
              <a:t> </a:t>
            </a:r>
            <a:r>
              <a:rPr spc="-25" dirty="0"/>
              <a:t>to </a:t>
            </a:r>
            <a:r>
              <a:rPr dirty="0"/>
              <a:t>optimize </a:t>
            </a:r>
            <a:r>
              <a:rPr spc="-30" dirty="0"/>
              <a:t>surgery</a:t>
            </a:r>
            <a:r>
              <a:rPr spc="5" dirty="0"/>
              <a:t> </a:t>
            </a:r>
            <a:r>
              <a:rPr spc="-50" dirty="0"/>
              <a:t>schedules</a:t>
            </a:r>
            <a:r>
              <a:rPr spc="5" dirty="0"/>
              <a:t> </a:t>
            </a:r>
            <a:r>
              <a:rPr spc="-20" dirty="0"/>
              <a:t>using</a:t>
            </a:r>
            <a:r>
              <a:rPr spc="5" dirty="0"/>
              <a:t> </a:t>
            </a:r>
            <a:r>
              <a:rPr spc="-10" dirty="0"/>
              <a:t>mathematical</a:t>
            </a:r>
            <a:r>
              <a:rPr dirty="0"/>
              <a:t> </a:t>
            </a:r>
            <a:r>
              <a:rPr spc="-20" dirty="0"/>
              <a:t>models.</a:t>
            </a:r>
            <a:r>
              <a:rPr spc="90" dirty="0"/>
              <a:t> </a:t>
            </a:r>
            <a:r>
              <a:rPr dirty="0"/>
              <a:t>Then,</a:t>
            </a:r>
            <a:r>
              <a:rPr spc="5" dirty="0"/>
              <a:t> </a:t>
            </a:r>
            <a:r>
              <a:rPr dirty="0"/>
              <a:t>I </a:t>
            </a:r>
            <a:r>
              <a:rPr spc="-10" dirty="0"/>
              <a:t>joined</a:t>
            </a:r>
            <a:r>
              <a:rPr spc="5" dirty="0"/>
              <a:t> </a:t>
            </a:r>
            <a:r>
              <a:rPr dirty="0"/>
              <a:t>GFT</a:t>
            </a:r>
            <a:r>
              <a:rPr spc="5" dirty="0"/>
              <a:t> </a:t>
            </a:r>
            <a:r>
              <a:rPr spc="-35" dirty="0"/>
              <a:t>Technologies,</a:t>
            </a:r>
            <a:r>
              <a:rPr spc="5" dirty="0"/>
              <a:t> </a:t>
            </a:r>
            <a:r>
              <a:rPr spc="-30" dirty="0"/>
              <a:t>where</a:t>
            </a:r>
            <a:r>
              <a:rPr spc="5" dirty="0"/>
              <a:t> </a:t>
            </a:r>
            <a:r>
              <a:rPr spc="-20" dirty="0"/>
              <a:t>I’ve </a:t>
            </a:r>
            <a:r>
              <a:rPr spc="-35" dirty="0"/>
              <a:t>been</a:t>
            </a:r>
            <a:r>
              <a:rPr spc="-5" dirty="0"/>
              <a:t> </a:t>
            </a:r>
            <a:r>
              <a:rPr spc="-10" dirty="0"/>
              <a:t>working</a:t>
            </a:r>
            <a:r>
              <a:rPr dirty="0"/>
              <a:t> for</a:t>
            </a:r>
            <a:r>
              <a:rPr spc="-5" dirty="0"/>
              <a:t> </a:t>
            </a:r>
            <a:r>
              <a:rPr dirty="0"/>
              <a:t>the last two</a:t>
            </a:r>
            <a:r>
              <a:rPr spc="-5" dirty="0"/>
              <a:t> </a:t>
            </a:r>
            <a:r>
              <a:rPr spc="-60" dirty="0"/>
              <a:t>years</a:t>
            </a:r>
            <a:r>
              <a:rPr dirty="0"/>
              <a:t> and</a:t>
            </a:r>
            <a:r>
              <a:rPr spc="-5" dirty="0"/>
              <a:t> </a:t>
            </a:r>
            <a:r>
              <a:rPr spc="-10" dirty="0"/>
              <a:t>recently</a:t>
            </a:r>
            <a:r>
              <a:rPr dirty="0"/>
              <a:t> </a:t>
            </a:r>
            <a:r>
              <a:rPr spc="-10" dirty="0"/>
              <a:t>started</a:t>
            </a:r>
            <a:r>
              <a:rPr dirty="0"/>
              <a:t> my</a:t>
            </a:r>
            <a:r>
              <a:rPr spc="-5" dirty="0"/>
              <a:t> </a:t>
            </a:r>
            <a:r>
              <a:rPr dirty="0"/>
              <a:t>PhD </a:t>
            </a:r>
            <a:r>
              <a:rPr spc="-10" dirty="0"/>
              <a:t>research.</a:t>
            </a:r>
          </a:p>
          <a:p>
            <a:pPr marL="132080" marR="245110">
              <a:lnSpc>
                <a:spcPct val="116199"/>
              </a:lnSpc>
              <a:spcBef>
                <a:spcPts val="625"/>
              </a:spcBef>
            </a:pPr>
            <a:r>
              <a:rPr dirty="0"/>
              <a:t>My</a:t>
            </a:r>
            <a:r>
              <a:rPr spc="-5" dirty="0"/>
              <a:t> </a:t>
            </a:r>
            <a:r>
              <a:rPr spc="-10" dirty="0"/>
              <a:t>work</a:t>
            </a:r>
            <a:r>
              <a:rPr dirty="0"/>
              <a:t> </a:t>
            </a:r>
            <a:r>
              <a:rPr spc="-30" dirty="0"/>
              <a:t>involves</a:t>
            </a:r>
            <a:r>
              <a:rPr spc="-5" dirty="0"/>
              <a:t> </a:t>
            </a:r>
            <a:r>
              <a:rPr spc="-10" dirty="0"/>
              <a:t>handling</a:t>
            </a:r>
            <a:r>
              <a:rPr dirty="0"/>
              <a:t> </a:t>
            </a:r>
            <a:r>
              <a:rPr spc="-25" dirty="0"/>
              <a:t>large</a:t>
            </a:r>
            <a:r>
              <a:rPr dirty="0"/>
              <a:t> </a:t>
            </a:r>
            <a:r>
              <a:rPr spc="-30" dirty="0"/>
              <a:t>datasets</a:t>
            </a:r>
            <a:r>
              <a:rPr spc="-5" dirty="0"/>
              <a:t> </a:t>
            </a:r>
            <a:r>
              <a:rPr dirty="0"/>
              <a:t>and </a:t>
            </a:r>
            <a:r>
              <a:rPr spc="-30" dirty="0"/>
              <a:t>developing</a:t>
            </a:r>
            <a:r>
              <a:rPr spc="-5" dirty="0"/>
              <a:t> </a:t>
            </a:r>
            <a:r>
              <a:rPr spc="-25" dirty="0"/>
              <a:t>complex</a:t>
            </a:r>
            <a:r>
              <a:rPr dirty="0"/>
              <a:t> </a:t>
            </a:r>
            <a:r>
              <a:rPr spc="-25" dirty="0"/>
              <a:t>machine</a:t>
            </a:r>
            <a:r>
              <a:rPr dirty="0"/>
              <a:t> </a:t>
            </a:r>
            <a:r>
              <a:rPr spc="-20" dirty="0"/>
              <a:t>learning</a:t>
            </a:r>
            <a:r>
              <a:rPr spc="-5" dirty="0"/>
              <a:t> </a:t>
            </a:r>
            <a:r>
              <a:rPr spc="-25" dirty="0"/>
              <a:t>models,</a:t>
            </a:r>
            <a:r>
              <a:rPr dirty="0"/>
              <a:t> </a:t>
            </a:r>
            <a:r>
              <a:rPr spc="-10" dirty="0"/>
              <a:t>which </a:t>
            </a:r>
            <a:r>
              <a:rPr spc="-45" dirty="0"/>
              <a:t>means</a:t>
            </a:r>
            <a:r>
              <a:rPr spc="15" dirty="0"/>
              <a:t> </a:t>
            </a:r>
            <a:r>
              <a:rPr dirty="0"/>
              <a:t>I</a:t>
            </a:r>
            <a:r>
              <a:rPr spc="20" dirty="0"/>
              <a:t> </a:t>
            </a:r>
            <a:r>
              <a:rPr spc="-35" dirty="0"/>
              <a:t>spend</a:t>
            </a:r>
            <a:r>
              <a:rPr spc="2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lot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time</a:t>
            </a:r>
            <a:r>
              <a:rPr spc="20" dirty="0"/>
              <a:t> </a:t>
            </a:r>
            <a:r>
              <a:rPr spc="-10" dirty="0"/>
              <a:t>working</a:t>
            </a:r>
            <a:r>
              <a:rPr spc="15" dirty="0"/>
              <a:t> </a:t>
            </a:r>
            <a:r>
              <a:rPr dirty="0"/>
              <a:t>with</a:t>
            </a:r>
            <a:r>
              <a:rPr spc="20" dirty="0"/>
              <a:t> </a:t>
            </a:r>
            <a:r>
              <a:rPr spc="-10" dirty="0"/>
              <a:t>cloud</a:t>
            </a:r>
            <a:r>
              <a:rPr spc="20" dirty="0"/>
              <a:t> </a:t>
            </a:r>
            <a:r>
              <a:rPr dirty="0"/>
              <a:t>infrastructure</a:t>
            </a:r>
            <a:r>
              <a:rPr spc="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25" dirty="0"/>
              <a:t>high-</a:t>
            </a:r>
            <a:r>
              <a:rPr spc="-30" dirty="0"/>
              <a:t>performance</a:t>
            </a:r>
            <a:r>
              <a:rPr spc="20" dirty="0"/>
              <a:t> </a:t>
            </a:r>
            <a:r>
              <a:rPr spc="-10" dirty="0"/>
              <a:t>computing.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53060" cy="5080"/>
            </a:xfrm>
            <a:custGeom>
              <a:avLst/>
              <a:gdLst/>
              <a:ahLst/>
              <a:cxnLst/>
              <a:rect l="l" t="t" r="r" b="b"/>
              <a:pathLst>
                <a:path w="353060" h="5080">
                  <a:moveTo>
                    <a:pt x="0" y="5060"/>
                  </a:moveTo>
                  <a:lnTo>
                    <a:pt x="0" y="0"/>
                  </a:lnTo>
                  <a:lnTo>
                    <a:pt x="352621" y="0"/>
                  </a:lnTo>
                  <a:lnTo>
                    <a:pt x="3526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Who</a:t>
            </a:r>
            <a:r>
              <a:rPr spc="30" dirty="0"/>
              <a:t> </a:t>
            </a:r>
            <a:r>
              <a:rPr dirty="0"/>
              <a:t>am</a:t>
            </a:r>
            <a:r>
              <a:rPr spc="35" dirty="0"/>
              <a:t> </a:t>
            </a:r>
            <a:r>
              <a:rPr spc="-25" dirty="0"/>
              <a:t>I?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751094"/>
            <a:ext cx="5069840" cy="1858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005" indent="381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My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Ferran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Aran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I’m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Engineer.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I’m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currently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 my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PhD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thesis,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Reinforcement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Learning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optimize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energy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consumption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industrial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processes.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My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experience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spans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academia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industry,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often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times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applying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research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After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earning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degree,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spent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year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Universitat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Lleida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collaborating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medical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clinic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optimize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surgery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schedules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mathematical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models.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joined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GFT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Technologies,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I’ve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last two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years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recently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started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my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PhD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research.</a:t>
            </a:r>
            <a:endParaRPr sz="900">
              <a:latin typeface="Arial"/>
              <a:cs typeface="Arial"/>
            </a:endParaRPr>
          </a:p>
          <a:p>
            <a:pPr marL="16510" marR="245110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involves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handling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datasets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developing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learning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models,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which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spend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high-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computing.</a:t>
            </a:r>
            <a:endParaRPr sz="900">
              <a:latin typeface="Arial"/>
              <a:cs typeface="Arial"/>
            </a:endParaRPr>
          </a:p>
          <a:p>
            <a:pPr marL="23495" marR="12065" indent="80645">
              <a:lnSpc>
                <a:spcPct val="116199"/>
              </a:lnSpc>
              <a:spcBef>
                <a:spcPts val="630"/>
              </a:spcBef>
            </a:pP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Just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clarify!</a:t>
            </a:r>
            <a:r>
              <a:rPr sz="900" spc="114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While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I’ve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worked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data,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I’m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not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EB811B"/>
                </a:solidFill>
                <a:latin typeface="Arial"/>
                <a:cs typeface="Arial"/>
              </a:rPr>
              <a:t>specialist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Biology,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Medicine,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EB811B"/>
                </a:solidFill>
                <a:latin typeface="Arial"/>
                <a:cs typeface="Arial"/>
              </a:rPr>
              <a:t>or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Health.</a:t>
            </a:r>
            <a:r>
              <a:rPr sz="900" spc="10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But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if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you’re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curious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about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distributed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computing,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Big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or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cloud,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I’ve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got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plenty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share!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53060" cy="5080"/>
            </a:xfrm>
            <a:custGeom>
              <a:avLst/>
              <a:gdLst/>
              <a:ahLst/>
              <a:cxnLst/>
              <a:rect l="l" t="t" r="r" b="b"/>
              <a:pathLst>
                <a:path w="353060" h="5080">
                  <a:moveTo>
                    <a:pt x="0" y="5060"/>
                  </a:moveTo>
                  <a:lnTo>
                    <a:pt x="0" y="0"/>
                  </a:lnTo>
                  <a:lnTo>
                    <a:pt x="352621" y="0"/>
                  </a:lnTo>
                  <a:lnTo>
                    <a:pt x="3526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59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Pre-</a:t>
            </a:r>
            <a:r>
              <a:rPr spc="-20" dirty="0"/>
              <a:t>Course</a:t>
            </a:r>
            <a:r>
              <a:rPr dirty="0"/>
              <a:t> </a:t>
            </a:r>
            <a:r>
              <a:rPr spc="-30" dirty="0"/>
              <a:t>Survey:</a:t>
            </a:r>
            <a:r>
              <a:rPr spc="100" dirty="0"/>
              <a:t> </a:t>
            </a:r>
            <a:r>
              <a:rPr dirty="0"/>
              <a:t>Who</a:t>
            </a:r>
            <a:r>
              <a:rPr spc="5" dirty="0"/>
              <a:t> </a:t>
            </a:r>
            <a:r>
              <a:rPr dirty="0"/>
              <a:t>are</a:t>
            </a:r>
            <a:r>
              <a:rPr spc="5" dirty="0"/>
              <a:t> </a:t>
            </a:r>
            <a:r>
              <a:rPr spc="-50" dirty="0"/>
              <a:t>you?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331462"/>
            <a:ext cx="29044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familiar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technology?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5606" y="1889107"/>
            <a:ext cx="1689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4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Pre-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Course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Survey: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Who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you?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70534" cy="5080"/>
            </a:xfrm>
            <a:custGeom>
              <a:avLst/>
              <a:gdLst/>
              <a:ahLst/>
              <a:cxnLst/>
              <a:rect l="l" t="t" r="r" b="b"/>
              <a:pathLst>
                <a:path w="470534" h="5080">
                  <a:moveTo>
                    <a:pt x="0" y="5060"/>
                  </a:moveTo>
                  <a:lnTo>
                    <a:pt x="0" y="0"/>
                  </a:lnTo>
                  <a:lnTo>
                    <a:pt x="470220" y="0"/>
                  </a:lnTo>
                  <a:lnTo>
                    <a:pt x="4702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59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Pre-</a:t>
            </a:r>
            <a:r>
              <a:rPr spc="-20" dirty="0"/>
              <a:t>Course</a:t>
            </a:r>
            <a:r>
              <a:rPr dirty="0"/>
              <a:t> </a:t>
            </a:r>
            <a:r>
              <a:rPr spc="-30" dirty="0"/>
              <a:t>Survey:</a:t>
            </a:r>
            <a:r>
              <a:rPr spc="100" dirty="0"/>
              <a:t> </a:t>
            </a:r>
            <a:r>
              <a:rPr dirty="0"/>
              <a:t>Who</a:t>
            </a:r>
            <a:r>
              <a:rPr spc="5" dirty="0"/>
              <a:t> </a:t>
            </a:r>
            <a:r>
              <a:rPr dirty="0"/>
              <a:t>are</a:t>
            </a:r>
            <a:r>
              <a:rPr spc="5" dirty="0"/>
              <a:t> </a:t>
            </a:r>
            <a:r>
              <a:rPr spc="-50" dirty="0"/>
              <a:t>you?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308789"/>
            <a:ext cx="3763645" cy="7429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familiar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technology?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15430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background,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why did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enrol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Master’s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degree?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900">
              <a:latin typeface="Arial"/>
              <a:cs typeface="Arial"/>
            </a:endParaRPr>
          </a:p>
          <a:p>
            <a:pPr marL="1621155">
              <a:lnSpc>
                <a:spcPct val="100000"/>
              </a:lnSpc>
            </a:pPr>
            <a:r>
              <a:rPr sz="900" spc="-4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Pre-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Course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Survey: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Who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you?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70534" cy="5080"/>
            </a:xfrm>
            <a:custGeom>
              <a:avLst/>
              <a:gdLst/>
              <a:ahLst/>
              <a:cxnLst/>
              <a:rect l="l" t="t" r="r" b="b"/>
              <a:pathLst>
                <a:path w="470534" h="5080">
                  <a:moveTo>
                    <a:pt x="0" y="5060"/>
                  </a:moveTo>
                  <a:lnTo>
                    <a:pt x="0" y="0"/>
                  </a:lnTo>
                  <a:lnTo>
                    <a:pt x="470220" y="0"/>
                  </a:lnTo>
                  <a:lnTo>
                    <a:pt x="4702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59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Pre-</a:t>
            </a:r>
            <a:r>
              <a:rPr spc="-20" dirty="0"/>
              <a:t>Course</a:t>
            </a:r>
            <a:r>
              <a:rPr dirty="0"/>
              <a:t> </a:t>
            </a:r>
            <a:r>
              <a:rPr spc="-30" dirty="0"/>
              <a:t>Survey:</a:t>
            </a:r>
            <a:r>
              <a:rPr spc="100" dirty="0"/>
              <a:t> </a:t>
            </a:r>
            <a:r>
              <a:rPr dirty="0"/>
              <a:t>Who</a:t>
            </a:r>
            <a:r>
              <a:rPr spc="5" dirty="0"/>
              <a:t> </a:t>
            </a:r>
            <a:r>
              <a:rPr dirty="0"/>
              <a:t>are</a:t>
            </a:r>
            <a:r>
              <a:rPr spc="5" dirty="0"/>
              <a:t> </a:t>
            </a:r>
            <a:r>
              <a:rPr spc="-50" dirty="0"/>
              <a:t>you?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308789"/>
            <a:ext cx="3763645" cy="7429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familiar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technology?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15430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 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background,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why did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enrol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Master’s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degree?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15430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mean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you?</a:t>
            </a:r>
            <a:endParaRPr sz="900">
              <a:latin typeface="Arial"/>
              <a:cs typeface="Arial"/>
            </a:endParaRPr>
          </a:p>
          <a:p>
            <a:pPr marL="1621155">
              <a:lnSpc>
                <a:spcPct val="100000"/>
              </a:lnSpc>
              <a:spcBef>
                <a:spcPts val="800"/>
              </a:spcBef>
            </a:pPr>
            <a:r>
              <a:rPr sz="900" spc="-4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Pre-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Course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Survey: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Who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you?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70534" cy="5080"/>
            </a:xfrm>
            <a:custGeom>
              <a:avLst/>
              <a:gdLst/>
              <a:ahLst/>
              <a:cxnLst/>
              <a:rect l="l" t="t" r="r" b="b"/>
              <a:pathLst>
                <a:path w="470534" h="5080">
                  <a:moveTo>
                    <a:pt x="0" y="5060"/>
                  </a:moveTo>
                  <a:lnTo>
                    <a:pt x="0" y="0"/>
                  </a:lnTo>
                  <a:lnTo>
                    <a:pt x="470220" y="0"/>
                  </a:lnTo>
                  <a:lnTo>
                    <a:pt x="4702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8058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205104" cy="5080"/>
            </a:xfrm>
            <a:custGeom>
              <a:avLst/>
              <a:gdLst/>
              <a:ahLst/>
              <a:cxnLst/>
              <a:rect l="l" t="t" r="r" b="b"/>
              <a:pathLst>
                <a:path w="205105" h="5080">
                  <a:moveTo>
                    <a:pt x="0" y="5060"/>
                  </a:moveTo>
                  <a:lnTo>
                    <a:pt x="0" y="0"/>
                  </a:lnTo>
                  <a:lnTo>
                    <a:pt x="204513" y="0"/>
                  </a:lnTo>
                  <a:lnTo>
                    <a:pt x="2045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40" dirty="0"/>
              <a:t> </a:t>
            </a:r>
            <a:r>
              <a:rPr spc="-25" dirty="0"/>
              <a:t>is</a:t>
            </a:r>
            <a:r>
              <a:rPr spc="40" dirty="0"/>
              <a:t> </a:t>
            </a:r>
            <a:r>
              <a:rPr spc="-30" dirty="0"/>
              <a:t>Cloud</a:t>
            </a:r>
            <a:r>
              <a:rPr spc="40" dirty="0"/>
              <a:t> </a:t>
            </a:r>
            <a:r>
              <a:rPr spc="-35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04" y="485821"/>
            <a:ext cx="2520032" cy="18467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7710" y="2466516"/>
            <a:ext cx="1844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sz="800" b="1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Overview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2747" y="457359"/>
            <a:ext cx="2550160" cy="1044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Definition</a:t>
            </a:r>
            <a:endParaRPr sz="900">
              <a:latin typeface="Arial"/>
              <a:cs typeface="Arial"/>
            </a:endParaRPr>
          </a:p>
          <a:p>
            <a:pPr marL="12700" marR="5080" indent="4445">
              <a:lnSpc>
                <a:spcPct val="116199"/>
              </a:lnSpc>
              <a:spcBef>
                <a:spcPts val="67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delivery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storage,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databases,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software,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analytics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more,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b="1" spc="-5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pricing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Mell,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Grance,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et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al.</a:t>
            </a:r>
            <a:r>
              <a:rPr sz="900" spc="1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2011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88010" cy="5080"/>
            </a:xfrm>
            <a:custGeom>
              <a:avLst/>
              <a:gdLst/>
              <a:ahLst/>
              <a:cxnLst/>
              <a:rect l="l" t="t" r="r" b="b"/>
              <a:pathLst>
                <a:path w="588010" h="5080">
                  <a:moveTo>
                    <a:pt x="0" y="5060"/>
                  </a:moveTo>
                  <a:lnTo>
                    <a:pt x="0" y="0"/>
                  </a:lnTo>
                  <a:lnTo>
                    <a:pt x="587731" y="0"/>
                  </a:lnTo>
                  <a:lnTo>
                    <a:pt x="5877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40" dirty="0"/>
              <a:t> </a:t>
            </a:r>
            <a:r>
              <a:rPr spc="-25" dirty="0"/>
              <a:t>is</a:t>
            </a:r>
            <a:r>
              <a:rPr spc="40" dirty="0"/>
              <a:t> </a:t>
            </a:r>
            <a:r>
              <a:rPr spc="-30" dirty="0"/>
              <a:t>Cloud</a:t>
            </a:r>
            <a:r>
              <a:rPr spc="40" dirty="0"/>
              <a:t> </a:t>
            </a:r>
            <a:r>
              <a:rPr spc="-35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04" y="485821"/>
            <a:ext cx="2520032" cy="18467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7710" y="2466516"/>
            <a:ext cx="1844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sz="800" b="1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Overview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2747" y="457359"/>
            <a:ext cx="2550160" cy="2490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Definition</a:t>
            </a:r>
            <a:endParaRPr sz="900">
              <a:latin typeface="Arial"/>
              <a:cs typeface="Arial"/>
            </a:endParaRPr>
          </a:p>
          <a:p>
            <a:pPr marL="12700" marR="5080" indent="4445">
              <a:lnSpc>
                <a:spcPct val="116199"/>
              </a:lnSpc>
              <a:spcBef>
                <a:spcPts val="67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delivery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storage,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databases,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software,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analytics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more,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b="1" spc="-5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pricing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Mell,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Grance,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et</a:t>
            </a:r>
            <a:r>
              <a:rPr sz="900" spc="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al.</a:t>
            </a:r>
            <a:r>
              <a:rPr sz="900" spc="145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3" action="ppaction://hlinksldjump"/>
              </a:rPr>
              <a:t>2011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85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Vision</a:t>
            </a:r>
            <a:endParaRPr sz="900">
              <a:latin typeface="Arial"/>
              <a:cs typeface="Arial"/>
            </a:endParaRPr>
          </a:p>
          <a:p>
            <a:pPr marL="17145" marR="17145">
              <a:lnSpc>
                <a:spcPct val="116199"/>
              </a:lnSpc>
              <a:spcBef>
                <a:spcPts val="67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EB811B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these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EB811B"/>
                </a:solidFill>
                <a:latin typeface="Arial"/>
                <a:cs typeface="Arial"/>
              </a:rPr>
              <a:t>services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remotely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from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any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location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with an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internet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connection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Rather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owning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maintaining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centers,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anything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service provider.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88010" cy="5080"/>
            </a:xfrm>
            <a:custGeom>
              <a:avLst/>
              <a:gdLst/>
              <a:ahLst/>
              <a:cxnLst/>
              <a:rect l="l" t="t" r="r" b="b"/>
              <a:pathLst>
                <a:path w="588010" h="5080">
                  <a:moveTo>
                    <a:pt x="0" y="5060"/>
                  </a:moveTo>
                  <a:lnTo>
                    <a:pt x="0" y="0"/>
                  </a:lnTo>
                  <a:lnTo>
                    <a:pt x="587731" y="0"/>
                  </a:lnTo>
                  <a:lnTo>
                    <a:pt x="5877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20" dirty="0"/>
              <a:t> </a:t>
            </a:r>
            <a:r>
              <a:rPr spc="-25" dirty="0"/>
              <a:t>is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idea</a:t>
            </a:r>
            <a:r>
              <a:rPr spc="20" dirty="0"/>
              <a:t> </a:t>
            </a:r>
            <a:r>
              <a:rPr spc="-30" dirty="0"/>
              <a:t>behind</a:t>
            </a:r>
            <a:r>
              <a:rPr spc="25" dirty="0"/>
              <a:t> </a:t>
            </a:r>
            <a:r>
              <a:rPr spc="-30" dirty="0"/>
              <a:t>Cloud</a:t>
            </a:r>
            <a:r>
              <a:rPr spc="25" dirty="0"/>
              <a:t> </a:t>
            </a:r>
            <a:r>
              <a:rPr spc="-3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063" y="700754"/>
            <a:ext cx="2015876" cy="20158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19285" y="684944"/>
            <a:ext cx="2545715" cy="725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endParaRPr sz="900">
              <a:latin typeface="Arial"/>
              <a:cs typeface="Arial"/>
            </a:endParaRPr>
          </a:p>
          <a:p>
            <a:pPr marL="12700" marR="5080" algn="just">
              <a:lnSpc>
                <a:spcPct val="116199"/>
              </a:lnSpc>
              <a:spcBef>
                <a:spcPts val="670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enables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consume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compute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resource,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virtual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(VM),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application,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705485" cy="5080"/>
            </a:xfrm>
            <a:custGeom>
              <a:avLst/>
              <a:gdLst/>
              <a:ahLst/>
              <a:cxnLst/>
              <a:rect l="l" t="t" r="r" b="b"/>
              <a:pathLst>
                <a:path w="705485" h="5080">
                  <a:moveTo>
                    <a:pt x="0" y="5060"/>
                  </a:moveTo>
                  <a:lnTo>
                    <a:pt x="0" y="0"/>
                  </a:lnTo>
                  <a:lnTo>
                    <a:pt x="705331" y="0"/>
                  </a:lnTo>
                  <a:lnTo>
                    <a:pt x="7053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20" dirty="0"/>
              <a:t> </a:t>
            </a:r>
            <a:r>
              <a:rPr spc="-25" dirty="0"/>
              <a:t>is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idea</a:t>
            </a:r>
            <a:r>
              <a:rPr spc="20" dirty="0"/>
              <a:t> </a:t>
            </a:r>
            <a:r>
              <a:rPr spc="-30" dirty="0"/>
              <a:t>behind</a:t>
            </a:r>
            <a:r>
              <a:rPr spc="25" dirty="0"/>
              <a:t> </a:t>
            </a:r>
            <a:r>
              <a:rPr spc="-30" dirty="0"/>
              <a:t>Cloud</a:t>
            </a:r>
            <a:r>
              <a:rPr spc="25" dirty="0"/>
              <a:t> </a:t>
            </a:r>
            <a:r>
              <a:rPr spc="-3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063" y="700754"/>
            <a:ext cx="2015876" cy="20158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154" rIns="0" bIns="0" rtlCol="0">
            <a:spAutoFit/>
          </a:bodyPr>
          <a:lstStyle/>
          <a:p>
            <a:pPr marL="2604135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latin typeface="Arial"/>
                <a:cs typeface="Arial"/>
              </a:rPr>
              <a:t>Infrastructure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as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Software</a:t>
            </a:r>
          </a:p>
          <a:p>
            <a:pPr marL="2604135" marR="5080">
              <a:lnSpc>
                <a:spcPct val="116199"/>
              </a:lnSpc>
              <a:spcBef>
                <a:spcPts val="670"/>
              </a:spcBef>
            </a:pPr>
            <a:r>
              <a:rPr b="1" spc="-25" dirty="0">
                <a:latin typeface="Arial"/>
                <a:cs typeface="Arial"/>
              </a:rPr>
              <a:t>Cloud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computing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spc="-45" dirty="0"/>
              <a:t>enables</a:t>
            </a:r>
            <a:r>
              <a:rPr spc="15" dirty="0"/>
              <a:t> </a:t>
            </a:r>
            <a:r>
              <a:rPr spc="-40" dirty="0"/>
              <a:t>companies</a:t>
            </a:r>
            <a:r>
              <a:rPr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5" dirty="0"/>
              <a:t>consume</a:t>
            </a:r>
            <a:r>
              <a:rPr spc="15" dirty="0"/>
              <a:t> </a:t>
            </a:r>
            <a:r>
              <a:rPr spc="-50" dirty="0"/>
              <a:t>a</a:t>
            </a:r>
            <a:r>
              <a:rPr spc="-10" dirty="0"/>
              <a:t> compute</a:t>
            </a:r>
            <a:r>
              <a:rPr spc="-5" dirty="0"/>
              <a:t> </a:t>
            </a:r>
            <a:r>
              <a:rPr spc="-35" dirty="0"/>
              <a:t>resource,</a:t>
            </a:r>
            <a:r>
              <a:rPr spc="-5" dirty="0"/>
              <a:t> </a:t>
            </a:r>
            <a:r>
              <a:rPr spc="-30" dirty="0"/>
              <a:t>such</a:t>
            </a:r>
            <a:r>
              <a:rPr dirty="0"/>
              <a:t> </a:t>
            </a:r>
            <a:r>
              <a:rPr spc="-45" dirty="0"/>
              <a:t>as</a:t>
            </a:r>
            <a:r>
              <a:rPr spc="-5" dirty="0"/>
              <a:t> </a:t>
            </a:r>
            <a:r>
              <a:rPr dirty="0"/>
              <a:t>a virtual</a:t>
            </a:r>
            <a:r>
              <a:rPr spc="-5" dirty="0"/>
              <a:t> </a:t>
            </a:r>
            <a:r>
              <a:rPr spc="-25" dirty="0"/>
              <a:t>machine</a:t>
            </a:r>
            <a:r>
              <a:rPr dirty="0"/>
              <a:t> </a:t>
            </a:r>
            <a:r>
              <a:rPr spc="-10" dirty="0"/>
              <a:t>(VM), </a:t>
            </a:r>
            <a:r>
              <a:rPr spc="-30" dirty="0"/>
              <a:t>storage,</a:t>
            </a:r>
            <a:r>
              <a:rPr spc="30" dirty="0"/>
              <a:t> </a:t>
            </a:r>
            <a:r>
              <a:rPr dirty="0"/>
              <a:t>or</a:t>
            </a:r>
            <a:r>
              <a:rPr spc="35" dirty="0"/>
              <a:t> </a:t>
            </a:r>
            <a:r>
              <a:rPr dirty="0"/>
              <a:t>an</a:t>
            </a:r>
            <a:r>
              <a:rPr spc="35" dirty="0"/>
              <a:t> </a:t>
            </a:r>
            <a:r>
              <a:rPr spc="-10" dirty="0"/>
              <a:t>application,</a:t>
            </a:r>
            <a:r>
              <a:rPr spc="30" dirty="0"/>
              <a:t> </a:t>
            </a:r>
            <a:r>
              <a:rPr spc="-45" dirty="0"/>
              <a:t>as</a:t>
            </a:r>
            <a:r>
              <a:rPr spc="3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utility</a:t>
            </a:r>
            <a:r>
              <a:rPr spc="35" dirty="0"/>
              <a:t> </a:t>
            </a:r>
            <a:r>
              <a:rPr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pc="-2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dirty="0"/>
              <a:t>just</a:t>
            </a:r>
            <a:r>
              <a:rPr spc="35" dirty="0"/>
              <a:t> </a:t>
            </a:r>
            <a:r>
              <a:rPr spc="-20" dirty="0"/>
              <a:t>like </a:t>
            </a:r>
            <a:r>
              <a:rPr spc="-10" dirty="0"/>
              <a:t>electricity,</a:t>
            </a:r>
            <a:r>
              <a:rPr spc="5" dirty="0"/>
              <a:t> </a:t>
            </a:r>
            <a:r>
              <a:rPr dirty="0"/>
              <a:t>rather</a:t>
            </a:r>
            <a:r>
              <a:rPr spc="5" dirty="0"/>
              <a:t> </a:t>
            </a:r>
            <a:r>
              <a:rPr dirty="0"/>
              <a:t>than</a:t>
            </a:r>
            <a:r>
              <a:rPr spc="5" dirty="0"/>
              <a:t> </a:t>
            </a:r>
            <a:r>
              <a:rPr spc="-20" dirty="0"/>
              <a:t>having</a:t>
            </a:r>
            <a:r>
              <a:rPr dirty="0"/>
              <a:t> to</a:t>
            </a:r>
            <a:r>
              <a:rPr spc="5" dirty="0"/>
              <a:t> </a:t>
            </a:r>
            <a:r>
              <a:rPr dirty="0"/>
              <a:t>build </a:t>
            </a:r>
            <a:r>
              <a:rPr spc="-10" dirty="0"/>
              <a:t>and</a:t>
            </a:r>
            <a:r>
              <a:rPr spc="5" dirty="0"/>
              <a:t> </a:t>
            </a:r>
            <a:r>
              <a:rPr spc="-10" dirty="0"/>
              <a:t>maintain computing</a:t>
            </a:r>
            <a:r>
              <a:rPr spc="10" dirty="0"/>
              <a:t> </a:t>
            </a:r>
            <a:r>
              <a:rPr spc="-10" dirty="0"/>
              <a:t>infrastructures</a:t>
            </a:r>
            <a:r>
              <a:rPr spc="10" dirty="0"/>
              <a:t> </a:t>
            </a:r>
            <a:r>
              <a:rPr spc="-35" dirty="0"/>
              <a:t>in-</a:t>
            </a:r>
            <a:r>
              <a:rPr spc="-10" dirty="0"/>
              <a:t>house.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705485" cy="5080"/>
            </a:xfrm>
            <a:custGeom>
              <a:avLst/>
              <a:gdLst/>
              <a:ahLst/>
              <a:cxnLst/>
              <a:rect l="l" t="t" r="r" b="b"/>
              <a:pathLst>
                <a:path w="705485" h="5080">
                  <a:moveTo>
                    <a:pt x="0" y="5060"/>
                  </a:moveTo>
                  <a:lnTo>
                    <a:pt x="0" y="0"/>
                  </a:lnTo>
                  <a:lnTo>
                    <a:pt x="705331" y="0"/>
                  </a:lnTo>
                  <a:lnTo>
                    <a:pt x="7053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20" dirty="0"/>
              <a:t> </a:t>
            </a:r>
            <a:r>
              <a:rPr spc="-25" dirty="0"/>
              <a:t>is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idea</a:t>
            </a:r>
            <a:r>
              <a:rPr spc="20" dirty="0"/>
              <a:t> </a:t>
            </a:r>
            <a:r>
              <a:rPr spc="-30" dirty="0"/>
              <a:t>behind</a:t>
            </a:r>
            <a:r>
              <a:rPr spc="25" dirty="0"/>
              <a:t> </a:t>
            </a:r>
            <a:r>
              <a:rPr spc="-30" dirty="0"/>
              <a:t>Cloud</a:t>
            </a:r>
            <a:r>
              <a:rPr spc="25" dirty="0"/>
              <a:t> </a:t>
            </a:r>
            <a:r>
              <a:rPr spc="-30" dirty="0"/>
              <a:t>Computing?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063" y="700754"/>
            <a:ext cx="2015876" cy="20158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19285" y="684944"/>
            <a:ext cx="2545715" cy="1693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7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enables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consume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compute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resource,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virtual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(VM),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application,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utility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2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electricity,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rather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having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 computing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in-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house.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Home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Message</a:t>
            </a:r>
            <a:endParaRPr sz="900">
              <a:latin typeface="Arial"/>
              <a:cs typeface="Arial"/>
            </a:endParaRPr>
          </a:p>
          <a:p>
            <a:pPr marL="548640" marR="10795" indent="-530225">
              <a:lnSpc>
                <a:spcPct val="116199"/>
              </a:lnSpc>
              <a:spcBef>
                <a:spcPts val="670"/>
              </a:spcBef>
            </a:pP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Stop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thinking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about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EB811B"/>
                </a:solidFill>
                <a:latin typeface="Arial"/>
                <a:cs typeface="Arial"/>
              </a:rPr>
              <a:t>physical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infrastructure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start</a:t>
            </a:r>
            <a:r>
              <a:rPr sz="900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thinking</a:t>
            </a:r>
            <a:r>
              <a:rPr sz="900" spc="3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about</a:t>
            </a:r>
            <a:r>
              <a:rPr sz="900" spc="3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software.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705485" cy="5080"/>
            </a:xfrm>
            <a:custGeom>
              <a:avLst/>
              <a:gdLst/>
              <a:ahLst/>
              <a:cxnLst/>
              <a:rect l="l" t="t" r="r" b="b"/>
              <a:pathLst>
                <a:path w="705485" h="5080">
                  <a:moveTo>
                    <a:pt x="0" y="5060"/>
                  </a:moveTo>
                  <a:lnTo>
                    <a:pt x="0" y="0"/>
                  </a:lnTo>
                  <a:lnTo>
                    <a:pt x="705331" y="0"/>
                  </a:lnTo>
                  <a:lnTo>
                    <a:pt x="7053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364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Demystifying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866188"/>
            <a:ext cx="5040019" cy="14200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03107" y="2420174"/>
            <a:ext cx="21539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2:</a:t>
            </a:r>
            <a:r>
              <a:rPr sz="800" b="1" spc="1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watch</a:t>
            </a:r>
            <a:r>
              <a:rPr sz="8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Netflix?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822960" cy="5080"/>
            </a:xfrm>
            <a:custGeom>
              <a:avLst/>
              <a:gdLst/>
              <a:ahLst/>
              <a:cxnLst/>
              <a:rect l="l" t="t" r="r" b="b"/>
              <a:pathLst>
                <a:path w="822960" h="5080">
                  <a:moveTo>
                    <a:pt x="0" y="5060"/>
                  </a:moveTo>
                  <a:lnTo>
                    <a:pt x="0" y="0"/>
                  </a:lnTo>
                  <a:lnTo>
                    <a:pt x="822842" y="0"/>
                  </a:lnTo>
                  <a:lnTo>
                    <a:pt x="8228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364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Demystifying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6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309" y="351408"/>
            <a:ext cx="4509379" cy="25489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93328" y="3034320"/>
            <a:ext cx="21736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sz="800" b="1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sz="8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8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email?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941069" cy="5080"/>
            </a:xfrm>
            <a:custGeom>
              <a:avLst/>
              <a:gdLst/>
              <a:ahLst/>
              <a:cxnLst/>
              <a:rect l="l" t="t" r="r" b="b"/>
              <a:pathLst>
                <a:path w="941069" h="5080">
                  <a:moveTo>
                    <a:pt x="0" y="5060"/>
                  </a:moveTo>
                  <a:lnTo>
                    <a:pt x="0" y="0"/>
                  </a:lnTo>
                  <a:lnTo>
                    <a:pt x="940441" y="0"/>
                  </a:lnTo>
                  <a:lnTo>
                    <a:pt x="9404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30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230"/>
            <a:ext cx="502539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convenient,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pool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configurable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rapidly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provisioned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EB811B"/>
                </a:solidFill>
                <a:latin typeface="Arial"/>
                <a:cs typeface="Arial"/>
              </a:rPr>
              <a:t>released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minimal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effort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interaction.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58545" cy="5080"/>
            </a:xfrm>
            <a:custGeom>
              <a:avLst/>
              <a:gdLst/>
              <a:ahLst/>
              <a:cxnLst/>
              <a:rect l="l" t="t" r="r" b="b"/>
              <a:pathLst>
                <a:path w="1058545" h="5080">
                  <a:moveTo>
                    <a:pt x="0" y="5060"/>
                  </a:moveTo>
                  <a:lnTo>
                    <a:pt x="0" y="0"/>
                  </a:lnTo>
                  <a:lnTo>
                    <a:pt x="1057952" y="0"/>
                  </a:lnTo>
                  <a:lnTo>
                    <a:pt x="10579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30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230"/>
            <a:ext cx="502539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convenient,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pool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configurable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rapidly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provisioned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EB811B"/>
                </a:solidFill>
                <a:latin typeface="Arial"/>
                <a:cs typeface="Arial"/>
              </a:rPr>
              <a:t>released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minimal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effort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interaction.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Flexible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scalable.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58545" cy="5080"/>
            </a:xfrm>
            <a:custGeom>
              <a:avLst/>
              <a:gdLst/>
              <a:ahLst/>
              <a:cxnLst/>
              <a:rect l="l" t="t" r="r" b="b"/>
              <a:pathLst>
                <a:path w="1058545" h="5080">
                  <a:moveTo>
                    <a:pt x="0" y="5060"/>
                  </a:moveTo>
                  <a:lnTo>
                    <a:pt x="0" y="0"/>
                  </a:lnTo>
                  <a:lnTo>
                    <a:pt x="1057952" y="0"/>
                  </a:lnTo>
                  <a:lnTo>
                    <a:pt x="10579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30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230"/>
            <a:ext cx="5025390" cy="90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convenient,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pool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configurable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rapidly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provisioned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EB811B"/>
                </a:solidFill>
                <a:latin typeface="Arial"/>
                <a:cs typeface="Arial"/>
              </a:rPr>
              <a:t>released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minimal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effort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interaction.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Flexible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scalable.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58545" cy="5080"/>
            </a:xfrm>
            <a:custGeom>
              <a:avLst/>
              <a:gdLst/>
              <a:ahLst/>
              <a:cxnLst/>
              <a:rect l="l" t="t" r="r" b="b"/>
              <a:pathLst>
                <a:path w="1058545" h="5080">
                  <a:moveTo>
                    <a:pt x="0" y="5060"/>
                  </a:moveTo>
                  <a:lnTo>
                    <a:pt x="0" y="0"/>
                  </a:lnTo>
                  <a:lnTo>
                    <a:pt x="1057952" y="0"/>
                  </a:lnTo>
                  <a:lnTo>
                    <a:pt x="10579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30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230"/>
            <a:ext cx="5025390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convenient,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pool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configurable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rapidly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provisioned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EB811B"/>
                </a:solidFill>
                <a:latin typeface="Arial"/>
                <a:cs typeface="Arial"/>
              </a:rPr>
              <a:t>released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minimal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effort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interaction.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Flexible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scalable.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is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easy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upgrade.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58545" cy="5080"/>
            </a:xfrm>
            <a:custGeom>
              <a:avLst/>
              <a:gdLst/>
              <a:ahLst/>
              <a:cxnLst/>
              <a:rect l="l" t="t" r="r" b="b"/>
              <a:pathLst>
                <a:path w="1058545" h="5080">
                  <a:moveTo>
                    <a:pt x="0" y="5060"/>
                  </a:moveTo>
                  <a:lnTo>
                    <a:pt x="0" y="0"/>
                  </a:lnTo>
                  <a:lnTo>
                    <a:pt x="1057952" y="0"/>
                  </a:lnTo>
                  <a:lnTo>
                    <a:pt x="10579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30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230"/>
            <a:ext cx="502539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convenient,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pool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configurable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rapidly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provisioned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EB811B"/>
                </a:solidFill>
                <a:latin typeface="Arial"/>
                <a:cs typeface="Arial"/>
              </a:rPr>
              <a:t>released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minimal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effort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interaction.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Flexible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scalable.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is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easy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upgrade.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hardware.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58545" cy="5080"/>
            </a:xfrm>
            <a:custGeom>
              <a:avLst/>
              <a:gdLst/>
              <a:ahLst/>
              <a:cxnLst/>
              <a:rect l="l" t="t" r="r" b="b"/>
              <a:pathLst>
                <a:path w="1058545" h="5080">
                  <a:moveTo>
                    <a:pt x="0" y="5060"/>
                  </a:moveTo>
                  <a:lnTo>
                    <a:pt x="0" y="0"/>
                  </a:lnTo>
                  <a:lnTo>
                    <a:pt x="1057952" y="0"/>
                  </a:lnTo>
                  <a:lnTo>
                    <a:pt x="10579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30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230"/>
            <a:ext cx="506603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720">
              <a:lnSpc>
                <a:spcPct val="116199"/>
              </a:lnSpc>
              <a:spcBef>
                <a:spcPts val="10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convenient,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pool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configurable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servers,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services)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rapidly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provisioned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EB811B"/>
                </a:solidFill>
                <a:latin typeface="Arial"/>
                <a:cs typeface="Arial"/>
              </a:rPr>
              <a:t>released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minimal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effort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interaction.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Flexible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scalable.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is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easy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upgrade.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hardware.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computing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elastic,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allowing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organizations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scale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EB811B"/>
                </a:solidFill>
                <a:latin typeface="Arial"/>
                <a:cs typeface="Arial"/>
              </a:rPr>
              <a:t>resources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based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on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demand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eﬀiciently.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058545" cy="5080"/>
            </a:xfrm>
            <a:custGeom>
              <a:avLst/>
              <a:gdLst/>
              <a:ahLst/>
              <a:cxnLst/>
              <a:rect l="l" t="t" r="r" b="b"/>
              <a:pathLst>
                <a:path w="1058545" h="5080">
                  <a:moveTo>
                    <a:pt x="0" y="5060"/>
                  </a:moveTo>
                  <a:lnTo>
                    <a:pt x="0" y="0"/>
                  </a:lnTo>
                  <a:lnTo>
                    <a:pt x="1057952" y="0"/>
                  </a:lnTo>
                  <a:lnTo>
                    <a:pt x="10579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513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traditional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10" dirty="0"/>
              <a:t> </a:t>
            </a:r>
            <a:r>
              <a:rPr spc="-25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88483"/>
            <a:ext cx="502602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user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EB811B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maintenance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hardware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176020" cy="5080"/>
            </a:xfrm>
            <a:custGeom>
              <a:avLst/>
              <a:gdLst/>
              <a:ahLst/>
              <a:cxnLst/>
              <a:rect l="l" t="t" r="r" b="b"/>
              <a:pathLst>
                <a:path w="1176020" h="5080">
                  <a:moveTo>
                    <a:pt x="0" y="5060"/>
                  </a:moveTo>
                  <a:lnTo>
                    <a:pt x="0" y="0"/>
                  </a:lnTo>
                  <a:lnTo>
                    <a:pt x="1175552" y="0"/>
                  </a:lnTo>
                  <a:lnTo>
                    <a:pt x="11755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2513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Which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traditional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computing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model?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588483"/>
            <a:ext cx="5026025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user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EB811B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maintenance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hardware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176020" cy="5080"/>
            </a:xfrm>
            <a:custGeom>
              <a:avLst/>
              <a:gdLst/>
              <a:ahLst/>
              <a:cxnLst/>
              <a:rect l="l" t="t" r="r" b="b"/>
              <a:pathLst>
                <a:path w="1176020" h="5080">
                  <a:moveTo>
                    <a:pt x="0" y="5060"/>
                  </a:moveTo>
                  <a:lnTo>
                    <a:pt x="0" y="0"/>
                  </a:lnTo>
                  <a:lnTo>
                    <a:pt x="1175552" y="0"/>
                  </a:lnTo>
                  <a:lnTo>
                    <a:pt x="11755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2513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Which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traditional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computing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model?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588483"/>
            <a:ext cx="5026025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user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EB811B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maintenance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hardware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team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experts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176020" cy="5080"/>
            </a:xfrm>
            <a:custGeom>
              <a:avLst/>
              <a:gdLst/>
              <a:ahLst/>
              <a:cxnLst/>
              <a:rect l="l" t="t" r="r" b="b"/>
              <a:pathLst>
                <a:path w="1176020" h="5080">
                  <a:moveTo>
                    <a:pt x="0" y="5060"/>
                  </a:moveTo>
                  <a:lnTo>
                    <a:pt x="0" y="0"/>
                  </a:lnTo>
                  <a:lnTo>
                    <a:pt x="1175552" y="0"/>
                  </a:lnTo>
                  <a:lnTo>
                    <a:pt x="11755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513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traditional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10" dirty="0"/>
              <a:t> </a:t>
            </a:r>
            <a:r>
              <a:rPr spc="-25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88483"/>
            <a:ext cx="502602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user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EB811B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maintenance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hardware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team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experts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phisical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policies.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176020" cy="5080"/>
            </a:xfrm>
            <a:custGeom>
              <a:avLst/>
              <a:gdLst/>
              <a:ahLst/>
              <a:cxnLst/>
              <a:rect l="l" t="t" r="r" b="b"/>
              <a:pathLst>
                <a:path w="1176020" h="5080">
                  <a:moveTo>
                    <a:pt x="0" y="5060"/>
                  </a:moveTo>
                  <a:lnTo>
                    <a:pt x="0" y="0"/>
                  </a:lnTo>
                  <a:lnTo>
                    <a:pt x="1175552" y="0"/>
                  </a:lnTo>
                  <a:lnTo>
                    <a:pt x="11755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513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traditional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10" dirty="0"/>
              <a:t> </a:t>
            </a:r>
            <a:r>
              <a:rPr spc="-25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88483"/>
            <a:ext cx="5026025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user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EB811B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maintenance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hardware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team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experts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phisical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policies.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procurement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(purchase,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install,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176020" cy="5080"/>
            </a:xfrm>
            <a:custGeom>
              <a:avLst/>
              <a:gdLst/>
              <a:ahLst/>
              <a:cxnLst/>
              <a:rect l="l" t="t" r="r" b="b"/>
              <a:pathLst>
                <a:path w="1176020" h="5080">
                  <a:moveTo>
                    <a:pt x="0" y="5060"/>
                  </a:moveTo>
                  <a:lnTo>
                    <a:pt x="0" y="0"/>
                  </a:lnTo>
                  <a:lnTo>
                    <a:pt x="1175552" y="0"/>
                  </a:lnTo>
                  <a:lnTo>
                    <a:pt x="11755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513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traditional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10" dirty="0"/>
              <a:t> </a:t>
            </a:r>
            <a:r>
              <a:rPr spc="-25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88483"/>
            <a:ext cx="5026025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user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EB811B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maintenance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hardware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team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experts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phisical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policies.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procurement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(purchase,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install,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maintain).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prediction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theoretical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maximum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peak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176020" cy="5080"/>
            </a:xfrm>
            <a:custGeom>
              <a:avLst/>
              <a:gdLst/>
              <a:ahLst/>
              <a:cxnLst/>
              <a:rect l="l" t="t" r="r" b="b"/>
              <a:pathLst>
                <a:path w="1176020" h="5080">
                  <a:moveTo>
                    <a:pt x="0" y="5060"/>
                  </a:moveTo>
                  <a:lnTo>
                    <a:pt x="0" y="0"/>
                  </a:lnTo>
                  <a:lnTo>
                    <a:pt x="1175552" y="0"/>
                  </a:lnTo>
                  <a:lnTo>
                    <a:pt x="11755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513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traditional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10" dirty="0"/>
              <a:t> </a:t>
            </a:r>
            <a:r>
              <a:rPr spc="-25" dirty="0"/>
              <a:t>model?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888994"/>
            <a:ext cx="4032250" cy="674370"/>
            <a:chOff x="863993" y="1888994"/>
            <a:chExt cx="4032250" cy="674370"/>
          </a:xfrm>
        </p:grpSpPr>
        <p:sp>
          <p:nvSpPr>
            <p:cNvPr id="4" name="object 4"/>
            <p:cNvSpPr/>
            <p:nvPr/>
          </p:nvSpPr>
          <p:spPr>
            <a:xfrm>
              <a:off x="863993" y="1888994"/>
              <a:ext cx="4032250" cy="674370"/>
            </a:xfrm>
            <a:custGeom>
              <a:avLst/>
              <a:gdLst/>
              <a:ahLst/>
              <a:cxnLst/>
              <a:rect l="l" t="t" r="r" b="b"/>
              <a:pathLst>
                <a:path w="4032250" h="67436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20284"/>
                  </a:lnTo>
                  <a:lnTo>
                    <a:pt x="4243" y="641303"/>
                  </a:lnTo>
                  <a:lnTo>
                    <a:pt x="15816" y="658468"/>
                  </a:lnTo>
                  <a:lnTo>
                    <a:pt x="32980" y="670040"/>
                  </a:lnTo>
                  <a:lnTo>
                    <a:pt x="54000" y="674284"/>
                  </a:lnTo>
                  <a:lnTo>
                    <a:pt x="3978067" y="674284"/>
                  </a:lnTo>
                  <a:lnTo>
                    <a:pt x="3999086" y="670040"/>
                  </a:lnTo>
                  <a:lnTo>
                    <a:pt x="4016251" y="658468"/>
                  </a:lnTo>
                  <a:lnTo>
                    <a:pt x="4027823" y="641303"/>
                  </a:lnTo>
                  <a:lnTo>
                    <a:pt x="4032067" y="620284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906994"/>
              <a:ext cx="3996690" cy="638810"/>
            </a:xfrm>
            <a:custGeom>
              <a:avLst/>
              <a:gdLst/>
              <a:ahLst/>
              <a:cxnLst/>
              <a:rect l="l" t="t" r="r" b="b"/>
              <a:pathLst>
                <a:path w="3996690" h="638810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02284"/>
                  </a:lnTo>
                  <a:lnTo>
                    <a:pt x="2829" y="616297"/>
                  </a:lnTo>
                  <a:lnTo>
                    <a:pt x="10544" y="627740"/>
                  </a:lnTo>
                  <a:lnTo>
                    <a:pt x="21987" y="635455"/>
                  </a:lnTo>
                  <a:lnTo>
                    <a:pt x="36000" y="638284"/>
                  </a:lnTo>
                  <a:lnTo>
                    <a:pt x="3960067" y="638284"/>
                  </a:lnTo>
                  <a:lnTo>
                    <a:pt x="3974080" y="635455"/>
                  </a:lnTo>
                  <a:lnTo>
                    <a:pt x="3985523" y="627740"/>
                  </a:lnTo>
                  <a:lnTo>
                    <a:pt x="3993238" y="616297"/>
                  </a:lnTo>
                  <a:lnTo>
                    <a:pt x="3996067" y="602284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588483"/>
            <a:ext cx="5026025" cy="1861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user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EB811B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maintenance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hardware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team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experts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phisical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policies.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procurement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(purchase,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install,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maintain).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prediction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theoretical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maximum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peak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Arial"/>
              <a:cs typeface="Arial"/>
            </a:endParaRPr>
          </a:p>
          <a:p>
            <a:pPr marL="946150" marR="882650" algn="ctr">
              <a:lnSpc>
                <a:spcPct val="116199"/>
              </a:lnSpc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company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underestimates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peak,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system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slow,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users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unhappy.</a:t>
            </a:r>
            <a:r>
              <a:rPr sz="900" spc="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company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overestimates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peak,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lot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unused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resources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waste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money.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176020" cy="5080"/>
            </a:xfrm>
            <a:custGeom>
              <a:avLst/>
              <a:gdLst/>
              <a:ahLst/>
              <a:cxnLst/>
              <a:rect l="l" t="t" r="r" b="b"/>
              <a:pathLst>
                <a:path w="1176020" h="5080">
                  <a:moveTo>
                    <a:pt x="0" y="5060"/>
                  </a:moveTo>
                  <a:lnTo>
                    <a:pt x="0" y="0"/>
                  </a:lnTo>
                  <a:lnTo>
                    <a:pt x="1175552" y="0"/>
                  </a:lnTo>
                  <a:lnTo>
                    <a:pt x="11755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513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traditional</a:t>
            </a:r>
            <a:r>
              <a:rPr spc="5" dirty="0"/>
              <a:t> </a:t>
            </a:r>
            <a:r>
              <a:rPr spc="-35" dirty="0"/>
              <a:t>computing</a:t>
            </a:r>
            <a:r>
              <a:rPr spc="10" dirty="0"/>
              <a:t> </a:t>
            </a:r>
            <a:r>
              <a:rPr spc="-25" dirty="0"/>
              <a:t>model?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888994"/>
            <a:ext cx="4032250" cy="674370"/>
            <a:chOff x="863993" y="1888994"/>
            <a:chExt cx="4032250" cy="674370"/>
          </a:xfrm>
        </p:grpSpPr>
        <p:sp>
          <p:nvSpPr>
            <p:cNvPr id="4" name="object 4"/>
            <p:cNvSpPr/>
            <p:nvPr/>
          </p:nvSpPr>
          <p:spPr>
            <a:xfrm>
              <a:off x="863993" y="1888994"/>
              <a:ext cx="4032250" cy="674370"/>
            </a:xfrm>
            <a:custGeom>
              <a:avLst/>
              <a:gdLst/>
              <a:ahLst/>
              <a:cxnLst/>
              <a:rect l="l" t="t" r="r" b="b"/>
              <a:pathLst>
                <a:path w="4032250" h="67436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620284"/>
                  </a:lnTo>
                  <a:lnTo>
                    <a:pt x="4243" y="641303"/>
                  </a:lnTo>
                  <a:lnTo>
                    <a:pt x="15816" y="658468"/>
                  </a:lnTo>
                  <a:lnTo>
                    <a:pt x="32980" y="670040"/>
                  </a:lnTo>
                  <a:lnTo>
                    <a:pt x="54000" y="674284"/>
                  </a:lnTo>
                  <a:lnTo>
                    <a:pt x="3978067" y="674284"/>
                  </a:lnTo>
                  <a:lnTo>
                    <a:pt x="3999086" y="670040"/>
                  </a:lnTo>
                  <a:lnTo>
                    <a:pt x="4016251" y="658468"/>
                  </a:lnTo>
                  <a:lnTo>
                    <a:pt x="4027823" y="641303"/>
                  </a:lnTo>
                  <a:lnTo>
                    <a:pt x="4032067" y="620284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906994"/>
              <a:ext cx="3996690" cy="638810"/>
            </a:xfrm>
            <a:custGeom>
              <a:avLst/>
              <a:gdLst/>
              <a:ahLst/>
              <a:cxnLst/>
              <a:rect l="l" t="t" r="r" b="b"/>
              <a:pathLst>
                <a:path w="3996690" h="638810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02284"/>
                  </a:lnTo>
                  <a:lnTo>
                    <a:pt x="2829" y="616297"/>
                  </a:lnTo>
                  <a:lnTo>
                    <a:pt x="10544" y="627740"/>
                  </a:lnTo>
                  <a:lnTo>
                    <a:pt x="21987" y="635455"/>
                  </a:lnTo>
                  <a:lnTo>
                    <a:pt x="36000" y="638284"/>
                  </a:lnTo>
                  <a:lnTo>
                    <a:pt x="3960067" y="638284"/>
                  </a:lnTo>
                  <a:lnTo>
                    <a:pt x="3974080" y="635455"/>
                  </a:lnTo>
                  <a:lnTo>
                    <a:pt x="3985523" y="627740"/>
                  </a:lnTo>
                  <a:lnTo>
                    <a:pt x="3993238" y="616297"/>
                  </a:lnTo>
                  <a:lnTo>
                    <a:pt x="3996067" y="602284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588483"/>
            <a:ext cx="5026025" cy="2183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 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user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 is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EB811B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maintenance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EB811B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hardware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team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experts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phisical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policies.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procurement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(purchase,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install,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maintain).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prediction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theoretical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maximum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peak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Arial"/>
              <a:cs typeface="Arial"/>
            </a:endParaRPr>
          </a:p>
          <a:p>
            <a:pPr marL="946150" marR="882650" algn="ctr">
              <a:lnSpc>
                <a:spcPct val="116199"/>
              </a:lnSpc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company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underestimates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peak,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system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slow,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users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unhappy.</a:t>
            </a:r>
            <a:r>
              <a:rPr sz="900" spc="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company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overestimates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peak,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have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lot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unused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resources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waste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money.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900">
              <a:latin typeface="Arial"/>
              <a:cs typeface="Arial"/>
            </a:endParaRPr>
          </a:p>
          <a:p>
            <a:pPr marL="40005" algn="ctr">
              <a:lnSpc>
                <a:spcPct val="10000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happens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if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change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or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upgrade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hardware?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176020" cy="5080"/>
            </a:xfrm>
            <a:custGeom>
              <a:avLst/>
              <a:gdLst/>
              <a:ahLst/>
              <a:cxnLst/>
              <a:rect l="l" t="t" r="r" b="b"/>
              <a:pathLst>
                <a:path w="1176020" h="5080">
                  <a:moveTo>
                    <a:pt x="0" y="5060"/>
                  </a:moveTo>
                  <a:lnTo>
                    <a:pt x="0" y="0"/>
                  </a:lnTo>
                  <a:lnTo>
                    <a:pt x="1175552" y="0"/>
                  </a:lnTo>
                  <a:lnTo>
                    <a:pt x="11755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8599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Live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 in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hotel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vs.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Own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house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8824" y="908273"/>
            <a:ext cx="36423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EB811B"/>
                </a:solidFill>
              </a:rPr>
              <a:t>What</a:t>
            </a:r>
            <a:r>
              <a:rPr sz="900" spc="20" dirty="0">
                <a:solidFill>
                  <a:srgbClr val="EB811B"/>
                </a:solidFill>
              </a:rPr>
              <a:t> </a:t>
            </a:r>
            <a:r>
              <a:rPr sz="900" spc="-20" dirty="0">
                <a:solidFill>
                  <a:srgbClr val="EB811B"/>
                </a:solidFill>
              </a:rPr>
              <a:t>is</a:t>
            </a:r>
            <a:r>
              <a:rPr sz="900" spc="25" dirty="0">
                <a:solidFill>
                  <a:srgbClr val="EB811B"/>
                </a:solidFill>
              </a:rPr>
              <a:t> </a:t>
            </a:r>
            <a:r>
              <a:rPr sz="900" dirty="0">
                <a:solidFill>
                  <a:srgbClr val="EB811B"/>
                </a:solidFill>
              </a:rPr>
              <a:t>the</a:t>
            </a:r>
            <a:r>
              <a:rPr sz="900" spc="20" dirty="0">
                <a:solidFill>
                  <a:srgbClr val="EB811B"/>
                </a:solidFill>
              </a:rPr>
              <a:t> </a:t>
            </a:r>
            <a:r>
              <a:rPr sz="900" spc="-30" dirty="0">
                <a:solidFill>
                  <a:srgbClr val="EB811B"/>
                </a:solidFill>
              </a:rPr>
              <a:t>difference</a:t>
            </a:r>
            <a:r>
              <a:rPr sz="900" spc="25" dirty="0">
                <a:solidFill>
                  <a:srgbClr val="EB811B"/>
                </a:solidFill>
              </a:rPr>
              <a:t> </a:t>
            </a:r>
            <a:r>
              <a:rPr sz="900" spc="-25" dirty="0">
                <a:solidFill>
                  <a:srgbClr val="EB811B"/>
                </a:solidFill>
              </a:rPr>
              <a:t>between</a:t>
            </a:r>
            <a:r>
              <a:rPr sz="900" spc="20" dirty="0">
                <a:solidFill>
                  <a:srgbClr val="EB811B"/>
                </a:solidFill>
              </a:rPr>
              <a:t> </a:t>
            </a:r>
            <a:r>
              <a:rPr sz="900" spc="-30" dirty="0">
                <a:solidFill>
                  <a:srgbClr val="EB811B"/>
                </a:solidFill>
              </a:rPr>
              <a:t>living</a:t>
            </a:r>
            <a:r>
              <a:rPr sz="900" spc="25" dirty="0">
                <a:solidFill>
                  <a:srgbClr val="EB811B"/>
                </a:solidFill>
              </a:rPr>
              <a:t> </a:t>
            </a:r>
            <a:r>
              <a:rPr sz="900" dirty="0">
                <a:solidFill>
                  <a:srgbClr val="EB811B"/>
                </a:solidFill>
              </a:rPr>
              <a:t>in</a:t>
            </a:r>
            <a:r>
              <a:rPr sz="900" spc="20" dirty="0">
                <a:solidFill>
                  <a:srgbClr val="EB811B"/>
                </a:solidFill>
              </a:rPr>
              <a:t> </a:t>
            </a:r>
            <a:r>
              <a:rPr sz="900" dirty="0">
                <a:solidFill>
                  <a:srgbClr val="EB811B"/>
                </a:solidFill>
              </a:rPr>
              <a:t>a</a:t>
            </a:r>
            <a:r>
              <a:rPr sz="900" spc="25" dirty="0">
                <a:solidFill>
                  <a:srgbClr val="EB811B"/>
                </a:solidFill>
              </a:rPr>
              <a:t> </a:t>
            </a:r>
            <a:r>
              <a:rPr sz="900" dirty="0">
                <a:solidFill>
                  <a:srgbClr val="EB811B"/>
                </a:solidFill>
              </a:rPr>
              <a:t>hotel</a:t>
            </a:r>
            <a:r>
              <a:rPr sz="900" spc="25" dirty="0">
                <a:solidFill>
                  <a:srgbClr val="EB811B"/>
                </a:solidFill>
              </a:rPr>
              <a:t> </a:t>
            </a:r>
            <a:r>
              <a:rPr sz="900" spc="-10" dirty="0">
                <a:solidFill>
                  <a:srgbClr val="EB811B"/>
                </a:solidFill>
              </a:rPr>
              <a:t>and</a:t>
            </a:r>
            <a:r>
              <a:rPr sz="900" spc="20" dirty="0">
                <a:solidFill>
                  <a:srgbClr val="EB811B"/>
                </a:solidFill>
              </a:rPr>
              <a:t> </a:t>
            </a:r>
            <a:r>
              <a:rPr sz="900" spc="-40" dirty="0">
                <a:solidFill>
                  <a:srgbClr val="EB811B"/>
                </a:solidFill>
              </a:rPr>
              <a:t>owning</a:t>
            </a:r>
            <a:r>
              <a:rPr sz="900" spc="25" dirty="0">
                <a:solidFill>
                  <a:srgbClr val="EB811B"/>
                </a:solidFill>
              </a:rPr>
              <a:t> </a:t>
            </a:r>
            <a:r>
              <a:rPr sz="900" dirty="0">
                <a:solidFill>
                  <a:srgbClr val="EB811B"/>
                </a:solidFill>
              </a:rPr>
              <a:t>a</a:t>
            </a:r>
            <a:r>
              <a:rPr sz="900" spc="20" dirty="0">
                <a:solidFill>
                  <a:srgbClr val="EB811B"/>
                </a:solidFill>
              </a:rPr>
              <a:t> </a:t>
            </a:r>
            <a:r>
              <a:rPr sz="900" spc="-45" dirty="0">
                <a:solidFill>
                  <a:srgbClr val="EB811B"/>
                </a:solidFill>
              </a:rPr>
              <a:t>house?</a:t>
            </a:r>
            <a:endParaRPr sz="900"/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293495" cy="5080"/>
            </a:xfrm>
            <a:custGeom>
              <a:avLst/>
              <a:gdLst/>
              <a:ahLst/>
              <a:cxnLst/>
              <a:rect l="l" t="t" r="r" b="b"/>
              <a:pathLst>
                <a:path w="1293495" h="5080">
                  <a:moveTo>
                    <a:pt x="0" y="5060"/>
                  </a:moveTo>
                  <a:lnTo>
                    <a:pt x="0" y="0"/>
                  </a:lnTo>
                  <a:lnTo>
                    <a:pt x="1293063" y="0"/>
                  </a:lnTo>
                  <a:lnTo>
                    <a:pt x="1293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8599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Live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 in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hotel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vs.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Own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house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126" y="908273"/>
            <a:ext cx="4935855" cy="56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590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difference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between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living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hotel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owning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house?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hotel,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do not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r>
              <a:rPr sz="900" b="1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building.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293495" cy="5080"/>
            </a:xfrm>
            <a:custGeom>
              <a:avLst/>
              <a:gdLst/>
              <a:ahLst/>
              <a:cxnLst/>
              <a:rect l="l" t="t" r="r" b="b"/>
              <a:pathLst>
                <a:path w="1293495" h="5080">
                  <a:moveTo>
                    <a:pt x="0" y="5060"/>
                  </a:moveTo>
                  <a:lnTo>
                    <a:pt x="0" y="0"/>
                  </a:lnTo>
                  <a:lnTo>
                    <a:pt x="1293063" y="0"/>
                  </a:lnTo>
                  <a:lnTo>
                    <a:pt x="1293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8599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Live</a:t>
            </a:r>
            <a:r>
              <a:rPr dirty="0"/>
              <a:t> in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hotel</a:t>
            </a:r>
            <a:r>
              <a:rPr spc="5" dirty="0"/>
              <a:t> </a:t>
            </a:r>
            <a:r>
              <a:rPr spc="-20" dirty="0"/>
              <a:t>vs.</a:t>
            </a:r>
            <a:r>
              <a:rPr spc="5" dirty="0"/>
              <a:t> </a:t>
            </a:r>
            <a:r>
              <a:rPr dirty="0"/>
              <a:t>Own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45" dirty="0"/>
              <a:t>house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08273"/>
            <a:ext cx="4935855" cy="720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590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difference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between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living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hotel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owning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house?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hotel,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do not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r>
              <a:rPr sz="900" b="1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building.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160020" algn="l"/>
              </a:tabLst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house,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40" dirty="0">
                <a:solidFill>
                  <a:srgbClr val="22373A"/>
                </a:solidFill>
                <a:latin typeface="Arial"/>
                <a:cs typeface="Arial"/>
              </a:rPr>
              <a:t>house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maintain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293495" cy="5080"/>
            </a:xfrm>
            <a:custGeom>
              <a:avLst/>
              <a:gdLst/>
              <a:ahLst/>
              <a:cxnLst/>
              <a:rect l="l" t="t" r="r" b="b"/>
              <a:pathLst>
                <a:path w="1293495" h="5080">
                  <a:moveTo>
                    <a:pt x="0" y="5060"/>
                  </a:moveTo>
                  <a:lnTo>
                    <a:pt x="0" y="0"/>
                  </a:lnTo>
                  <a:lnTo>
                    <a:pt x="1293063" y="0"/>
                  </a:lnTo>
                  <a:lnTo>
                    <a:pt x="1293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8599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Live</a:t>
            </a:r>
            <a:r>
              <a:rPr dirty="0"/>
              <a:t> in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hotel</a:t>
            </a:r>
            <a:r>
              <a:rPr spc="5" dirty="0"/>
              <a:t> </a:t>
            </a:r>
            <a:r>
              <a:rPr spc="-20" dirty="0"/>
              <a:t>vs.</a:t>
            </a:r>
            <a:r>
              <a:rPr spc="5" dirty="0"/>
              <a:t> </a:t>
            </a:r>
            <a:r>
              <a:rPr dirty="0"/>
              <a:t>Own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45" dirty="0"/>
              <a:t>house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08273"/>
            <a:ext cx="4935855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590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difference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between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living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hotel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owning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house?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hotel,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do not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r>
              <a:rPr sz="900" b="1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building.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160020" algn="l"/>
              </a:tabLst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house,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40" dirty="0">
                <a:solidFill>
                  <a:srgbClr val="22373A"/>
                </a:solidFill>
                <a:latin typeface="Arial"/>
                <a:cs typeface="Arial"/>
              </a:rPr>
              <a:t>house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maintain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R="21590" algn="ctr">
              <a:lnSpc>
                <a:spcPct val="100000"/>
              </a:lnSpc>
              <a:spcBef>
                <a:spcPts val="80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difference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between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traditional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293495" cy="5080"/>
            </a:xfrm>
            <a:custGeom>
              <a:avLst/>
              <a:gdLst/>
              <a:ahLst/>
              <a:cxnLst/>
              <a:rect l="l" t="t" r="r" b="b"/>
              <a:pathLst>
                <a:path w="1293495" h="5080">
                  <a:moveTo>
                    <a:pt x="0" y="5060"/>
                  </a:moveTo>
                  <a:lnTo>
                    <a:pt x="0" y="0"/>
                  </a:lnTo>
                  <a:lnTo>
                    <a:pt x="1293063" y="0"/>
                  </a:lnTo>
                  <a:lnTo>
                    <a:pt x="1293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8599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Live</a:t>
            </a:r>
            <a:r>
              <a:rPr dirty="0"/>
              <a:t> in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hotel</a:t>
            </a:r>
            <a:r>
              <a:rPr spc="5" dirty="0"/>
              <a:t> </a:t>
            </a:r>
            <a:r>
              <a:rPr spc="-20" dirty="0"/>
              <a:t>vs.</a:t>
            </a:r>
            <a:r>
              <a:rPr spc="5" dirty="0"/>
              <a:t> </a:t>
            </a:r>
            <a:r>
              <a:rPr dirty="0"/>
              <a:t>Own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45" dirty="0"/>
              <a:t>house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947256"/>
            <a:ext cx="4032250" cy="514984"/>
            <a:chOff x="863993" y="1947256"/>
            <a:chExt cx="4032250" cy="514984"/>
          </a:xfrm>
        </p:grpSpPr>
        <p:sp>
          <p:nvSpPr>
            <p:cNvPr id="4" name="object 4"/>
            <p:cNvSpPr/>
            <p:nvPr/>
          </p:nvSpPr>
          <p:spPr>
            <a:xfrm>
              <a:off x="863993" y="1947256"/>
              <a:ext cx="4032250" cy="514984"/>
            </a:xfrm>
            <a:custGeom>
              <a:avLst/>
              <a:gdLst/>
              <a:ahLst/>
              <a:cxnLst/>
              <a:rect l="l" t="t" r="r" b="b"/>
              <a:pathLst>
                <a:path w="4032250" h="51498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0955"/>
                  </a:lnTo>
                  <a:lnTo>
                    <a:pt x="4243" y="481975"/>
                  </a:lnTo>
                  <a:lnTo>
                    <a:pt x="15816" y="499139"/>
                  </a:lnTo>
                  <a:lnTo>
                    <a:pt x="32980" y="510712"/>
                  </a:lnTo>
                  <a:lnTo>
                    <a:pt x="54000" y="514955"/>
                  </a:lnTo>
                  <a:lnTo>
                    <a:pt x="3978067" y="514955"/>
                  </a:lnTo>
                  <a:lnTo>
                    <a:pt x="3999086" y="510712"/>
                  </a:lnTo>
                  <a:lnTo>
                    <a:pt x="4016251" y="499139"/>
                  </a:lnTo>
                  <a:lnTo>
                    <a:pt x="4027823" y="481975"/>
                  </a:lnTo>
                  <a:lnTo>
                    <a:pt x="4032067" y="460955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965256"/>
              <a:ext cx="3996690" cy="479425"/>
            </a:xfrm>
            <a:custGeom>
              <a:avLst/>
              <a:gdLst/>
              <a:ahLst/>
              <a:cxnLst/>
              <a:rect l="l" t="t" r="r" b="b"/>
              <a:pathLst>
                <a:path w="3996690" h="47942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2955"/>
                  </a:lnTo>
                  <a:lnTo>
                    <a:pt x="2829" y="456968"/>
                  </a:lnTo>
                  <a:lnTo>
                    <a:pt x="10544" y="468411"/>
                  </a:lnTo>
                  <a:lnTo>
                    <a:pt x="21987" y="476127"/>
                  </a:lnTo>
                  <a:lnTo>
                    <a:pt x="36000" y="478956"/>
                  </a:lnTo>
                  <a:lnTo>
                    <a:pt x="3960067" y="478956"/>
                  </a:lnTo>
                  <a:lnTo>
                    <a:pt x="3974080" y="476127"/>
                  </a:lnTo>
                  <a:lnTo>
                    <a:pt x="3985523" y="468411"/>
                  </a:lnTo>
                  <a:lnTo>
                    <a:pt x="3993238" y="456968"/>
                  </a:lnTo>
                  <a:lnTo>
                    <a:pt x="3996067" y="442955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126" y="908273"/>
            <a:ext cx="4935855" cy="144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590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difference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between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living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hotel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owning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house?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hotel,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do not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worry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r>
              <a:rPr sz="900" b="1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building.</a:t>
            </a:r>
            <a:endParaRPr sz="900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160020" algn="l"/>
              </a:tabLst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house,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40" dirty="0">
                <a:solidFill>
                  <a:srgbClr val="22373A"/>
                </a:solidFill>
                <a:latin typeface="Arial"/>
                <a:cs typeface="Arial"/>
              </a:rPr>
              <a:t>house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35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b="1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maintain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5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R="21590" algn="ctr">
              <a:lnSpc>
                <a:spcPct val="100000"/>
              </a:lnSpc>
              <a:spcBef>
                <a:spcPts val="80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difference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between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traditional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Arial"/>
              <a:cs typeface="Arial"/>
            </a:endParaRPr>
          </a:p>
          <a:p>
            <a:pPr marL="931544" marR="953135" indent="-635" algn="ctr">
              <a:lnSpc>
                <a:spcPct val="116199"/>
              </a:lnSpc>
            </a:pPr>
            <a:r>
              <a:rPr sz="900" b="1" dirty="0">
                <a:latin typeface="Arial"/>
                <a:cs typeface="Arial"/>
              </a:rPr>
              <a:t>In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35" dirty="0">
                <a:latin typeface="Arial"/>
                <a:cs typeface="Arial"/>
              </a:rPr>
              <a:t>cloud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25" dirty="0">
                <a:latin typeface="Arial"/>
                <a:cs typeface="Arial"/>
              </a:rPr>
              <a:t>computing,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50" dirty="0">
                <a:latin typeface="Arial"/>
                <a:cs typeface="Arial"/>
              </a:rPr>
              <a:t>you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40" dirty="0">
                <a:latin typeface="Arial"/>
                <a:cs typeface="Arial"/>
              </a:rPr>
              <a:t>pay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for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what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50" dirty="0">
                <a:latin typeface="Arial"/>
                <a:cs typeface="Arial"/>
              </a:rPr>
              <a:t>you</a:t>
            </a:r>
            <a:r>
              <a:rPr sz="900" b="1" dirty="0">
                <a:latin typeface="Arial"/>
                <a:cs typeface="Arial"/>
              </a:rPr>
              <a:t> </a:t>
            </a:r>
            <a:r>
              <a:rPr sz="900" b="1" spc="-40" dirty="0">
                <a:latin typeface="Arial"/>
                <a:cs typeface="Arial"/>
              </a:rPr>
              <a:t>use,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20" dirty="0">
                <a:latin typeface="Arial"/>
                <a:cs typeface="Arial"/>
              </a:rPr>
              <a:t>and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50" dirty="0">
                <a:latin typeface="Arial"/>
                <a:cs typeface="Arial"/>
              </a:rPr>
              <a:t>you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b="1" spc="-25" dirty="0">
                <a:latin typeface="Arial"/>
                <a:cs typeface="Arial"/>
              </a:rPr>
              <a:t>do </a:t>
            </a:r>
            <a:r>
              <a:rPr sz="900" b="1" dirty="0">
                <a:latin typeface="Arial"/>
                <a:cs typeface="Arial"/>
              </a:rPr>
              <a:t>not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30" dirty="0">
                <a:latin typeface="Arial"/>
                <a:cs typeface="Arial"/>
              </a:rPr>
              <a:t>need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to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45" dirty="0">
                <a:latin typeface="Arial"/>
                <a:cs typeface="Arial"/>
              </a:rPr>
              <a:t>worry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about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the</a:t>
            </a:r>
            <a:r>
              <a:rPr sz="900" b="1" spc="10" dirty="0">
                <a:latin typeface="Arial"/>
                <a:cs typeface="Arial"/>
              </a:rPr>
              <a:t> </a:t>
            </a:r>
            <a:r>
              <a:rPr sz="900" b="1" spc="-30" dirty="0">
                <a:latin typeface="Arial"/>
                <a:cs typeface="Arial"/>
              </a:rPr>
              <a:t>maintenance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of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the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b="1" spc="-35" dirty="0">
                <a:latin typeface="Arial"/>
                <a:cs typeface="Arial"/>
              </a:rPr>
              <a:t>hardware.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293495" cy="5080"/>
            </a:xfrm>
            <a:custGeom>
              <a:avLst/>
              <a:gdLst/>
              <a:ahLst/>
              <a:cxnLst/>
              <a:rect l="l" t="t" r="r" b="b"/>
              <a:pathLst>
                <a:path w="1293495" h="5080">
                  <a:moveTo>
                    <a:pt x="0" y="5060"/>
                  </a:moveTo>
                  <a:lnTo>
                    <a:pt x="0" y="0"/>
                  </a:lnTo>
                  <a:lnTo>
                    <a:pt x="1293063" y="0"/>
                  </a:lnTo>
                  <a:lnTo>
                    <a:pt x="1293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365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5" dirty="0"/>
              <a:t> </a:t>
            </a:r>
            <a:r>
              <a:rPr spc="-10" dirty="0"/>
              <a:t>Study:</a:t>
            </a:r>
            <a:r>
              <a:rPr spc="105" dirty="0"/>
              <a:t> </a:t>
            </a:r>
            <a:r>
              <a:rPr spc="-35" dirty="0"/>
              <a:t>Serving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35" dirty="0"/>
              <a:t>Personal</a:t>
            </a:r>
            <a:r>
              <a:rPr spc="5" dirty="0"/>
              <a:t> </a:t>
            </a:r>
            <a:r>
              <a:rPr spc="-10" dirty="0"/>
              <a:t>Website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8123" y="1089972"/>
            <a:ext cx="38842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Which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steps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serve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personal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website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traditional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0970" cy="5080"/>
            </a:xfrm>
            <a:custGeom>
              <a:avLst/>
              <a:gdLst/>
              <a:ahLst/>
              <a:cxnLst/>
              <a:rect l="l" t="t" r="r" b="b"/>
              <a:pathLst>
                <a:path w="1410970" h="5080">
                  <a:moveTo>
                    <a:pt x="0" y="5060"/>
                  </a:moveTo>
                  <a:lnTo>
                    <a:pt x="0" y="0"/>
                  </a:lnTo>
                  <a:lnTo>
                    <a:pt x="1410662" y="0"/>
                  </a:lnTo>
                  <a:lnTo>
                    <a:pt x="14106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2365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Case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Study:</a:t>
            </a:r>
            <a:r>
              <a:rPr sz="1000" b="1" spc="10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Serving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Personal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Website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433" y="1089972"/>
            <a:ext cx="5063490" cy="56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Which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steps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serve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personal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website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traditional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to buy a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install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operating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system,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install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server,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website.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0970" cy="5080"/>
            </a:xfrm>
            <a:custGeom>
              <a:avLst/>
              <a:gdLst/>
              <a:ahLst/>
              <a:cxnLst/>
              <a:rect l="l" t="t" r="r" b="b"/>
              <a:pathLst>
                <a:path w="1410970" h="5080">
                  <a:moveTo>
                    <a:pt x="0" y="5060"/>
                  </a:moveTo>
                  <a:lnTo>
                    <a:pt x="0" y="0"/>
                  </a:lnTo>
                  <a:lnTo>
                    <a:pt x="1410662" y="0"/>
                  </a:lnTo>
                  <a:lnTo>
                    <a:pt x="14106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365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5" dirty="0"/>
              <a:t> </a:t>
            </a:r>
            <a:r>
              <a:rPr spc="-10" dirty="0"/>
              <a:t>Study:</a:t>
            </a:r>
            <a:r>
              <a:rPr spc="105" dirty="0"/>
              <a:t> </a:t>
            </a:r>
            <a:r>
              <a:rPr spc="-35" dirty="0"/>
              <a:t>Serving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35" dirty="0"/>
              <a:t>Personal</a:t>
            </a:r>
            <a:r>
              <a:rPr spc="5" dirty="0"/>
              <a:t> </a:t>
            </a:r>
            <a:r>
              <a:rPr spc="-10" dirty="0"/>
              <a:t>Website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1089972"/>
            <a:ext cx="5063490" cy="799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Which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steps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serve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personal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website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traditional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to buy a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install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operating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system,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install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server,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website.</a:t>
            </a:r>
            <a:endParaRPr sz="900">
              <a:latin typeface="Arial"/>
              <a:cs typeface="Arial"/>
            </a:endParaRPr>
          </a:p>
          <a:p>
            <a:pPr marL="9525" algn="ctr">
              <a:lnSpc>
                <a:spcPct val="100000"/>
              </a:lnSpc>
              <a:spcBef>
                <a:spcPts val="80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advantatge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using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0970" cy="5080"/>
            </a:xfrm>
            <a:custGeom>
              <a:avLst/>
              <a:gdLst/>
              <a:ahLst/>
              <a:cxnLst/>
              <a:rect l="l" t="t" r="r" b="b"/>
              <a:pathLst>
                <a:path w="1410970" h="5080">
                  <a:moveTo>
                    <a:pt x="0" y="5060"/>
                  </a:moveTo>
                  <a:lnTo>
                    <a:pt x="0" y="0"/>
                  </a:lnTo>
                  <a:lnTo>
                    <a:pt x="1410662" y="0"/>
                  </a:lnTo>
                  <a:lnTo>
                    <a:pt x="14106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3653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5" dirty="0"/>
              <a:t> </a:t>
            </a:r>
            <a:r>
              <a:rPr spc="-10" dirty="0"/>
              <a:t>Study:</a:t>
            </a:r>
            <a:r>
              <a:rPr spc="105" dirty="0"/>
              <a:t> </a:t>
            </a:r>
            <a:r>
              <a:rPr spc="-35" dirty="0"/>
              <a:t>Serving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spc="-35" dirty="0"/>
              <a:t>Personal</a:t>
            </a:r>
            <a:r>
              <a:rPr spc="5" dirty="0"/>
              <a:t> </a:t>
            </a:r>
            <a:r>
              <a:rPr spc="-10" dirty="0"/>
              <a:t>Website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89972"/>
            <a:ext cx="5063490" cy="119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Which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steps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serve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personal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website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in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traditional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to buy a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install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operating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system,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install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server,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website.</a:t>
            </a:r>
            <a:endParaRPr sz="900">
              <a:latin typeface="Arial"/>
              <a:cs typeface="Arial"/>
            </a:endParaRPr>
          </a:p>
          <a:p>
            <a:pPr marL="9525" algn="ctr">
              <a:lnSpc>
                <a:spcPct val="100000"/>
              </a:lnSpc>
              <a:spcBef>
                <a:spcPts val="80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advantatge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using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computing?</a:t>
            </a:r>
            <a:endParaRPr sz="900">
              <a:latin typeface="Arial"/>
              <a:cs typeface="Arial"/>
            </a:endParaRPr>
          </a:p>
          <a:p>
            <a:pPr marL="16510" marR="297815" indent="-4445">
              <a:lnSpc>
                <a:spcPct val="116199"/>
              </a:lnSpc>
              <a:spcBef>
                <a:spcPts val="62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not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buy the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(cloud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responsibility),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upload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(user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responsibility).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10970" cy="5080"/>
            </a:xfrm>
            <a:custGeom>
              <a:avLst/>
              <a:gdLst/>
              <a:ahLst/>
              <a:cxnLst/>
              <a:rect l="l" t="t" r="r" b="b"/>
              <a:pathLst>
                <a:path w="1410970" h="5080">
                  <a:moveTo>
                    <a:pt x="0" y="5060"/>
                  </a:moveTo>
                  <a:lnTo>
                    <a:pt x="0" y="0"/>
                  </a:lnTo>
                  <a:lnTo>
                    <a:pt x="1410662" y="0"/>
                  </a:lnTo>
                  <a:lnTo>
                    <a:pt x="14106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31826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Which are the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main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computing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55" dirty="0">
                <a:solidFill>
                  <a:srgbClr val="F9F9F9"/>
                </a:solidFill>
                <a:latin typeface="Arial"/>
                <a:cs typeface="Arial"/>
              </a:rPr>
              <a:t>services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models?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528445" cy="5080"/>
            </a:xfrm>
            <a:custGeom>
              <a:avLst/>
              <a:gdLst/>
              <a:ahLst/>
              <a:cxnLst/>
              <a:rect l="l" t="t" r="r" b="b"/>
              <a:pathLst>
                <a:path w="1528445" h="5080">
                  <a:moveTo>
                    <a:pt x="0" y="5060"/>
                  </a:moveTo>
                  <a:lnTo>
                    <a:pt x="0" y="0"/>
                  </a:lnTo>
                  <a:lnTo>
                    <a:pt x="1528173" y="0"/>
                  </a:lnTo>
                  <a:lnTo>
                    <a:pt x="15281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1826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 are the</a:t>
            </a:r>
            <a:r>
              <a:rPr spc="5" dirty="0"/>
              <a:t> </a:t>
            </a:r>
            <a:r>
              <a:rPr spc="-10" dirty="0"/>
              <a:t>main</a:t>
            </a:r>
            <a:r>
              <a:rPr dirty="0"/>
              <a:t> </a:t>
            </a:r>
            <a:r>
              <a:rPr spc="-35" dirty="0"/>
              <a:t>cloud</a:t>
            </a:r>
            <a:r>
              <a:rPr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55" dirty="0"/>
              <a:t>services</a:t>
            </a:r>
            <a:r>
              <a:rPr dirty="0"/>
              <a:t> </a:t>
            </a:r>
            <a:r>
              <a:rPr spc="-35" dirty="0"/>
              <a:t>models?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600958"/>
            <a:ext cx="48571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(IaaS)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virtualized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528445" cy="5080"/>
            </a:xfrm>
            <a:custGeom>
              <a:avLst/>
              <a:gdLst/>
              <a:ahLst/>
              <a:cxnLst/>
              <a:rect l="l" t="t" r="r" b="b"/>
              <a:pathLst>
                <a:path w="1528445" h="5080">
                  <a:moveTo>
                    <a:pt x="0" y="5060"/>
                  </a:moveTo>
                  <a:lnTo>
                    <a:pt x="0" y="0"/>
                  </a:lnTo>
                  <a:lnTo>
                    <a:pt x="1528173" y="0"/>
                  </a:lnTo>
                  <a:lnTo>
                    <a:pt x="15281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1826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 are the</a:t>
            </a:r>
            <a:r>
              <a:rPr spc="5" dirty="0"/>
              <a:t> </a:t>
            </a:r>
            <a:r>
              <a:rPr spc="-10" dirty="0"/>
              <a:t>main</a:t>
            </a:r>
            <a:r>
              <a:rPr dirty="0"/>
              <a:t> </a:t>
            </a:r>
            <a:r>
              <a:rPr spc="-35" dirty="0"/>
              <a:t>cloud</a:t>
            </a:r>
            <a:r>
              <a:rPr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55" dirty="0"/>
              <a:t>services</a:t>
            </a:r>
            <a:r>
              <a:rPr dirty="0"/>
              <a:t> </a:t>
            </a:r>
            <a:r>
              <a:rPr spc="-35" dirty="0"/>
              <a:t>models?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78272"/>
            <a:ext cx="4857115" cy="5035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(IaaS)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virtualized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  <a:p>
            <a:pPr marL="160020" marR="15176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(PaaS)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allowing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develop,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complexity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528445" cy="5080"/>
            </a:xfrm>
            <a:custGeom>
              <a:avLst/>
              <a:gdLst/>
              <a:ahLst/>
              <a:cxnLst/>
              <a:rect l="l" t="t" r="r" b="b"/>
              <a:pathLst>
                <a:path w="1528445" h="5080">
                  <a:moveTo>
                    <a:pt x="0" y="5060"/>
                  </a:moveTo>
                  <a:lnTo>
                    <a:pt x="0" y="0"/>
                  </a:lnTo>
                  <a:lnTo>
                    <a:pt x="1528173" y="0"/>
                  </a:lnTo>
                  <a:lnTo>
                    <a:pt x="15281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1826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 are the</a:t>
            </a:r>
            <a:r>
              <a:rPr spc="5" dirty="0"/>
              <a:t> </a:t>
            </a:r>
            <a:r>
              <a:rPr spc="-10" dirty="0"/>
              <a:t>main</a:t>
            </a:r>
            <a:r>
              <a:rPr dirty="0"/>
              <a:t> </a:t>
            </a:r>
            <a:r>
              <a:rPr spc="-35" dirty="0"/>
              <a:t>cloud</a:t>
            </a:r>
            <a:r>
              <a:rPr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55" dirty="0"/>
              <a:t>services</a:t>
            </a:r>
            <a:r>
              <a:rPr dirty="0"/>
              <a:t> </a:t>
            </a:r>
            <a:r>
              <a:rPr spc="-35" dirty="0"/>
              <a:t>models?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78272"/>
            <a:ext cx="4949190" cy="82232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(IaaS)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virtualized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  <a:p>
            <a:pPr marL="160020" marR="24384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(PaaS)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allowing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develop,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complexity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(SaaS)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subscription basis.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528445" cy="5080"/>
            </a:xfrm>
            <a:custGeom>
              <a:avLst/>
              <a:gdLst/>
              <a:ahLst/>
              <a:cxnLst/>
              <a:rect l="l" t="t" r="r" b="b"/>
              <a:pathLst>
                <a:path w="1528445" h="5080">
                  <a:moveTo>
                    <a:pt x="0" y="5060"/>
                  </a:moveTo>
                  <a:lnTo>
                    <a:pt x="0" y="0"/>
                  </a:lnTo>
                  <a:lnTo>
                    <a:pt x="1528173" y="0"/>
                  </a:lnTo>
                  <a:lnTo>
                    <a:pt x="15281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1826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 are the</a:t>
            </a:r>
            <a:r>
              <a:rPr spc="5" dirty="0"/>
              <a:t> </a:t>
            </a:r>
            <a:r>
              <a:rPr spc="-10" dirty="0"/>
              <a:t>main</a:t>
            </a:r>
            <a:r>
              <a:rPr dirty="0"/>
              <a:t> </a:t>
            </a:r>
            <a:r>
              <a:rPr spc="-35" dirty="0"/>
              <a:t>cloud</a:t>
            </a:r>
            <a:r>
              <a:rPr dirty="0"/>
              <a:t> </a:t>
            </a:r>
            <a:r>
              <a:rPr spc="-35" dirty="0"/>
              <a:t>computing</a:t>
            </a:r>
            <a:r>
              <a:rPr spc="5" dirty="0"/>
              <a:t> </a:t>
            </a:r>
            <a:r>
              <a:rPr spc="-55" dirty="0"/>
              <a:t>services</a:t>
            </a:r>
            <a:r>
              <a:rPr dirty="0"/>
              <a:t> </a:t>
            </a:r>
            <a:r>
              <a:rPr spc="-35" dirty="0"/>
              <a:t>models?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78272"/>
            <a:ext cx="4949190" cy="82232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(IaaS)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virtualized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  <a:p>
            <a:pPr marL="160020" marR="24384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(PaaS)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platform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allowing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develop,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complexity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(SaaS)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subscription basis.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184" y="1616479"/>
            <a:ext cx="5039641" cy="7957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31910" y="2546183"/>
            <a:ext cx="14966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4:</a:t>
            </a:r>
            <a:r>
              <a:rPr sz="800" b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8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Models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1528445" cy="5080"/>
            </a:xfrm>
            <a:custGeom>
              <a:avLst/>
              <a:gdLst/>
              <a:ahLst/>
              <a:cxnLst/>
              <a:rect l="l" t="t" r="r" b="b"/>
              <a:pathLst>
                <a:path w="1528445" h="5080">
                  <a:moveTo>
                    <a:pt x="0" y="5060"/>
                  </a:moveTo>
                  <a:lnTo>
                    <a:pt x="0" y="0"/>
                  </a:lnTo>
                  <a:lnTo>
                    <a:pt x="1528173" y="0"/>
                  </a:lnTo>
                  <a:lnTo>
                    <a:pt x="15281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2517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solidFill>
                  <a:srgbClr val="F9F9F9"/>
                </a:solidFill>
                <a:latin typeface="Arial"/>
                <a:cs typeface="Arial"/>
              </a:rPr>
              <a:t>Examples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of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r>
              <a:rPr sz="1000" b="1" spc="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Computing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Models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969" y="351411"/>
            <a:ext cx="3808072" cy="26989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645920" cy="5080"/>
            </a:xfrm>
            <a:custGeom>
              <a:avLst/>
              <a:gdLst/>
              <a:ahLst/>
              <a:cxnLst/>
              <a:rect l="l" t="t" r="r" b="b"/>
              <a:pathLst>
                <a:path w="1645920" h="5080">
                  <a:moveTo>
                    <a:pt x="0" y="5060"/>
                  </a:moveTo>
                  <a:lnTo>
                    <a:pt x="0" y="0"/>
                  </a:lnTo>
                  <a:lnTo>
                    <a:pt x="1645772" y="0"/>
                  </a:lnTo>
                  <a:lnTo>
                    <a:pt x="16457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6643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Shared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Responsibility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950" y="351412"/>
            <a:ext cx="3750119" cy="23991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763395" cy="5080"/>
            </a:xfrm>
            <a:custGeom>
              <a:avLst/>
              <a:gdLst/>
              <a:ahLst/>
              <a:cxnLst/>
              <a:rect l="l" t="t" r="r" b="b"/>
              <a:pathLst>
                <a:path w="1763395" h="5080">
                  <a:moveTo>
                    <a:pt x="0" y="5060"/>
                  </a:moveTo>
                  <a:lnTo>
                    <a:pt x="0" y="0"/>
                  </a:lnTo>
                  <a:lnTo>
                    <a:pt x="1763284" y="0"/>
                  </a:lnTo>
                  <a:lnTo>
                    <a:pt x="176328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Shared</a:t>
            </a:r>
            <a:r>
              <a:rPr spc="20" dirty="0"/>
              <a:t> </a:t>
            </a:r>
            <a:r>
              <a:rPr spc="-45" dirty="0"/>
              <a:t>Responsibility</a:t>
            </a:r>
            <a:r>
              <a:rPr spc="20" dirty="0"/>
              <a:t> </a:t>
            </a:r>
            <a:r>
              <a:rPr spc="-2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950" y="351412"/>
            <a:ext cx="3750119" cy="23991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0956" y="2840269"/>
            <a:ext cx="487870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6725" marR="5080" indent="-172466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shared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model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outlines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where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provider’s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role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ends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customer’s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begins.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763395" cy="5080"/>
            </a:xfrm>
            <a:custGeom>
              <a:avLst/>
              <a:gdLst/>
              <a:ahLst/>
              <a:cxnLst/>
              <a:rect l="l" t="t" r="r" b="b"/>
              <a:pathLst>
                <a:path w="1763395" h="5080">
                  <a:moveTo>
                    <a:pt x="0" y="5060"/>
                  </a:moveTo>
                  <a:lnTo>
                    <a:pt x="0" y="0"/>
                  </a:lnTo>
                  <a:lnTo>
                    <a:pt x="1763284" y="0"/>
                  </a:lnTo>
                  <a:lnTo>
                    <a:pt x="176328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Shared</a:t>
            </a:r>
            <a:r>
              <a:rPr spc="15" dirty="0"/>
              <a:t> </a:t>
            </a:r>
            <a:r>
              <a:rPr spc="-45" dirty="0"/>
              <a:t>Responsibility</a:t>
            </a:r>
            <a:r>
              <a:rPr spc="20" dirty="0"/>
              <a:t> </a:t>
            </a:r>
            <a:r>
              <a:rPr dirty="0"/>
              <a:t>Model:</a:t>
            </a:r>
            <a:r>
              <a:rPr spc="120" dirty="0"/>
              <a:t> </a:t>
            </a:r>
            <a:r>
              <a:rPr dirty="0"/>
              <a:t>Pizza</a:t>
            </a:r>
            <a:r>
              <a:rPr spc="20" dirty="0"/>
              <a:t> </a:t>
            </a:r>
            <a:r>
              <a:rPr spc="-25" dirty="0"/>
              <a:t>as</a:t>
            </a:r>
            <a:r>
              <a:rPr spc="1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2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3733" y="813594"/>
            <a:ext cx="29127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shared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model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like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ordering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880870" cy="5080"/>
            </a:xfrm>
            <a:custGeom>
              <a:avLst/>
              <a:gdLst/>
              <a:ahLst/>
              <a:cxnLst/>
              <a:rect l="l" t="t" r="r" b="b"/>
              <a:pathLst>
                <a:path w="1880870" h="5080">
                  <a:moveTo>
                    <a:pt x="0" y="5060"/>
                  </a:moveTo>
                  <a:lnTo>
                    <a:pt x="0" y="0"/>
                  </a:lnTo>
                  <a:lnTo>
                    <a:pt x="1880795" y="0"/>
                  </a:lnTo>
                  <a:lnTo>
                    <a:pt x="18807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Shared</a:t>
            </a:r>
            <a:r>
              <a:rPr spc="15" dirty="0"/>
              <a:t> </a:t>
            </a:r>
            <a:r>
              <a:rPr spc="-45" dirty="0"/>
              <a:t>Responsibility</a:t>
            </a:r>
            <a:r>
              <a:rPr spc="20" dirty="0"/>
              <a:t> </a:t>
            </a:r>
            <a:r>
              <a:rPr dirty="0"/>
              <a:t>Model:</a:t>
            </a:r>
            <a:r>
              <a:rPr spc="120" dirty="0"/>
              <a:t> </a:t>
            </a:r>
            <a:r>
              <a:rPr dirty="0"/>
              <a:t>Pizza</a:t>
            </a:r>
            <a:r>
              <a:rPr spc="20" dirty="0"/>
              <a:t> </a:t>
            </a:r>
            <a:r>
              <a:rPr spc="-25" dirty="0"/>
              <a:t>as</a:t>
            </a:r>
            <a:r>
              <a:rPr spc="1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2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813594"/>
            <a:ext cx="4817110" cy="56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shared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model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like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ordering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SaaS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restaurant.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just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880870" cy="5080"/>
            </a:xfrm>
            <a:custGeom>
              <a:avLst/>
              <a:gdLst/>
              <a:ahLst/>
              <a:cxnLst/>
              <a:rect l="l" t="t" r="r" b="b"/>
              <a:pathLst>
                <a:path w="1880870" h="5080">
                  <a:moveTo>
                    <a:pt x="0" y="5060"/>
                  </a:moveTo>
                  <a:lnTo>
                    <a:pt x="0" y="0"/>
                  </a:lnTo>
                  <a:lnTo>
                    <a:pt x="1880795" y="0"/>
                  </a:lnTo>
                  <a:lnTo>
                    <a:pt x="18807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Shared</a:t>
            </a:r>
            <a:r>
              <a:rPr spc="15" dirty="0"/>
              <a:t> </a:t>
            </a:r>
            <a:r>
              <a:rPr spc="-45" dirty="0"/>
              <a:t>Responsibility</a:t>
            </a:r>
            <a:r>
              <a:rPr spc="20" dirty="0"/>
              <a:t> </a:t>
            </a:r>
            <a:r>
              <a:rPr dirty="0"/>
              <a:t>Model:</a:t>
            </a:r>
            <a:r>
              <a:rPr spc="120" dirty="0"/>
              <a:t> </a:t>
            </a:r>
            <a:r>
              <a:rPr dirty="0"/>
              <a:t>Pizza</a:t>
            </a:r>
            <a:r>
              <a:rPr spc="20" dirty="0"/>
              <a:t> </a:t>
            </a:r>
            <a:r>
              <a:rPr spc="-25" dirty="0"/>
              <a:t>as</a:t>
            </a:r>
            <a:r>
              <a:rPr spc="1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2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813594"/>
            <a:ext cx="4817110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shared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model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like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ordering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SaaS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restaurant.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just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3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PaaS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delivery.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baking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arrives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home.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preparaing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table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drinks.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880870" cy="5080"/>
            </a:xfrm>
            <a:custGeom>
              <a:avLst/>
              <a:gdLst/>
              <a:ahLst/>
              <a:cxnLst/>
              <a:rect l="l" t="t" r="r" b="b"/>
              <a:pathLst>
                <a:path w="1880870" h="5080">
                  <a:moveTo>
                    <a:pt x="0" y="5060"/>
                  </a:moveTo>
                  <a:lnTo>
                    <a:pt x="0" y="0"/>
                  </a:lnTo>
                  <a:lnTo>
                    <a:pt x="1880795" y="0"/>
                  </a:lnTo>
                  <a:lnTo>
                    <a:pt x="18807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Shared</a:t>
            </a:r>
            <a:r>
              <a:rPr spc="15" dirty="0"/>
              <a:t> </a:t>
            </a:r>
            <a:r>
              <a:rPr spc="-45" dirty="0"/>
              <a:t>Responsibility</a:t>
            </a:r>
            <a:r>
              <a:rPr spc="20" dirty="0"/>
              <a:t> </a:t>
            </a:r>
            <a:r>
              <a:rPr dirty="0"/>
              <a:t>Model:</a:t>
            </a:r>
            <a:r>
              <a:rPr spc="120" dirty="0"/>
              <a:t> </a:t>
            </a:r>
            <a:r>
              <a:rPr dirty="0"/>
              <a:t>Pizza</a:t>
            </a:r>
            <a:r>
              <a:rPr spc="20" dirty="0"/>
              <a:t> </a:t>
            </a:r>
            <a:r>
              <a:rPr spc="-25" dirty="0"/>
              <a:t>as</a:t>
            </a:r>
            <a:r>
              <a:rPr spc="1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2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813594"/>
            <a:ext cx="4817110" cy="135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shared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model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like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ordering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SaaS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restaurant.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just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3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PaaS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delivery.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baking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arrives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home.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preparaing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table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drinks.</a:t>
            </a:r>
            <a:endParaRPr sz="900">
              <a:latin typeface="Arial"/>
              <a:cs typeface="Arial"/>
            </a:endParaRPr>
          </a:p>
          <a:p>
            <a:pPr marL="160020" marR="47625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IaaS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bake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yourself.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dinning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table,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electricity,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oven.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box.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880870" cy="5080"/>
            </a:xfrm>
            <a:custGeom>
              <a:avLst/>
              <a:gdLst/>
              <a:ahLst/>
              <a:cxnLst/>
              <a:rect l="l" t="t" r="r" b="b"/>
              <a:pathLst>
                <a:path w="1880870" h="5080">
                  <a:moveTo>
                    <a:pt x="0" y="5060"/>
                  </a:moveTo>
                  <a:lnTo>
                    <a:pt x="0" y="0"/>
                  </a:lnTo>
                  <a:lnTo>
                    <a:pt x="1880795" y="0"/>
                  </a:lnTo>
                  <a:lnTo>
                    <a:pt x="18807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Shared</a:t>
            </a:r>
            <a:r>
              <a:rPr spc="15" dirty="0"/>
              <a:t> </a:t>
            </a:r>
            <a:r>
              <a:rPr spc="-45" dirty="0"/>
              <a:t>Responsibility</a:t>
            </a:r>
            <a:r>
              <a:rPr spc="20" dirty="0"/>
              <a:t> </a:t>
            </a:r>
            <a:r>
              <a:rPr dirty="0"/>
              <a:t>Model:</a:t>
            </a:r>
            <a:r>
              <a:rPr spc="120" dirty="0"/>
              <a:t> </a:t>
            </a:r>
            <a:r>
              <a:rPr dirty="0"/>
              <a:t>Pizza</a:t>
            </a:r>
            <a:r>
              <a:rPr spc="20" dirty="0"/>
              <a:t> </a:t>
            </a:r>
            <a:r>
              <a:rPr spc="-25" dirty="0"/>
              <a:t>as</a:t>
            </a:r>
            <a:r>
              <a:rPr spc="1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2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813594"/>
            <a:ext cx="4986020" cy="175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1755" algn="ctr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shared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responsibility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model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like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ordering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  <a:p>
            <a:pPr marL="160020" marR="173355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SaaS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restaurant.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just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pizza.</a:t>
            </a:r>
            <a:endParaRPr sz="900">
              <a:latin typeface="Arial"/>
              <a:cs typeface="Arial"/>
            </a:endParaRPr>
          </a:p>
          <a:p>
            <a:pPr marL="160020" marR="173990" indent="-147955">
              <a:lnSpc>
                <a:spcPct val="116199"/>
              </a:lnSpc>
              <a:spcBef>
                <a:spcPts val="63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PaaS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delivery.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baking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arrives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home.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preparaing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table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drinks.</a:t>
            </a:r>
            <a:endParaRPr sz="900">
              <a:latin typeface="Arial"/>
              <a:cs typeface="Arial"/>
            </a:endParaRPr>
          </a:p>
          <a:p>
            <a:pPr marL="160020" marR="21590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IaaS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bake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yourself.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dinning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table,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electricity,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oven.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box.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spcBef>
                <a:spcPts val="63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pizza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scratch.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everything,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ingredients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baking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preparing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drinks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too.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880870" cy="5080"/>
            </a:xfrm>
            <a:custGeom>
              <a:avLst/>
              <a:gdLst/>
              <a:ahLst/>
              <a:cxnLst/>
              <a:rect l="l" t="t" r="r" b="b"/>
              <a:pathLst>
                <a:path w="1880870" h="5080">
                  <a:moveTo>
                    <a:pt x="0" y="5060"/>
                  </a:moveTo>
                  <a:lnTo>
                    <a:pt x="0" y="0"/>
                  </a:lnTo>
                  <a:lnTo>
                    <a:pt x="1880795" y="0"/>
                  </a:lnTo>
                  <a:lnTo>
                    <a:pt x="18807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1849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Deployment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Models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5791" y="625598"/>
            <a:ext cx="3008420" cy="209917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998980" cy="5080"/>
            </a:xfrm>
            <a:custGeom>
              <a:avLst/>
              <a:gdLst/>
              <a:ahLst/>
              <a:cxnLst/>
              <a:rect l="l" t="t" r="r" b="b"/>
              <a:pathLst>
                <a:path w="1998980" h="5080">
                  <a:moveTo>
                    <a:pt x="0" y="5060"/>
                  </a:moveTo>
                  <a:lnTo>
                    <a:pt x="0" y="0"/>
                  </a:lnTo>
                  <a:lnTo>
                    <a:pt x="1998394" y="0"/>
                  </a:lnTo>
                  <a:lnTo>
                    <a:pt x="199839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Public</a:t>
            </a:r>
            <a:r>
              <a:rPr spc="-35" dirty="0"/>
              <a:t> </a:t>
            </a:r>
            <a:r>
              <a:rPr spc="-40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69800"/>
            <a:ext cx="479425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defined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third-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party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Internet,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anyone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wants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purchase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116455" cy="5080"/>
            </a:xfrm>
            <a:custGeom>
              <a:avLst/>
              <a:gdLst/>
              <a:ahLst/>
              <a:cxnLst/>
              <a:rect l="l" t="t" r="r" b="b"/>
              <a:pathLst>
                <a:path w="2116455" h="5080">
                  <a:moveTo>
                    <a:pt x="0" y="5060"/>
                  </a:moveTo>
                  <a:lnTo>
                    <a:pt x="0" y="0"/>
                  </a:lnTo>
                  <a:lnTo>
                    <a:pt x="2115905" y="0"/>
                  </a:lnTo>
                  <a:lnTo>
                    <a:pt x="21159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Public</a:t>
            </a:r>
            <a:r>
              <a:rPr spc="-35" dirty="0"/>
              <a:t> </a:t>
            </a:r>
            <a:r>
              <a:rPr spc="-40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69800"/>
            <a:ext cx="4794250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defined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third-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party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Internet,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anyone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wants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purchase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general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116455" cy="5080"/>
            </a:xfrm>
            <a:custGeom>
              <a:avLst/>
              <a:gdLst/>
              <a:ahLst/>
              <a:cxnLst/>
              <a:rect l="l" t="t" r="r" b="b"/>
              <a:pathLst>
                <a:path w="2116455" h="5080">
                  <a:moveTo>
                    <a:pt x="0" y="5060"/>
                  </a:moveTo>
                  <a:lnTo>
                    <a:pt x="0" y="0"/>
                  </a:lnTo>
                  <a:lnTo>
                    <a:pt x="2115905" y="0"/>
                  </a:lnTo>
                  <a:lnTo>
                    <a:pt x="21159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Public</a:t>
            </a:r>
            <a:r>
              <a:rPr spc="-35" dirty="0"/>
              <a:t> </a:t>
            </a:r>
            <a:r>
              <a:rPr spc="-40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69800"/>
            <a:ext cx="479425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defined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third-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party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Internet,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anyone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wants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purchase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general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own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basis.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116455" cy="5080"/>
            </a:xfrm>
            <a:custGeom>
              <a:avLst/>
              <a:gdLst/>
              <a:ahLst/>
              <a:cxnLst/>
              <a:rect l="l" t="t" r="r" b="b"/>
              <a:pathLst>
                <a:path w="2116455" h="5080">
                  <a:moveTo>
                    <a:pt x="0" y="5060"/>
                  </a:moveTo>
                  <a:lnTo>
                    <a:pt x="0" y="0"/>
                  </a:lnTo>
                  <a:lnTo>
                    <a:pt x="2115905" y="0"/>
                  </a:lnTo>
                  <a:lnTo>
                    <a:pt x="21159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Public</a:t>
            </a:r>
            <a:r>
              <a:rPr spc="-35" dirty="0"/>
              <a:t> </a:t>
            </a:r>
            <a:r>
              <a:rPr spc="-40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69800"/>
            <a:ext cx="4794250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defined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third-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party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Internet,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anyone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wants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purchase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general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own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basis.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scalable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flexible,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wide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range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available.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116455" cy="5080"/>
            </a:xfrm>
            <a:custGeom>
              <a:avLst/>
              <a:gdLst/>
              <a:ahLst/>
              <a:cxnLst/>
              <a:rect l="l" t="t" r="r" b="b"/>
              <a:pathLst>
                <a:path w="2116455" h="5080">
                  <a:moveTo>
                    <a:pt x="0" y="5060"/>
                  </a:moveTo>
                  <a:lnTo>
                    <a:pt x="0" y="0"/>
                  </a:lnTo>
                  <a:lnTo>
                    <a:pt x="2115905" y="0"/>
                  </a:lnTo>
                  <a:lnTo>
                    <a:pt x="21159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Public</a:t>
            </a:r>
            <a:r>
              <a:rPr spc="-35" dirty="0"/>
              <a:t> </a:t>
            </a:r>
            <a:r>
              <a:rPr spc="-40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69800"/>
            <a:ext cx="4794250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defined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third-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party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Internet,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anyone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wants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purchase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general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own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basis.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scalable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flexible,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wide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range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available.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Major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GCP.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116455" cy="5080"/>
            </a:xfrm>
            <a:custGeom>
              <a:avLst/>
              <a:gdLst/>
              <a:ahLst/>
              <a:cxnLst/>
              <a:rect l="l" t="t" r="r" b="b"/>
              <a:pathLst>
                <a:path w="2116455" h="5080">
                  <a:moveTo>
                    <a:pt x="0" y="5060"/>
                  </a:moveTo>
                  <a:lnTo>
                    <a:pt x="0" y="0"/>
                  </a:lnTo>
                  <a:lnTo>
                    <a:pt x="2115905" y="0"/>
                  </a:lnTo>
                  <a:lnTo>
                    <a:pt x="21159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Public</a:t>
            </a:r>
            <a:r>
              <a:rPr spc="-35" dirty="0"/>
              <a:t> </a:t>
            </a:r>
            <a:r>
              <a:rPr spc="-40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069800"/>
            <a:ext cx="479425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defined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third-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party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Internet,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anyone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who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wants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purchase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general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own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basis.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scalable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flexible,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wide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range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available.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Major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AWS,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GCP.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Popular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affordability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scalability.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116455" cy="5080"/>
            </a:xfrm>
            <a:custGeom>
              <a:avLst/>
              <a:gdLst/>
              <a:ahLst/>
              <a:cxnLst/>
              <a:rect l="l" t="t" r="r" b="b"/>
              <a:pathLst>
                <a:path w="2116455" h="5080">
                  <a:moveTo>
                    <a:pt x="0" y="5060"/>
                  </a:moveTo>
                  <a:lnTo>
                    <a:pt x="0" y="0"/>
                  </a:lnTo>
                  <a:lnTo>
                    <a:pt x="2115905" y="0"/>
                  </a:lnTo>
                  <a:lnTo>
                    <a:pt x="21159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05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Private</a:t>
            </a:r>
            <a:r>
              <a:rPr spc="30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25" dirty="0"/>
              <a:t>(On-</a:t>
            </a:r>
            <a:r>
              <a:rPr spc="-10" dirty="0"/>
              <a:t>Premises)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69749"/>
            <a:ext cx="498348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infrastructure for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dedicated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organization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233930" cy="5080"/>
            </a:xfrm>
            <a:custGeom>
              <a:avLst/>
              <a:gdLst/>
              <a:ahLst/>
              <a:cxnLst/>
              <a:rect l="l" t="t" r="r" b="b"/>
              <a:pathLst>
                <a:path w="2233930" h="5080">
                  <a:moveTo>
                    <a:pt x="0" y="5060"/>
                  </a:moveTo>
                  <a:lnTo>
                    <a:pt x="0" y="0"/>
                  </a:lnTo>
                  <a:lnTo>
                    <a:pt x="2233505" y="0"/>
                  </a:lnTo>
                  <a:lnTo>
                    <a:pt x="22335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705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Private</a:t>
            </a:r>
            <a:r>
              <a:rPr sz="1000" b="1" spc="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r>
              <a:rPr sz="1000" b="1" spc="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(On-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Premises)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1069749"/>
            <a:ext cx="4983480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infrastructure for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dedicated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organization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exclusively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organization.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233930" cy="5080"/>
            </a:xfrm>
            <a:custGeom>
              <a:avLst/>
              <a:gdLst/>
              <a:ahLst/>
              <a:cxnLst/>
              <a:rect l="l" t="t" r="r" b="b"/>
              <a:pathLst>
                <a:path w="2233930" h="5080">
                  <a:moveTo>
                    <a:pt x="0" y="5060"/>
                  </a:moveTo>
                  <a:lnTo>
                    <a:pt x="0" y="0"/>
                  </a:lnTo>
                  <a:lnTo>
                    <a:pt x="2233505" y="0"/>
                  </a:lnTo>
                  <a:lnTo>
                    <a:pt x="22335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705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Private</a:t>
            </a:r>
            <a:r>
              <a:rPr sz="1000" b="1" spc="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r>
              <a:rPr sz="1000" b="1" spc="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(On-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Premises)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1069749"/>
            <a:ext cx="498348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infrastructure for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dedicated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organization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exclusively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organization.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customization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233930" cy="5080"/>
            </a:xfrm>
            <a:custGeom>
              <a:avLst/>
              <a:gdLst/>
              <a:ahLst/>
              <a:cxnLst/>
              <a:rect l="l" t="t" r="r" b="b"/>
              <a:pathLst>
                <a:path w="2233930" h="5080">
                  <a:moveTo>
                    <a:pt x="0" y="5060"/>
                  </a:moveTo>
                  <a:lnTo>
                    <a:pt x="0" y="0"/>
                  </a:lnTo>
                  <a:lnTo>
                    <a:pt x="2233505" y="0"/>
                  </a:lnTo>
                  <a:lnTo>
                    <a:pt x="22335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05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Private</a:t>
            </a:r>
            <a:r>
              <a:rPr spc="30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25" dirty="0"/>
              <a:t>(On-</a:t>
            </a:r>
            <a:r>
              <a:rPr spc="-10" dirty="0"/>
              <a:t>Premises)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69749"/>
            <a:ext cx="4983480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infrastructure for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dedicated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organization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exclusively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organization.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customization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hosted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third-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party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233930" cy="5080"/>
            </a:xfrm>
            <a:custGeom>
              <a:avLst/>
              <a:gdLst/>
              <a:ahLst/>
              <a:cxnLst/>
              <a:rect l="l" t="t" r="r" b="b"/>
              <a:pathLst>
                <a:path w="2233930" h="5080">
                  <a:moveTo>
                    <a:pt x="0" y="5060"/>
                  </a:moveTo>
                  <a:lnTo>
                    <a:pt x="0" y="0"/>
                  </a:lnTo>
                  <a:lnTo>
                    <a:pt x="2233505" y="0"/>
                  </a:lnTo>
                  <a:lnTo>
                    <a:pt x="22335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05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Private</a:t>
            </a:r>
            <a:r>
              <a:rPr spc="30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25" dirty="0"/>
              <a:t>(On-</a:t>
            </a:r>
            <a:r>
              <a:rPr spc="-10" dirty="0"/>
              <a:t>Premises)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69749"/>
            <a:ext cx="4983480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infrastructure for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dedicated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organization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exclusively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organization.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customization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hosted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third-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party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provider.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enhanced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popular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finance,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government,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healthcare.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233930" cy="5080"/>
            </a:xfrm>
            <a:custGeom>
              <a:avLst/>
              <a:gdLst/>
              <a:ahLst/>
              <a:cxnLst/>
              <a:rect l="l" t="t" r="r" b="b"/>
              <a:pathLst>
                <a:path w="2233930" h="5080">
                  <a:moveTo>
                    <a:pt x="0" y="5060"/>
                  </a:moveTo>
                  <a:lnTo>
                    <a:pt x="0" y="0"/>
                  </a:lnTo>
                  <a:lnTo>
                    <a:pt x="2233505" y="0"/>
                  </a:lnTo>
                  <a:lnTo>
                    <a:pt x="22335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05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Private</a:t>
            </a:r>
            <a:r>
              <a:rPr spc="30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25" dirty="0"/>
              <a:t>(On-</a:t>
            </a:r>
            <a:r>
              <a:rPr spc="-10" dirty="0"/>
              <a:t>Premises)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69749"/>
            <a:ext cx="498348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infrastructure for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dedicated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organization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exclusively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organization.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customization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hosted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third-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party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provider.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enhanced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popular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finance,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government,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healthcare.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than public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but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control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flexibility.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233930" cy="5080"/>
            </a:xfrm>
            <a:custGeom>
              <a:avLst/>
              <a:gdLst/>
              <a:ahLst/>
              <a:cxnLst/>
              <a:rect l="l" t="t" r="r" b="b"/>
              <a:pathLst>
                <a:path w="2233930" h="5080">
                  <a:moveTo>
                    <a:pt x="0" y="5060"/>
                  </a:moveTo>
                  <a:lnTo>
                    <a:pt x="0" y="0"/>
                  </a:lnTo>
                  <a:lnTo>
                    <a:pt x="2233505" y="0"/>
                  </a:lnTo>
                  <a:lnTo>
                    <a:pt x="22335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86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Hybrid</a:t>
            </a:r>
            <a:r>
              <a:rPr spc="15" dirty="0"/>
              <a:t> </a:t>
            </a:r>
            <a:r>
              <a:rPr spc="-35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90082"/>
            <a:ext cx="506603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cloud and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 cloud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allowing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51405" cy="5080"/>
            </a:xfrm>
            <a:custGeom>
              <a:avLst/>
              <a:gdLst/>
              <a:ahLst/>
              <a:cxnLst/>
              <a:rect l="l" t="t" r="r" b="b"/>
              <a:pathLst>
                <a:path w="2351405" h="5080">
                  <a:moveTo>
                    <a:pt x="0" y="5060"/>
                  </a:moveTo>
                  <a:lnTo>
                    <a:pt x="0" y="0"/>
                  </a:lnTo>
                  <a:lnTo>
                    <a:pt x="2351016" y="0"/>
                  </a:lnTo>
                  <a:lnTo>
                    <a:pt x="23510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786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Hybrid</a:t>
            </a:r>
            <a:r>
              <a:rPr sz="1000" b="1" spc="1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990082"/>
            <a:ext cx="5066030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cloud and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 cloud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allowing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51405" cy="5080"/>
            </a:xfrm>
            <a:custGeom>
              <a:avLst/>
              <a:gdLst/>
              <a:ahLst/>
              <a:cxnLst/>
              <a:rect l="l" t="t" r="r" b="b"/>
              <a:pathLst>
                <a:path w="2351405" h="5080">
                  <a:moveTo>
                    <a:pt x="0" y="5060"/>
                  </a:moveTo>
                  <a:lnTo>
                    <a:pt x="0" y="0"/>
                  </a:lnTo>
                  <a:lnTo>
                    <a:pt x="2351016" y="0"/>
                  </a:lnTo>
                  <a:lnTo>
                    <a:pt x="23510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86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Hybrid</a:t>
            </a:r>
            <a:r>
              <a:rPr spc="15" dirty="0"/>
              <a:t> </a:t>
            </a:r>
            <a:r>
              <a:rPr spc="-35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90082"/>
            <a:ext cx="5066030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cloud and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 cloud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allowing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240029" marR="38100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cost-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effectiveness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 public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while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sensitive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51405" cy="5080"/>
            </a:xfrm>
            <a:custGeom>
              <a:avLst/>
              <a:gdLst/>
              <a:ahLst/>
              <a:cxnLst/>
              <a:rect l="l" t="t" r="r" b="b"/>
              <a:pathLst>
                <a:path w="2351405" h="5080">
                  <a:moveTo>
                    <a:pt x="0" y="5060"/>
                  </a:moveTo>
                  <a:lnTo>
                    <a:pt x="0" y="0"/>
                  </a:lnTo>
                  <a:lnTo>
                    <a:pt x="2351016" y="0"/>
                  </a:lnTo>
                  <a:lnTo>
                    <a:pt x="23510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86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Hybrid</a:t>
            </a:r>
            <a:r>
              <a:rPr spc="15" dirty="0"/>
              <a:t> </a:t>
            </a:r>
            <a:r>
              <a:rPr spc="-35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90082"/>
            <a:ext cx="5066030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cloud and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 cloud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allowing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240029" marR="38100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cost-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effectiveness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 public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while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sensitive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agility,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optimize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costs.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51405" cy="5080"/>
            </a:xfrm>
            <a:custGeom>
              <a:avLst/>
              <a:gdLst/>
              <a:ahLst/>
              <a:cxnLst/>
              <a:rect l="l" t="t" r="r" b="b"/>
              <a:pathLst>
                <a:path w="2351405" h="5080">
                  <a:moveTo>
                    <a:pt x="0" y="5060"/>
                  </a:moveTo>
                  <a:lnTo>
                    <a:pt x="0" y="0"/>
                  </a:lnTo>
                  <a:lnTo>
                    <a:pt x="2351016" y="0"/>
                  </a:lnTo>
                  <a:lnTo>
                    <a:pt x="23510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86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Hybrid</a:t>
            </a:r>
            <a:r>
              <a:rPr spc="15" dirty="0"/>
              <a:t> </a:t>
            </a:r>
            <a:r>
              <a:rPr spc="-35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90082"/>
            <a:ext cx="506603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cloud and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 cloud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allowing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240029" marR="38100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cost-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effectiveness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 public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while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sensitive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agility,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optimize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costs.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manage,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planning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coordination.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51405" cy="5080"/>
            </a:xfrm>
            <a:custGeom>
              <a:avLst/>
              <a:gdLst/>
              <a:ahLst/>
              <a:cxnLst/>
              <a:rect l="l" t="t" r="r" b="b"/>
              <a:pathLst>
                <a:path w="2351405" h="5080">
                  <a:moveTo>
                    <a:pt x="0" y="5060"/>
                  </a:moveTo>
                  <a:lnTo>
                    <a:pt x="0" y="0"/>
                  </a:lnTo>
                  <a:lnTo>
                    <a:pt x="2351016" y="0"/>
                  </a:lnTo>
                  <a:lnTo>
                    <a:pt x="23510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786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Hybrid</a:t>
            </a:r>
            <a:r>
              <a:rPr spc="15" dirty="0"/>
              <a:t> </a:t>
            </a:r>
            <a:r>
              <a:rPr spc="-35" dirty="0"/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90082"/>
            <a:ext cx="5066030" cy="137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cloud and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 cloud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allowing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Combines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240029" marR="38100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cost-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effectiveness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 public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while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sensitive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greater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agility,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optimize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costs.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manage,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planning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coordination.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Balances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benefits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requires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expertise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manage.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351405" cy="5080"/>
            </a:xfrm>
            <a:custGeom>
              <a:avLst/>
              <a:gdLst/>
              <a:ahLst/>
              <a:cxnLst/>
              <a:rect l="l" t="t" r="r" b="b"/>
              <a:pathLst>
                <a:path w="2351405" h="5080">
                  <a:moveTo>
                    <a:pt x="0" y="5060"/>
                  </a:moveTo>
                  <a:lnTo>
                    <a:pt x="0" y="0"/>
                  </a:lnTo>
                  <a:lnTo>
                    <a:pt x="2351016" y="0"/>
                  </a:lnTo>
                  <a:lnTo>
                    <a:pt x="23510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30480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Which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current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9F9F9"/>
                </a:solidFill>
                <a:latin typeface="Arial"/>
                <a:cs typeface="Arial"/>
              </a:rPr>
              <a:t>situation</a:t>
            </a:r>
            <a:r>
              <a:rPr sz="1000" b="1" spc="1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of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Cloud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Computing?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468880" cy="5080"/>
            </a:xfrm>
            <a:custGeom>
              <a:avLst/>
              <a:gdLst/>
              <a:ahLst/>
              <a:cxnLst/>
              <a:rect l="l" t="t" r="r" b="b"/>
              <a:pathLst>
                <a:path w="2468880" h="5080">
                  <a:moveTo>
                    <a:pt x="0" y="5060"/>
                  </a:moveTo>
                  <a:lnTo>
                    <a:pt x="0" y="0"/>
                  </a:lnTo>
                  <a:lnTo>
                    <a:pt x="2468615" y="0"/>
                  </a:lnTo>
                  <a:lnTo>
                    <a:pt x="246861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20" dirty="0"/>
              <a:t>current</a:t>
            </a:r>
            <a:r>
              <a:rPr spc="5" dirty="0"/>
              <a:t> </a:t>
            </a:r>
            <a:r>
              <a:rPr spc="-20" dirty="0"/>
              <a:t>situation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30" dirty="0"/>
              <a:t>Cloud</a:t>
            </a:r>
            <a:r>
              <a:rPr spc="5" dirty="0"/>
              <a:t> </a:t>
            </a:r>
            <a:r>
              <a:rPr spc="-30" dirty="0"/>
              <a:t>Computing?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421" y="348847"/>
            <a:ext cx="490347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0505" marR="5080" indent="-148844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global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computing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market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expected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reach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$832.1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billion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by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2025,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growing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CAGR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17.5%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from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2020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2025.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468880" cy="5080"/>
            </a:xfrm>
            <a:custGeom>
              <a:avLst/>
              <a:gdLst/>
              <a:ahLst/>
              <a:cxnLst/>
              <a:rect l="l" t="t" r="r" b="b"/>
              <a:pathLst>
                <a:path w="2468880" h="5080">
                  <a:moveTo>
                    <a:pt x="0" y="5060"/>
                  </a:moveTo>
                  <a:lnTo>
                    <a:pt x="0" y="0"/>
                  </a:lnTo>
                  <a:lnTo>
                    <a:pt x="2468615" y="0"/>
                  </a:lnTo>
                  <a:lnTo>
                    <a:pt x="246861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5" dirty="0"/>
              <a:t> </a:t>
            </a:r>
            <a:r>
              <a:rPr spc="-25" dirty="0"/>
              <a:t>is</a:t>
            </a:r>
            <a:r>
              <a:rPr spc="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20" dirty="0"/>
              <a:t>current</a:t>
            </a:r>
            <a:r>
              <a:rPr spc="5" dirty="0"/>
              <a:t> </a:t>
            </a:r>
            <a:r>
              <a:rPr spc="-20" dirty="0"/>
              <a:t>situation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30" dirty="0"/>
              <a:t>Cloud</a:t>
            </a:r>
            <a:r>
              <a:rPr spc="5" dirty="0"/>
              <a:t> </a:t>
            </a:r>
            <a:r>
              <a:rPr spc="-30" dirty="0"/>
              <a:t>Computing?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421" y="348847"/>
            <a:ext cx="490347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0505" marR="5080" indent="-148844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global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computing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market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expected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reach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$832.1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billion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by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2025,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growing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at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CAGR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17.5%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from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2020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2025.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26" y="756097"/>
            <a:ext cx="3994546" cy="209921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79726" y="2989299"/>
            <a:ext cx="18008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6:</a:t>
            </a:r>
            <a:r>
              <a:rPr sz="800" b="1" spc="1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Extracted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IoT</a:t>
            </a:r>
            <a:r>
              <a:rPr sz="800" spc="55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Analytics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468880" cy="5080"/>
            </a:xfrm>
            <a:custGeom>
              <a:avLst/>
              <a:gdLst/>
              <a:ahLst/>
              <a:cxnLst/>
              <a:rect l="l" t="t" r="r" b="b"/>
              <a:pathLst>
                <a:path w="2468880" h="5080">
                  <a:moveTo>
                    <a:pt x="0" y="5060"/>
                  </a:moveTo>
                  <a:lnTo>
                    <a:pt x="0" y="0"/>
                  </a:lnTo>
                  <a:lnTo>
                    <a:pt x="2468615" y="0"/>
                  </a:lnTo>
                  <a:lnTo>
                    <a:pt x="246861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20885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Advantages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of</a:t>
            </a:r>
            <a:r>
              <a:rPr sz="1100" b="1" spc="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Cloud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Computing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1073785" cy="5080"/>
            </a:xfrm>
            <a:custGeom>
              <a:avLst/>
              <a:gdLst/>
              <a:ahLst/>
              <a:cxnLst/>
              <a:rect l="l" t="t" r="r" b="b"/>
              <a:pathLst>
                <a:path w="1073785" h="5080">
                  <a:moveTo>
                    <a:pt x="0" y="5060"/>
                  </a:moveTo>
                  <a:lnTo>
                    <a:pt x="0" y="0"/>
                  </a:lnTo>
                  <a:lnTo>
                    <a:pt x="1073678" y="0"/>
                  </a:lnTo>
                  <a:lnTo>
                    <a:pt x="10736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Capital</a:t>
            </a:r>
            <a:r>
              <a:rPr spc="45" dirty="0"/>
              <a:t> </a:t>
            </a:r>
            <a:r>
              <a:rPr spc="-55" dirty="0"/>
              <a:t>expeneses</a:t>
            </a:r>
            <a:r>
              <a:rPr spc="45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spc="-25" dirty="0"/>
              <a:t>operational</a:t>
            </a:r>
            <a:r>
              <a:rPr spc="50" dirty="0"/>
              <a:t> </a:t>
            </a:r>
            <a:r>
              <a:rPr spc="-55" dirty="0"/>
              <a:t>expenses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655844"/>
            <a:ext cx="485457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capital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CapEx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building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centers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converted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operational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586355" cy="5080"/>
            </a:xfrm>
            <a:custGeom>
              <a:avLst/>
              <a:gdLst/>
              <a:ahLst/>
              <a:cxnLst/>
              <a:rect l="l" t="t" r="r" b="b"/>
              <a:pathLst>
                <a:path w="2586355" h="5080">
                  <a:moveTo>
                    <a:pt x="0" y="5060"/>
                  </a:moveTo>
                  <a:lnTo>
                    <a:pt x="0" y="0"/>
                  </a:lnTo>
                  <a:lnTo>
                    <a:pt x="2586126" y="0"/>
                  </a:lnTo>
                  <a:lnTo>
                    <a:pt x="25861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Capital</a:t>
            </a:r>
            <a:r>
              <a:rPr spc="45" dirty="0"/>
              <a:t> </a:t>
            </a:r>
            <a:r>
              <a:rPr spc="-55" dirty="0"/>
              <a:t>expeneses</a:t>
            </a:r>
            <a:r>
              <a:rPr spc="45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spc="-25" dirty="0"/>
              <a:t>operational</a:t>
            </a:r>
            <a:r>
              <a:rPr spc="50" dirty="0"/>
              <a:t> </a:t>
            </a:r>
            <a:r>
              <a:rPr spc="-55" dirty="0"/>
              <a:t>expenses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655844"/>
            <a:ext cx="500507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5494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capital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CapEx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building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centers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converted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operational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35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shift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reduces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hardware,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predictable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manageable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structure.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586355" cy="5080"/>
            </a:xfrm>
            <a:custGeom>
              <a:avLst/>
              <a:gdLst/>
              <a:ahLst/>
              <a:cxnLst/>
              <a:rect l="l" t="t" r="r" b="b"/>
              <a:pathLst>
                <a:path w="2586355" h="5080">
                  <a:moveTo>
                    <a:pt x="0" y="5060"/>
                  </a:moveTo>
                  <a:lnTo>
                    <a:pt x="0" y="0"/>
                  </a:lnTo>
                  <a:lnTo>
                    <a:pt x="2586126" y="0"/>
                  </a:lnTo>
                  <a:lnTo>
                    <a:pt x="25861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Capital</a:t>
            </a:r>
            <a:r>
              <a:rPr spc="45" dirty="0"/>
              <a:t> </a:t>
            </a:r>
            <a:r>
              <a:rPr spc="-55" dirty="0"/>
              <a:t>expeneses</a:t>
            </a:r>
            <a:r>
              <a:rPr spc="45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spc="-25" dirty="0"/>
              <a:t>operational</a:t>
            </a:r>
            <a:r>
              <a:rPr spc="50" dirty="0"/>
              <a:t> </a:t>
            </a:r>
            <a:r>
              <a:rPr spc="-55" dirty="0"/>
              <a:t>expenses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655844"/>
            <a:ext cx="500507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5494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capital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CapEx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building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centers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converted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operational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35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shift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reduces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hardware,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predictable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manageable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structure.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474762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639188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buying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house.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building,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room.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586355" cy="5080"/>
            </a:xfrm>
            <a:custGeom>
              <a:avLst/>
              <a:gdLst/>
              <a:ahLst/>
              <a:cxnLst/>
              <a:rect l="l" t="t" r="r" b="b"/>
              <a:pathLst>
                <a:path w="2586355" h="5080">
                  <a:moveTo>
                    <a:pt x="0" y="5060"/>
                  </a:moveTo>
                  <a:lnTo>
                    <a:pt x="0" y="0"/>
                  </a:lnTo>
                  <a:lnTo>
                    <a:pt x="2586126" y="0"/>
                  </a:lnTo>
                  <a:lnTo>
                    <a:pt x="25861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Capital</a:t>
            </a:r>
            <a:r>
              <a:rPr spc="45" dirty="0"/>
              <a:t> </a:t>
            </a:r>
            <a:r>
              <a:rPr spc="-55" dirty="0"/>
              <a:t>expeneses</a:t>
            </a:r>
            <a:r>
              <a:rPr spc="45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spc="-25" dirty="0"/>
              <a:t>operational</a:t>
            </a:r>
            <a:r>
              <a:rPr spc="50" dirty="0"/>
              <a:t> </a:t>
            </a:r>
            <a:r>
              <a:rPr spc="-55" dirty="0"/>
              <a:t>expenses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655844"/>
            <a:ext cx="500507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5494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capital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CapEx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building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centers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converted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operational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35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shift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reduces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hardware,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predictable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manageable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structure.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474762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639188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buying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house.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building,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room.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207678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aware!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2241206"/>
            <a:ext cx="5039995" cy="17843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house.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2586355" cy="5080"/>
            </a:xfrm>
            <a:custGeom>
              <a:avLst/>
              <a:gdLst/>
              <a:ahLst/>
              <a:cxnLst/>
              <a:rect l="l" t="t" r="r" b="b"/>
              <a:pathLst>
                <a:path w="2586355" h="5080">
                  <a:moveTo>
                    <a:pt x="0" y="5060"/>
                  </a:moveTo>
                  <a:lnTo>
                    <a:pt x="0" y="0"/>
                  </a:lnTo>
                  <a:lnTo>
                    <a:pt x="2586126" y="0"/>
                  </a:lnTo>
                  <a:lnTo>
                    <a:pt x="25861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Capital</a:t>
            </a:r>
            <a:r>
              <a:rPr spc="45" dirty="0"/>
              <a:t> </a:t>
            </a:r>
            <a:r>
              <a:rPr spc="-55" dirty="0"/>
              <a:t>expeneses</a:t>
            </a:r>
            <a:r>
              <a:rPr spc="45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spc="-25" dirty="0"/>
              <a:t>operational</a:t>
            </a:r>
            <a:r>
              <a:rPr spc="50" dirty="0"/>
              <a:t> </a:t>
            </a:r>
            <a:r>
              <a:rPr spc="-55" dirty="0"/>
              <a:t>expenses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655844"/>
            <a:ext cx="500507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54940" indent="-4445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capital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CapEx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building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maintaining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centers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converted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operational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OpEx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35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shift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reduces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hardware,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predictable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manageable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structure.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474762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639188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buying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house.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building,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room.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207678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aware!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2241206"/>
            <a:ext cx="5039995" cy="17843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term,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house.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7831" y="2542052"/>
            <a:ext cx="16446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only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pay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for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what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use.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2586355" cy="5080"/>
            </a:xfrm>
            <a:custGeom>
              <a:avLst/>
              <a:gdLst/>
              <a:ahLst/>
              <a:cxnLst/>
              <a:rect l="l" t="t" r="r" b="b"/>
              <a:pathLst>
                <a:path w="2586355" h="5080">
                  <a:moveTo>
                    <a:pt x="0" y="5060"/>
                  </a:moveTo>
                  <a:lnTo>
                    <a:pt x="0" y="0"/>
                  </a:lnTo>
                  <a:lnTo>
                    <a:pt x="2586126" y="0"/>
                  </a:lnTo>
                  <a:lnTo>
                    <a:pt x="25861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1226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Economies</a:t>
            </a:r>
            <a:r>
              <a:rPr spc="2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40" dirty="0"/>
              <a:t>scale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07100"/>
            <a:ext cx="488886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benefit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economies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offer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lower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prices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individual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achieve.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larger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pass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savings.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703830" cy="5080"/>
            </a:xfrm>
            <a:custGeom>
              <a:avLst/>
              <a:gdLst/>
              <a:ahLst/>
              <a:cxnLst/>
              <a:rect l="l" t="t" r="r" b="b"/>
              <a:pathLst>
                <a:path w="2703830" h="5080">
                  <a:moveTo>
                    <a:pt x="0" y="5060"/>
                  </a:moveTo>
                  <a:lnTo>
                    <a:pt x="0" y="0"/>
                  </a:lnTo>
                  <a:lnTo>
                    <a:pt x="2703726" y="0"/>
                  </a:lnTo>
                  <a:lnTo>
                    <a:pt x="27037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1226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Economies</a:t>
            </a:r>
            <a:r>
              <a:rPr spc="2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40" dirty="0"/>
              <a:t>scale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07100"/>
            <a:ext cx="488886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benefit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economies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offer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lower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prices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individual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achieve.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larger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pass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savings.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58703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751456"/>
            <a:ext cx="5039995" cy="31686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food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cleaning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products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bulk,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obtain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prices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individual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achieve.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703830" cy="5080"/>
            </a:xfrm>
            <a:custGeom>
              <a:avLst/>
              <a:gdLst/>
              <a:ahLst/>
              <a:cxnLst/>
              <a:rect l="l" t="t" r="r" b="b"/>
              <a:pathLst>
                <a:path w="2703830" h="5080">
                  <a:moveTo>
                    <a:pt x="0" y="5060"/>
                  </a:moveTo>
                  <a:lnTo>
                    <a:pt x="0" y="0"/>
                  </a:lnTo>
                  <a:lnTo>
                    <a:pt x="2703726" y="0"/>
                  </a:lnTo>
                  <a:lnTo>
                    <a:pt x="27037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1226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Economies</a:t>
            </a:r>
            <a:r>
              <a:rPr spc="2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40" dirty="0"/>
              <a:t>scale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07100"/>
            <a:ext cx="488886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benefit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economies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offer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lower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prices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individual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achieve.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larger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scale,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pass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savings.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58703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751456"/>
            <a:ext cx="5039995" cy="31686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food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cleaning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products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bulk,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obtain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prices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individual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achieve.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4609" y="2190681"/>
            <a:ext cx="47510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Aggregated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demand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from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multiple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companies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create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a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more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eﬀicient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use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of </a:t>
            </a:r>
            <a:r>
              <a:rPr sz="900" b="1" spc="-60" dirty="0">
                <a:solidFill>
                  <a:srgbClr val="EB811B"/>
                </a:solidFill>
                <a:latin typeface="Arial"/>
                <a:cs typeface="Arial"/>
              </a:rPr>
              <a:t>resources.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703830" cy="5080"/>
            </a:xfrm>
            <a:custGeom>
              <a:avLst/>
              <a:gdLst/>
              <a:ahLst/>
              <a:cxnLst/>
              <a:rect l="l" t="t" r="r" b="b"/>
              <a:pathLst>
                <a:path w="2703830" h="5080">
                  <a:moveTo>
                    <a:pt x="0" y="5060"/>
                  </a:moveTo>
                  <a:lnTo>
                    <a:pt x="0" y="0"/>
                  </a:lnTo>
                  <a:lnTo>
                    <a:pt x="2703726" y="0"/>
                  </a:lnTo>
                  <a:lnTo>
                    <a:pt x="27037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Adaptability</a:t>
            </a:r>
            <a:r>
              <a:rPr dirty="0"/>
              <a:t> </a:t>
            </a:r>
            <a:r>
              <a:rPr spc="-10" dirty="0"/>
              <a:t>and</a:t>
            </a:r>
            <a:r>
              <a:rPr dirty="0"/>
              <a:t> </a:t>
            </a:r>
            <a:r>
              <a:rPr spc="-35" dirty="0"/>
              <a:t>scalability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75756"/>
            <a:ext cx="506730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needed.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stop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guessing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business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changes.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821305" cy="5080"/>
            </a:xfrm>
            <a:custGeom>
              <a:avLst/>
              <a:gdLst/>
              <a:ahLst/>
              <a:cxnLst/>
              <a:rect l="l" t="t" r="r" b="b"/>
              <a:pathLst>
                <a:path w="2821305" h="5080">
                  <a:moveTo>
                    <a:pt x="0" y="5060"/>
                  </a:moveTo>
                  <a:lnTo>
                    <a:pt x="0" y="0"/>
                  </a:lnTo>
                  <a:lnTo>
                    <a:pt x="2821237" y="0"/>
                  </a:lnTo>
                  <a:lnTo>
                    <a:pt x="2821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Adaptability</a:t>
            </a:r>
            <a:r>
              <a:rPr dirty="0"/>
              <a:t> </a:t>
            </a:r>
            <a:r>
              <a:rPr spc="-10" dirty="0"/>
              <a:t>and</a:t>
            </a:r>
            <a:r>
              <a:rPr dirty="0"/>
              <a:t> </a:t>
            </a:r>
            <a:r>
              <a:rPr spc="-35" dirty="0"/>
              <a:t>scalability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75756"/>
            <a:ext cx="506730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needed.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stop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guessing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business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changes.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496377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660804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suite,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suite.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need.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rooms?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rooms.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821305" cy="5080"/>
            </a:xfrm>
            <a:custGeom>
              <a:avLst/>
              <a:gdLst/>
              <a:ahLst/>
              <a:cxnLst/>
              <a:rect l="l" t="t" r="r" b="b"/>
              <a:pathLst>
                <a:path w="2821305" h="5080">
                  <a:moveTo>
                    <a:pt x="0" y="5060"/>
                  </a:moveTo>
                  <a:lnTo>
                    <a:pt x="0" y="0"/>
                  </a:lnTo>
                  <a:lnTo>
                    <a:pt x="2821237" y="0"/>
                  </a:lnTo>
                  <a:lnTo>
                    <a:pt x="2821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Adaptability</a:t>
            </a:r>
            <a:r>
              <a:rPr dirty="0"/>
              <a:t> </a:t>
            </a:r>
            <a:r>
              <a:rPr spc="-10" dirty="0"/>
              <a:t>and</a:t>
            </a:r>
            <a:r>
              <a:rPr dirty="0"/>
              <a:t> </a:t>
            </a:r>
            <a:r>
              <a:rPr spc="-35" dirty="0"/>
              <a:t>scalability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75756"/>
            <a:ext cx="506730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needed.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stop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guessing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business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changes.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496377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660804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suite,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suite.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need.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rooms?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rooms.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4985" y="2122126"/>
            <a:ext cx="2690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scale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up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or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down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as</a:t>
            </a:r>
            <a:r>
              <a:rPr sz="900" b="1" spc="-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yout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65" dirty="0">
                <a:solidFill>
                  <a:srgbClr val="EB811B"/>
                </a:solidFill>
                <a:latin typeface="Arial"/>
                <a:cs typeface="Arial"/>
              </a:rPr>
              <a:t>business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needed.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821305" cy="5080"/>
            </a:xfrm>
            <a:custGeom>
              <a:avLst/>
              <a:gdLst/>
              <a:ahLst/>
              <a:cxnLst/>
              <a:rect l="l" t="t" r="r" b="b"/>
              <a:pathLst>
                <a:path w="2821305" h="5080">
                  <a:moveTo>
                    <a:pt x="0" y="5060"/>
                  </a:moveTo>
                  <a:lnTo>
                    <a:pt x="0" y="0"/>
                  </a:lnTo>
                  <a:lnTo>
                    <a:pt x="2821237" y="0"/>
                  </a:lnTo>
                  <a:lnTo>
                    <a:pt x="2821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094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Deployment</a:t>
            </a:r>
            <a:r>
              <a:rPr spc="45" dirty="0"/>
              <a:t> </a:t>
            </a:r>
            <a:r>
              <a:rPr spc="-45" dirty="0"/>
              <a:t>speed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75642"/>
            <a:ext cx="487934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demand,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vast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amounts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computing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minutes.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gives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businesses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pressure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capacity planning.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939415" cy="5080"/>
            </a:xfrm>
            <a:custGeom>
              <a:avLst/>
              <a:gdLst/>
              <a:ahLst/>
              <a:cxnLst/>
              <a:rect l="l" t="t" r="r" b="b"/>
              <a:pathLst>
                <a:path w="2939415" h="5080">
                  <a:moveTo>
                    <a:pt x="0" y="5060"/>
                  </a:moveTo>
                  <a:lnTo>
                    <a:pt x="0" y="0"/>
                  </a:lnTo>
                  <a:lnTo>
                    <a:pt x="2938836" y="0"/>
                  </a:lnTo>
                  <a:lnTo>
                    <a:pt x="293883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094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Deployment</a:t>
            </a:r>
            <a:r>
              <a:rPr sz="1000" b="1" spc="4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speed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1075642"/>
            <a:ext cx="487934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demand,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vast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amounts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computing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minutes.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gives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businesses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pressure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capacity planning.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655584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820011"/>
            <a:ext cx="5039995" cy="17970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rent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room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minutes.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long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take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house?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939415" cy="5080"/>
            </a:xfrm>
            <a:custGeom>
              <a:avLst/>
              <a:gdLst/>
              <a:ahLst/>
              <a:cxnLst/>
              <a:rect l="l" t="t" r="r" b="b"/>
              <a:pathLst>
                <a:path w="2939415" h="5080">
                  <a:moveTo>
                    <a:pt x="0" y="5060"/>
                  </a:moveTo>
                  <a:lnTo>
                    <a:pt x="0" y="0"/>
                  </a:lnTo>
                  <a:lnTo>
                    <a:pt x="2938836" y="0"/>
                  </a:lnTo>
                  <a:lnTo>
                    <a:pt x="293883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094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Deployment</a:t>
            </a:r>
            <a:r>
              <a:rPr spc="45" dirty="0"/>
              <a:t> </a:t>
            </a:r>
            <a:r>
              <a:rPr spc="-45" dirty="0"/>
              <a:t>speed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75642"/>
            <a:ext cx="487934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demand,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vast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amounts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computing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provisioned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minutes.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gives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businesses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taking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pressure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capacity planning.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655584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Example:</a:t>
            </a:r>
            <a:r>
              <a:rPr sz="900" b="1" spc="13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Hotel</a:t>
            </a:r>
            <a:r>
              <a:rPr sz="900" b="1" spc="4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Analogy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820011"/>
            <a:ext cx="5039995" cy="17970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rent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room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minutes.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long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take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buy 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house?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2393" y="2122126"/>
            <a:ext cx="17957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can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get </a:t>
            </a:r>
            <a:r>
              <a:rPr sz="900" b="1" spc="-55" dirty="0">
                <a:solidFill>
                  <a:srgbClr val="EB811B"/>
                </a:solidFill>
                <a:latin typeface="Arial"/>
                <a:cs typeface="Arial"/>
              </a:rPr>
              <a:t>resources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in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minutes.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939415" cy="5080"/>
            </a:xfrm>
            <a:custGeom>
              <a:avLst/>
              <a:gdLst/>
              <a:ahLst/>
              <a:cxnLst/>
              <a:rect l="l" t="t" r="r" b="b"/>
              <a:pathLst>
                <a:path w="2939415" h="5080">
                  <a:moveTo>
                    <a:pt x="0" y="5060"/>
                  </a:moveTo>
                  <a:lnTo>
                    <a:pt x="0" y="0"/>
                  </a:lnTo>
                  <a:lnTo>
                    <a:pt x="2938836" y="0"/>
                  </a:lnTo>
                  <a:lnTo>
                    <a:pt x="293883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5" dirty="0"/>
              <a:t> </a:t>
            </a:r>
            <a:r>
              <a:rPr spc="-30" dirty="0"/>
              <a:t>Dropbox</a:t>
            </a:r>
            <a:r>
              <a:rPr dirty="0"/>
              <a:t> </a:t>
            </a:r>
            <a:r>
              <a:rPr spc="-35" dirty="0"/>
              <a:t>Journey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97945"/>
            <a:ext cx="490220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hosting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synchronization,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software.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particular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then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synchronizes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appears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contents)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regardless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which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view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056890" cy="5080"/>
            </a:xfrm>
            <a:custGeom>
              <a:avLst/>
              <a:gdLst/>
              <a:ahLst/>
              <a:cxnLst/>
              <a:rect l="l" t="t" r="r" b="b"/>
              <a:pathLst>
                <a:path w="3056890" h="5080">
                  <a:moveTo>
                    <a:pt x="0" y="5060"/>
                  </a:moveTo>
                  <a:lnTo>
                    <a:pt x="0" y="0"/>
                  </a:lnTo>
                  <a:lnTo>
                    <a:pt x="3056347" y="0"/>
                  </a:lnTo>
                  <a:lnTo>
                    <a:pt x="30563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5" dirty="0"/>
              <a:t> </a:t>
            </a:r>
            <a:r>
              <a:rPr spc="-30" dirty="0"/>
              <a:t>Dropbox</a:t>
            </a:r>
            <a:r>
              <a:rPr dirty="0"/>
              <a:t> </a:t>
            </a:r>
            <a:r>
              <a:rPr spc="-35" dirty="0"/>
              <a:t>Journey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97945"/>
            <a:ext cx="490220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hosting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synchronization,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software.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particular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then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synchronizes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appears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contents)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regardless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which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view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004" y="1209878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Dropbox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using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Public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004" y="1374305"/>
            <a:ext cx="2520315" cy="125095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508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4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early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stages,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leveraged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AWS’s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endParaRPr sz="900">
              <a:latin typeface="Arial"/>
              <a:cs typeface="Arial"/>
            </a:endParaRPr>
          </a:p>
          <a:p>
            <a:pPr marL="37465" marR="320040">
              <a:lnSpc>
                <a:spcPct val="116199"/>
              </a:lnSpc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storage.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offered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to:</a:t>
            </a:r>
            <a:endParaRPr sz="900">
              <a:latin typeface="Arial"/>
              <a:cs typeface="Arial"/>
            </a:endParaRPr>
          </a:p>
          <a:p>
            <a:pPr marL="227329" marR="26034" indent="-147955">
              <a:lnSpc>
                <a:spcPct val="116199"/>
              </a:lnSpc>
              <a:spcBef>
                <a:spcPts val="445"/>
              </a:spcBef>
              <a:buClr>
                <a:srgbClr val="EB811B"/>
              </a:buClr>
              <a:buChar char="•"/>
              <a:tabLst>
                <a:tab pos="227329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Rapidly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capacity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demand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increased.</a:t>
            </a:r>
            <a:endParaRPr sz="900">
              <a:latin typeface="Arial"/>
              <a:cs typeface="Arial"/>
            </a:endParaRPr>
          </a:p>
          <a:p>
            <a:pPr marL="222885" marR="388620" indent="-143510">
              <a:lnSpc>
                <a:spcPct val="116199"/>
              </a:lnSpc>
              <a:spcBef>
                <a:spcPts val="450"/>
              </a:spcBef>
              <a:buClr>
                <a:srgbClr val="EB811B"/>
              </a:buClr>
              <a:buChar char="•"/>
              <a:tabLst>
                <a:tab pos="2273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Achieve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swift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production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deployment, 	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enhancing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responsiveness.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056890" cy="5080"/>
            </a:xfrm>
            <a:custGeom>
              <a:avLst/>
              <a:gdLst/>
              <a:ahLst/>
              <a:cxnLst/>
              <a:rect l="l" t="t" r="r" b="b"/>
              <a:pathLst>
                <a:path w="3056890" h="5080">
                  <a:moveTo>
                    <a:pt x="0" y="5060"/>
                  </a:moveTo>
                  <a:lnTo>
                    <a:pt x="0" y="0"/>
                  </a:lnTo>
                  <a:lnTo>
                    <a:pt x="3056347" y="0"/>
                  </a:lnTo>
                  <a:lnTo>
                    <a:pt x="30563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5" dirty="0"/>
              <a:t> </a:t>
            </a:r>
            <a:r>
              <a:rPr spc="-30" dirty="0"/>
              <a:t>Dropbox</a:t>
            </a:r>
            <a:r>
              <a:rPr dirty="0"/>
              <a:t> </a:t>
            </a:r>
            <a:r>
              <a:rPr spc="-35" dirty="0"/>
              <a:t>Journey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97945"/>
            <a:ext cx="490220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hosting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synchronization,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software.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particular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then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synchronizes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appears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contents)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regardless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which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view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004" y="1209878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Dropbox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using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Public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004" y="1374305"/>
            <a:ext cx="2520315" cy="125095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508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4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early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stages,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leveraged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AWS’s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endParaRPr sz="900">
              <a:latin typeface="Arial"/>
              <a:cs typeface="Arial"/>
            </a:endParaRPr>
          </a:p>
          <a:p>
            <a:pPr marL="37465" marR="320040">
              <a:lnSpc>
                <a:spcPct val="116199"/>
              </a:lnSpc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storage.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offered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to:</a:t>
            </a:r>
            <a:endParaRPr sz="900">
              <a:latin typeface="Arial"/>
              <a:cs typeface="Arial"/>
            </a:endParaRPr>
          </a:p>
          <a:p>
            <a:pPr marL="227329" marR="26034" indent="-147955">
              <a:lnSpc>
                <a:spcPct val="116199"/>
              </a:lnSpc>
              <a:spcBef>
                <a:spcPts val="445"/>
              </a:spcBef>
              <a:buClr>
                <a:srgbClr val="EB811B"/>
              </a:buClr>
              <a:buChar char="•"/>
              <a:tabLst>
                <a:tab pos="227329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Rapidly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scale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capacity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demand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increased.</a:t>
            </a:r>
            <a:endParaRPr sz="900">
              <a:latin typeface="Arial"/>
              <a:cs typeface="Arial"/>
            </a:endParaRPr>
          </a:p>
          <a:p>
            <a:pPr marL="222885" marR="388620" indent="-143510">
              <a:lnSpc>
                <a:spcPct val="116199"/>
              </a:lnSpc>
              <a:spcBef>
                <a:spcPts val="450"/>
              </a:spcBef>
              <a:buClr>
                <a:srgbClr val="EB811B"/>
              </a:buClr>
              <a:buChar char="•"/>
              <a:tabLst>
                <a:tab pos="2273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Achieve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swift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production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deployment, 	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enhancing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responsiveness.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99994" y="1209878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25" dirty="0">
                <a:solidFill>
                  <a:srgbClr val="13AF3C"/>
                </a:solidFill>
                <a:latin typeface="Arial"/>
                <a:cs typeface="Arial"/>
              </a:rPr>
              <a:t>Dropbox</a:t>
            </a:r>
            <a:r>
              <a:rPr sz="900" b="1" spc="10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13AF3C"/>
                </a:solidFill>
                <a:latin typeface="Arial"/>
                <a:cs typeface="Arial"/>
              </a:rPr>
              <a:t>migrating</a:t>
            </a:r>
            <a:r>
              <a:rPr sz="900" b="1" spc="10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AF3C"/>
                </a:solidFill>
                <a:latin typeface="Arial"/>
                <a:cs typeface="Arial"/>
              </a:rPr>
              <a:t>an</a:t>
            </a:r>
            <a:r>
              <a:rPr sz="900" b="1" spc="10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Hybrid</a:t>
            </a:r>
            <a:r>
              <a:rPr sz="900" b="1" spc="15" dirty="0">
                <a:solidFill>
                  <a:srgbClr val="13AF3C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AF3C"/>
                </a:solidFill>
                <a:latin typeface="Arial"/>
                <a:cs typeface="Arial"/>
              </a:rPr>
              <a:t>Cloud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99994" y="1374305"/>
            <a:ext cx="2520315" cy="156591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expanded,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associated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endParaRPr sz="900">
              <a:latin typeface="Arial"/>
              <a:cs typeface="Arial"/>
            </a:endParaRPr>
          </a:p>
          <a:p>
            <a:pPr marL="37465" marR="88900" indent="-4445">
              <a:lnSpc>
                <a:spcPct val="116199"/>
              </a:lnSpc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usage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escalated.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Dropbox migrated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model,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allowed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to:</a:t>
            </a:r>
            <a:endParaRPr sz="900">
              <a:latin typeface="Arial"/>
              <a:cs typeface="Arial"/>
            </a:endParaRPr>
          </a:p>
          <a:p>
            <a:pPr marL="227329" marR="158750" indent="-147955">
              <a:lnSpc>
                <a:spcPct val="116199"/>
              </a:lnSpc>
              <a:spcBef>
                <a:spcPts val="445"/>
              </a:spcBef>
              <a:buClr>
                <a:srgbClr val="13AF3C"/>
              </a:buClr>
              <a:buChar char="•"/>
              <a:tabLst>
                <a:tab pos="227329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Maintain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growing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storage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while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managing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effectively.</a:t>
            </a:r>
            <a:endParaRPr sz="900">
              <a:latin typeface="Arial"/>
              <a:cs typeface="Arial"/>
            </a:endParaRPr>
          </a:p>
          <a:p>
            <a:pPr marL="227329" marR="3175" indent="-147955">
              <a:lnSpc>
                <a:spcPct val="116199"/>
              </a:lnSpc>
              <a:spcBef>
                <a:spcPts val="450"/>
              </a:spcBef>
              <a:buClr>
                <a:srgbClr val="13AF3C"/>
              </a:buClr>
              <a:buChar char="•"/>
              <a:tabLst>
                <a:tab pos="227329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Customize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suit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specific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requirements,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enhancing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eﬀiciency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9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performance.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3056890" cy="5080"/>
            </a:xfrm>
            <a:custGeom>
              <a:avLst/>
              <a:gdLst/>
              <a:ahLst/>
              <a:cxnLst/>
              <a:rect l="l" t="t" r="r" b="b"/>
              <a:pathLst>
                <a:path w="3056890" h="5080">
                  <a:moveTo>
                    <a:pt x="0" y="5060"/>
                  </a:moveTo>
                  <a:lnTo>
                    <a:pt x="0" y="0"/>
                  </a:lnTo>
                  <a:lnTo>
                    <a:pt x="3056347" y="0"/>
                  </a:lnTo>
                  <a:lnTo>
                    <a:pt x="30563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6694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Case</a:t>
            </a:r>
            <a:r>
              <a:rPr sz="1000" b="1" spc="-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Study:</a:t>
            </a:r>
            <a:r>
              <a:rPr sz="1000" b="1" spc="9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Dropbox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Today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258" y="400668"/>
            <a:ext cx="4571505" cy="254903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174365" cy="5080"/>
            </a:xfrm>
            <a:custGeom>
              <a:avLst/>
              <a:gdLst/>
              <a:ahLst/>
              <a:cxnLst/>
              <a:rect l="l" t="t" r="r" b="b"/>
              <a:pathLst>
                <a:path w="3174365" h="5080">
                  <a:moveTo>
                    <a:pt x="0" y="5060"/>
                  </a:moveTo>
                  <a:lnTo>
                    <a:pt x="0" y="0"/>
                  </a:lnTo>
                  <a:lnTo>
                    <a:pt x="3173946" y="0"/>
                  </a:lnTo>
                  <a:lnTo>
                    <a:pt x="317394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4703" y="1257691"/>
            <a:ext cx="1940560" cy="40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100"/>
              </a:spcBef>
            </a:pPr>
            <a:r>
              <a:rPr sz="1100" spc="-70" dirty="0">
                <a:solidFill>
                  <a:srgbClr val="22373A"/>
                </a:solidFill>
                <a:hlinkClick r:id="rId2" action="ppaction://hlinksldjump"/>
              </a:rPr>
              <a:t>Risks</a:t>
            </a:r>
            <a:r>
              <a:rPr sz="1100" spc="15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20" dirty="0">
                <a:solidFill>
                  <a:srgbClr val="22373A"/>
                </a:solidFill>
                <a:hlinkClick r:id="rId2" action="ppaction://hlinksldjump"/>
              </a:rPr>
              <a:t>and</a:t>
            </a:r>
            <a:r>
              <a:rPr sz="1100" spc="20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55" dirty="0">
                <a:solidFill>
                  <a:srgbClr val="22373A"/>
                </a:solidFill>
                <a:hlinkClick r:id="rId2" action="ppaction://hlinksldjump"/>
              </a:rPr>
              <a:t>Challenges</a:t>
            </a:r>
            <a:r>
              <a:rPr sz="1100" spc="15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dirty="0">
                <a:solidFill>
                  <a:srgbClr val="22373A"/>
                </a:solidFill>
                <a:hlinkClick r:id="rId2" action="ppaction://hlinksldjump"/>
              </a:rPr>
              <a:t>of</a:t>
            </a:r>
            <a:r>
              <a:rPr sz="1100" spc="20" dirty="0">
                <a:solidFill>
                  <a:srgbClr val="22373A"/>
                </a:solidFill>
                <a:hlinkClick r:id="rId2" action="ppaction://hlinksldjump"/>
              </a:rPr>
              <a:t> </a:t>
            </a:r>
            <a:r>
              <a:rPr sz="1100" spc="-50" dirty="0">
                <a:solidFill>
                  <a:srgbClr val="22373A"/>
                </a:solidFill>
                <a:hlinkClick r:id="rId2" action="ppaction://hlinksldjump"/>
              </a:rPr>
              <a:t>Cloud</a:t>
            </a:r>
            <a:r>
              <a:rPr sz="1100" spc="-50" dirty="0">
                <a:solidFill>
                  <a:srgbClr val="22373A"/>
                </a:solidFill>
              </a:rPr>
              <a:t> </a:t>
            </a:r>
            <a:r>
              <a:rPr sz="1100" spc="-10" dirty="0">
                <a:solidFill>
                  <a:srgbClr val="22373A"/>
                </a:solidFill>
                <a:hlinkClick r:id="rId2" action="ppaction://hlinksldjump"/>
              </a:rPr>
              <a:t>Computing</a:t>
            </a:r>
            <a:endParaRPr sz="1100"/>
          </a:p>
        </p:txBody>
      </p:sp>
      <p:grpSp>
        <p:nvGrpSpPr>
          <p:cNvPr id="4" name="object 4"/>
          <p:cNvGrpSpPr/>
          <p:nvPr/>
        </p:nvGrpSpPr>
        <p:grpSpPr>
          <a:xfrm>
            <a:off x="1627403" y="1741633"/>
            <a:ext cx="2505710" cy="5080"/>
            <a:chOff x="1627403" y="1741633"/>
            <a:chExt cx="2505710" cy="5080"/>
          </a:xfrm>
        </p:grpSpPr>
        <p:sp>
          <p:nvSpPr>
            <p:cNvPr id="5" name="object 5"/>
            <p:cNvSpPr/>
            <p:nvPr/>
          </p:nvSpPr>
          <p:spPr>
            <a:xfrm>
              <a:off x="1627403" y="1741633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27403" y="1741633"/>
              <a:ext cx="1380490" cy="5080"/>
            </a:xfrm>
            <a:custGeom>
              <a:avLst/>
              <a:gdLst/>
              <a:ahLst/>
              <a:cxnLst/>
              <a:rect l="l" t="t" r="r" b="b"/>
              <a:pathLst>
                <a:path w="1380489" h="5080">
                  <a:moveTo>
                    <a:pt x="0" y="5060"/>
                  </a:moveTo>
                  <a:lnTo>
                    <a:pt x="0" y="0"/>
                  </a:lnTo>
                  <a:lnTo>
                    <a:pt x="1380449" y="0"/>
                  </a:lnTo>
                  <a:lnTo>
                    <a:pt x="138044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306"/>
            <a:ext cx="490410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heavily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security,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happen.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immune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threats,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measures.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91840" cy="5080"/>
            </a:xfrm>
            <a:custGeom>
              <a:avLst/>
              <a:gdLst/>
              <a:ahLst/>
              <a:cxnLst/>
              <a:rect l="l" t="t" r="r" b="b"/>
              <a:pathLst>
                <a:path w="3291840" h="5080">
                  <a:moveTo>
                    <a:pt x="0" y="5060"/>
                  </a:moveTo>
                  <a:lnTo>
                    <a:pt x="0" y="0"/>
                  </a:lnTo>
                  <a:lnTo>
                    <a:pt x="3291458" y="0"/>
                  </a:lnTo>
                  <a:lnTo>
                    <a:pt x="32914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306"/>
            <a:ext cx="4904105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heavily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security,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happen.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immune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threats,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measures.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91840" cy="5080"/>
            </a:xfrm>
            <a:custGeom>
              <a:avLst/>
              <a:gdLst/>
              <a:ahLst/>
              <a:cxnLst/>
              <a:rect l="l" t="t" r="r" b="b"/>
              <a:pathLst>
                <a:path w="3291840" h="5080">
                  <a:moveTo>
                    <a:pt x="0" y="5060"/>
                  </a:moveTo>
                  <a:lnTo>
                    <a:pt x="0" y="0"/>
                  </a:lnTo>
                  <a:lnTo>
                    <a:pt x="3291458" y="0"/>
                  </a:lnTo>
                  <a:lnTo>
                    <a:pt x="32914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306"/>
            <a:ext cx="4904105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heavily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security,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happen.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immune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threats,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measures.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91840" cy="5080"/>
            </a:xfrm>
            <a:custGeom>
              <a:avLst/>
              <a:gdLst/>
              <a:ahLst/>
              <a:cxnLst/>
              <a:rect l="l" t="t" r="r" b="b"/>
              <a:pathLst>
                <a:path w="3291840" h="5080">
                  <a:moveTo>
                    <a:pt x="0" y="5060"/>
                  </a:moveTo>
                  <a:lnTo>
                    <a:pt x="0" y="0"/>
                  </a:lnTo>
                  <a:lnTo>
                    <a:pt x="3291458" y="0"/>
                  </a:lnTo>
                  <a:lnTo>
                    <a:pt x="32914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306"/>
            <a:ext cx="490410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heavily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security,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happen.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immune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threats,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measures.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Misconfiguration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91840" cy="5080"/>
            </a:xfrm>
            <a:custGeom>
              <a:avLst/>
              <a:gdLst/>
              <a:ahLst/>
              <a:cxnLst/>
              <a:rect l="l" t="t" r="r" b="b"/>
              <a:pathLst>
                <a:path w="3291840" h="5080">
                  <a:moveTo>
                    <a:pt x="0" y="5060"/>
                  </a:moveTo>
                  <a:lnTo>
                    <a:pt x="0" y="0"/>
                  </a:lnTo>
                  <a:lnTo>
                    <a:pt x="3291458" y="0"/>
                  </a:lnTo>
                  <a:lnTo>
                    <a:pt x="32914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306"/>
            <a:ext cx="4904105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heavily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security,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happen.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immune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threats,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measures.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Misconfiguration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threats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91840" cy="5080"/>
            </a:xfrm>
            <a:custGeom>
              <a:avLst/>
              <a:gdLst/>
              <a:ahLst/>
              <a:cxnLst/>
              <a:rect l="l" t="t" r="r" b="b"/>
              <a:pathLst>
                <a:path w="3291840" h="5080">
                  <a:moveTo>
                    <a:pt x="0" y="5060"/>
                  </a:moveTo>
                  <a:lnTo>
                    <a:pt x="0" y="0"/>
                  </a:lnTo>
                  <a:lnTo>
                    <a:pt x="3291458" y="0"/>
                  </a:lnTo>
                  <a:lnTo>
                    <a:pt x="32914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0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0306"/>
            <a:ext cx="500570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04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heavily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security,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do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happen.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immune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threats,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carefully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measures.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breaches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Misconfiguration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Insider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threats</a:t>
            </a:r>
            <a:endParaRPr sz="900">
              <a:latin typeface="Arial"/>
              <a:cs typeface="Arial"/>
            </a:endParaRPr>
          </a:p>
          <a:p>
            <a:pPr marL="2185035" marR="5080" indent="-2112645">
              <a:lnSpc>
                <a:spcPct val="116199"/>
              </a:lnSpc>
              <a:spcBef>
                <a:spcPts val="625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aware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security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measures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your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provider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yours,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it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shared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responsibility.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91840" cy="5080"/>
            </a:xfrm>
            <a:custGeom>
              <a:avLst/>
              <a:gdLst/>
              <a:ahLst/>
              <a:cxnLst/>
              <a:rect l="l" t="t" r="r" b="b"/>
              <a:pathLst>
                <a:path w="3291840" h="5080">
                  <a:moveTo>
                    <a:pt x="0" y="5060"/>
                  </a:moveTo>
                  <a:lnTo>
                    <a:pt x="0" y="0"/>
                  </a:lnTo>
                  <a:lnTo>
                    <a:pt x="3291458" y="0"/>
                  </a:lnTo>
                  <a:lnTo>
                    <a:pt x="32914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Real </a:t>
            </a:r>
            <a:r>
              <a:rPr spc="-60" dirty="0"/>
              <a:t>Cases</a:t>
            </a:r>
            <a:r>
              <a:rPr spc="5" dirty="0"/>
              <a:t> </a:t>
            </a:r>
            <a:r>
              <a:rPr dirty="0"/>
              <a:t>of </a:t>
            </a:r>
            <a:r>
              <a:rPr spc="-30" dirty="0"/>
              <a:t>Security</a:t>
            </a:r>
            <a:r>
              <a:rPr spc="5" dirty="0"/>
              <a:t> </a:t>
            </a:r>
            <a:r>
              <a:rPr spc="-35" dirty="0"/>
              <a:t>Breaches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306"/>
            <a:ext cx="493014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41605">
              <a:lnSpc>
                <a:spcPct val="116199"/>
              </a:lnSpc>
              <a:spcBef>
                <a:spcPts val="100"/>
              </a:spcBef>
              <a:buChar char="•"/>
              <a:tabLst>
                <a:tab pos="16002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WannaCry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ransomware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attack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2017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200,000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150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countries, 	including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UK’s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National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(NHS).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attack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encrypted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	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demanded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ransom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unlock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409315" cy="5080"/>
            </a:xfrm>
            <a:custGeom>
              <a:avLst/>
              <a:gdLst/>
              <a:ahLst/>
              <a:cxnLst/>
              <a:rect l="l" t="t" r="r" b="b"/>
              <a:pathLst>
                <a:path w="3409315" h="5080">
                  <a:moveTo>
                    <a:pt x="0" y="5060"/>
                  </a:moveTo>
                  <a:lnTo>
                    <a:pt x="0" y="0"/>
                  </a:lnTo>
                  <a:lnTo>
                    <a:pt x="3409057" y="0"/>
                  </a:lnTo>
                  <a:lnTo>
                    <a:pt x="34090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Real </a:t>
            </a:r>
            <a:r>
              <a:rPr spc="-60" dirty="0"/>
              <a:t>Cases</a:t>
            </a:r>
            <a:r>
              <a:rPr spc="5" dirty="0"/>
              <a:t> </a:t>
            </a:r>
            <a:r>
              <a:rPr dirty="0"/>
              <a:t>of </a:t>
            </a:r>
            <a:r>
              <a:rPr spc="-30" dirty="0"/>
              <a:t>Security</a:t>
            </a:r>
            <a:r>
              <a:rPr spc="5" dirty="0"/>
              <a:t> </a:t>
            </a:r>
            <a:r>
              <a:rPr spc="-35" dirty="0"/>
              <a:t>Breaches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306"/>
            <a:ext cx="4930140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41605">
              <a:lnSpc>
                <a:spcPct val="116199"/>
              </a:lnSpc>
              <a:spcBef>
                <a:spcPts val="100"/>
              </a:spcBef>
              <a:buChar char="•"/>
              <a:tabLst>
                <a:tab pos="16002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WannaCry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ransomware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attack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2017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200,000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150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countries, 	including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UK’s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National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(NHS).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attack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encrypted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	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demanded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ransom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unlock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60020" marR="233045" indent="-147955">
              <a:lnSpc>
                <a:spcPct val="116199"/>
              </a:lnSpc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2021,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Universitat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Autònoma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Barcelona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(UAB)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suffered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exposed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 of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students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staff.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occurred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hacker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gained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university’s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sensitive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409315" cy="5080"/>
            </a:xfrm>
            <a:custGeom>
              <a:avLst/>
              <a:gdLst/>
              <a:ahLst/>
              <a:cxnLst/>
              <a:rect l="l" t="t" r="r" b="b"/>
              <a:pathLst>
                <a:path w="3409315" h="5080">
                  <a:moveTo>
                    <a:pt x="0" y="5060"/>
                  </a:moveTo>
                  <a:lnTo>
                    <a:pt x="0" y="0"/>
                  </a:lnTo>
                  <a:lnTo>
                    <a:pt x="3409057" y="0"/>
                  </a:lnTo>
                  <a:lnTo>
                    <a:pt x="34090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Real </a:t>
            </a:r>
            <a:r>
              <a:rPr spc="-60" dirty="0"/>
              <a:t>Cases</a:t>
            </a:r>
            <a:r>
              <a:rPr spc="5" dirty="0"/>
              <a:t> </a:t>
            </a:r>
            <a:r>
              <a:rPr dirty="0"/>
              <a:t>of </a:t>
            </a:r>
            <a:r>
              <a:rPr spc="-30" dirty="0"/>
              <a:t>Security</a:t>
            </a:r>
            <a:r>
              <a:rPr spc="5" dirty="0"/>
              <a:t> </a:t>
            </a:r>
            <a:r>
              <a:rPr spc="-35" dirty="0"/>
              <a:t>Breaches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306"/>
            <a:ext cx="493014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41605">
              <a:lnSpc>
                <a:spcPct val="116199"/>
              </a:lnSpc>
              <a:spcBef>
                <a:spcPts val="100"/>
              </a:spcBef>
              <a:buChar char="•"/>
              <a:tabLst>
                <a:tab pos="160020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WannaCry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ransomware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attack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2017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200,000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150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countries, 	including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UK’s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National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(NHS).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attack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encrypted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computers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	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demanded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ransom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unlock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60020" marR="233045" indent="-147955">
              <a:lnSpc>
                <a:spcPct val="116199"/>
              </a:lnSpc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2021,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Universitat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Autònoma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Barcelona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(UAB)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suffered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exposed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 of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students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staff.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occurred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hacker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gained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university’s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stole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sensitive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60020" marR="354965" indent="-147955">
              <a:lnSpc>
                <a:spcPct val="116199"/>
              </a:lnSpc>
              <a:buChar char="•"/>
              <a:tabLst>
                <a:tab pos="160020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2023,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Clinic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Barcelona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Hospital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suffered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exposed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personal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 of million 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breach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occurred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subcontractor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accidentally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uploaded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proper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measures.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409315" cy="5080"/>
            </a:xfrm>
            <a:custGeom>
              <a:avLst/>
              <a:gdLst/>
              <a:ahLst/>
              <a:cxnLst/>
              <a:rect l="l" t="t" r="r" b="b"/>
              <a:pathLst>
                <a:path w="3409315" h="5080">
                  <a:moveTo>
                    <a:pt x="0" y="5060"/>
                  </a:moveTo>
                  <a:lnTo>
                    <a:pt x="0" y="0"/>
                  </a:lnTo>
                  <a:lnTo>
                    <a:pt x="3409057" y="0"/>
                  </a:lnTo>
                  <a:lnTo>
                    <a:pt x="34090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Have</a:t>
            </a:r>
            <a:r>
              <a:rPr spc="25" dirty="0"/>
              <a:t> </a:t>
            </a:r>
            <a:r>
              <a:rPr spc="50" dirty="0"/>
              <a:t>I</a:t>
            </a:r>
            <a:r>
              <a:rPr spc="25" dirty="0"/>
              <a:t> </a:t>
            </a:r>
            <a:r>
              <a:rPr spc="-10" dirty="0"/>
              <a:t>Been</a:t>
            </a:r>
            <a:r>
              <a:rPr spc="25" dirty="0"/>
              <a:t> </a:t>
            </a:r>
            <a:r>
              <a:rPr spc="-30" dirty="0"/>
              <a:t>Pwned?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229109"/>
            <a:ext cx="492252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Have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I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Been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Pwned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check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been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compromised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 data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breaches.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collects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analyzes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hundreds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database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dumps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pastes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containing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billions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leaked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accounts,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own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entering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username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email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526790" cy="5080"/>
            </a:xfrm>
            <a:custGeom>
              <a:avLst/>
              <a:gdLst/>
              <a:ahLst/>
              <a:cxnLst/>
              <a:rect l="l" t="t" r="r" b="b"/>
              <a:pathLst>
                <a:path w="3526790" h="5080">
                  <a:moveTo>
                    <a:pt x="0" y="5060"/>
                  </a:moveTo>
                  <a:lnTo>
                    <a:pt x="0" y="0"/>
                  </a:lnTo>
                  <a:lnTo>
                    <a:pt x="3526568" y="0"/>
                  </a:lnTo>
                  <a:lnTo>
                    <a:pt x="352656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Have</a:t>
            </a:r>
            <a:r>
              <a:rPr spc="25" dirty="0"/>
              <a:t> </a:t>
            </a:r>
            <a:r>
              <a:rPr spc="50" dirty="0"/>
              <a:t>I</a:t>
            </a:r>
            <a:r>
              <a:rPr spc="25" dirty="0"/>
              <a:t> </a:t>
            </a:r>
            <a:r>
              <a:rPr spc="-10" dirty="0"/>
              <a:t>Been</a:t>
            </a:r>
            <a:r>
              <a:rPr spc="25" dirty="0"/>
              <a:t> </a:t>
            </a:r>
            <a:r>
              <a:rPr spc="-30" dirty="0"/>
              <a:t>Pwned?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229109"/>
            <a:ext cx="4922520" cy="90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Have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I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Been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Pwned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check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been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compromised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 data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breaches.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collects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analyzes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hundreds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of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database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dumps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pastes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containing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billions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leaked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accounts,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own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entering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username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email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endParaRPr sz="900">
              <a:latin typeface="Arial"/>
              <a:cs typeface="Arial"/>
            </a:endParaRPr>
          </a:p>
          <a:p>
            <a:pPr marL="143510" algn="ctr">
              <a:lnSpc>
                <a:spcPct val="100000"/>
              </a:lnSpc>
              <a:spcBef>
                <a:spcPts val="800"/>
              </a:spcBef>
            </a:pP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Have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EB811B"/>
                </a:solidFill>
                <a:latin typeface="Arial"/>
                <a:cs typeface="Arial"/>
              </a:rPr>
              <a:t>been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pwned?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526790" cy="5080"/>
            </a:xfrm>
            <a:custGeom>
              <a:avLst/>
              <a:gdLst/>
              <a:ahLst/>
              <a:cxnLst/>
              <a:rect l="l" t="t" r="r" b="b"/>
              <a:pathLst>
                <a:path w="3526790" h="5080">
                  <a:moveTo>
                    <a:pt x="0" y="5060"/>
                  </a:moveTo>
                  <a:lnTo>
                    <a:pt x="0" y="0"/>
                  </a:lnTo>
                  <a:lnTo>
                    <a:pt x="3526568" y="0"/>
                  </a:lnTo>
                  <a:lnTo>
                    <a:pt x="352656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10" dirty="0"/>
              <a:t>protect</a:t>
            </a:r>
            <a:r>
              <a:rPr spc="25" dirty="0"/>
              <a:t> </a:t>
            </a:r>
            <a:r>
              <a:rPr spc="-35" dirty="0"/>
              <a:t>your</a:t>
            </a:r>
            <a:r>
              <a:rPr spc="30" dirty="0"/>
              <a:t> </a:t>
            </a:r>
            <a:r>
              <a:rPr dirty="0"/>
              <a:t>data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45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72916"/>
            <a:ext cx="47231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encryption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Encrypt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transit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access.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44265" cy="5080"/>
            </a:xfrm>
            <a:custGeom>
              <a:avLst/>
              <a:gdLst/>
              <a:ahLst/>
              <a:cxnLst/>
              <a:rect l="l" t="t" r="r" b="b"/>
              <a:pathLst>
                <a:path w="3644265" h="5080">
                  <a:moveTo>
                    <a:pt x="0" y="5060"/>
                  </a:moveTo>
                  <a:lnTo>
                    <a:pt x="0" y="0"/>
                  </a:lnTo>
                  <a:lnTo>
                    <a:pt x="3644167" y="0"/>
                  </a:lnTo>
                  <a:lnTo>
                    <a:pt x="36441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10" dirty="0"/>
              <a:t>protect</a:t>
            </a:r>
            <a:r>
              <a:rPr spc="25" dirty="0"/>
              <a:t> </a:t>
            </a:r>
            <a:r>
              <a:rPr spc="-35" dirty="0"/>
              <a:t>your</a:t>
            </a:r>
            <a:r>
              <a:rPr spc="30" dirty="0"/>
              <a:t> </a:t>
            </a:r>
            <a:r>
              <a:rPr dirty="0"/>
              <a:t>data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45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230"/>
            <a:ext cx="4974590" cy="5035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encryption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Encrypt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transit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access.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6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strong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controls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authorized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44265" cy="5080"/>
            </a:xfrm>
            <a:custGeom>
              <a:avLst/>
              <a:gdLst/>
              <a:ahLst/>
              <a:cxnLst/>
              <a:rect l="l" t="t" r="r" b="b"/>
              <a:pathLst>
                <a:path w="3644265" h="5080">
                  <a:moveTo>
                    <a:pt x="0" y="5060"/>
                  </a:moveTo>
                  <a:lnTo>
                    <a:pt x="0" y="0"/>
                  </a:lnTo>
                  <a:lnTo>
                    <a:pt x="3644167" y="0"/>
                  </a:lnTo>
                  <a:lnTo>
                    <a:pt x="36441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10" dirty="0"/>
              <a:t>protect</a:t>
            </a:r>
            <a:r>
              <a:rPr spc="25" dirty="0"/>
              <a:t> </a:t>
            </a:r>
            <a:r>
              <a:rPr spc="-35" dirty="0"/>
              <a:t>your</a:t>
            </a:r>
            <a:r>
              <a:rPr spc="30" dirty="0"/>
              <a:t> </a:t>
            </a:r>
            <a:r>
              <a:rPr dirty="0"/>
              <a:t>data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45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230"/>
            <a:ext cx="4977130" cy="82232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encryption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Encrypt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transit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access.</a:t>
            </a:r>
            <a:endParaRPr sz="900">
              <a:latin typeface="Arial"/>
              <a:cs typeface="Arial"/>
            </a:endParaRPr>
          </a:p>
          <a:p>
            <a:pPr marL="160020" marR="762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6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strong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controls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authorized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backup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Regularly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recovered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loss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corruption.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44265" cy="5080"/>
            </a:xfrm>
            <a:custGeom>
              <a:avLst/>
              <a:gdLst/>
              <a:ahLst/>
              <a:cxnLst/>
              <a:rect l="l" t="t" r="r" b="b"/>
              <a:pathLst>
                <a:path w="3644265" h="5080">
                  <a:moveTo>
                    <a:pt x="0" y="5060"/>
                  </a:moveTo>
                  <a:lnTo>
                    <a:pt x="0" y="0"/>
                  </a:lnTo>
                  <a:lnTo>
                    <a:pt x="3644167" y="0"/>
                  </a:lnTo>
                  <a:lnTo>
                    <a:pt x="36441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10" dirty="0"/>
              <a:t>protect</a:t>
            </a:r>
            <a:r>
              <a:rPr spc="25" dirty="0"/>
              <a:t> </a:t>
            </a:r>
            <a:r>
              <a:rPr spc="-35" dirty="0"/>
              <a:t>your</a:t>
            </a:r>
            <a:r>
              <a:rPr spc="30" dirty="0"/>
              <a:t> </a:t>
            </a:r>
            <a:r>
              <a:rPr dirty="0"/>
              <a:t>data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45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230"/>
            <a:ext cx="4977130" cy="11410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encryption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Encrypt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transit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access.</a:t>
            </a:r>
            <a:endParaRPr sz="900">
              <a:latin typeface="Arial"/>
              <a:cs typeface="Arial"/>
            </a:endParaRPr>
          </a:p>
          <a:p>
            <a:pPr marL="160020" marR="762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6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strong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controls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authorized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backup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Regularly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recovered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loss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corruption.</a:t>
            </a:r>
            <a:endParaRPr sz="900">
              <a:latin typeface="Arial"/>
              <a:cs typeface="Arial"/>
            </a:endParaRPr>
          </a:p>
          <a:p>
            <a:pPr marL="160020" marR="952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monitoring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Monitor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threats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respond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incidents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manner.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44265" cy="5080"/>
            </a:xfrm>
            <a:custGeom>
              <a:avLst/>
              <a:gdLst/>
              <a:ahLst/>
              <a:cxnLst/>
              <a:rect l="l" t="t" r="r" b="b"/>
              <a:pathLst>
                <a:path w="3644265" h="5080">
                  <a:moveTo>
                    <a:pt x="0" y="5060"/>
                  </a:moveTo>
                  <a:lnTo>
                    <a:pt x="0" y="0"/>
                  </a:lnTo>
                  <a:lnTo>
                    <a:pt x="3644167" y="0"/>
                  </a:lnTo>
                  <a:lnTo>
                    <a:pt x="36441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10" dirty="0"/>
              <a:t>protect</a:t>
            </a:r>
            <a:r>
              <a:rPr spc="25" dirty="0"/>
              <a:t> </a:t>
            </a:r>
            <a:r>
              <a:rPr spc="-35" dirty="0"/>
              <a:t>your</a:t>
            </a:r>
            <a:r>
              <a:rPr spc="30" dirty="0"/>
              <a:t> </a:t>
            </a:r>
            <a:r>
              <a:rPr dirty="0"/>
              <a:t>data</a:t>
            </a:r>
            <a:r>
              <a:rPr spc="25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45" dirty="0"/>
              <a:t>cloud?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230"/>
            <a:ext cx="4977130" cy="145986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encryption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Encrypt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transit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access.</a:t>
            </a:r>
            <a:endParaRPr sz="900">
              <a:latin typeface="Arial"/>
              <a:cs typeface="Arial"/>
            </a:endParaRPr>
          </a:p>
          <a:p>
            <a:pPr marL="160020" marR="762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6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strong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controls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authorized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backup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Regularly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recovered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loss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corruption.</a:t>
            </a:r>
            <a:endParaRPr sz="900">
              <a:latin typeface="Arial"/>
              <a:cs typeface="Arial"/>
            </a:endParaRPr>
          </a:p>
          <a:p>
            <a:pPr marL="160020" marR="952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monitoring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Monitor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threats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respond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incidents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manner.</a:t>
            </a:r>
            <a:endParaRPr sz="900">
              <a:latin typeface="Arial"/>
              <a:cs typeface="Arial"/>
            </a:endParaRPr>
          </a:p>
          <a:p>
            <a:pPr marL="160020" marR="38544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relevant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standards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regulations.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44265" cy="5080"/>
            </a:xfrm>
            <a:custGeom>
              <a:avLst/>
              <a:gdLst/>
              <a:ahLst/>
              <a:cxnLst/>
              <a:rect l="l" t="t" r="r" b="b"/>
              <a:pathLst>
                <a:path w="3644265" h="5080">
                  <a:moveTo>
                    <a:pt x="0" y="5060"/>
                  </a:moveTo>
                  <a:lnTo>
                    <a:pt x="0" y="0"/>
                  </a:lnTo>
                  <a:lnTo>
                    <a:pt x="3644167" y="0"/>
                  </a:lnTo>
                  <a:lnTo>
                    <a:pt x="36441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5" dirty="0"/>
              <a:t>compliance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308738"/>
            <a:ext cx="504444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Regulatory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critical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consideration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sensitive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r>
              <a:rPr sz="9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relevant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security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standards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regulations,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GDPR,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HIPAA,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PCI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761740" cy="5080"/>
            </a:xfrm>
            <a:custGeom>
              <a:avLst/>
              <a:gdLst/>
              <a:ahLst/>
              <a:cxnLst/>
              <a:rect l="l" t="t" r="r" b="b"/>
              <a:pathLst>
                <a:path w="3761740" h="5080">
                  <a:moveTo>
                    <a:pt x="0" y="5060"/>
                  </a:moveTo>
                  <a:lnTo>
                    <a:pt x="0" y="0"/>
                  </a:lnTo>
                  <a:lnTo>
                    <a:pt x="3761679" y="0"/>
                  </a:lnTo>
                  <a:lnTo>
                    <a:pt x="37616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145" dirty="0"/>
              <a:t> </a:t>
            </a:r>
            <a:r>
              <a:rPr spc="-45" dirty="0"/>
              <a:t>compliance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308738"/>
            <a:ext cx="504444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Regulatory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compliance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critical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consideration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sensitive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r>
              <a:rPr sz="900" spc="1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ensure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comply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relevant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security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standards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regulations,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GDPR,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HIPAA,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PCI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DSS.</a:t>
            </a:r>
            <a:endParaRPr sz="900">
              <a:latin typeface="Arial"/>
              <a:cs typeface="Arial"/>
            </a:endParaRPr>
          </a:p>
          <a:p>
            <a:pPr marL="294005">
              <a:lnSpc>
                <a:spcPct val="100000"/>
              </a:lnSpc>
              <a:spcBef>
                <a:spcPts val="800"/>
              </a:spcBef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You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be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aware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of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data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compliance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regulations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that</a:t>
            </a:r>
            <a:r>
              <a:rPr sz="900" b="1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apply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your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business.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761740" cy="5080"/>
            </a:xfrm>
            <a:custGeom>
              <a:avLst/>
              <a:gdLst/>
              <a:ahLst/>
              <a:cxnLst/>
              <a:rect l="l" t="t" r="r" b="b"/>
              <a:pathLst>
                <a:path w="3761740" h="5080">
                  <a:moveTo>
                    <a:pt x="0" y="5060"/>
                  </a:moveTo>
                  <a:lnTo>
                    <a:pt x="0" y="0"/>
                  </a:lnTo>
                  <a:lnTo>
                    <a:pt x="3761679" y="0"/>
                  </a:lnTo>
                  <a:lnTo>
                    <a:pt x="37616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Lock-</a:t>
            </a:r>
            <a:r>
              <a:rPr spc="-25" dirty="0"/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6774"/>
            <a:ext cx="457644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proprietary</a:t>
            </a:r>
            <a:r>
              <a:rPr sz="900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technology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diﬀicult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result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lock-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dependent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needs.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879215" cy="5080"/>
            </a:xfrm>
            <a:custGeom>
              <a:avLst/>
              <a:gdLst/>
              <a:ahLst/>
              <a:cxnLst/>
              <a:rect l="l" t="t" r="r" b="b"/>
              <a:pathLst>
                <a:path w="3879215" h="5080">
                  <a:moveTo>
                    <a:pt x="0" y="5060"/>
                  </a:moveTo>
                  <a:lnTo>
                    <a:pt x="0" y="0"/>
                  </a:lnTo>
                  <a:lnTo>
                    <a:pt x="3879190" y="0"/>
                  </a:lnTo>
                  <a:lnTo>
                    <a:pt x="38791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Lock-</a:t>
            </a:r>
            <a:r>
              <a:rPr spc="-25" dirty="0"/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6774"/>
            <a:ext cx="477710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5104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proprietary</a:t>
            </a:r>
            <a:r>
              <a:rPr sz="900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technology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diﬀicult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result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lock-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dependent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needs.</a:t>
            </a:r>
            <a:endParaRPr sz="900">
              <a:latin typeface="Arial"/>
              <a:cs typeface="Arial"/>
            </a:endParaRPr>
          </a:p>
          <a:p>
            <a:pPr marL="237490" marR="5080" indent="-14541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237490" algn="l"/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Limited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choice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limited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vendors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evolving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value.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879215" cy="5080"/>
            </a:xfrm>
            <a:custGeom>
              <a:avLst/>
              <a:gdLst/>
              <a:ahLst/>
              <a:cxnLst/>
              <a:rect l="l" t="t" r="r" b="b"/>
              <a:pathLst>
                <a:path w="3879215" h="5080">
                  <a:moveTo>
                    <a:pt x="0" y="5060"/>
                  </a:moveTo>
                  <a:lnTo>
                    <a:pt x="0" y="0"/>
                  </a:lnTo>
                  <a:lnTo>
                    <a:pt x="3879190" y="0"/>
                  </a:lnTo>
                  <a:lnTo>
                    <a:pt x="38791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Lock-</a:t>
            </a:r>
            <a:r>
              <a:rPr spc="-25" dirty="0"/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6774"/>
            <a:ext cx="4855845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44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proprietary</a:t>
            </a:r>
            <a:r>
              <a:rPr sz="900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technology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diﬀicult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result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lock-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dependent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needs.</a:t>
            </a:r>
            <a:endParaRPr sz="900">
              <a:latin typeface="Arial"/>
              <a:cs typeface="Arial"/>
            </a:endParaRPr>
          </a:p>
          <a:p>
            <a:pPr marL="237490" marR="83820" indent="-14541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237490" algn="l"/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Limited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choice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limited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vendors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evolving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value.</a:t>
            </a:r>
            <a:endParaRPr sz="900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Higher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switching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face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complexity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their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879215" cy="5080"/>
            </a:xfrm>
            <a:custGeom>
              <a:avLst/>
              <a:gdLst/>
              <a:ahLst/>
              <a:cxnLst/>
              <a:rect l="l" t="t" r="r" b="b"/>
              <a:pathLst>
                <a:path w="3879215" h="5080">
                  <a:moveTo>
                    <a:pt x="0" y="5060"/>
                  </a:moveTo>
                  <a:lnTo>
                    <a:pt x="0" y="0"/>
                  </a:lnTo>
                  <a:lnTo>
                    <a:pt x="3879190" y="0"/>
                  </a:lnTo>
                  <a:lnTo>
                    <a:pt x="38791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Lock-</a:t>
            </a:r>
            <a:r>
              <a:rPr spc="-25" dirty="0"/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6774"/>
            <a:ext cx="4855845" cy="1698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4480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proprietary</a:t>
            </a:r>
            <a:r>
              <a:rPr sz="900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technology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diﬀicult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result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lock-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dependent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needs.</a:t>
            </a:r>
            <a:endParaRPr sz="900">
              <a:latin typeface="Arial"/>
              <a:cs typeface="Arial"/>
            </a:endParaRPr>
          </a:p>
          <a:p>
            <a:pPr marL="237490" marR="83820" indent="-145415" algn="just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237490" algn="l"/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Limited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choice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limited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vendors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evolving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value.</a:t>
            </a:r>
            <a:endParaRPr sz="900">
              <a:latin typeface="Arial"/>
              <a:cs typeface="Arial"/>
            </a:endParaRPr>
          </a:p>
          <a:p>
            <a:pPr marL="240029" marR="5080" indent="-147955" algn="just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Higher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switching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may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face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costs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complexity when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>
              <a:latin typeface="Arial"/>
              <a:cs typeface="Arial"/>
            </a:endParaRPr>
          </a:p>
          <a:p>
            <a:pPr marL="240029" marR="87630" indent="-147955" algn="just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face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challenges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portability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hinder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systems.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879215" cy="5080"/>
            </a:xfrm>
            <a:custGeom>
              <a:avLst/>
              <a:gdLst/>
              <a:ahLst/>
              <a:cxnLst/>
              <a:rect l="l" t="t" r="r" b="b"/>
              <a:pathLst>
                <a:path w="3879215" h="5080">
                  <a:moveTo>
                    <a:pt x="0" y="5060"/>
                  </a:moveTo>
                  <a:lnTo>
                    <a:pt x="0" y="0"/>
                  </a:lnTo>
                  <a:lnTo>
                    <a:pt x="3879190" y="0"/>
                  </a:lnTo>
                  <a:lnTo>
                    <a:pt x="38791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Lock-</a:t>
            </a:r>
            <a:r>
              <a:rPr spc="-25" dirty="0"/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476774"/>
            <a:ext cx="5042535" cy="241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467359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proprietary</a:t>
            </a:r>
            <a:r>
              <a:rPr sz="900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technology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diﬀicult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result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lock-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dependent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needs.</a:t>
            </a:r>
            <a:endParaRPr sz="900">
              <a:latin typeface="Arial"/>
              <a:cs typeface="Arial"/>
            </a:endParaRPr>
          </a:p>
          <a:p>
            <a:pPr marL="241300" marR="266700" indent="-145415" algn="just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  <a:tab pos="243204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Limited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choice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limited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 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different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vendors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evolving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provide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value.</a:t>
            </a:r>
            <a:endParaRPr sz="900">
              <a:latin typeface="Arial"/>
              <a:cs typeface="Arial"/>
            </a:endParaRPr>
          </a:p>
          <a:p>
            <a:pPr marL="243840" marR="187325" indent="-147955" algn="just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Higher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switching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may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face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costs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complexity when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migrating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their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on-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premises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environment.</a:t>
            </a:r>
            <a:endParaRPr sz="900">
              <a:latin typeface="Arial"/>
              <a:cs typeface="Arial"/>
            </a:endParaRPr>
          </a:p>
          <a:p>
            <a:pPr marL="243840" marR="270510" indent="-147955" algn="just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face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challenges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portability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hinder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ability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systems.</a:t>
            </a:r>
            <a:endParaRPr sz="900">
              <a:latin typeface="Arial"/>
              <a:cs typeface="Arial"/>
            </a:endParaRPr>
          </a:p>
          <a:p>
            <a:pPr marL="12700" marR="5080" indent="-635">
              <a:lnSpc>
                <a:spcPct val="116199"/>
              </a:lnSpc>
              <a:spcBef>
                <a:spcPts val="62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several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strategies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mitigate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risks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vendor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lock-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EB811B"/>
                </a:solidFill>
                <a:latin typeface="Arial"/>
                <a:cs typeface="Arial"/>
              </a:rPr>
              <a:t>open</a:t>
            </a:r>
            <a:r>
              <a:rPr sz="900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EB811B"/>
                </a:solidFill>
                <a:latin typeface="Arial"/>
                <a:cs typeface="Arial"/>
              </a:rPr>
              <a:t>standards</a:t>
            </a:r>
            <a:r>
              <a:rPr sz="900" spc="1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EB811B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APIs,</a:t>
            </a:r>
            <a:r>
              <a:rPr sz="900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adopting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multi-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EB811B"/>
                </a:solidFill>
                <a:latin typeface="Arial"/>
                <a:cs typeface="Arial"/>
              </a:rPr>
              <a:t>or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hybrid</a:t>
            </a:r>
            <a:r>
              <a:rPr sz="900" spc="2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EB811B"/>
                </a:solidFill>
                <a:latin typeface="Arial"/>
                <a:cs typeface="Arial"/>
              </a:rPr>
              <a:t>strategy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VMWare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multi-cloud strategy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customers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multiple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environments,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including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AWS,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Azure,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GCP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879215" cy="5080"/>
            </a:xfrm>
            <a:custGeom>
              <a:avLst/>
              <a:gdLst/>
              <a:ahLst/>
              <a:cxnLst/>
              <a:rect l="l" t="t" r="r" b="b"/>
              <a:pathLst>
                <a:path w="3879215" h="5080">
                  <a:moveTo>
                    <a:pt x="0" y="5060"/>
                  </a:moveTo>
                  <a:lnTo>
                    <a:pt x="0" y="0"/>
                  </a:lnTo>
                  <a:lnTo>
                    <a:pt x="3879190" y="0"/>
                  </a:lnTo>
                  <a:lnTo>
                    <a:pt x="38791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Other</a:t>
            </a:r>
            <a:r>
              <a:rPr spc="30" dirty="0"/>
              <a:t> </a:t>
            </a:r>
            <a:r>
              <a:rPr spc="-5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91747"/>
            <a:ext cx="496887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factors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latency,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bandwidth,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centers.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997325" cy="5080"/>
            </a:xfrm>
            <a:custGeom>
              <a:avLst/>
              <a:gdLst/>
              <a:ahLst/>
              <a:cxnLst/>
              <a:rect l="l" t="t" r="r" b="b"/>
              <a:pathLst>
                <a:path w="3997325" h="5080">
                  <a:moveTo>
                    <a:pt x="0" y="5060"/>
                  </a:moveTo>
                  <a:lnTo>
                    <a:pt x="0" y="0"/>
                  </a:lnTo>
                  <a:lnTo>
                    <a:pt x="3996789" y="0"/>
                  </a:lnTo>
                  <a:lnTo>
                    <a:pt x="39967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Other</a:t>
            </a:r>
            <a:r>
              <a:rPr spc="30" dirty="0"/>
              <a:t> </a:t>
            </a:r>
            <a:r>
              <a:rPr spc="-5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91747"/>
            <a:ext cx="4968875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factors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latency,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bandwidth,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centers.</a:t>
            </a:r>
            <a:endParaRPr sz="900">
              <a:latin typeface="Arial"/>
              <a:cs typeface="Arial"/>
            </a:endParaRPr>
          </a:p>
          <a:p>
            <a:pPr marL="160020" marR="22034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spiral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properly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unexpected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expenses.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997325" cy="5080"/>
            </a:xfrm>
            <a:custGeom>
              <a:avLst/>
              <a:gdLst/>
              <a:ahLst/>
              <a:cxnLst/>
              <a:rect l="l" t="t" r="r" b="b"/>
              <a:pathLst>
                <a:path w="3997325" h="5080">
                  <a:moveTo>
                    <a:pt x="0" y="5060"/>
                  </a:moveTo>
                  <a:lnTo>
                    <a:pt x="0" y="0"/>
                  </a:lnTo>
                  <a:lnTo>
                    <a:pt x="3996789" y="0"/>
                  </a:lnTo>
                  <a:lnTo>
                    <a:pt x="39967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Other</a:t>
            </a:r>
            <a:r>
              <a:rPr spc="30" dirty="0"/>
              <a:t> </a:t>
            </a:r>
            <a:r>
              <a:rPr spc="-5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91747"/>
            <a:ext cx="4968875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factors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latency,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bandwidth,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centers.</a:t>
            </a:r>
            <a:endParaRPr sz="900">
              <a:latin typeface="Arial"/>
              <a:cs typeface="Arial"/>
            </a:endParaRPr>
          </a:p>
          <a:p>
            <a:pPr marL="160020" marR="22034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spiral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properly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unexpected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expenses.</a:t>
            </a:r>
            <a:endParaRPr sz="900">
              <a:latin typeface="Arial"/>
              <a:cs typeface="Arial"/>
            </a:endParaRPr>
          </a:p>
          <a:p>
            <a:pPr marL="160020" marR="44640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level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agreements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(SLAs)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SLAs,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issues.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997325" cy="5080"/>
            </a:xfrm>
            <a:custGeom>
              <a:avLst/>
              <a:gdLst/>
              <a:ahLst/>
              <a:cxnLst/>
              <a:rect l="l" t="t" r="r" b="b"/>
              <a:pathLst>
                <a:path w="3997325" h="5080">
                  <a:moveTo>
                    <a:pt x="0" y="5060"/>
                  </a:moveTo>
                  <a:lnTo>
                    <a:pt x="0" y="0"/>
                  </a:lnTo>
                  <a:lnTo>
                    <a:pt x="3996789" y="0"/>
                  </a:lnTo>
                  <a:lnTo>
                    <a:pt x="39967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Other</a:t>
            </a:r>
            <a:r>
              <a:rPr spc="30" dirty="0"/>
              <a:t> </a:t>
            </a:r>
            <a:r>
              <a:rPr spc="-5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91747"/>
            <a:ext cx="4968875" cy="130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factors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latency,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bandwidth,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centers.</a:t>
            </a:r>
            <a:endParaRPr sz="900">
              <a:latin typeface="Arial"/>
              <a:cs typeface="Arial"/>
            </a:endParaRPr>
          </a:p>
          <a:p>
            <a:pPr marL="160020" marR="22034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spiral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properly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unexpected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expenses.</a:t>
            </a:r>
            <a:endParaRPr sz="900">
              <a:latin typeface="Arial"/>
              <a:cs typeface="Arial"/>
            </a:endParaRPr>
          </a:p>
          <a:p>
            <a:pPr marL="160020" marR="44640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level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agreements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(SLAs)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SLAs,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issues.</a:t>
            </a:r>
            <a:endParaRPr sz="900">
              <a:latin typeface="Arial"/>
              <a:cs typeface="Arial"/>
            </a:endParaRPr>
          </a:p>
          <a:p>
            <a:pPr marL="160020" marR="21590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Integrity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protecting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against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changes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tampering.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997325" cy="5080"/>
            </a:xfrm>
            <a:custGeom>
              <a:avLst/>
              <a:gdLst/>
              <a:ahLst/>
              <a:cxnLst/>
              <a:rect l="l" t="t" r="r" b="b"/>
              <a:pathLst>
                <a:path w="3997325" h="5080">
                  <a:moveTo>
                    <a:pt x="0" y="5060"/>
                  </a:moveTo>
                  <a:lnTo>
                    <a:pt x="0" y="0"/>
                  </a:lnTo>
                  <a:lnTo>
                    <a:pt x="3996789" y="0"/>
                  </a:lnTo>
                  <a:lnTo>
                    <a:pt x="39967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Other</a:t>
            </a:r>
            <a:r>
              <a:rPr spc="30" dirty="0"/>
              <a:t> </a:t>
            </a:r>
            <a:r>
              <a:rPr spc="-5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91747"/>
            <a:ext cx="4988560" cy="177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241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factors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latency,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bandwidth,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centers.</a:t>
            </a:r>
            <a:endParaRPr sz="900">
              <a:latin typeface="Arial"/>
              <a:cs typeface="Arial"/>
            </a:endParaRPr>
          </a:p>
          <a:p>
            <a:pPr marL="160020" marR="240029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spiral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properly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unexpected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expenses.</a:t>
            </a:r>
            <a:endParaRPr sz="900">
              <a:latin typeface="Arial"/>
              <a:cs typeface="Arial"/>
            </a:endParaRPr>
          </a:p>
          <a:p>
            <a:pPr marL="160020" marR="46609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level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agreements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(SLAs)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SLAs,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issues.</a:t>
            </a:r>
            <a:endParaRPr sz="900">
              <a:latin typeface="Arial"/>
              <a:cs typeface="Arial"/>
            </a:endParaRPr>
          </a:p>
          <a:p>
            <a:pPr marL="160020" marR="23558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Integrity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protecting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against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changes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tampering.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optimized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analysis,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impact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require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latency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throughput.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997325" cy="5080"/>
            </a:xfrm>
            <a:custGeom>
              <a:avLst/>
              <a:gdLst/>
              <a:ahLst/>
              <a:cxnLst/>
              <a:rect l="l" t="t" r="r" b="b"/>
              <a:pathLst>
                <a:path w="3997325" h="5080">
                  <a:moveTo>
                    <a:pt x="0" y="5060"/>
                  </a:moveTo>
                  <a:lnTo>
                    <a:pt x="0" y="0"/>
                  </a:lnTo>
                  <a:lnTo>
                    <a:pt x="3996789" y="0"/>
                  </a:lnTo>
                  <a:lnTo>
                    <a:pt x="39967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Other</a:t>
            </a:r>
            <a:r>
              <a:rPr spc="30" dirty="0"/>
              <a:t> </a:t>
            </a:r>
            <a:r>
              <a:rPr spc="-5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591747"/>
            <a:ext cx="4988560" cy="2176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241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6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affected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factors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latency,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bandwidth,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centers.</a:t>
            </a:r>
            <a:endParaRPr sz="900">
              <a:latin typeface="Arial"/>
              <a:cs typeface="Arial"/>
            </a:endParaRPr>
          </a:p>
          <a:p>
            <a:pPr marL="160020" marR="240029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spiral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out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properly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managed,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unexpected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expenses.</a:t>
            </a:r>
            <a:endParaRPr sz="900">
              <a:latin typeface="Arial"/>
              <a:cs typeface="Arial"/>
            </a:endParaRPr>
          </a:p>
          <a:p>
            <a:pPr marL="160020" marR="46609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level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agreements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(SLAs)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meet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their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SLAs,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leading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downtime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issues.</a:t>
            </a:r>
            <a:endParaRPr sz="900">
              <a:latin typeface="Arial"/>
              <a:cs typeface="Arial"/>
            </a:endParaRPr>
          </a:p>
          <a:p>
            <a:pPr marL="160020" marR="235585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Integrity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Ensuring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integrity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protecting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against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unauthorized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changes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tampering.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environments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optimized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analysis,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impact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applications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require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latency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throughput.</a:t>
            </a:r>
            <a:endParaRPr sz="900">
              <a:latin typeface="Arial"/>
              <a:cs typeface="Arial"/>
            </a:endParaRPr>
          </a:p>
          <a:p>
            <a:pPr marL="1007744" marR="203200" indent="-879475">
              <a:lnSpc>
                <a:spcPct val="116199"/>
              </a:lnSpc>
              <a:spcBef>
                <a:spcPts val="625"/>
              </a:spcBef>
            </a:pP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computing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is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not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without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its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EB811B"/>
                </a:solidFill>
                <a:latin typeface="Arial"/>
                <a:cs typeface="Arial"/>
              </a:rPr>
              <a:t>risks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EB811B"/>
                </a:solidFill>
                <a:latin typeface="Arial"/>
                <a:cs typeface="Arial"/>
              </a:rPr>
              <a:t>challenges,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and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companies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need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 to</a:t>
            </a:r>
            <a:r>
              <a:rPr sz="900" b="1" spc="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carefully </a:t>
            </a:r>
            <a:r>
              <a:rPr sz="900" b="1" spc="-30" dirty="0">
                <a:solidFill>
                  <a:srgbClr val="EB811B"/>
                </a:solidFill>
                <a:latin typeface="Arial"/>
                <a:cs typeface="Arial"/>
              </a:rPr>
              <a:t>manage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EB811B"/>
                </a:solidFill>
                <a:latin typeface="Arial"/>
                <a:cs typeface="Arial"/>
              </a:rPr>
              <a:t>these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EB811B"/>
                </a:solidFill>
                <a:latin typeface="Arial"/>
                <a:cs typeface="Arial"/>
              </a:rPr>
              <a:t>ensure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a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60" dirty="0">
                <a:solidFill>
                  <a:srgbClr val="EB811B"/>
                </a:solidFill>
                <a:latin typeface="Arial"/>
                <a:cs typeface="Arial"/>
              </a:rPr>
              <a:t>successful</a:t>
            </a:r>
            <a:r>
              <a:rPr sz="900" b="1" spc="30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EB811B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deployment.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997325" cy="5080"/>
            </a:xfrm>
            <a:custGeom>
              <a:avLst/>
              <a:gdLst/>
              <a:ahLst/>
              <a:cxnLst/>
              <a:rect l="l" t="t" r="r" b="b"/>
              <a:pathLst>
                <a:path w="3997325" h="5080">
                  <a:moveTo>
                    <a:pt x="0" y="5060"/>
                  </a:moveTo>
                  <a:lnTo>
                    <a:pt x="0" y="0"/>
                  </a:lnTo>
                  <a:lnTo>
                    <a:pt x="3996789" y="0"/>
                  </a:lnTo>
                  <a:lnTo>
                    <a:pt x="39967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Homework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3590" y="1507874"/>
            <a:ext cx="4893310" cy="3441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 want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GitHub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account.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week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endParaRPr sz="900">
              <a:latin typeface="Arial"/>
              <a:cs typeface="Arial"/>
            </a:endParaRPr>
          </a:p>
          <a:p>
            <a:pPr marL="22860" algn="ctr">
              <a:lnSpc>
                <a:spcPct val="100000"/>
              </a:lnSpc>
              <a:spcBef>
                <a:spcPts val="17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GitHub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Pages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the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lab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descripton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want.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114800" cy="5080"/>
            </a:xfrm>
            <a:custGeom>
              <a:avLst/>
              <a:gdLst/>
              <a:ahLst/>
              <a:cxnLst/>
              <a:rect l="l" t="t" r="r" b="b"/>
              <a:pathLst>
                <a:path w="4114800" h="5080">
                  <a:moveTo>
                    <a:pt x="0" y="5060"/>
                  </a:moveTo>
                  <a:lnTo>
                    <a:pt x="0" y="0"/>
                  </a:lnTo>
                  <a:lnTo>
                    <a:pt x="4114300" y="0"/>
                  </a:lnTo>
                  <a:lnTo>
                    <a:pt x="411430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50" dirty="0"/>
              <a:t>(I)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149391"/>
            <a:ext cx="506603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99"/>
              </a:lnSpc>
              <a:spcBef>
                <a:spcPts val="100"/>
              </a:spcBef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Consider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startup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competitive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reduce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considering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whether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adopt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 infrastructure?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232275" cy="5080"/>
            </a:xfrm>
            <a:custGeom>
              <a:avLst/>
              <a:gdLst/>
              <a:ahLst/>
              <a:cxnLst/>
              <a:rect l="l" t="t" r="r" b="b"/>
              <a:pathLst>
                <a:path w="4232275" h="5080">
                  <a:moveTo>
                    <a:pt x="0" y="5060"/>
                  </a:moveTo>
                  <a:lnTo>
                    <a:pt x="0" y="0"/>
                  </a:lnTo>
                  <a:lnTo>
                    <a:pt x="4231899" y="0"/>
                  </a:lnTo>
                  <a:lnTo>
                    <a:pt x="423189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50" dirty="0"/>
              <a:t>(I)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49391"/>
            <a:ext cx="5069840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algn="ctr">
              <a:lnSpc>
                <a:spcPct val="116199"/>
              </a:lnSpc>
              <a:spcBef>
                <a:spcPts val="100"/>
              </a:spcBef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Consider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startup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competitive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reduce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considering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whether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adopt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 infrastructure?</a:t>
            </a:r>
            <a:endParaRPr sz="900">
              <a:latin typeface="Arial"/>
              <a:cs typeface="Arial"/>
            </a:endParaRPr>
          </a:p>
          <a:p>
            <a:pPr marL="16510" marR="65405" indent="-4445">
              <a:lnSpc>
                <a:spcPct val="116199"/>
              </a:lnSpc>
              <a:spcBef>
                <a:spcPts val="62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leverage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reduce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 time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market,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while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benefiting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resources.</a:t>
            </a:r>
            <a:r>
              <a:rPr sz="900" i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20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b="1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dirty="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sz="900" b="1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b="1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(AWS)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startups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use.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232275" cy="5080"/>
            </a:xfrm>
            <a:custGeom>
              <a:avLst/>
              <a:gdLst/>
              <a:ahLst/>
              <a:cxnLst/>
              <a:rect l="l" t="t" r="r" b="b"/>
              <a:pathLst>
                <a:path w="4232275" h="5080">
                  <a:moveTo>
                    <a:pt x="0" y="5060"/>
                  </a:moveTo>
                  <a:lnTo>
                    <a:pt x="0" y="0"/>
                  </a:lnTo>
                  <a:lnTo>
                    <a:pt x="4231899" y="0"/>
                  </a:lnTo>
                  <a:lnTo>
                    <a:pt x="423189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55" dirty="0"/>
              <a:t>(II)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333" y="1069749"/>
            <a:ext cx="488759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Now,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consider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small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Y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digitalize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business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reduce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compete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effectively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market.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considering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whether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adopt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sz="900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349750" cy="5080"/>
            </a:xfrm>
            <a:custGeom>
              <a:avLst/>
              <a:gdLst/>
              <a:ahLst/>
              <a:cxnLst/>
              <a:rect l="l" t="t" r="r" b="b"/>
              <a:pathLst>
                <a:path w="4349750" h="5080">
                  <a:moveTo>
                    <a:pt x="0" y="5060"/>
                  </a:moveTo>
                  <a:lnTo>
                    <a:pt x="0" y="0"/>
                  </a:lnTo>
                  <a:lnTo>
                    <a:pt x="4349411" y="0"/>
                  </a:lnTo>
                  <a:lnTo>
                    <a:pt x="43494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55" dirty="0"/>
              <a:t>(II)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51595" rIns="0" bIns="0" rtlCol="0">
            <a:spAutoFit/>
          </a:bodyPr>
          <a:lstStyle/>
          <a:p>
            <a:pPr marL="109855" marR="5080" algn="ctr">
              <a:lnSpc>
                <a:spcPct val="116199"/>
              </a:lnSpc>
              <a:spcBef>
                <a:spcPts val="100"/>
              </a:spcBef>
            </a:pPr>
            <a:r>
              <a:rPr dirty="0"/>
              <a:t>Now,</a:t>
            </a:r>
            <a:r>
              <a:rPr spc="10" dirty="0"/>
              <a:t> </a:t>
            </a:r>
            <a:r>
              <a:rPr spc="-30" dirty="0"/>
              <a:t>consider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spc="-10" dirty="0"/>
              <a:t>small</a:t>
            </a:r>
            <a:r>
              <a:rPr spc="10" dirty="0"/>
              <a:t> </a:t>
            </a:r>
            <a:r>
              <a:rPr spc="-30" dirty="0"/>
              <a:t>company</a:t>
            </a:r>
            <a:r>
              <a:rPr spc="15" dirty="0"/>
              <a:t> </a:t>
            </a:r>
            <a:r>
              <a:rPr b="1" spc="50" dirty="0">
                <a:latin typeface="Arial"/>
                <a:cs typeface="Arial"/>
              </a:rPr>
              <a:t>Y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dirty="0"/>
              <a:t>that</a:t>
            </a:r>
            <a:r>
              <a:rPr spc="10" dirty="0"/>
              <a:t> </a:t>
            </a:r>
            <a:r>
              <a:rPr spc="-55" dirty="0"/>
              <a:t>needs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digitalize</a:t>
            </a:r>
            <a:r>
              <a:rPr spc="15" dirty="0"/>
              <a:t> </a:t>
            </a:r>
            <a:r>
              <a:rPr dirty="0"/>
              <a:t>its</a:t>
            </a:r>
            <a:r>
              <a:rPr spc="10" dirty="0"/>
              <a:t> </a:t>
            </a:r>
            <a:r>
              <a:rPr spc="-50" dirty="0"/>
              <a:t>business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35" dirty="0"/>
              <a:t>reduce</a:t>
            </a:r>
            <a:r>
              <a:rPr spc="10" dirty="0"/>
              <a:t> </a:t>
            </a:r>
            <a:r>
              <a:rPr spc="-30" dirty="0"/>
              <a:t>costs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10" dirty="0"/>
              <a:t>compete </a:t>
            </a:r>
            <a:r>
              <a:rPr spc="-20" dirty="0"/>
              <a:t>effectively</a:t>
            </a:r>
            <a:r>
              <a:rPr spc="5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10" dirty="0"/>
              <a:t>market.</a:t>
            </a:r>
            <a:r>
              <a:rPr spc="9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30" dirty="0"/>
              <a:t>company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spc="-25" dirty="0"/>
              <a:t>also</a:t>
            </a:r>
            <a:r>
              <a:rPr spc="10" dirty="0"/>
              <a:t> </a:t>
            </a:r>
            <a:r>
              <a:rPr spc="-30" dirty="0"/>
              <a:t>considering</a:t>
            </a:r>
            <a:r>
              <a:rPr spc="10" dirty="0"/>
              <a:t> </a:t>
            </a:r>
            <a:r>
              <a:rPr spc="-10" dirty="0"/>
              <a:t>whether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adopt</a:t>
            </a:r>
            <a:r>
              <a:rPr spc="10" dirty="0"/>
              <a:t> </a:t>
            </a:r>
            <a:r>
              <a:rPr spc="-10" dirty="0"/>
              <a:t>cloud</a:t>
            </a:r>
            <a:r>
              <a:rPr spc="10" dirty="0"/>
              <a:t> </a:t>
            </a:r>
            <a:r>
              <a:rPr spc="-10" dirty="0"/>
              <a:t>computing</a:t>
            </a:r>
            <a:r>
              <a:rPr spc="10" dirty="0"/>
              <a:t> </a:t>
            </a:r>
            <a:r>
              <a:rPr spc="-25" dirty="0"/>
              <a:t>or </a:t>
            </a:r>
            <a:r>
              <a:rPr dirty="0"/>
              <a:t>traditional</a:t>
            </a:r>
            <a:r>
              <a:rPr spc="55" dirty="0"/>
              <a:t> </a:t>
            </a:r>
            <a:r>
              <a:rPr spc="-10" dirty="0"/>
              <a:t>infrastructure.</a:t>
            </a:r>
          </a:p>
          <a:p>
            <a:pPr marL="132080" marR="76200" indent="-4445">
              <a:lnSpc>
                <a:spcPct val="116199"/>
              </a:lnSpc>
              <a:spcBef>
                <a:spcPts val="625"/>
              </a:spcBef>
            </a:pP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decision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45" dirty="0">
                <a:latin typeface="Arial"/>
                <a:cs typeface="Arial"/>
              </a:rPr>
              <a:t>depends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on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20" dirty="0">
                <a:latin typeface="Arial"/>
                <a:cs typeface="Arial"/>
              </a:rPr>
              <a:t>specific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65" dirty="0">
                <a:latin typeface="Arial"/>
                <a:cs typeface="Arial"/>
              </a:rPr>
              <a:t>needs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and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50" dirty="0">
                <a:latin typeface="Arial"/>
                <a:cs typeface="Arial"/>
              </a:rPr>
              <a:t>resources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company.</a:t>
            </a:r>
            <a:r>
              <a:rPr i="1" spc="9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If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company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45" dirty="0">
                <a:latin typeface="Arial"/>
                <a:cs typeface="Arial"/>
              </a:rPr>
              <a:t>has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50" dirty="0">
                <a:latin typeface="Arial"/>
                <a:cs typeface="Arial"/>
              </a:rPr>
              <a:t>a</a:t>
            </a:r>
            <a:r>
              <a:rPr i="1" spc="-10" dirty="0">
                <a:latin typeface="Arial"/>
                <a:cs typeface="Arial"/>
              </a:rPr>
              <a:t> significant</a:t>
            </a:r>
            <a:r>
              <a:rPr i="1" dirty="0">
                <a:latin typeface="Arial"/>
                <a:cs typeface="Arial"/>
              </a:rPr>
              <a:t> amount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of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sensitive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data,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traditional infrastructure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might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be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more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suitable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20" dirty="0">
                <a:latin typeface="Arial"/>
                <a:cs typeface="Arial"/>
              </a:rPr>
              <a:t>due</a:t>
            </a:r>
            <a:r>
              <a:rPr i="1" dirty="0">
                <a:latin typeface="Arial"/>
                <a:cs typeface="Arial"/>
              </a:rPr>
              <a:t> to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the </a:t>
            </a:r>
            <a:r>
              <a:rPr i="1" spc="-40" dirty="0">
                <a:latin typeface="Arial"/>
                <a:cs typeface="Arial"/>
              </a:rPr>
              <a:t>increased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control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over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data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security.</a:t>
            </a:r>
            <a:r>
              <a:rPr i="1" spc="100" dirty="0">
                <a:latin typeface="Arial"/>
                <a:cs typeface="Arial"/>
              </a:rPr>
              <a:t> </a:t>
            </a:r>
            <a:r>
              <a:rPr i="1" spc="-35" dirty="0">
                <a:latin typeface="Arial"/>
                <a:cs typeface="Arial"/>
              </a:rPr>
              <a:t>However,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if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the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company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5" dirty="0">
                <a:latin typeface="Arial"/>
                <a:cs typeface="Arial"/>
              </a:rPr>
              <a:t>values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flexibility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and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20" dirty="0">
                <a:latin typeface="Arial"/>
                <a:cs typeface="Arial"/>
              </a:rPr>
              <a:t>scalability,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cloud computing</a:t>
            </a:r>
            <a:r>
              <a:rPr i="1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could</a:t>
            </a:r>
            <a:r>
              <a:rPr i="1" dirty="0">
                <a:latin typeface="Arial"/>
                <a:cs typeface="Arial"/>
              </a:rPr>
              <a:t> be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 better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choice.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349750" cy="5080"/>
            </a:xfrm>
            <a:custGeom>
              <a:avLst/>
              <a:gdLst/>
              <a:ahLst/>
              <a:cxnLst/>
              <a:rect l="l" t="t" r="r" b="b"/>
              <a:pathLst>
                <a:path w="4349750" h="5080">
                  <a:moveTo>
                    <a:pt x="0" y="5060"/>
                  </a:moveTo>
                  <a:lnTo>
                    <a:pt x="0" y="0"/>
                  </a:lnTo>
                  <a:lnTo>
                    <a:pt x="4349411" y="0"/>
                  </a:lnTo>
                  <a:lnTo>
                    <a:pt x="43494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65" dirty="0"/>
              <a:t>(III)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0113" y="580685"/>
            <a:ext cx="495998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0" marR="5080" indent="-150558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Fast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forward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few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years,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achieved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remarkable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success.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grown significantly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evolved.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467225" cy="5080"/>
            </a:xfrm>
            <a:custGeom>
              <a:avLst/>
              <a:gdLst/>
              <a:ahLst/>
              <a:cxnLst/>
              <a:rect l="l" t="t" r="r" b="b"/>
              <a:pathLst>
                <a:path w="4467225" h="5080">
                  <a:moveTo>
                    <a:pt x="0" y="5060"/>
                  </a:moveTo>
                  <a:lnTo>
                    <a:pt x="0" y="0"/>
                  </a:lnTo>
                  <a:lnTo>
                    <a:pt x="4467010" y="0"/>
                  </a:lnTo>
                  <a:lnTo>
                    <a:pt x="44670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65" dirty="0"/>
              <a:t>(III)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580685"/>
            <a:ext cx="5017135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165" marR="5080" indent="-150558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Fast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forward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few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years,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achieved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remarkable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success.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grown significantly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evolved.</a:t>
            </a:r>
            <a:endParaRPr sz="900">
              <a:latin typeface="Arial"/>
              <a:cs typeface="Arial"/>
            </a:endParaRPr>
          </a:p>
          <a:p>
            <a:pPr marL="16510" marR="40640" indent="-4445">
              <a:lnSpc>
                <a:spcPct val="116199"/>
              </a:lnSpc>
              <a:spcBef>
                <a:spcPts val="62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cost 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public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increases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grows,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now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afford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r>
              <a:rPr sz="900" i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point,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help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balance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between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advantages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clouds.</a:t>
            </a:r>
            <a:r>
              <a:rPr sz="900" i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Microsoft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Azure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hybrid cloud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combine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best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sz="900" i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worlds.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467225" cy="5080"/>
            </a:xfrm>
            <a:custGeom>
              <a:avLst/>
              <a:gdLst/>
              <a:ahLst/>
              <a:cxnLst/>
              <a:rect l="l" t="t" r="r" b="b"/>
              <a:pathLst>
                <a:path w="4467225" h="5080">
                  <a:moveTo>
                    <a:pt x="0" y="5060"/>
                  </a:moveTo>
                  <a:lnTo>
                    <a:pt x="0" y="0"/>
                  </a:lnTo>
                  <a:lnTo>
                    <a:pt x="4467010" y="0"/>
                  </a:lnTo>
                  <a:lnTo>
                    <a:pt x="44670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Case</a:t>
            </a:r>
            <a:r>
              <a:rPr spc="-5" dirty="0"/>
              <a:t> </a:t>
            </a:r>
            <a:r>
              <a:rPr spc="-10" dirty="0"/>
              <a:t>Study:</a:t>
            </a:r>
            <a:r>
              <a:rPr spc="9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30" dirty="0"/>
              <a:t>Cloud</a:t>
            </a:r>
            <a:r>
              <a:rPr dirty="0"/>
              <a:t> </a:t>
            </a:r>
            <a:r>
              <a:rPr spc="-30" dirty="0"/>
              <a:t>Computing</a:t>
            </a:r>
            <a:r>
              <a:rPr spc="-5" dirty="0"/>
              <a:t> </a:t>
            </a:r>
            <a:r>
              <a:rPr dirty="0"/>
              <a:t>Right for</a:t>
            </a:r>
            <a:r>
              <a:rPr spc="-5" dirty="0"/>
              <a:t> </a:t>
            </a:r>
            <a:r>
              <a:rPr spc="-20" dirty="0"/>
              <a:t>Your</a:t>
            </a:r>
            <a:r>
              <a:rPr dirty="0"/>
              <a:t> </a:t>
            </a:r>
            <a:r>
              <a:rPr spc="-40" dirty="0"/>
              <a:t>Company?</a:t>
            </a:r>
            <a:r>
              <a:rPr spc="85" dirty="0"/>
              <a:t> </a:t>
            </a:r>
            <a:r>
              <a:rPr spc="65" dirty="0"/>
              <a:t>(III)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580685"/>
            <a:ext cx="5017135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165" marR="5080" indent="-1505585">
              <a:lnSpc>
                <a:spcPct val="116199"/>
              </a:lnSpc>
              <a:spcBef>
                <a:spcPts val="10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Fast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forward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few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years,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X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achieved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remarkable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success.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grown significantly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evolved.</a:t>
            </a:r>
            <a:endParaRPr sz="900">
              <a:latin typeface="Arial"/>
              <a:cs typeface="Arial"/>
            </a:endParaRPr>
          </a:p>
          <a:p>
            <a:pPr marL="16510" marR="40640" indent="-4445">
              <a:lnSpc>
                <a:spcPct val="116199"/>
              </a:lnSpc>
              <a:spcBef>
                <a:spcPts val="62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cost of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public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increases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grows,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but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now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afford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invest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cloud.</a:t>
            </a:r>
            <a:r>
              <a:rPr sz="900" i="1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point,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hybrid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help</a:t>
            </a:r>
            <a:r>
              <a:rPr sz="900" i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22373A"/>
                </a:solidFill>
                <a:latin typeface="Arial"/>
                <a:cs typeface="Arial"/>
              </a:rPr>
              <a:t>balance</a:t>
            </a:r>
            <a:r>
              <a:rPr sz="900" i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between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advantages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 private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clouds.</a:t>
            </a:r>
            <a:r>
              <a:rPr sz="900" i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Microsoft</a:t>
            </a:r>
            <a:r>
              <a:rPr sz="900" b="1" i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i="1" spc="-10" dirty="0">
                <a:solidFill>
                  <a:srgbClr val="22373A"/>
                </a:solidFill>
                <a:latin typeface="Arial"/>
                <a:cs typeface="Arial"/>
              </a:rPr>
              <a:t>Azure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hybrid cloud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combine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best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i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sz="900" i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worlds.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1696046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Take</a:t>
            </a:r>
            <a:r>
              <a:rPr sz="900" b="1" spc="-5" dirty="0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B811B"/>
                </a:solidFill>
                <a:latin typeface="Arial"/>
                <a:cs typeface="Arial"/>
              </a:rPr>
              <a:t>Home </a:t>
            </a:r>
            <a:r>
              <a:rPr sz="900" b="1" spc="-10" dirty="0">
                <a:solidFill>
                  <a:srgbClr val="EB811B"/>
                </a:solidFill>
                <a:latin typeface="Arial"/>
                <a:cs typeface="Arial"/>
              </a:rPr>
              <a:t>Message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860473"/>
            <a:ext cx="5039995" cy="65786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3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There’s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one-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size-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fits-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answer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choosing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endParaRPr sz="900">
              <a:latin typeface="Arial"/>
              <a:cs typeface="Arial"/>
            </a:endParaRPr>
          </a:p>
          <a:p>
            <a:pPr marL="37465" marR="113030">
              <a:lnSpc>
                <a:spcPct val="116199"/>
              </a:lnSpc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infrastructure.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optimal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hinges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specific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needs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company.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thorough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costs,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benefits,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potential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risks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associated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option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crucial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informed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decision.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4467225" cy="5080"/>
            </a:xfrm>
            <a:custGeom>
              <a:avLst/>
              <a:gdLst/>
              <a:ahLst/>
              <a:cxnLst/>
              <a:rect l="l" t="t" r="r" b="b"/>
              <a:pathLst>
                <a:path w="4467225" h="5080">
                  <a:moveTo>
                    <a:pt x="0" y="5060"/>
                  </a:moveTo>
                  <a:lnTo>
                    <a:pt x="0" y="0"/>
                  </a:lnTo>
                  <a:lnTo>
                    <a:pt x="4467010" y="0"/>
                  </a:lnTo>
                  <a:lnTo>
                    <a:pt x="44670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1772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Cloud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Computing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in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Health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1943100" cy="5080"/>
            </a:xfrm>
            <a:custGeom>
              <a:avLst/>
              <a:gdLst/>
              <a:ahLst/>
              <a:cxnLst/>
              <a:rect l="l" t="t" r="r" b="b"/>
              <a:pathLst>
                <a:path w="1943100" h="5080">
                  <a:moveTo>
                    <a:pt x="0" y="5060"/>
                  </a:moveTo>
                  <a:lnTo>
                    <a:pt x="0" y="0"/>
                  </a:lnTo>
                  <a:lnTo>
                    <a:pt x="1942843" y="0"/>
                  </a:lnTo>
                  <a:lnTo>
                    <a:pt x="194284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30" dirty="0"/>
              <a:t>Computing</a:t>
            </a:r>
            <a:r>
              <a:rPr spc="3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830735"/>
            <a:ext cx="481203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records,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medical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images,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information.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584700" cy="5080"/>
            </a:xfrm>
            <a:custGeom>
              <a:avLst/>
              <a:gdLst/>
              <a:ahLst/>
              <a:cxnLst/>
              <a:rect l="l" t="t" r="r" b="b"/>
              <a:pathLst>
                <a:path w="4584700" h="5080">
                  <a:moveTo>
                    <a:pt x="0" y="5060"/>
                  </a:moveTo>
                  <a:lnTo>
                    <a:pt x="0" y="0"/>
                  </a:lnTo>
                  <a:lnTo>
                    <a:pt x="4584521" y="0"/>
                  </a:lnTo>
                  <a:lnTo>
                    <a:pt x="45845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30" dirty="0"/>
              <a:t>Computing</a:t>
            </a:r>
            <a:r>
              <a:rPr spc="3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830735"/>
            <a:ext cx="481203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records,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medical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images,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information.</a:t>
            </a:r>
            <a:endParaRPr sz="900">
              <a:latin typeface="Arial"/>
              <a:cs typeface="Arial"/>
            </a:endParaRPr>
          </a:p>
          <a:p>
            <a:pPr marL="160020" marR="1016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different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improving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communication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collaboration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584700" cy="5080"/>
            </a:xfrm>
            <a:custGeom>
              <a:avLst/>
              <a:gdLst/>
              <a:ahLst/>
              <a:cxnLst/>
              <a:rect l="l" t="t" r="r" b="b"/>
              <a:pathLst>
                <a:path w="4584700" h="5080">
                  <a:moveTo>
                    <a:pt x="0" y="5060"/>
                  </a:moveTo>
                  <a:lnTo>
                    <a:pt x="0" y="0"/>
                  </a:lnTo>
                  <a:lnTo>
                    <a:pt x="4584521" y="0"/>
                  </a:lnTo>
                  <a:lnTo>
                    <a:pt x="45845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30" dirty="0"/>
              <a:t>Computing</a:t>
            </a:r>
            <a:r>
              <a:rPr spc="3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830735"/>
            <a:ext cx="4812030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records,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medical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images,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information.</a:t>
            </a:r>
            <a:endParaRPr sz="900">
              <a:latin typeface="Arial"/>
              <a:cs typeface="Arial"/>
            </a:endParaRPr>
          </a:p>
          <a:p>
            <a:pPr marL="160020" marR="1016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different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improving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communication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collaboration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endParaRPr sz="900">
              <a:latin typeface="Arial"/>
              <a:cs typeface="Arial"/>
            </a:endParaRPr>
          </a:p>
          <a:p>
            <a:pPr marL="160020" marR="1193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Digital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Transformation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Adopt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technologies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telemedicine,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remote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monitoring,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mobile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apps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electronic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records.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584700" cy="5080"/>
            </a:xfrm>
            <a:custGeom>
              <a:avLst/>
              <a:gdLst/>
              <a:ahLst/>
              <a:cxnLst/>
              <a:rect l="l" t="t" r="r" b="b"/>
              <a:pathLst>
                <a:path w="4584700" h="5080">
                  <a:moveTo>
                    <a:pt x="0" y="5060"/>
                  </a:moveTo>
                  <a:lnTo>
                    <a:pt x="0" y="0"/>
                  </a:lnTo>
                  <a:lnTo>
                    <a:pt x="4584521" y="0"/>
                  </a:lnTo>
                  <a:lnTo>
                    <a:pt x="45845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spc="-30" dirty="0"/>
              <a:t>Cloud</a:t>
            </a:r>
            <a:r>
              <a:rPr spc="30" dirty="0"/>
              <a:t> </a:t>
            </a:r>
            <a:r>
              <a:rPr spc="-30" dirty="0"/>
              <a:t>Computing</a:t>
            </a:r>
            <a:r>
              <a:rPr spc="30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30735"/>
            <a:ext cx="4892040" cy="1698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including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records,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medical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images,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information.</a:t>
            </a:r>
            <a:endParaRPr sz="900">
              <a:latin typeface="Arial"/>
              <a:cs typeface="Arial"/>
            </a:endParaRPr>
          </a:p>
          <a:p>
            <a:pPr marL="240029" marR="10160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Interoperability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different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improving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communication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collaboration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providers.</a:t>
            </a:r>
            <a:endParaRPr sz="900">
              <a:latin typeface="Arial"/>
              <a:cs typeface="Arial"/>
            </a:endParaRPr>
          </a:p>
          <a:p>
            <a:pPr marL="240029" marR="119380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Digital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Transformation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Adopt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technologies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telemedicine,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remote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monitoring,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mobile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apps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electronic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records.</a:t>
            </a:r>
            <a:endParaRPr sz="900">
              <a:latin typeface="Arial"/>
              <a:cs typeface="Arial"/>
            </a:endParaRPr>
          </a:p>
          <a:p>
            <a:pPr marL="12700" marR="15875">
              <a:lnSpc>
                <a:spcPct val="116199"/>
              </a:lnSpc>
              <a:spcBef>
                <a:spcPts val="62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 his PhD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thesis,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Applied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eHealth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Vilaplana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Mayoral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et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al.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2015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)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conducts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comprehensive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adoption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healthcare sector.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implemented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various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cloud-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based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tools for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patient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monitoring,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highlighting their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transformative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impact 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delivery.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584700" cy="5080"/>
            </a:xfrm>
            <a:custGeom>
              <a:avLst/>
              <a:gdLst/>
              <a:ahLst/>
              <a:cxnLst/>
              <a:rect l="l" t="t" r="r" b="b"/>
              <a:pathLst>
                <a:path w="4584700" h="5080">
                  <a:moveTo>
                    <a:pt x="0" y="5060"/>
                  </a:moveTo>
                  <a:lnTo>
                    <a:pt x="0" y="0"/>
                  </a:lnTo>
                  <a:lnTo>
                    <a:pt x="4584521" y="0"/>
                  </a:lnTo>
                  <a:lnTo>
                    <a:pt x="45845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10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35" dirty="0"/>
              <a:t>opportunities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30" dirty="0"/>
              <a:t>Cloud</a:t>
            </a:r>
            <a:r>
              <a:rPr spc="15" dirty="0"/>
              <a:t> </a:t>
            </a:r>
            <a:r>
              <a:rPr spc="-30" dirty="0"/>
              <a:t>Computing</a:t>
            </a:r>
            <a:r>
              <a:rPr spc="1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994" y="761263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Capital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5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savings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25677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organitzation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basis,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reducing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upfront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software.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702175" cy="5080"/>
            </a:xfrm>
            <a:custGeom>
              <a:avLst/>
              <a:gdLst/>
              <a:ahLst/>
              <a:cxnLst/>
              <a:rect l="l" t="t" r="r" b="b"/>
              <a:pathLst>
                <a:path w="4702175" h="5080">
                  <a:moveTo>
                    <a:pt x="0" y="5060"/>
                  </a:moveTo>
                  <a:lnTo>
                    <a:pt x="0" y="0"/>
                  </a:lnTo>
                  <a:lnTo>
                    <a:pt x="4702120" y="0"/>
                  </a:lnTo>
                  <a:lnTo>
                    <a:pt x="47021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10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35" dirty="0"/>
              <a:t>opportunities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30" dirty="0"/>
              <a:t>Cloud</a:t>
            </a:r>
            <a:r>
              <a:rPr spc="15" dirty="0"/>
              <a:t> </a:t>
            </a:r>
            <a:r>
              <a:rPr spc="-30" dirty="0"/>
              <a:t>Computing</a:t>
            </a:r>
            <a:r>
              <a:rPr spc="1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994" y="761263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Capital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5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savings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25677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organitzation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basis,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reducing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upfront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software.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362024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Improved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patient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1526451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build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predictive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prescriptive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models,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improving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patient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making.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702175" cy="5080"/>
            </a:xfrm>
            <a:custGeom>
              <a:avLst/>
              <a:gdLst/>
              <a:ahLst/>
              <a:cxnLst/>
              <a:rect l="l" t="t" r="r" b="b"/>
              <a:pathLst>
                <a:path w="4702175" h="5080">
                  <a:moveTo>
                    <a:pt x="0" y="5060"/>
                  </a:moveTo>
                  <a:lnTo>
                    <a:pt x="0" y="0"/>
                  </a:lnTo>
                  <a:lnTo>
                    <a:pt x="4702120" y="0"/>
                  </a:lnTo>
                  <a:lnTo>
                    <a:pt x="47021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10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35" dirty="0"/>
              <a:t>opportunities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30" dirty="0"/>
              <a:t>Cloud</a:t>
            </a:r>
            <a:r>
              <a:rPr spc="15" dirty="0"/>
              <a:t> </a:t>
            </a:r>
            <a:r>
              <a:rPr spc="-30" dirty="0"/>
              <a:t>Computing</a:t>
            </a:r>
            <a:r>
              <a:rPr spc="1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994" y="761263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Capital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5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savings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25677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organitzation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basis,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reducing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upfront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software.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362024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Improved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patient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1526451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build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predictive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prescriptive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models,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improving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patient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making.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1964042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coordination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stakeholders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994" y="2128469"/>
            <a:ext cx="5039995" cy="17970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Patients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easily.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4702175" cy="5080"/>
            </a:xfrm>
            <a:custGeom>
              <a:avLst/>
              <a:gdLst/>
              <a:ahLst/>
              <a:cxnLst/>
              <a:rect l="l" t="t" r="r" b="b"/>
              <a:pathLst>
                <a:path w="4702175" h="5080">
                  <a:moveTo>
                    <a:pt x="0" y="5060"/>
                  </a:moveTo>
                  <a:lnTo>
                    <a:pt x="0" y="0"/>
                  </a:lnTo>
                  <a:lnTo>
                    <a:pt x="4702120" y="0"/>
                  </a:lnTo>
                  <a:lnTo>
                    <a:pt x="47021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Which</a:t>
            </a:r>
            <a:r>
              <a:rPr spc="10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35" dirty="0"/>
              <a:t>opportunities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30" dirty="0"/>
              <a:t>Cloud</a:t>
            </a:r>
            <a:r>
              <a:rPr spc="15" dirty="0"/>
              <a:t> </a:t>
            </a:r>
            <a:r>
              <a:rPr spc="-30" dirty="0"/>
              <a:t>Computing</a:t>
            </a:r>
            <a:r>
              <a:rPr spc="1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994" y="761263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Capital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5" dirty="0">
                <a:solidFill>
                  <a:srgbClr val="22373A"/>
                </a:solidFill>
                <a:latin typeface="Arial"/>
                <a:cs typeface="Arial"/>
              </a:rPr>
              <a:t>expenses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savings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925677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254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2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organitzation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rent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as-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you-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basis,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reducing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upfront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investments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expensive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software.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994" y="1362024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Improved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patient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994" y="1526451"/>
            <a:ext cx="5039995" cy="339090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build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predictive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prescriptive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models,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improving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patient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decision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making.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994" y="1964042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50"/>
              </a:lnSpc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sz="9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coordination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among</a:t>
            </a:r>
            <a:r>
              <a:rPr sz="9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stakeholders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994" y="2128469"/>
            <a:ext cx="5039995" cy="179705"/>
          </a:xfrm>
          <a:prstGeom prst="rect">
            <a:avLst/>
          </a:prstGeom>
          <a:solidFill>
            <a:srgbClr val="E4E6E6"/>
          </a:solidFill>
        </p:spPr>
        <p:txBody>
          <a:bodyPr vert="horz" wrap="square" lIns="0" tIns="3810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3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Patients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easily.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028" y="2430457"/>
            <a:ext cx="38030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opportunities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sector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22373A"/>
                </a:solidFill>
                <a:latin typeface="Arial"/>
                <a:cs typeface="Arial"/>
              </a:rPr>
              <a:t>discussed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i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Ali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et</a:t>
            </a:r>
            <a:r>
              <a:rPr sz="900" i="1" spc="3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al.</a:t>
            </a:r>
            <a:r>
              <a:rPr sz="900" i="1" spc="12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2018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702175" cy="5080"/>
            </a:xfrm>
            <a:custGeom>
              <a:avLst/>
              <a:gdLst/>
              <a:ahLst/>
              <a:cxnLst/>
              <a:rect l="l" t="t" r="r" b="b"/>
              <a:pathLst>
                <a:path w="4702175" h="5080">
                  <a:moveTo>
                    <a:pt x="0" y="5060"/>
                  </a:moveTo>
                  <a:lnTo>
                    <a:pt x="0" y="0"/>
                  </a:lnTo>
                  <a:lnTo>
                    <a:pt x="4702120" y="0"/>
                  </a:lnTo>
                  <a:lnTo>
                    <a:pt x="47021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134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Use</a:t>
            </a:r>
            <a:r>
              <a:rPr spc="-35" dirty="0"/>
              <a:t> </a:t>
            </a:r>
            <a:r>
              <a:rPr spc="-65" dirty="0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711241"/>
            <a:ext cx="488886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BLAST.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compare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known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genetic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mutations.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819650" cy="5080"/>
            </a:xfrm>
            <a:custGeom>
              <a:avLst/>
              <a:gdLst/>
              <a:ahLst/>
              <a:cxnLst/>
              <a:rect l="l" t="t" r="r" b="b"/>
              <a:pathLst>
                <a:path w="4819650" h="5080">
                  <a:moveTo>
                    <a:pt x="0" y="5060"/>
                  </a:moveTo>
                  <a:lnTo>
                    <a:pt x="0" y="0"/>
                  </a:lnTo>
                  <a:lnTo>
                    <a:pt x="4819632" y="0"/>
                  </a:lnTo>
                  <a:lnTo>
                    <a:pt x="48196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134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Use</a:t>
            </a:r>
            <a:r>
              <a:rPr spc="-35" dirty="0"/>
              <a:t> </a:t>
            </a:r>
            <a:r>
              <a:rPr spc="-65" dirty="0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711241"/>
            <a:ext cx="4888865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BLAST.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compare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known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genetic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mutations.</a:t>
            </a:r>
            <a:endParaRPr sz="900">
              <a:latin typeface="Arial"/>
              <a:cs typeface="Arial"/>
            </a:endParaRPr>
          </a:p>
          <a:p>
            <a:pPr marL="160020" marR="37465" indent="-147955" algn="just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Genomic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Platform (GCP)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genomic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BigQuery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genomic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819650" cy="5080"/>
            </a:xfrm>
            <a:custGeom>
              <a:avLst/>
              <a:gdLst/>
              <a:ahLst/>
              <a:cxnLst/>
              <a:rect l="l" t="t" r="r" b="b"/>
              <a:pathLst>
                <a:path w="4819650" h="5080">
                  <a:moveTo>
                    <a:pt x="0" y="5060"/>
                  </a:moveTo>
                  <a:lnTo>
                    <a:pt x="0" y="0"/>
                  </a:lnTo>
                  <a:lnTo>
                    <a:pt x="4819632" y="0"/>
                  </a:lnTo>
                  <a:lnTo>
                    <a:pt x="48196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134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Use</a:t>
            </a:r>
            <a:r>
              <a:rPr spc="-35" dirty="0"/>
              <a:t> </a:t>
            </a:r>
            <a:r>
              <a:rPr spc="-65" dirty="0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711241"/>
            <a:ext cx="488886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BLAST.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compare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known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genetic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mutations.</a:t>
            </a:r>
            <a:endParaRPr sz="900">
              <a:latin typeface="Arial"/>
              <a:cs typeface="Arial"/>
            </a:endParaRPr>
          </a:p>
          <a:p>
            <a:pPr marL="160020" marR="37465" indent="-147955" algn="just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Genomic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Platform (GCP)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genomic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BigQuery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genomic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60020" marR="16510" indent="-147955" algn="just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Microsoft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that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applications.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capabilities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video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calling,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chat,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SMS,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consult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patients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remotely.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819650" cy="5080"/>
            </a:xfrm>
            <a:custGeom>
              <a:avLst/>
              <a:gdLst/>
              <a:ahLst/>
              <a:cxnLst/>
              <a:rect l="l" t="t" r="r" b="b"/>
              <a:pathLst>
                <a:path w="4819650" h="5080">
                  <a:moveTo>
                    <a:pt x="0" y="5060"/>
                  </a:moveTo>
                  <a:lnTo>
                    <a:pt x="0" y="0"/>
                  </a:lnTo>
                  <a:lnTo>
                    <a:pt x="4819632" y="0"/>
                  </a:lnTo>
                  <a:lnTo>
                    <a:pt x="48196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134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Use</a:t>
            </a:r>
            <a:r>
              <a:rPr spc="-35" dirty="0"/>
              <a:t> </a:t>
            </a:r>
            <a:r>
              <a:rPr spc="-65" dirty="0"/>
              <a:t>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711241"/>
            <a:ext cx="4968875" cy="193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8509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b="1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Amazon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sequence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BLAST.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compare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DNA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known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sequences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genetic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mutations.</a:t>
            </a:r>
            <a:endParaRPr sz="900">
              <a:latin typeface="Arial"/>
              <a:cs typeface="Arial"/>
            </a:endParaRPr>
          </a:p>
          <a:p>
            <a:pPr marL="160020" marR="117475" indent="-147955" algn="just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30" dirty="0">
                <a:solidFill>
                  <a:srgbClr val="22373A"/>
                </a:solidFill>
                <a:latin typeface="Arial"/>
                <a:cs typeface="Arial"/>
              </a:rPr>
              <a:t>Genomic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Platform (GCP)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for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storing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genomic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Google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Storage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BigQuery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genomic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60020" marR="96520" indent="-147955" algn="just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Microsoft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Azure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that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applications.</a:t>
            </a:r>
            <a:r>
              <a:rPr sz="900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capabilities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video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calling,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chat,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SMS,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enabling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consult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patients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remotely.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Monitoring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IBM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Watson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solutions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monitoring.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0" dirty="0">
                <a:solidFill>
                  <a:srgbClr val="22373A"/>
                </a:solidFill>
                <a:latin typeface="Arial"/>
                <a:cs typeface="Arial"/>
              </a:rPr>
              <a:t>uses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AI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various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sources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electronic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records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wearable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devices,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providing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professionals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insights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improve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819650" cy="5080"/>
            </a:xfrm>
            <a:custGeom>
              <a:avLst/>
              <a:gdLst/>
              <a:ahLst/>
              <a:cxnLst/>
              <a:rect l="l" t="t" r="r" b="b"/>
              <a:pathLst>
                <a:path w="4819650" h="5080">
                  <a:moveTo>
                    <a:pt x="0" y="5060"/>
                  </a:moveTo>
                  <a:lnTo>
                    <a:pt x="0" y="0"/>
                  </a:lnTo>
                  <a:lnTo>
                    <a:pt x="4819632" y="0"/>
                  </a:lnTo>
                  <a:lnTo>
                    <a:pt x="48196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Challenges</a:t>
            </a:r>
            <a:r>
              <a:rPr spc="30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spc="-10" dirty="0"/>
              <a:t>Health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230"/>
            <a:ext cx="495427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Privacy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obligated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adhere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stringent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regulations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standards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safeguard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LOPD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Spain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HIPAA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United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States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mandate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protection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guarantees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digital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rights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937760" cy="5080"/>
            </a:xfrm>
            <a:custGeom>
              <a:avLst/>
              <a:gdLst/>
              <a:ahLst/>
              <a:cxnLst/>
              <a:rect l="l" t="t" r="r" b="b"/>
              <a:pathLst>
                <a:path w="4937760" h="5080">
                  <a:moveTo>
                    <a:pt x="0" y="5060"/>
                  </a:moveTo>
                  <a:lnTo>
                    <a:pt x="0" y="0"/>
                  </a:lnTo>
                  <a:lnTo>
                    <a:pt x="4937231" y="0"/>
                  </a:lnTo>
                  <a:lnTo>
                    <a:pt x="49372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Challenges</a:t>
            </a:r>
            <a:r>
              <a:rPr spc="30" dirty="0"/>
              <a:t> </a:t>
            </a:r>
            <a:r>
              <a:rPr dirty="0"/>
              <a:t>in</a:t>
            </a:r>
            <a:r>
              <a:rPr spc="30" dirty="0"/>
              <a:t> </a:t>
            </a:r>
            <a:r>
              <a:rPr spc="-10" dirty="0"/>
              <a:t>Health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950230"/>
            <a:ext cx="498602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368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Privacy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obligated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adhere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 stringent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regulations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standards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safeguard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LOPD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Spain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HIPAA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United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States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mandate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protection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guarantees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digital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rights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Font typeface="Arial"/>
              <a:buChar char="•"/>
              <a:tabLst>
                <a:tab pos="160020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required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diverse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sources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deliver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comprehensive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care.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crucial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transforming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isolated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units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unified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system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knowledge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action.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However,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achieving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seamless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significant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challenge.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integration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Electronic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Records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(EHRs)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telemedicine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platforms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provides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clinicians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comprehensive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patient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consultations,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complex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937760" cy="5080"/>
            </a:xfrm>
            <a:custGeom>
              <a:avLst/>
              <a:gdLst/>
              <a:ahLst/>
              <a:cxnLst/>
              <a:rect l="l" t="t" r="r" b="b"/>
              <a:pathLst>
                <a:path w="4937760" h="5080">
                  <a:moveTo>
                    <a:pt x="0" y="5060"/>
                  </a:moveTo>
                  <a:lnTo>
                    <a:pt x="0" y="0"/>
                  </a:lnTo>
                  <a:lnTo>
                    <a:pt x="4937231" y="0"/>
                  </a:lnTo>
                  <a:lnTo>
                    <a:pt x="49372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Is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10" dirty="0"/>
              <a:t> </a:t>
            </a:r>
            <a:r>
              <a:rPr spc="-35" dirty="0"/>
              <a:t>computing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future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30854"/>
            <a:ext cx="50882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No,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future of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 is 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present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 is an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essential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part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future.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055235" cy="5080"/>
            </a:xfrm>
            <a:custGeom>
              <a:avLst/>
              <a:gdLst/>
              <a:ahLst/>
              <a:cxnLst/>
              <a:rect l="l" t="t" r="r" b="b"/>
              <a:pathLst>
                <a:path w="5055235" h="5080">
                  <a:moveTo>
                    <a:pt x="0" y="5060"/>
                  </a:moveTo>
                  <a:lnTo>
                    <a:pt x="0" y="0"/>
                  </a:lnTo>
                  <a:lnTo>
                    <a:pt x="5054742" y="0"/>
                  </a:lnTo>
                  <a:lnTo>
                    <a:pt x="50547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Is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10" dirty="0"/>
              <a:t> </a:t>
            </a:r>
            <a:r>
              <a:rPr spc="-35" dirty="0"/>
              <a:t>computing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future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630854"/>
            <a:ext cx="5208270" cy="43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No,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future of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 is 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present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 is an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essential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part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future.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2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Continuum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055235" cy="5080"/>
            </a:xfrm>
            <a:custGeom>
              <a:avLst/>
              <a:gdLst/>
              <a:ahLst/>
              <a:cxnLst/>
              <a:rect l="l" t="t" r="r" b="b"/>
              <a:pathLst>
                <a:path w="5055235" h="5080">
                  <a:moveTo>
                    <a:pt x="0" y="5060"/>
                  </a:moveTo>
                  <a:lnTo>
                    <a:pt x="0" y="0"/>
                  </a:lnTo>
                  <a:lnTo>
                    <a:pt x="5054742" y="0"/>
                  </a:lnTo>
                  <a:lnTo>
                    <a:pt x="50547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Is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10" dirty="0"/>
              <a:t> </a:t>
            </a:r>
            <a:r>
              <a:rPr spc="-35" dirty="0"/>
              <a:t>computing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future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95"/>
              </a:spcBef>
            </a:pPr>
            <a:r>
              <a:rPr dirty="0"/>
              <a:t>No, </a:t>
            </a:r>
            <a:r>
              <a:rPr spc="-10" dirty="0"/>
              <a:t>cloud</a:t>
            </a:r>
            <a:r>
              <a:rPr dirty="0"/>
              <a:t> </a:t>
            </a:r>
            <a:r>
              <a:rPr spc="-10" dirty="0"/>
              <a:t>computing</a:t>
            </a:r>
            <a:r>
              <a:rPr dirty="0"/>
              <a:t> is not</a:t>
            </a:r>
            <a:r>
              <a:rPr spc="5" dirty="0"/>
              <a:t> </a:t>
            </a:r>
            <a:r>
              <a:rPr dirty="0"/>
              <a:t>the future of </a:t>
            </a:r>
            <a:r>
              <a:rPr spc="-10" dirty="0"/>
              <a:t>health,</a:t>
            </a:r>
            <a:r>
              <a:rPr spc="5" dirty="0"/>
              <a:t> </a:t>
            </a:r>
            <a:r>
              <a:rPr dirty="0"/>
              <a:t>it is the </a:t>
            </a:r>
            <a:r>
              <a:rPr spc="-35" dirty="0"/>
              <a:t>present</a:t>
            </a:r>
            <a:r>
              <a:rPr spc="-5" dirty="0"/>
              <a:t> </a:t>
            </a:r>
            <a:r>
              <a:rPr spc="-10" dirty="0"/>
              <a:t>and</a:t>
            </a:r>
            <a:r>
              <a:rPr dirty="0"/>
              <a:t> it is an </a:t>
            </a:r>
            <a:r>
              <a:rPr spc="-35" dirty="0"/>
              <a:t>essential</a:t>
            </a:r>
            <a:r>
              <a:rPr dirty="0"/>
              <a:t> part</a:t>
            </a:r>
            <a:r>
              <a:rPr spc="-5" dirty="0"/>
              <a:t> </a:t>
            </a:r>
            <a:r>
              <a:rPr dirty="0"/>
              <a:t>of the </a:t>
            </a:r>
            <a:r>
              <a:rPr spc="-10" dirty="0"/>
              <a:t>future.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spc="-25" dirty="0">
                <a:latin typeface="Arial"/>
                <a:cs typeface="Arial"/>
              </a:rPr>
              <a:t>Cloud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Computing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pc="-2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b="1" spc="-10" dirty="0">
                <a:latin typeface="Arial"/>
                <a:cs typeface="Arial"/>
              </a:rPr>
              <a:t>Continuum</a:t>
            </a:r>
          </a:p>
          <a:p>
            <a:pPr marL="240029" marR="2840990" indent="-147955">
              <a:lnSpc>
                <a:spcPct val="116199"/>
              </a:lnSpc>
              <a:spcBef>
                <a:spcPts val="675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Arial"/>
                <a:cs typeface="Arial"/>
              </a:rPr>
              <a:t>IoT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devices</a:t>
            </a:r>
            <a:r>
              <a:rPr spc="-40" dirty="0"/>
              <a:t>:</a:t>
            </a:r>
            <a:r>
              <a:rPr spc="120" dirty="0"/>
              <a:t> </a:t>
            </a:r>
            <a:r>
              <a:rPr spc="-55" dirty="0"/>
              <a:t>Sensors,</a:t>
            </a:r>
            <a:r>
              <a:rPr spc="30" dirty="0"/>
              <a:t> </a:t>
            </a:r>
            <a:r>
              <a:rPr spc="-45" dirty="0"/>
              <a:t>wearables,</a:t>
            </a:r>
            <a:r>
              <a:rPr spc="30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spc="-10" dirty="0"/>
              <a:t>other </a:t>
            </a:r>
            <a:r>
              <a:rPr spc="-45" dirty="0"/>
              <a:t>devices</a:t>
            </a:r>
            <a:r>
              <a:rPr spc="15" dirty="0"/>
              <a:t> </a:t>
            </a:r>
            <a:r>
              <a:rPr dirty="0"/>
              <a:t>that</a:t>
            </a:r>
            <a:r>
              <a:rPr spc="20" dirty="0"/>
              <a:t> </a:t>
            </a:r>
            <a:r>
              <a:rPr dirty="0"/>
              <a:t>collect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transmit</a:t>
            </a:r>
            <a:r>
              <a:rPr spc="20" dirty="0"/>
              <a:t> </a:t>
            </a:r>
            <a:r>
              <a:rPr spc="-10" dirty="0"/>
              <a:t>data.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055235" cy="5080"/>
            </a:xfrm>
            <a:custGeom>
              <a:avLst/>
              <a:gdLst/>
              <a:ahLst/>
              <a:cxnLst/>
              <a:rect l="l" t="t" r="r" b="b"/>
              <a:pathLst>
                <a:path w="5055235" h="5080">
                  <a:moveTo>
                    <a:pt x="0" y="5060"/>
                  </a:moveTo>
                  <a:lnTo>
                    <a:pt x="0" y="0"/>
                  </a:lnTo>
                  <a:lnTo>
                    <a:pt x="5054742" y="0"/>
                  </a:lnTo>
                  <a:lnTo>
                    <a:pt x="50547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Is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10" dirty="0"/>
              <a:t> </a:t>
            </a:r>
            <a:r>
              <a:rPr spc="-35" dirty="0"/>
              <a:t>computing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future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95"/>
              </a:spcBef>
            </a:pPr>
            <a:r>
              <a:rPr dirty="0"/>
              <a:t>No, </a:t>
            </a:r>
            <a:r>
              <a:rPr spc="-10" dirty="0"/>
              <a:t>cloud</a:t>
            </a:r>
            <a:r>
              <a:rPr dirty="0"/>
              <a:t> </a:t>
            </a:r>
            <a:r>
              <a:rPr spc="-10" dirty="0"/>
              <a:t>computing</a:t>
            </a:r>
            <a:r>
              <a:rPr dirty="0"/>
              <a:t> is not</a:t>
            </a:r>
            <a:r>
              <a:rPr spc="5" dirty="0"/>
              <a:t> </a:t>
            </a:r>
            <a:r>
              <a:rPr dirty="0"/>
              <a:t>the future of </a:t>
            </a:r>
            <a:r>
              <a:rPr spc="-10" dirty="0"/>
              <a:t>health,</a:t>
            </a:r>
            <a:r>
              <a:rPr spc="5" dirty="0"/>
              <a:t> </a:t>
            </a:r>
            <a:r>
              <a:rPr dirty="0"/>
              <a:t>it is the </a:t>
            </a:r>
            <a:r>
              <a:rPr spc="-35" dirty="0"/>
              <a:t>present</a:t>
            </a:r>
            <a:r>
              <a:rPr spc="-5" dirty="0"/>
              <a:t> </a:t>
            </a:r>
            <a:r>
              <a:rPr spc="-10" dirty="0"/>
              <a:t>and</a:t>
            </a:r>
            <a:r>
              <a:rPr dirty="0"/>
              <a:t> it is an </a:t>
            </a:r>
            <a:r>
              <a:rPr spc="-35" dirty="0"/>
              <a:t>essential</a:t>
            </a:r>
            <a:r>
              <a:rPr dirty="0"/>
              <a:t> part</a:t>
            </a:r>
            <a:r>
              <a:rPr spc="-5" dirty="0"/>
              <a:t> </a:t>
            </a:r>
            <a:r>
              <a:rPr dirty="0"/>
              <a:t>of the </a:t>
            </a:r>
            <a:r>
              <a:rPr spc="-10" dirty="0"/>
              <a:t>future.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spc="-25" dirty="0">
                <a:latin typeface="Arial"/>
                <a:cs typeface="Arial"/>
              </a:rPr>
              <a:t>Cloud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Computing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pc="-2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b="1" spc="-10" dirty="0">
                <a:latin typeface="Arial"/>
                <a:cs typeface="Arial"/>
              </a:rPr>
              <a:t>Continuum</a:t>
            </a:r>
          </a:p>
          <a:p>
            <a:pPr marL="240029" marR="2840990" indent="-147955">
              <a:lnSpc>
                <a:spcPct val="116199"/>
              </a:lnSpc>
              <a:spcBef>
                <a:spcPts val="675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Arial"/>
                <a:cs typeface="Arial"/>
              </a:rPr>
              <a:t>IoT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devices</a:t>
            </a:r>
            <a:r>
              <a:rPr spc="-40" dirty="0"/>
              <a:t>:</a:t>
            </a:r>
            <a:r>
              <a:rPr spc="120" dirty="0"/>
              <a:t> </a:t>
            </a:r>
            <a:r>
              <a:rPr spc="-55" dirty="0"/>
              <a:t>Sensors,</a:t>
            </a:r>
            <a:r>
              <a:rPr spc="30" dirty="0"/>
              <a:t> </a:t>
            </a:r>
            <a:r>
              <a:rPr spc="-45" dirty="0"/>
              <a:t>wearables,</a:t>
            </a:r>
            <a:r>
              <a:rPr spc="30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spc="-10" dirty="0"/>
              <a:t>other </a:t>
            </a:r>
            <a:r>
              <a:rPr spc="-45" dirty="0"/>
              <a:t>devices</a:t>
            </a:r>
            <a:r>
              <a:rPr spc="15" dirty="0"/>
              <a:t> </a:t>
            </a:r>
            <a:r>
              <a:rPr dirty="0"/>
              <a:t>that</a:t>
            </a:r>
            <a:r>
              <a:rPr spc="20" dirty="0"/>
              <a:t> </a:t>
            </a:r>
            <a:r>
              <a:rPr dirty="0"/>
              <a:t>collect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transmit</a:t>
            </a:r>
            <a:r>
              <a:rPr spc="20" dirty="0"/>
              <a:t> </a:t>
            </a:r>
            <a:r>
              <a:rPr spc="-10" dirty="0"/>
              <a:t>data.</a:t>
            </a:r>
          </a:p>
          <a:p>
            <a:pPr marL="240029" marR="2667635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Arial"/>
                <a:cs typeface="Arial"/>
              </a:rPr>
              <a:t>Mobile </a:t>
            </a:r>
            <a:r>
              <a:rPr b="1" spc="-40" dirty="0">
                <a:latin typeface="Arial"/>
                <a:cs typeface="Arial"/>
              </a:rPr>
              <a:t>devices</a:t>
            </a:r>
            <a:r>
              <a:rPr spc="-40" dirty="0"/>
              <a:t>:</a:t>
            </a:r>
            <a:r>
              <a:rPr spc="75" dirty="0"/>
              <a:t> </a:t>
            </a:r>
            <a:r>
              <a:rPr spc="-35" dirty="0"/>
              <a:t>Smartphones</a:t>
            </a:r>
            <a:r>
              <a:rPr spc="-15" dirty="0"/>
              <a:t> </a:t>
            </a:r>
            <a:r>
              <a:rPr spc="-10" dirty="0"/>
              <a:t>and</a:t>
            </a:r>
            <a:r>
              <a:rPr spc="-20" dirty="0"/>
              <a:t> </a:t>
            </a:r>
            <a:r>
              <a:rPr spc="-10" dirty="0"/>
              <a:t>tablets</a:t>
            </a:r>
            <a:r>
              <a:rPr spc="-15" dirty="0"/>
              <a:t> </a:t>
            </a:r>
            <a:r>
              <a:rPr spc="-20" dirty="0"/>
              <a:t>that </a:t>
            </a:r>
            <a:r>
              <a:rPr spc="-10" dirty="0"/>
              <a:t>can</a:t>
            </a:r>
            <a:r>
              <a:rPr spc="5" dirty="0"/>
              <a:t> </a:t>
            </a:r>
            <a:r>
              <a:rPr dirty="0"/>
              <a:t>be</a:t>
            </a:r>
            <a:r>
              <a:rPr spc="10" dirty="0"/>
              <a:t> </a:t>
            </a:r>
            <a:r>
              <a:rPr spc="-55" dirty="0"/>
              <a:t>used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75" dirty="0"/>
              <a:t>access</a:t>
            </a:r>
            <a:r>
              <a:rPr spc="1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55" dirty="0"/>
              <a:t>share</a:t>
            </a:r>
            <a:r>
              <a:rPr spc="10" dirty="0"/>
              <a:t> </a:t>
            </a:r>
            <a:r>
              <a:rPr spc="-10" dirty="0"/>
              <a:t>data.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055235" cy="5080"/>
            </a:xfrm>
            <a:custGeom>
              <a:avLst/>
              <a:gdLst/>
              <a:ahLst/>
              <a:cxnLst/>
              <a:rect l="l" t="t" r="r" b="b"/>
              <a:pathLst>
                <a:path w="5055235" h="5080">
                  <a:moveTo>
                    <a:pt x="0" y="5060"/>
                  </a:moveTo>
                  <a:lnTo>
                    <a:pt x="0" y="0"/>
                  </a:lnTo>
                  <a:lnTo>
                    <a:pt x="5054742" y="0"/>
                  </a:lnTo>
                  <a:lnTo>
                    <a:pt x="50547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Is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10" dirty="0"/>
              <a:t> </a:t>
            </a:r>
            <a:r>
              <a:rPr spc="-35" dirty="0"/>
              <a:t>computing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future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95"/>
              </a:spcBef>
            </a:pPr>
            <a:r>
              <a:rPr dirty="0"/>
              <a:t>No, </a:t>
            </a:r>
            <a:r>
              <a:rPr spc="-10" dirty="0"/>
              <a:t>cloud</a:t>
            </a:r>
            <a:r>
              <a:rPr dirty="0"/>
              <a:t> </a:t>
            </a:r>
            <a:r>
              <a:rPr spc="-10" dirty="0"/>
              <a:t>computing</a:t>
            </a:r>
            <a:r>
              <a:rPr dirty="0"/>
              <a:t> is not</a:t>
            </a:r>
            <a:r>
              <a:rPr spc="5" dirty="0"/>
              <a:t> </a:t>
            </a:r>
            <a:r>
              <a:rPr dirty="0"/>
              <a:t>the future of </a:t>
            </a:r>
            <a:r>
              <a:rPr spc="-10" dirty="0"/>
              <a:t>health,</a:t>
            </a:r>
            <a:r>
              <a:rPr spc="5" dirty="0"/>
              <a:t> </a:t>
            </a:r>
            <a:r>
              <a:rPr dirty="0"/>
              <a:t>it is the </a:t>
            </a:r>
            <a:r>
              <a:rPr spc="-35" dirty="0"/>
              <a:t>present</a:t>
            </a:r>
            <a:r>
              <a:rPr spc="-5" dirty="0"/>
              <a:t> </a:t>
            </a:r>
            <a:r>
              <a:rPr spc="-10" dirty="0"/>
              <a:t>and</a:t>
            </a:r>
            <a:r>
              <a:rPr dirty="0"/>
              <a:t> it is an </a:t>
            </a:r>
            <a:r>
              <a:rPr spc="-35" dirty="0"/>
              <a:t>essential</a:t>
            </a:r>
            <a:r>
              <a:rPr dirty="0"/>
              <a:t> part</a:t>
            </a:r>
            <a:r>
              <a:rPr spc="-5" dirty="0"/>
              <a:t> </a:t>
            </a:r>
            <a:r>
              <a:rPr dirty="0"/>
              <a:t>of the </a:t>
            </a:r>
            <a:r>
              <a:rPr spc="-10" dirty="0"/>
              <a:t>future.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spc="-25" dirty="0">
                <a:latin typeface="Arial"/>
                <a:cs typeface="Arial"/>
              </a:rPr>
              <a:t>Cloud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Computing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pc="-2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b="1" spc="-10" dirty="0">
                <a:latin typeface="Arial"/>
                <a:cs typeface="Arial"/>
              </a:rPr>
              <a:t>Continuum</a:t>
            </a:r>
          </a:p>
          <a:p>
            <a:pPr marL="240029" marR="2840990" indent="-147955">
              <a:lnSpc>
                <a:spcPct val="116199"/>
              </a:lnSpc>
              <a:spcBef>
                <a:spcPts val="675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Arial"/>
                <a:cs typeface="Arial"/>
              </a:rPr>
              <a:t>IoT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devices</a:t>
            </a:r>
            <a:r>
              <a:rPr spc="-40" dirty="0"/>
              <a:t>:</a:t>
            </a:r>
            <a:r>
              <a:rPr spc="120" dirty="0"/>
              <a:t> </a:t>
            </a:r>
            <a:r>
              <a:rPr spc="-55" dirty="0"/>
              <a:t>Sensors,</a:t>
            </a:r>
            <a:r>
              <a:rPr spc="30" dirty="0"/>
              <a:t> </a:t>
            </a:r>
            <a:r>
              <a:rPr spc="-45" dirty="0"/>
              <a:t>wearables,</a:t>
            </a:r>
            <a:r>
              <a:rPr spc="30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spc="-10" dirty="0"/>
              <a:t>other </a:t>
            </a:r>
            <a:r>
              <a:rPr spc="-45" dirty="0"/>
              <a:t>devices</a:t>
            </a:r>
            <a:r>
              <a:rPr spc="15" dirty="0"/>
              <a:t> </a:t>
            </a:r>
            <a:r>
              <a:rPr dirty="0"/>
              <a:t>that</a:t>
            </a:r>
            <a:r>
              <a:rPr spc="20" dirty="0"/>
              <a:t> </a:t>
            </a:r>
            <a:r>
              <a:rPr dirty="0"/>
              <a:t>collect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transmit</a:t>
            </a:r>
            <a:r>
              <a:rPr spc="20" dirty="0"/>
              <a:t> </a:t>
            </a:r>
            <a:r>
              <a:rPr spc="-10" dirty="0"/>
              <a:t>data.</a:t>
            </a:r>
          </a:p>
          <a:p>
            <a:pPr marL="240029" marR="2667635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Arial"/>
                <a:cs typeface="Arial"/>
              </a:rPr>
              <a:t>Mobile </a:t>
            </a:r>
            <a:r>
              <a:rPr b="1" spc="-40" dirty="0">
                <a:latin typeface="Arial"/>
                <a:cs typeface="Arial"/>
              </a:rPr>
              <a:t>devices</a:t>
            </a:r>
            <a:r>
              <a:rPr spc="-40" dirty="0"/>
              <a:t>:</a:t>
            </a:r>
            <a:r>
              <a:rPr spc="75" dirty="0"/>
              <a:t> </a:t>
            </a:r>
            <a:r>
              <a:rPr spc="-35" dirty="0"/>
              <a:t>Smartphones</a:t>
            </a:r>
            <a:r>
              <a:rPr spc="-15" dirty="0"/>
              <a:t> </a:t>
            </a:r>
            <a:r>
              <a:rPr spc="-10" dirty="0"/>
              <a:t>and</a:t>
            </a:r>
            <a:r>
              <a:rPr spc="-20" dirty="0"/>
              <a:t> </a:t>
            </a:r>
            <a:r>
              <a:rPr spc="-10" dirty="0"/>
              <a:t>tablets</a:t>
            </a:r>
            <a:r>
              <a:rPr spc="-15" dirty="0"/>
              <a:t> </a:t>
            </a:r>
            <a:r>
              <a:rPr spc="-20" dirty="0"/>
              <a:t>that </a:t>
            </a:r>
            <a:r>
              <a:rPr spc="-10" dirty="0"/>
              <a:t>can</a:t>
            </a:r>
            <a:r>
              <a:rPr spc="5" dirty="0"/>
              <a:t> </a:t>
            </a:r>
            <a:r>
              <a:rPr dirty="0"/>
              <a:t>be</a:t>
            </a:r>
            <a:r>
              <a:rPr spc="10" dirty="0"/>
              <a:t> </a:t>
            </a:r>
            <a:r>
              <a:rPr spc="-55" dirty="0"/>
              <a:t>used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75" dirty="0"/>
              <a:t>access</a:t>
            </a:r>
            <a:r>
              <a:rPr spc="1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55" dirty="0"/>
              <a:t>share</a:t>
            </a:r>
            <a:r>
              <a:rPr spc="10" dirty="0"/>
              <a:t> </a:t>
            </a:r>
            <a:r>
              <a:rPr spc="-10" dirty="0"/>
              <a:t>data.</a:t>
            </a:r>
          </a:p>
          <a:p>
            <a:pPr marL="240029" marR="2766695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b="1" spc="-25" dirty="0">
                <a:latin typeface="Arial"/>
                <a:cs typeface="Arial"/>
              </a:rPr>
              <a:t>Edge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computing</a:t>
            </a:r>
            <a:r>
              <a:rPr spc="-25" dirty="0"/>
              <a:t>:</a:t>
            </a:r>
            <a:r>
              <a:rPr spc="75" dirty="0"/>
              <a:t> </a:t>
            </a:r>
            <a:r>
              <a:rPr spc="-10" dirty="0"/>
              <a:t>Facilitates</a:t>
            </a:r>
            <a:r>
              <a:rPr spc="-5" dirty="0"/>
              <a:t> </a:t>
            </a:r>
            <a:r>
              <a:rPr spc="-20" dirty="0"/>
              <a:t>real-</a:t>
            </a:r>
            <a:r>
              <a:rPr dirty="0"/>
              <a:t>time</a:t>
            </a:r>
            <a:r>
              <a:rPr spc="-5" dirty="0"/>
              <a:t> </a:t>
            </a:r>
            <a:r>
              <a:rPr spc="-20" dirty="0"/>
              <a:t>data </a:t>
            </a:r>
            <a:r>
              <a:rPr spc="-45" dirty="0"/>
              <a:t>processing</a:t>
            </a:r>
            <a:r>
              <a:rPr spc="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35" dirty="0"/>
              <a:t>analysis</a:t>
            </a:r>
            <a:r>
              <a:rPr spc="20" dirty="0"/>
              <a:t> </a:t>
            </a:r>
            <a:r>
              <a:rPr dirty="0"/>
              <a:t>at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40" dirty="0"/>
              <a:t>source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20" dirty="0"/>
              <a:t>data </a:t>
            </a:r>
            <a:r>
              <a:rPr spc="-10" dirty="0"/>
              <a:t>generation.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055235" cy="5080"/>
            </a:xfrm>
            <a:custGeom>
              <a:avLst/>
              <a:gdLst/>
              <a:ahLst/>
              <a:cxnLst/>
              <a:rect l="l" t="t" r="r" b="b"/>
              <a:pathLst>
                <a:path w="5055235" h="5080">
                  <a:moveTo>
                    <a:pt x="0" y="5060"/>
                  </a:moveTo>
                  <a:lnTo>
                    <a:pt x="0" y="0"/>
                  </a:lnTo>
                  <a:lnTo>
                    <a:pt x="5054742" y="0"/>
                  </a:lnTo>
                  <a:lnTo>
                    <a:pt x="50547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Is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10" dirty="0"/>
              <a:t> </a:t>
            </a:r>
            <a:r>
              <a:rPr spc="-35" dirty="0"/>
              <a:t>computing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future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95"/>
              </a:spcBef>
            </a:pPr>
            <a:r>
              <a:rPr dirty="0"/>
              <a:t>No, </a:t>
            </a:r>
            <a:r>
              <a:rPr spc="-10" dirty="0"/>
              <a:t>cloud</a:t>
            </a:r>
            <a:r>
              <a:rPr dirty="0"/>
              <a:t> </a:t>
            </a:r>
            <a:r>
              <a:rPr spc="-10" dirty="0"/>
              <a:t>computing</a:t>
            </a:r>
            <a:r>
              <a:rPr dirty="0"/>
              <a:t> is not</a:t>
            </a:r>
            <a:r>
              <a:rPr spc="5" dirty="0"/>
              <a:t> </a:t>
            </a:r>
            <a:r>
              <a:rPr dirty="0"/>
              <a:t>the future of </a:t>
            </a:r>
            <a:r>
              <a:rPr spc="-10" dirty="0"/>
              <a:t>health,</a:t>
            </a:r>
            <a:r>
              <a:rPr spc="5" dirty="0"/>
              <a:t> </a:t>
            </a:r>
            <a:r>
              <a:rPr dirty="0"/>
              <a:t>it is the </a:t>
            </a:r>
            <a:r>
              <a:rPr spc="-35" dirty="0"/>
              <a:t>present</a:t>
            </a:r>
            <a:r>
              <a:rPr spc="-5" dirty="0"/>
              <a:t> </a:t>
            </a:r>
            <a:r>
              <a:rPr spc="-10" dirty="0"/>
              <a:t>and</a:t>
            </a:r>
            <a:r>
              <a:rPr dirty="0"/>
              <a:t> it is an </a:t>
            </a:r>
            <a:r>
              <a:rPr spc="-35" dirty="0"/>
              <a:t>essential</a:t>
            </a:r>
            <a:r>
              <a:rPr dirty="0"/>
              <a:t> part</a:t>
            </a:r>
            <a:r>
              <a:rPr spc="-5" dirty="0"/>
              <a:t> </a:t>
            </a:r>
            <a:r>
              <a:rPr dirty="0"/>
              <a:t>of the </a:t>
            </a:r>
            <a:r>
              <a:rPr spc="-10" dirty="0"/>
              <a:t>future.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b="1" spc="-25" dirty="0">
                <a:latin typeface="Arial"/>
                <a:cs typeface="Arial"/>
              </a:rPr>
              <a:t>Cloud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Computing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pc="-2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b="1" spc="-10" dirty="0">
                <a:latin typeface="Arial"/>
                <a:cs typeface="Arial"/>
              </a:rPr>
              <a:t>Continuum</a:t>
            </a:r>
          </a:p>
          <a:p>
            <a:pPr marL="240029" marR="2840990" indent="-147955">
              <a:lnSpc>
                <a:spcPct val="116199"/>
              </a:lnSpc>
              <a:spcBef>
                <a:spcPts val="675"/>
              </a:spcBef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Arial"/>
                <a:cs typeface="Arial"/>
              </a:rPr>
              <a:t>IoT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devices</a:t>
            </a:r>
            <a:r>
              <a:rPr spc="-40" dirty="0"/>
              <a:t>:</a:t>
            </a:r>
            <a:r>
              <a:rPr spc="120" dirty="0"/>
              <a:t> </a:t>
            </a:r>
            <a:r>
              <a:rPr spc="-55" dirty="0"/>
              <a:t>Sensors,</a:t>
            </a:r>
            <a:r>
              <a:rPr spc="30" dirty="0"/>
              <a:t> </a:t>
            </a:r>
            <a:r>
              <a:rPr spc="-45" dirty="0"/>
              <a:t>wearables,</a:t>
            </a:r>
            <a:r>
              <a:rPr spc="30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spc="-10" dirty="0"/>
              <a:t>other </a:t>
            </a:r>
            <a:r>
              <a:rPr spc="-45" dirty="0"/>
              <a:t>devices</a:t>
            </a:r>
            <a:r>
              <a:rPr spc="15" dirty="0"/>
              <a:t> </a:t>
            </a:r>
            <a:r>
              <a:rPr dirty="0"/>
              <a:t>that</a:t>
            </a:r>
            <a:r>
              <a:rPr spc="20" dirty="0"/>
              <a:t> </a:t>
            </a:r>
            <a:r>
              <a:rPr dirty="0"/>
              <a:t>collect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transmit</a:t>
            </a:r>
            <a:r>
              <a:rPr spc="20" dirty="0"/>
              <a:t> </a:t>
            </a:r>
            <a:r>
              <a:rPr spc="-10" dirty="0"/>
              <a:t>data.</a:t>
            </a:r>
          </a:p>
          <a:p>
            <a:pPr marL="240029" marR="2667635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b="1" dirty="0">
                <a:latin typeface="Arial"/>
                <a:cs typeface="Arial"/>
              </a:rPr>
              <a:t>Mobile </a:t>
            </a:r>
            <a:r>
              <a:rPr b="1" spc="-40" dirty="0">
                <a:latin typeface="Arial"/>
                <a:cs typeface="Arial"/>
              </a:rPr>
              <a:t>devices</a:t>
            </a:r>
            <a:r>
              <a:rPr spc="-40" dirty="0"/>
              <a:t>:</a:t>
            </a:r>
            <a:r>
              <a:rPr spc="75" dirty="0"/>
              <a:t> </a:t>
            </a:r>
            <a:r>
              <a:rPr spc="-35" dirty="0"/>
              <a:t>Smartphones</a:t>
            </a:r>
            <a:r>
              <a:rPr spc="-15" dirty="0"/>
              <a:t> </a:t>
            </a:r>
            <a:r>
              <a:rPr spc="-10" dirty="0"/>
              <a:t>and</a:t>
            </a:r>
            <a:r>
              <a:rPr spc="-20" dirty="0"/>
              <a:t> </a:t>
            </a:r>
            <a:r>
              <a:rPr spc="-10" dirty="0"/>
              <a:t>tablets</a:t>
            </a:r>
            <a:r>
              <a:rPr spc="-15" dirty="0"/>
              <a:t> </a:t>
            </a:r>
            <a:r>
              <a:rPr spc="-20" dirty="0"/>
              <a:t>that </a:t>
            </a:r>
            <a:r>
              <a:rPr spc="-10" dirty="0"/>
              <a:t>can</a:t>
            </a:r>
            <a:r>
              <a:rPr spc="5" dirty="0"/>
              <a:t> </a:t>
            </a:r>
            <a:r>
              <a:rPr dirty="0"/>
              <a:t>be</a:t>
            </a:r>
            <a:r>
              <a:rPr spc="10" dirty="0"/>
              <a:t> </a:t>
            </a:r>
            <a:r>
              <a:rPr spc="-55" dirty="0"/>
              <a:t>used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spc="-75" dirty="0"/>
              <a:t>access</a:t>
            </a:r>
            <a:r>
              <a:rPr spc="1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55" dirty="0"/>
              <a:t>share</a:t>
            </a:r>
            <a:r>
              <a:rPr spc="10" dirty="0"/>
              <a:t> </a:t>
            </a:r>
            <a:r>
              <a:rPr spc="-10" dirty="0"/>
              <a:t>data.</a:t>
            </a:r>
          </a:p>
          <a:p>
            <a:pPr marL="240029" marR="2766695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b="1" spc="-25" dirty="0">
                <a:latin typeface="Arial"/>
                <a:cs typeface="Arial"/>
              </a:rPr>
              <a:t>Edge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computing</a:t>
            </a:r>
            <a:r>
              <a:rPr spc="-25" dirty="0"/>
              <a:t>:</a:t>
            </a:r>
            <a:r>
              <a:rPr spc="75" dirty="0"/>
              <a:t> </a:t>
            </a:r>
            <a:r>
              <a:rPr spc="-10" dirty="0"/>
              <a:t>Facilitates</a:t>
            </a:r>
            <a:r>
              <a:rPr spc="-5" dirty="0"/>
              <a:t> </a:t>
            </a:r>
            <a:r>
              <a:rPr spc="-20" dirty="0"/>
              <a:t>real-</a:t>
            </a:r>
            <a:r>
              <a:rPr dirty="0"/>
              <a:t>time</a:t>
            </a:r>
            <a:r>
              <a:rPr spc="-5" dirty="0"/>
              <a:t> </a:t>
            </a:r>
            <a:r>
              <a:rPr spc="-20" dirty="0"/>
              <a:t>data </a:t>
            </a:r>
            <a:r>
              <a:rPr spc="-45" dirty="0"/>
              <a:t>processing</a:t>
            </a:r>
            <a:r>
              <a:rPr spc="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35" dirty="0"/>
              <a:t>analysis</a:t>
            </a:r>
            <a:r>
              <a:rPr spc="20" dirty="0"/>
              <a:t> </a:t>
            </a:r>
            <a:r>
              <a:rPr dirty="0"/>
              <a:t>at</a:t>
            </a:r>
            <a:r>
              <a:rPr spc="2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40" dirty="0"/>
              <a:t>source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20" dirty="0"/>
              <a:t>data </a:t>
            </a:r>
            <a:r>
              <a:rPr spc="-10" dirty="0"/>
              <a:t>generation.</a:t>
            </a:r>
          </a:p>
          <a:p>
            <a:pPr marL="240029" marR="2720340" indent="-147955" algn="just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b="1" spc="-10" dirty="0">
                <a:latin typeface="Arial"/>
                <a:cs typeface="Arial"/>
              </a:rPr>
              <a:t>Fog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computing</a:t>
            </a:r>
            <a:r>
              <a:rPr spc="-20" dirty="0"/>
              <a:t>:</a:t>
            </a:r>
            <a:r>
              <a:rPr spc="50" dirty="0"/>
              <a:t> </a:t>
            </a:r>
            <a:r>
              <a:rPr spc="-25" dirty="0"/>
              <a:t>Extends</a:t>
            </a:r>
            <a:r>
              <a:rPr spc="-30" dirty="0"/>
              <a:t> </a:t>
            </a:r>
            <a:r>
              <a:rPr dirty="0"/>
              <a:t>cloud</a:t>
            </a:r>
            <a:r>
              <a:rPr spc="-25" dirty="0"/>
              <a:t> </a:t>
            </a:r>
            <a:r>
              <a:rPr spc="-10" dirty="0"/>
              <a:t>computing</a:t>
            </a:r>
            <a:r>
              <a:rPr spc="-25" dirty="0"/>
              <a:t> to </a:t>
            </a:r>
            <a:r>
              <a:rPr dirty="0"/>
              <a:t>the</a:t>
            </a:r>
            <a:r>
              <a:rPr spc="25" dirty="0"/>
              <a:t> </a:t>
            </a:r>
            <a:r>
              <a:rPr spc="-55" dirty="0"/>
              <a:t>edge</a:t>
            </a:r>
            <a:r>
              <a:rPr spc="2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20" dirty="0"/>
              <a:t>network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20" dirty="0"/>
              <a:t>improve</a:t>
            </a:r>
            <a:r>
              <a:rPr spc="25" dirty="0"/>
              <a:t> </a:t>
            </a:r>
            <a:r>
              <a:rPr spc="-45" dirty="0"/>
              <a:t>eﬀiciency </a:t>
            </a:r>
            <a:r>
              <a:rPr dirty="0"/>
              <a:t>and</a:t>
            </a:r>
            <a:r>
              <a:rPr spc="-35" dirty="0"/>
              <a:t> reduce</a:t>
            </a:r>
            <a:r>
              <a:rPr spc="-25" dirty="0"/>
              <a:t> </a:t>
            </a:r>
            <a:r>
              <a:rPr spc="-10" dirty="0"/>
              <a:t>latency.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055235" cy="5080"/>
            </a:xfrm>
            <a:custGeom>
              <a:avLst/>
              <a:gdLst/>
              <a:ahLst/>
              <a:cxnLst/>
              <a:rect l="l" t="t" r="r" b="b"/>
              <a:pathLst>
                <a:path w="5055235" h="5080">
                  <a:moveTo>
                    <a:pt x="0" y="5060"/>
                  </a:moveTo>
                  <a:lnTo>
                    <a:pt x="0" y="0"/>
                  </a:lnTo>
                  <a:lnTo>
                    <a:pt x="5054742" y="0"/>
                  </a:lnTo>
                  <a:lnTo>
                    <a:pt x="50547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Is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10" dirty="0"/>
              <a:t> </a:t>
            </a:r>
            <a:r>
              <a:rPr spc="-35" dirty="0"/>
              <a:t>computing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future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30854"/>
            <a:ext cx="50882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No,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future of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 is 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present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 is an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essential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part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future.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04" y="897497"/>
            <a:ext cx="2545715" cy="1844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2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Continuum</a:t>
            </a:r>
            <a:endParaRPr sz="900">
              <a:latin typeface="Arial"/>
              <a:cs typeface="Arial"/>
            </a:endParaRPr>
          </a:p>
          <a:p>
            <a:pPr marL="240029" marR="178435" indent="-147955">
              <a:lnSpc>
                <a:spcPct val="116199"/>
              </a:lnSpc>
              <a:spcBef>
                <a:spcPts val="675"/>
              </a:spcBef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IoT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Sensors,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wearables,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other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collect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transmit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Mobile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Smartphones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tablets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240029" marR="103505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Edge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Facilitates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source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generation.</a:t>
            </a:r>
            <a:endParaRPr sz="900">
              <a:latin typeface="Arial"/>
              <a:cs typeface="Arial"/>
            </a:endParaRPr>
          </a:p>
          <a:p>
            <a:pPr marL="240029" marR="57785" indent="-147955" algn="just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Fog</a:t>
            </a:r>
            <a:r>
              <a:rPr sz="900" b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Extends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edge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improve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eﬀiciency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reduce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latency.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7294" y="897497"/>
            <a:ext cx="77343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1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Quality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055235" cy="5080"/>
            </a:xfrm>
            <a:custGeom>
              <a:avLst/>
              <a:gdLst/>
              <a:ahLst/>
              <a:cxnLst/>
              <a:rect l="l" t="t" r="r" b="b"/>
              <a:pathLst>
                <a:path w="5055235" h="5080">
                  <a:moveTo>
                    <a:pt x="0" y="5060"/>
                  </a:moveTo>
                  <a:lnTo>
                    <a:pt x="0" y="0"/>
                  </a:lnTo>
                  <a:lnTo>
                    <a:pt x="5054742" y="0"/>
                  </a:lnTo>
                  <a:lnTo>
                    <a:pt x="50547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Is</a:t>
            </a:r>
            <a:r>
              <a:rPr spc="10" dirty="0"/>
              <a:t> </a:t>
            </a:r>
            <a:r>
              <a:rPr spc="-35" dirty="0"/>
              <a:t>cloud</a:t>
            </a:r>
            <a:r>
              <a:rPr spc="10" dirty="0"/>
              <a:t> </a:t>
            </a:r>
            <a:r>
              <a:rPr spc="-35" dirty="0"/>
              <a:t>computing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future</a:t>
            </a:r>
            <a:r>
              <a:rPr spc="1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-10" dirty="0"/>
              <a:t>Health?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30854"/>
            <a:ext cx="50882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No,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is not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 future of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health,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 is the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present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it is an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essential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part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 the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future.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04" y="897497"/>
            <a:ext cx="2545715" cy="1844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2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Continuum</a:t>
            </a:r>
            <a:endParaRPr sz="900">
              <a:latin typeface="Arial"/>
              <a:cs typeface="Arial"/>
            </a:endParaRPr>
          </a:p>
          <a:p>
            <a:pPr marL="240029" marR="178435" indent="-147955">
              <a:lnSpc>
                <a:spcPct val="116199"/>
              </a:lnSpc>
              <a:spcBef>
                <a:spcPts val="675"/>
              </a:spcBef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IoT</a:t>
            </a:r>
            <a:r>
              <a:rPr sz="9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Sensors,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wearables,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other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collect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transmit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Mobile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Smartphones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tablets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240029" marR="103505" indent="-147955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Edge</a:t>
            </a:r>
            <a:r>
              <a:rPr sz="9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Facilitates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analysis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source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generation.</a:t>
            </a:r>
            <a:endParaRPr sz="900">
              <a:latin typeface="Arial"/>
              <a:cs typeface="Arial"/>
            </a:endParaRPr>
          </a:p>
          <a:p>
            <a:pPr marL="240029" marR="57785" indent="-147955" algn="just">
              <a:lnSpc>
                <a:spcPct val="116199"/>
              </a:lnSpc>
              <a:buFont typeface="Arial"/>
              <a:buChar char="•"/>
              <a:tabLst>
                <a:tab pos="240029" algn="l"/>
              </a:tabLst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Fog</a:t>
            </a:r>
            <a:r>
              <a:rPr sz="900" b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Extends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edge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improve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eﬀiciency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reduce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latency.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3318" y="897497"/>
            <a:ext cx="2531110" cy="15259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sz="9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315" dirty="0">
                <a:solidFill>
                  <a:srgbClr val="880B57"/>
                </a:solidFill>
                <a:latin typeface="Apple Symbols"/>
                <a:cs typeface="Apple Symbols"/>
              </a:rPr>
              <a:t>⇒</a:t>
            </a:r>
            <a:r>
              <a:rPr sz="900" spc="-10" dirty="0">
                <a:solidFill>
                  <a:srgbClr val="880B57"/>
                </a:solidFill>
                <a:latin typeface="Apple Symbols"/>
                <a:cs typeface="Apple Symbols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Quality</a:t>
            </a:r>
            <a:endParaRPr sz="90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75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 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growing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demand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high-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quality 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in healthcare.</a:t>
            </a:r>
            <a:r>
              <a:rPr sz="900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 computing 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help healthcare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organizations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volumes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improve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care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outcomes.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quantity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about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22373A"/>
                </a:solidFill>
                <a:latin typeface="Arial"/>
                <a:cs typeface="Arial"/>
              </a:rPr>
              <a:t>quality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1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Artificial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Intelligence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help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identify patterns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trends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real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time.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055235" cy="5080"/>
            </a:xfrm>
            <a:custGeom>
              <a:avLst/>
              <a:gdLst/>
              <a:ahLst/>
              <a:cxnLst/>
              <a:rect l="l" t="t" r="r" b="b"/>
              <a:pathLst>
                <a:path w="5055235" h="5080">
                  <a:moveTo>
                    <a:pt x="0" y="5060"/>
                  </a:moveTo>
                  <a:lnTo>
                    <a:pt x="0" y="0"/>
                  </a:lnTo>
                  <a:lnTo>
                    <a:pt x="5054742" y="0"/>
                  </a:lnTo>
                  <a:lnTo>
                    <a:pt x="50547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706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Conclusion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2199005" cy="5080"/>
            </a:xfrm>
            <a:custGeom>
              <a:avLst/>
              <a:gdLst/>
              <a:ahLst/>
              <a:cxnLst/>
              <a:rect l="l" t="t" r="r" b="b"/>
              <a:pathLst>
                <a:path w="2199004" h="5080">
                  <a:moveTo>
                    <a:pt x="0" y="5060"/>
                  </a:moveTo>
                  <a:lnTo>
                    <a:pt x="0" y="0"/>
                  </a:lnTo>
                  <a:lnTo>
                    <a:pt x="2198466" y="0"/>
                  </a:lnTo>
                  <a:lnTo>
                    <a:pt x="21984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Recap:</a:t>
            </a:r>
            <a:r>
              <a:rPr spc="110" dirty="0"/>
              <a:t> </a:t>
            </a:r>
            <a:r>
              <a:rPr spc="-30" dirty="0"/>
              <a:t>Cloud</a:t>
            </a:r>
            <a:r>
              <a:rPr spc="15" dirty="0"/>
              <a:t> </a:t>
            </a:r>
            <a:r>
              <a:rPr spc="-30" dirty="0"/>
              <a:t>Computing</a:t>
            </a:r>
            <a:r>
              <a:rPr spc="15" dirty="0"/>
              <a:t> </a:t>
            </a:r>
            <a:r>
              <a:rPr spc="-40" dirty="0"/>
              <a:t>vs</a:t>
            </a:r>
            <a:r>
              <a:rPr spc="15" dirty="0"/>
              <a:t> </a:t>
            </a:r>
            <a:r>
              <a:rPr spc="-20" dirty="0"/>
              <a:t>Traditional</a:t>
            </a:r>
            <a:r>
              <a:rPr spc="10" dirty="0"/>
              <a:t> </a:t>
            </a:r>
            <a:r>
              <a:rPr spc="-20" dirty="0"/>
              <a:t>Computing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702406"/>
            <a:ext cx="2524125" cy="200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needed</a:t>
            </a:r>
            <a:endParaRPr sz="900">
              <a:latin typeface="Arial"/>
              <a:cs typeface="Arial"/>
            </a:endParaRPr>
          </a:p>
          <a:p>
            <a:pPr marL="240029" marR="401320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expertes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required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Disaster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recovery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Automated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updates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Teams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collaborate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locations</a:t>
            </a:r>
            <a:endParaRPr sz="900">
              <a:latin typeface="Arial"/>
              <a:cs typeface="Arial"/>
            </a:endParaRPr>
          </a:p>
          <a:p>
            <a:pPr marL="240029" marR="387985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accessed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shared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Rapid</a:t>
            </a:r>
            <a:r>
              <a:rPr sz="900" spc="-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7294" y="702406"/>
            <a:ext cx="2470785" cy="1522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Costly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less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scalable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Space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needed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servers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Hardware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team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maintenance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Less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flexibility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automated updates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Less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collaboration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Data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cannot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be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22373A"/>
                </a:solidFill>
                <a:latin typeface="Arial"/>
                <a:cs typeface="Arial"/>
              </a:rPr>
              <a:t>accessed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remotely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long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implementation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172710" cy="5080"/>
            </a:xfrm>
            <a:custGeom>
              <a:avLst/>
              <a:gdLst/>
              <a:ahLst/>
              <a:cxnLst/>
              <a:rect l="l" t="t" r="r" b="b"/>
              <a:pathLst>
                <a:path w="5172710" h="5080">
                  <a:moveTo>
                    <a:pt x="0" y="5060"/>
                  </a:moveTo>
                  <a:lnTo>
                    <a:pt x="0" y="0"/>
                  </a:lnTo>
                  <a:lnTo>
                    <a:pt x="5172341" y="0"/>
                  </a:lnTo>
                  <a:lnTo>
                    <a:pt x="51723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377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7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Tasks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2249805" cy="5080"/>
            </a:xfrm>
            <a:custGeom>
              <a:avLst/>
              <a:gdLst/>
              <a:ahLst/>
              <a:cxnLst/>
              <a:rect l="l" t="t" r="r" b="b"/>
              <a:pathLst>
                <a:path w="2249804" h="5080">
                  <a:moveTo>
                    <a:pt x="0" y="5060"/>
                  </a:moveTo>
                  <a:lnTo>
                    <a:pt x="0" y="0"/>
                  </a:lnTo>
                  <a:lnTo>
                    <a:pt x="2249614" y="0"/>
                  </a:lnTo>
                  <a:lnTo>
                    <a:pt x="224961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256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Homework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Creating</a:t>
            </a:r>
            <a:r>
              <a:rPr dirty="0"/>
              <a:t> </a:t>
            </a:r>
            <a:r>
              <a:rPr spc="-10" dirty="0"/>
              <a:t>our</a:t>
            </a:r>
            <a:r>
              <a:rPr spc="-5" dirty="0"/>
              <a:t> </a:t>
            </a:r>
            <a:r>
              <a:rPr spc="-30" dirty="0"/>
              <a:t>own</a:t>
            </a:r>
            <a:r>
              <a:rPr spc="-5" dirty="0"/>
              <a:t> </a:t>
            </a:r>
            <a:r>
              <a:rPr spc="-25" dirty="0"/>
              <a:t>website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251068"/>
            <a:ext cx="4032250" cy="515620"/>
            <a:chOff x="863993" y="1251068"/>
            <a:chExt cx="4032250" cy="515620"/>
          </a:xfrm>
        </p:grpSpPr>
        <p:sp>
          <p:nvSpPr>
            <p:cNvPr id="4" name="object 4"/>
            <p:cNvSpPr/>
            <p:nvPr/>
          </p:nvSpPr>
          <p:spPr>
            <a:xfrm>
              <a:off x="863993" y="1251068"/>
              <a:ext cx="4032250" cy="515620"/>
            </a:xfrm>
            <a:custGeom>
              <a:avLst/>
              <a:gdLst/>
              <a:ahLst/>
              <a:cxnLst/>
              <a:rect l="l" t="t" r="r" b="b"/>
              <a:pathLst>
                <a:path w="4032250" h="51561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1069"/>
                  </a:lnTo>
                  <a:lnTo>
                    <a:pt x="4243" y="482089"/>
                  </a:lnTo>
                  <a:lnTo>
                    <a:pt x="15816" y="499253"/>
                  </a:lnTo>
                  <a:lnTo>
                    <a:pt x="32980" y="510826"/>
                  </a:lnTo>
                  <a:lnTo>
                    <a:pt x="54000" y="515069"/>
                  </a:lnTo>
                  <a:lnTo>
                    <a:pt x="3978067" y="515069"/>
                  </a:lnTo>
                  <a:lnTo>
                    <a:pt x="3999086" y="510826"/>
                  </a:lnTo>
                  <a:lnTo>
                    <a:pt x="4016251" y="499253"/>
                  </a:lnTo>
                  <a:lnTo>
                    <a:pt x="4027823" y="482089"/>
                  </a:lnTo>
                  <a:lnTo>
                    <a:pt x="4032067" y="461069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269068"/>
              <a:ext cx="3996690" cy="479425"/>
            </a:xfrm>
            <a:custGeom>
              <a:avLst/>
              <a:gdLst/>
              <a:ahLst/>
              <a:cxnLst/>
              <a:rect l="l" t="t" r="r" b="b"/>
              <a:pathLst>
                <a:path w="3996690" h="47942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3069"/>
                  </a:lnTo>
                  <a:lnTo>
                    <a:pt x="2829" y="457082"/>
                  </a:lnTo>
                  <a:lnTo>
                    <a:pt x="10544" y="468525"/>
                  </a:lnTo>
                  <a:lnTo>
                    <a:pt x="21987" y="476240"/>
                  </a:lnTo>
                  <a:lnTo>
                    <a:pt x="36000" y="479070"/>
                  </a:lnTo>
                  <a:lnTo>
                    <a:pt x="3960067" y="479070"/>
                  </a:lnTo>
                  <a:lnTo>
                    <a:pt x="3974080" y="476240"/>
                  </a:lnTo>
                  <a:lnTo>
                    <a:pt x="3985523" y="468525"/>
                  </a:lnTo>
                  <a:lnTo>
                    <a:pt x="3993238" y="457082"/>
                  </a:lnTo>
                  <a:lnTo>
                    <a:pt x="3996067" y="443069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48029" y="1008730"/>
            <a:ext cx="3464560" cy="967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HandsOnLab01: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Deploying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Arial"/>
              <a:cs typeface="Arial"/>
            </a:endParaRPr>
          </a:p>
          <a:p>
            <a:pPr marL="467995" marR="437515" indent="59690">
              <a:lnSpc>
                <a:spcPct val="116199"/>
              </a:lnSpc>
            </a:pPr>
            <a:r>
              <a:rPr sz="900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goal</a:t>
            </a:r>
            <a:r>
              <a:rPr sz="900" dirty="0">
                <a:latin typeface="Arial"/>
                <a:cs typeface="Arial"/>
              </a:rPr>
              <a:t> of this </a:t>
            </a:r>
            <a:r>
              <a:rPr sz="900" spc="-45" dirty="0">
                <a:latin typeface="Arial"/>
                <a:cs typeface="Arial"/>
              </a:rPr>
              <a:t>hands-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lab is to </a:t>
            </a:r>
            <a:r>
              <a:rPr sz="900" spc="-50" dirty="0">
                <a:latin typeface="Arial"/>
                <a:cs typeface="Arial"/>
              </a:rPr>
              <a:t>show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you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how</a:t>
            </a:r>
            <a:r>
              <a:rPr sz="900" dirty="0">
                <a:latin typeface="Arial"/>
                <a:cs typeface="Arial"/>
              </a:rPr>
              <a:t> 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deploy</a:t>
            </a:r>
            <a:r>
              <a:rPr sz="900" dirty="0">
                <a:latin typeface="Arial"/>
                <a:cs typeface="Arial"/>
              </a:rPr>
              <a:t> a </a:t>
            </a:r>
            <a:r>
              <a:rPr sz="900" spc="-30" dirty="0">
                <a:latin typeface="Arial"/>
                <a:cs typeface="Arial"/>
              </a:rPr>
              <a:t>personal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website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using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cloud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computing.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hands-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follow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instructions: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HOL01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290185" cy="5080"/>
            </a:xfrm>
            <a:custGeom>
              <a:avLst/>
              <a:gdLst/>
              <a:ahLst/>
              <a:cxnLst/>
              <a:rect l="l" t="t" r="r" b="b"/>
              <a:pathLst>
                <a:path w="5290185" h="5080">
                  <a:moveTo>
                    <a:pt x="0" y="5060"/>
                  </a:moveTo>
                  <a:lnTo>
                    <a:pt x="0" y="0"/>
                  </a:lnTo>
                  <a:lnTo>
                    <a:pt x="5289853" y="0"/>
                  </a:lnTo>
                  <a:lnTo>
                    <a:pt x="5289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256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Homework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10" dirty="0"/>
              <a:t>Creating</a:t>
            </a:r>
            <a:r>
              <a:rPr dirty="0"/>
              <a:t> </a:t>
            </a:r>
            <a:r>
              <a:rPr spc="-10" dirty="0"/>
              <a:t>our</a:t>
            </a:r>
            <a:r>
              <a:rPr spc="-5" dirty="0"/>
              <a:t> </a:t>
            </a:r>
            <a:r>
              <a:rPr spc="-30" dirty="0"/>
              <a:t>own</a:t>
            </a:r>
            <a:r>
              <a:rPr spc="-5" dirty="0"/>
              <a:t> </a:t>
            </a:r>
            <a:r>
              <a:rPr spc="-25" dirty="0"/>
              <a:t>website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1251068"/>
            <a:ext cx="4032250" cy="515620"/>
            <a:chOff x="863993" y="1251068"/>
            <a:chExt cx="4032250" cy="515620"/>
          </a:xfrm>
        </p:grpSpPr>
        <p:sp>
          <p:nvSpPr>
            <p:cNvPr id="4" name="object 4"/>
            <p:cNvSpPr/>
            <p:nvPr/>
          </p:nvSpPr>
          <p:spPr>
            <a:xfrm>
              <a:off x="863993" y="1251068"/>
              <a:ext cx="4032250" cy="515620"/>
            </a:xfrm>
            <a:custGeom>
              <a:avLst/>
              <a:gdLst/>
              <a:ahLst/>
              <a:cxnLst/>
              <a:rect l="l" t="t" r="r" b="b"/>
              <a:pathLst>
                <a:path w="4032250" h="51561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1069"/>
                  </a:lnTo>
                  <a:lnTo>
                    <a:pt x="4243" y="482089"/>
                  </a:lnTo>
                  <a:lnTo>
                    <a:pt x="15816" y="499253"/>
                  </a:lnTo>
                  <a:lnTo>
                    <a:pt x="32980" y="510826"/>
                  </a:lnTo>
                  <a:lnTo>
                    <a:pt x="54000" y="515069"/>
                  </a:lnTo>
                  <a:lnTo>
                    <a:pt x="3978067" y="515069"/>
                  </a:lnTo>
                  <a:lnTo>
                    <a:pt x="3999086" y="510826"/>
                  </a:lnTo>
                  <a:lnTo>
                    <a:pt x="4016251" y="499253"/>
                  </a:lnTo>
                  <a:lnTo>
                    <a:pt x="4027823" y="482089"/>
                  </a:lnTo>
                  <a:lnTo>
                    <a:pt x="4032067" y="461069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1269068"/>
              <a:ext cx="3996690" cy="479425"/>
            </a:xfrm>
            <a:custGeom>
              <a:avLst/>
              <a:gdLst/>
              <a:ahLst/>
              <a:cxnLst/>
              <a:rect l="l" t="t" r="r" b="b"/>
              <a:pathLst>
                <a:path w="3996690" h="47942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3069"/>
                  </a:lnTo>
                  <a:lnTo>
                    <a:pt x="2829" y="457082"/>
                  </a:lnTo>
                  <a:lnTo>
                    <a:pt x="10544" y="468525"/>
                  </a:lnTo>
                  <a:lnTo>
                    <a:pt x="21987" y="476240"/>
                  </a:lnTo>
                  <a:lnTo>
                    <a:pt x="36000" y="479070"/>
                  </a:lnTo>
                  <a:lnTo>
                    <a:pt x="3960067" y="479070"/>
                  </a:lnTo>
                  <a:lnTo>
                    <a:pt x="3974080" y="476240"/>
                  </a:lnTo>
                  <a:lnTo>
                    <a:pt x="3985523" y="468525"/>
                  </a:lnTo>
                  <a:lnTo>
                    <a:pt x="3993238" y="457082"/>
                  </a:lnTo>
                  <a:lnTo>
                    <a:pt x="3996067" y="443069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38137" y="1008730"/>
            <a:ext cx="4883785" cy="1365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HandsOnLab01: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Deploying</a:t>
            </a:r>
            <a:r>
              <a:rPr sz="9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personal</a:t>
            </a:r>
            <a:r>
              <a:rPr sz="9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Arial"/>
              <a:cs typeface="Arial"/>
            </a:endParaRPr>
          </a:p>
          <a:p>
            <a:pPr marL="1177925" marR="1147445" indent="59690">
              <a:lnSpc>
                <a:spcPct val="116199"/>
              </a:lnSpc>
            </a:pPr>
            <a:r>
              <a:rPr sz="900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goal</a:t>
            </a:r>
            <a:r>
              <a:rPr sz="900" dirty="0">
                <a:latin typeface="Arial"/>
                <a:cs typeface="Arial"/>
              </a:rPr>
              <a:t> of this </a:t>
            </a:r>
            <a:r>
              <a:rPr sz="900" spc="-45" dirty="0">
                <a:latin typeface="Arial"/>
                <a:cs typeface="Arial"/>
              </a:rPr>
              <a:t>hands-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lab is to </a:t>
            </a:r>
            <a:r>
              <a:rPr sz="900" spc="-50" dirty="0">
                <a:latin typeface="Arial"/>
                <a:cs typeface="Arial"/>
              </a:rPr>
              <a:t>show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you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how</a:t>
            </a:r>
            <a:r>
              <a:rPr sz="900" dirty="0">
                <a:latin typeface="Arial"/>
                <a:cs typeface="Arial"/>
              </a:rPr>
              <a:t> 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deploy</a:t>
            </a:r>
            <a:r>
              <a:rPr sz="900" dirty="0">
                <a:latin typeface="Arial"/>
                <a:cs typeface="Arial"/>
              </a:rPr>
              <a:t> a </a:t>
            </a:r>
            <a:r>
              <a:rPr sz="900" spc="-30" dirty="0">
                <a:latin typeface="Arial"/>
                <a:cs typeface="Arial"/>
              </a:rPr>
              <a:t>personal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website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using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cloud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computing.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hands-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lab,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follow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instructions:</a:t>
            </a:r>
            <a:r>
              <a:rPr sz="900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HOL01</a:t>
            </a:r>
            <a:endParaRPr sz="900">
              <a:latin typeface="Arial"/>
              <a:cs typeface="Arial"/>
            </a:endParaRPr>
          </a:p>
          <a:p>
            <a:pPr marL="12700" marR="5080" algn="ctr">
              <a:lnSpc>
                <a:spcPct val="116199"/>
              </a:lnSpc>
              <a:spcBef>
                <a:spcPts val="630"/>
              </a:spcBef>
            </a:pP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22373A"/>
                </a:solidFill>
                <a:latin typeface="Arial"/>
                <a:cs typeface="Arial"/>
              </a:rPr>
              <a:t>Fundamentals</a:t>
            </a:r>
            <a:r>
              <a:rPr sz="9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Quiz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900" spc="10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quiz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understanding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fundamental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concepts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computing.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Quiz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290185" cy="5080"/>
            </a:xfrm>
            <a:custGeom>
              <a:avLst/>
              <a:gdLst/>
              <a:ahLst/>
              <a:cxnLst/>
              <a:rect l="l" t="t" r="r" b="b"/>
              <a:pathLst>
                <a:path w="5290185" h="5080">
                  <a:moveTo>
                    <a:pt x="0" y="5060"/>
                  </a:moveTo>
                  <a:lnTo>
                    <a:pt x="0" y="0"/>
                  </a:lnTo>
                  <a:lnTo>
                    <a:pt x="5289853" y="0"/>
                  </a:lnTo>
                  <a:lnTo>
                    <a:pt x="52898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975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GitHub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PaaS,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or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SaaS?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591" y="351405"/>
            <a:ext cx="4822818" cy="25490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56955" y="3034422"/>
            <a:ext cx="20466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7:</a:t>
            </a:r>
            <a:r>
              <a:rPr sz="800" b="1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407660" cy="5080"/>
            </a:xfrm>
            <a:custGeom>
              <a:avLst/>
              <a:gdLst/>
              <a:ahLst/>
              <a:cxnLst/>
              <a:rect l="l" t="t" r="r" b="b"/>
              <a:pathLst>
                <a:path w="5407660" h="5080">
                  <a:moveTo>
                    <a:pt x="0" y="5060"/>
                  </a:moveTo>
                  <a:lnTo>
                    <a:pt x="0" y="0"/>
                  </a:lnTo>
                  <a:lnTo>
                    <a:pt x="5407452" y="0"/>
                  </a:lnTo>
                  <a:lnTo>
                    <a:pt x="54074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5A398-761A-4D49-5150-85E3349E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8AC829-39C2-2FFC-4C4B-0F31A7987C00}"/>
              </a:ext>
            </a:extLst>
          </p:cNvPr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22EF035-65B1-D1E2-AF6B-7ECAAABCE989}"/>
              </a:ext>
            </a:extLst>
          </p:cNvPr>
          <p:cNvSpPr txBox="1"/>
          <p:nvPr/>
        </p:nvSpPr>
        <p:spPr>
          <a:xfrm>
            <a:off x="98526" y="59834"/>
            <a:ext cx="19754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sz="1000" b="1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GitHub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PaaS,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IaaS,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or</a:t>
            </a:r>
            <a:r>
              <a:rPr sz="1000" b="1" spc="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9F9F9"/>
                </a:solidFill>
                <a:latin typeface="Arial"/>
                <a:cs typeface="Arial"/>
              </a:rPr>
              <a:t>SaaS?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F382641-F320-4449-B2AD-DF8B8C19D53A}"/>
              </a:ext>
            </a:extLst>
          </p:cNvPr>
          <p:cNvSpPr txBox="1"/>
          <p:nvPr/>
        </p:nvSpPr>
        <p:spPr>
          <a:xfrm>
            <a:off x="1856955" y="3034422"/>
            <a:ext cx="20466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7:</a:t>
            </a:r>
            <a:r>
              <a:rPr sz="800" b="1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8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"/>
                <a:cs typeface="Arial"/>
              </a:rPr>
              <a:t>offers</a:t>
            </a:r>
            <a:endParaRPr sz="800" dirty="0">
              <a:latin typeface="Arial"/>
              <a:cs typeface="Arial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6565D21B-35AA-74AC-4A04-202A733FA96C}"/>
              </a:ext>
            </a:extLst>
          </p:cNvPr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A5346E8-4513-46CD-E6C5-0D80CC9E40F0}"/>
                </a:ext>
              </a:extLst>
            </p:cNvPr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8A10B5A-4D50-8666-23BA-0EC12B316EF7}"/>
                </a:ext>
              </a:extLst>
            </p:cNvPr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E272168-11FA-9A9C-6039-0C81995A3940}"/>
                </a:ext>
              </a:extLst>
            </p:cNvPr>
            <p:cNvSpPr/>
            <p:nvPr/>
          </p:nvSpPr>
          <p:spPr>
            <a:xfrm>
              <a:off x="0" y="3234963"/>
              <a:ext cx="5407660" cy="5080"/>
            </a:xfrm>
            <a:custGeom>
              <a:avLst/>
              <a:gdLst/>
              <a:ahLst/>
              <a:cxnLst/>
              <a:rect l="l" t="t" r="r" b="b"/>
              <a:pathLst>
                <a:path w="5407660" h="5080">
                  <a:moveTo>
                    <a:pt x="0" y="5060"/>
                  </a:moveTo>
                  <a:lnTo>
                    <a:pt x="0" y="0"/>
                  </a:lnTo>
                  <a:lnTo>
                    <a:pt x="5407452" y="0"/>
                  </a:lnTo>
                  <a:lnTo>
                    <a:pt x="54074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23218821"/>
      </p:ext>
    </p:extLst>
  </p:cSld>
  <p:clrMapOvr>
    <a:masterClrMapping/>
  </p:clrMapOvr>
  <p:transition>
    <p:cut/>
  </p:transition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2542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9F9F9"/>
                </a:solidFill>
                <a:latin typeface="Arial"/>
                <a:cs typeface="Arial"/>
              </a:rPr>
              <a:t>does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it</a:t>
            </a:r>
            <a:r>
              <a:rPr sz="1000" b="1" spc="5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9F9F9"/>
                </a:solidFill>
                <a:latin typeface="Arial"/>
                <a:cs typeface="Arial"/>
              </a:rPr>
              <a:t>mean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sz="1000" b="1" spc="5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9F9F9"/>
                </a:solidFill>
                <a:latin typeface="Arial"/>
                <a:cs typeface="Arial"/>
              </a:rPr>
              <a:t>host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sz="1000" b="1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F9F9F9"/>
                </a:solidFill>
                <a:latin typeface="Arial"/>
                <a:cs typeface="Arial"/>
              </a:rPr>
              <a:t>website?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70" y="351409"/>
            <a:ext cx="5039866" cy="23610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94738" y="2846398"/>
            <a:ext cx="25711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sz="800" b="1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22373A"/>
                </a:solidFill>
                <a:latin typeface="Arial"/>
                <a:cs typeface="Arial"/>
              </a:rPr>
              <a:t>8:</a:t>
            </a:r>
            <a:r>
              <a:rPr sz="800" b="1" spc="1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30" dirty="0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sz="8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800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"/>
                <a:cs typeface="Arial"/>
              </a:rPr>
              <a:t>website?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525135" cy="5080"/>
            </a:xfrm>
            <a:custGeom>
              <a:avLst/>
              <a:gdLst/>
              <a:ahLst/>
              <a:cxnLst/>
              <a:rect l="l" t="t" r="r" b="b"/>
              <a:pathLst>
                <a:path w="5525135" h="5080">
                  <a:moveTo>
                    <a:pt x="0" y="5060"/>
                  </a:moveTo>
                  <a:lnTo>
                    <a:pt x="0" y="0"/>
                  </a:lnTo>
                  <a:lnTo>
                    <a:pt x="5524963" y="0"/>
                  </a:lnTo>
                  <a:lnTo>
                    <a:pt x="55249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6648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Let’s</a:t>
            </a:r>
            <a:r>
              <a:rPr spc="-35" dirty="0"/>
              <a:t> recap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912248"/>
            <a:ext cx="2463800" cy="1579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sz="9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repository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sz="900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serve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endParaRPr sz="900">
              <a:latin typeface="Arial"/>
              <a:cs typeface="Arial"/>
            </a:endParaRPr>
          </a:p>
          <a:p>
            <a:pPr marL="12700" marR="305435">
              <a:lnSpc>
                <a:spcPct val="116199"/>
              </a:lnSpc>
              <a:spcBef>
                <a:spcPts val="450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Result?</a:t>
            </a:r>
            <a:r>
              <a:rPr sz="900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my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while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7294" y="912248"/>
            <a:ext cx="2398395" cy="1101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900" b="1" spc="7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22373A"/>
                </a:solidFill>
                <a:latin typeface="Arial"/>
                <a:cs typeface="Arial"/>
              </a:rPr>
              <a:t>GitHub</a:t>
            </a:r>
            <a:r>
              <a:rPr sz="9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2373A"/>
                </a:solidFill>
                <a:latin typeface="Arial"/>
                <a:cs typeface="Arial"/>
              </a:rPr>
              <a:t>Pages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Fork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repository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Tweak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settings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Commit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changes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Result?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free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45" dirty="0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sz="9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642610" cy="5080"/>
            </a:xfrm>
            <a:custGeom>
              <a:avLst/>
              <a:gdLst/>
              <a:ahLst/>
              <a:cxnLst/>
              <a:rect l="l" t="t" r="r" b="b"/>
              <a:pathLst>
                <a:path w="5642610" h="5080">
                  <a:moveTo>
                    <a:pt x="0" y="5060"/>
                  </a:moveTo>
                  <a:lnTo>
                    <a:pt x="0" y="0"/>
                  </a:lnTo>
                  <a:lnTo>
                    <a:pt x="5642474" y="0"/>
                  </a:lnTo>
                  <a:lnTo>
                    <a:pt x="564247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164796"/>
            <a:ext cx="5051425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 indent="-170815" algn="just">
              <a:lnSpc>
                <a:spcPct val="1161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Ali,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Omar,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Anup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Shrestha,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Jeffrey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Soar,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Samuel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22373A"/>
                </a:solidFill>
                <a:latin typeface="Arial"/>
                <a:cs typeface="Arial"/>
              </a:rPr>
              <a:t>Fosso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 Wamba.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2018.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“Cloud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"/>
                <a:cs typeface="Arial"/>
              </a:rPr>
              <a:t>Computing-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Enabled </a:t>
            </a:r>
            <a:r>
              <a:rPr sz="900" spc="-25" dirty="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Opportunities,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Arial"/>
                <a:cs typeface="Arial"/>
              </a:rPr>
              <a:t>Issues,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Applications: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Systematic</a:t>
            </a:r>
            <a:r>
              <a:rPr sz="9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Review.”</a:t>
            </a:r>
            <a:r>
              <a:rPr sz="900" spc="6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International</a:t>
            </a:r>
            <a:r>
              <a:rPr sz="900" i="1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Journal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Information </a:t>
            </a:r>
            <a:r>
              <a:rPr sz="900" i="1" spc="-25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43:</a:t>
            </a:r>
            <a:r>
              <a:rPr sz="900" spc="8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146–58.</a:t>
            </a:r>
            <a:endParaRPr sz="9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550"/>
              </a:spcBef>
            </a:pP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Mell,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Peter,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Tim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2373A"/>
                </a:solidFill>
                <a:latin typeface="Arial"/>
                <a:cs typeface="Arial"/>
              </a:rPr>
              <a:t>Grance,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et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al.</a:t>
            </a:r>
            <a:r>
              <a:rPr sz="900" spc="1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2011.</a:t>
            </a:r>
            <a:r>
              <a:rPr sz="900" spc="1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“The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NIST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Definition</a:t>
            </a:r>
            <a:r>
              <a:rPr sz="900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Computing.”</a:t>
            </a:r>
            <a:endParaRPr sz="900">
              <a:latin typeface="Arial"/>
              <a:cs typeface="Arial"/>
            </a:endParaRPr>
          </a:p>
          <a:p>
            <a:pPr marL="182880" marR="88900" indent="-170815" algn="just">
              <a:lnSpc>
                <a:spcPct val="116199"/>
              </a:lnSpc>
              <a:spcBef>
                <a:spcPts val="370"/>
              </a:spcBef>
            </a:pP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Vilaplana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Arial"/>
                <a:cs typeface="Arial"/>
              </a:rPr>
              <a:t>Mayoral,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Jordi et</a:t>
            </a:r>
            <a:r>
              <a:rPr sz="900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al.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2015.</a:t>
            </a:r>
            <a:r>
              <a:rPr sz="900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22373A"/>
                </a:solidFill>
                <a:latin typeface="Arial"/>
                <a:cs typeface="Arial"/>
              </a:rPr>
              <a:t>Systems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22373A"/>
                </a:solidFill>
                <a:latin typeface="Arial"/>
                <a:cs typeface="Arial"/>
              </a:rPr>
              <a:t>Applied</a:t>
            </a:r>
            <a:r>
              <a:rPr sz="900" i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22373A"/>
                </a:solidFill>
                <a:latin typeface="Arial"/>
                <a:cs typeface="Arial"/>
              </a:rPr>
              <a:t>to eHealth</a:t>
            </a:r>
            <a:r>
              <a:rPr sz="900" dirty="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sz="900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Universitat de</a:t>
            </a:r>
            <a:r>
              <a:rPr sz="900" spc="-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"/>
                <a:cs typeface="Arial"/>
              </a:rPr>
              <a:t>Lleida.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10915</Words>
  <Application>Microsoft Macintosh PowerPoint</Application>
  <PresentationFormat>Personalizado</PresentationFormat>
  <Paragraphs>719</Paragraphs>
  <Slides>168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168</vt:i4>
      </vt:variant>
    </vt:vector>
  </HeadingPairs>
  <TitlesOfParts>
    <vt:vector size="171" baseType="lpstr">
      <vt:lpstr>Apple Symbols</vt:lpstr>
      <vt:lpstr>Arial</vt:lpstr>
      <vt:lpstr>Office Theme</vt:lpstr>
      <vt:lpstr>Presentación de PowerPoint</vt:lpstr>
      <vt:lpstr>High Performance and Distributed Computing for Big Data</vt:lpstr>
      <vt:lpstr>What is this course about?</vt:lpstr>
      <vt:lpstr>What is this course about?</vt:lpstr>
      <vt:lpstr>What is this course about?</vt:lpstr>
      <vt:lpstr>Who am I?</vt:lpstr>
      <vt:lpstr>Who am I?</vt:lpstr>
      <vt:lpstr>Who am I?</vt:lpstr>
      <vt:lpstr>Who am I?</vt:lpstr>
      <vt:lpstr>Pre-Course Survey: Who are you?</vt:lpstr>
      <vt:lpstr>Pre-Course Survey: Who are you?</vt:lpstr>
      <vt:lpstr>Pre-Course Survey: Who are you?</vt:lpstr>
      <vt:lpstr>Presentación de PowerPoint</vt:lpstr>
      <vt:lpstr>What is Cloud Computing?</vt:lpstr>
      <vt:lpstr>What is Cloud Computing?</vt:lpstr>
      <vt:lpstr>What is the idea behind Cloud Computing?</vt:lpstr>
      <vt:lpstr>What is the idea behind Cloud Computing?</vt:lpstr>
      <vt:lpstr>What is the idea behind Cloud Computing?</vt:lpstr>
      <vt:lpstr>Presentación de PowerPoint</vt:lpstr>
      <vt:lpstr>Presentación de PowerPoint</vt:lpstr>
      <vt:lpstr>Which is the cloud computing model?</vt:lpstr>
      <vt:lpstr>Which is the cloud computing model?</vt:lpstr>
      <vt:lpstr>Which is the cloud computing model?</vt:lpstr>
      <vt:lpstr>Which is the cloud computing model?</vt:lpstr>
      <vt:lpstr>Which is the cloud computing model?</vt:lpstr>
      <vt:lpstr>Which is the cloud computing model?</vt:lpstr>
      <vt:lpstr>Which is the traditional computing model?</vt:lpstr>
      <vt:lpstr>Presentación de PowerPoint</vt:lpstr>
      <vt:lpstr>Presentación de PowerPoint</vt:lpstr>
      <vt:lpstr>Which is the traditional computing model?</vt:lpstr>
      <vt:lpstr>Which is the traditional computing model?</vt:lpstr>
      <vt:lpstr>Which is the traditional computing model?</vt:lpstr>
      <vt:lpstr>Which is the traditional computing model?</vt:lpstr>
      <vt:lpstr>Which is the traditional computing model?</vt:lpstr>
      <vt:lpstr>What is the difference between living in a hotel and owning a house?</vt:lpstr>
      <vt:lpstr>Presentación de PowerPoint</vt:lpstr>
      <vt:lpstr>Live in a hotel vs. Own a house</vt:lpstr>
      <vt:lpstr>Live in a hotel vs. Own a house</vt:lpstr>
      <vt:lpstr>Live in a hotel vs. Own a house</vt:lpstr>
      <vt:lpstr>Case Study: Serving a Personal Website</vt:lpstr>
      <vt:lpstr>Presentación de PowerPoint</vt:lpstr>
      <vt:lpstr>Case Study: Serving a Personal Website</vt:lpstr>
      <vt:lpstr>Case Study: Serving a Personal Website</vt:lpstr>
      <vt:lpstr>Presentación de PowerPoint</vt:lpstr>
      <vt:lpstr>Which are the main cloud computing services models?</vt:lpstr>
      <vt:lpstr>Which are the main cloud computing services models?</vt:lpstr>
      <vt:lpstr>Which are the main cloud computing services models?</vt:lpstr>
      <vt:lpstr>Which are the main cloud computing services models?</vt:lpstr>
      <vt:lpstr>Presentación de PowerPoint</vt:lpstr>
      <vt:lpstr>Presentación de PowerPoint</vt:lpstr>
      <vt:lpstr>Shared Responsibility Model</vt:lpstr>
      <vt:lpstr>Shared Responsibility Model: Pizza as a Service</vt:lpstr>
      <vt:lpstr>Shared Responsibility Model: Pizza as a Service</vt:lpstr>
      <vt:lpstr>Shared Responsibility Model: Pizza as a Service</vt:lpstr>
      <vt:lpstr>Shared Responsibility Model: Pizza as a Service</vt:lpstr>
      <vt:lpstr>Shared Responsibility Model: Pizza as a Service</vt:lpstr>
      <vt:lpstr>Presentación de PowerPoint</vt:lpstr>
      <vt:lpstr>Public Cloud</vt:lpstr>
      <vt:lpstr>Public Cloud</vt:lpstr>
      <vt:lpstr>Public Cloud</vt:lpstr>
      <vt:lpstr>Public Cloud</vt:lpstr>
      <vt:lpstr>Public Cloud</vt:lpstr>
      <vt:lpstr>Public Cloud</vt:lpstr>
      <vt:lpstr>Private Cloud (On-Premises)</vt:lpstr>
      <vt:lpstr>Presentación de PowerPoint</vt:lpstr>
      <vt:lpstr>Presentación de PowerPoint</vt:lpstr>
      <vt:lpstr>Private Cloud (On-Premises)</vt:lpstr>
      <vt:lpstr>Private Cloud (On-Premises)</vt:lpstr>
      <vt:lpstr>Private Cloud (On-Premises)</vt:lpstr>
      <vt:lpstr>Hybrid Cloud</vt:lpstr>
      <vt:lpstr>Presentación de PowerPoint</vt:lpstr>
      <vt:lpstr>Hybrid Cloud</vt:lpstr>
      <vt:lpstr>Hybrid Cloud</vt:lpstr>
      <vt:lpstr>Hybrid Cloud</vt:lpstr>
      <vt:lpstr>Hybrid Cloud</vt:lpstr>
      <vt:lpstr>Presentación de PowerPoint</vt:lpstr>
      <vt:lpstr>Which is the current situation of Cloud Computing?</vt:lpstr>
      <vt:lpstr>Which is the current situation of Cloud Computing?</vt:lpstr>
      <vt:lpstr>Presentación de PowerPoint</vt:lpstr>
      <vt:lpstr>Capital expeneses to operational expenses</vt:lpstr>
      <vt:lpstr>Capital expeneses to operational expenses</vt:lpstr>
      <vt:lpstr>Capital expeneses to operational expenses</vt:lpstr>
      <vt:lpstr>Capital expeneses to operational expenses</vt:lpstr>
      <vt:lpstr>Capital expeneses to operational expenses</vt:lpstr>
      <vt:lpstr>Economies of scale</vt:lpstr>
      <vt:lpstr>Economies of scale</vt:lpstr>
      <vt:lpstr>Economies of scale</vt:lpstr>
      <vt:lpstr>Adaptability and scalability</vt:lpstr>
      <vt:lpstr>Adaptability and scalability</vt:lpstr>
      <vt:lpstr>Adaptability and scalability</vt:lpstr>
      <vt:lpstr>Deployment speed</vt:lpstr>
      <vt:lpstr>Presentación de PowerPoint</vt:lpstr>
      <vt:lpstr>Deployment speed</vt:lpstr>
      <vt:lpstr>Case Study: Dropbox Journey</vt:lpstr>
      <vt:lpstr>Case Study: Dropbox Journey</vt:lpstr>
      <vt:lpstr>Case Study: Dropbox Journey</vt:lpstr>
      <vt:lpstr>Presentación de PowerPoint</vt:lpstr>
      <vt:lpstr>Risks and Challenges of Cloud Computing</vt:lpstr>
      <vt:lpstr>Data security</vt:lpstr>
      <vt:lpstr>Data security</vt:lpstr>
      <vt:lpstr>Data security</vt:lpstr>
      <vt:lpstr>Data security</vt:lpstr>
      <vt:lpstr>Data security</vt:lpstr>
      <vt:lpstr>Data security</vt:lpstr>
      <vt:lpstr>Real Cases of Security Breaches</vt:lpstr>
      <vt:lpstr>Real Cases of Security Breaches</vt:lpstr>
      <vt:lpstr>Real Cases of Security Breaches</vt:lpstr>
      <vt:lpstr>Have I Been Pwned?</vt:lpstr>
      <vt:lpstr>Have I Been Pwned?</vt:lpstr>
      <vt:lpstr>How to protect your data in the cloud?</vt:lpstr>
      <vt:lpstr>How to protect your data in the cloud?</vt:lpstr>
      <vt:lpstr>How to protect your data in the cloud?</vt:lpstr>
      <vt:lpstr>How to protect your data in the cloud?</vt:lpstr>
      <vt:lpstr>How to protect your data in the cloud?</vt:lpstr>
      <vt:lpstr>Data compliance</vt:lpstr>
      <vt:lpstr>Data compliance</vt:lpstr>
      <vt:lpstr>Lock-in</vt:lpstr>
      <vt:lpstr>Lock-in</vt:lpstr>
      <vt:lpstr>Lock-in</vt:lpstr>
      <vt:lpstr>Lock-in</vt:lpstr>
      <vt:lpstr>Lock-in</vt:lpstr>
      <vt:lpstr>Other challenges</vt:lpstr>
      <vt:lpstr>Other challenges</vt:lpstr>
      <vt:lpstr>Other challenges</vt:lpstr>
      <vt:lpstr>Other challenges</vt:lpstr>
      <vt:lpstr>Other challenges</vt:lpstr>
      <vt:lpstr>Other challenges</vt:lpstr>
      <vt:lpstr>Homework</vt:lpstr>
      <vt:lpstr>Case Study: Is Cloud Computing Right for Your Company? (I)</vt:lpstr>
      <vt:lpstr>Case Study: Is Cloud Computing Right for Your Company? (I)</vt:lpstr>
      <vt:lpstr>Case Study: Is Cloud Computing Right for Your Company? (II)</vt:lpstr>
      <vt:lpstr>Case Study: Is Cloud Computing Right for Your Company? (II)</vt:lpstr>
      <vt:lpstr>Case Study: Is Cloud Computing Right for Your Company? (III)</vt:lpstr>
      <vt:lpstr>Case Study: Is Cloud Computing Right for Your Company? (III)</vt:lpstr>
      <vt:lpstr>Case Study: Is Cloud Computing Right for Your Company? (III)</vt:lpstr>
      <vt:lpstr>Presentación de PowerPoint</vt:lpstr>
      <vt:lpstr>Why Cloud Computing in Health?</vt:lpstr>
      <vt:lpstr>Why Cloud Computing in Health?</vt:lpstr>
      <vt:lpstr>Why Cloud Computing in Health?</vt:lpstr>
      <vt:lpstr>Why Cloud Computing in Health?</vt:lpstr>
      <vt:lpstr>Which are the opportunities of Cloud Computing in Health?</vt:lpstr>
      <vt:lpstr>Which are the opportunities of Cloud Computing in Health?</vt:lpstr>
      <vt:lpstr>Which are the opportunities of Cloud Computing in Health?</vt:lpstr>
      <vt:lpstr>Which are the opportunities of Cloud Computing in Health?</vt:lpstr>
      <vt:lpstr>Use Cases</vt:lpstr>
      <vt:lpstr>Use Cases</vt:lpstr>
      <vt:lpstr>Use Cases</vt:lpstr>
      <vt:lpstr>Use Cases</vt:lpstr>
      <vt:lpstr>Challenges in Health</vt:lpstr>
      <vt:lpstr>Challenges in Health</vt:lpstr>
      <vt:lpstr>Is cloud computing the future of Health?</vt:lpstr>
      <vt:lpstr>Is cloud computing the future of Health?</vt:lpstr>
      <vt:lpstr>Is cloud computing the future of Health?</vt:lpstr>
      <vt:lpstr>Is cloud computing the future of Health?</vt:lpstr>
      <vt:lpstr>Is cloud computing the future of Health?</vt:lpstr>
      <vt:lpstr>Is cloud computing the future of Health?</vt:lpstr>
      <vt:lpstr>Is cloud computing the future of Health?</vt:lpstr>
      <vt:lpstr>Is cloud computing the future of Health?</vt:lpstr>
      <vt:lpstr>Presentación de PowerPoint</vt:lpstr>
      <vt:lpstr>Recap: Cloud Computing vs Traditional Computing</vt:lpstr>
      <vt:lpstr>Presentación de PowerPoint</vt:lpstr>
      <vt:lpstr>Homework - Creating our own website</vt:lpstr>
      <vt:lpstr>Homework - Creating our own website</vt:lpstr>
      <vt:lpstr>Presentación de PowerPoint</vt:lpstr>
      <vt:lpstr>Presentación de PowerPoint</vt:lpstr>
      <vt:lpstr>Presentación de PowerPoint</vt:lpstr>
      <vt:lpstr>Let’s recap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and Distributed Computing for Big Data - Unit 3: Cloud Computing</dc:title>
  <dc:creator>Ferran Aran Domingo ` `%%%`#`&amp;12_`__~~~ౡ氀猀攀</dc:creator>
  <cp:keywords>Cloud Computing, AWS, Healtcare, Cloud Computing in Healthcare</cp:keywords>
  <cp:lastModifiedBy>Francesc Xavier Solsona Tehas</cp:lastModifiedBy>
  <cp:revision>1</cp:revision>
  <dcterms:created xsi:type="dcterms:W3CDTF">2025-05-19T16:07:57Z</dcterms:created>
  <dcterms:modified xsi:type="dcterms:W3CDTF">2026-02-14T18:23:01Z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2025-02-19T00:00:00Z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2025-02-19T00:00:00Z</vt:filetime>
  </property>
</Properties>
</file>