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68" r:id="rId5"/>
    <p:sldId id="269" r:id="rId6"/>
    <p:sldId id="274" r:id="rId7"/>
    <p:sldId id="276" r:id="rId8"/>
    <p:sldId id="280" r:id="rId9"/>
    <p:sldId id="284" r:id="rId10"/>
    <p:sldId id="285" r:id="rId11"/>
    <p:sldId id="288" r:id="rId12"/>
    <p:sldId id="289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8" r:id="rId33"/>
    <p:sldId id="319" r:id="rId34"/>
    <p:sldId id="320" r:id="rId35"/>
    <p:sldId id="322" r:id="rId36"/>
    <p:sldId id="324" r:id="rId37"/>
    <p:sldId id="325" r:id="rId38"/>
    <p:sldId id="326" r:id="rId39"/>
    <p:sldId id="327" r:id="rId40"/>
    <p:sldId id="328" r:id="rId41"/>
    <p:sldId id="330" r:id="rId42"/>
    <p:sldId id="331" r:id="rId43"/>
    <p:sldId id="332" r:id="rId44"/>
    <p:sldId id="333" r:id="rId45"/>
    <p:sldId id="338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352" r:id="rId55"/>
    <p:sldId id="353" r:id="rId56"/>
    <p:sldId id="354" r:id="rId57"/>
    <p:sldId id="355" r:id="rId58"/>
    <p:sldId id="357" r:id="rId59"/>
    <p:sldId id="358" r:id="rId60"/>
    <p:sldId id="359" r:id="rId61"/>
    <p:sldId id="360" r:id="rId62"/>
    <p:sldId id="361" r:id="rId63"/>
    <p:sldId id="362" r:id="rId64"/>
    <p:sldId id="363" r:id="rId65"/>
    <p:sldId id="364" r:id="rId66"/>
    <p:sldId id="365" r:id="rId67"/>
    <p:sldId id="366" r:id="rId68"/>
    <p:sldId id="367" r:id="rId69"/>
    <p:sldId id="368" r:id="rId70"/>
    <p:sldId id="369" r:id="rId71"/>
    <p:sldId id="370" r:id="rId72"/>
    <p:sldId id="371" r:id="rId73"/>
    <p:sldId id="372" r:id="rId7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85"/>
  </p:normalViewPr>
  <p:slideViewPr>
    <p:cSldViewPr>
      <p:cViewPr varScale="1">
        <p:scale>
          <a:sx n="202" d="100"/>
          <a:sy n="202" d="100"/>
        </p:scale>
        <p:origin x="44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216281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79158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718" y="633263"/>
            <a:ext cx="5071110" cy="1979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solsonatehas.github.io/HPDCB/session6-7-8.html" TargetMode="External"/><Relationship Id="rId2" Type="http://schemas.openxmlformats.org/officeDocument/2006/relationships/hyperlink" Target="mailto: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hatismyip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Network_address_translatio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ubmarinecablemap.co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347294" y="78422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lang="en-US" sz="11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012825"/>
            <a:ext cx="2992806" cy="332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lang="en-US" sz="10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3: </a:t>
            </a:r>
            <a:r>
              <a:rPr lang="en-US" sz="1000" noProof="1"/>
              <a:t>Cloud Systems and Big Data Management</a:t>
            </a:r>
            <a:endParaRPr lang="en-US" sz="10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23832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10" noProof="1"/>
              <a:t>Francesc Solsona </a:t>
            </a:r>
            <a:r>
              <a:rPr lang="en-US" sz="800" spc="-20" noProof="1"/>
              <a:t>f</a:t>
            </a:r>
            <a:r>
              <a:rPr lang="en-US" sz="800" spc="-20" noProof="1">
                <a:hlinkClick r:id="rId2"/>
              </a:rPr>
              <a:t>rancesc.solsona@udl.cat</a:t>
            </a:r>
            <a:endParaRPr lang="en-US" sz="800" noProof="1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lang="en-US" sz="800" noProof="1"/>
          </a:p>
          <a:p>
            <a:pPr marL="12700">
              <a:lnSpc>
                <a:spcPct val="100000"/>
              </a:lnSpc>
            </a:pP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Rovira</a:t>
            </a:r>
            <a:r>
              <a:rPr lang="en-US" sz="600" spc="25" noProof="1"/>
              <a:t> </a:t>
            </a:r>
            <a:r>
              <a:rPr lang="en-US" sz="600" noProof="1"/>
              <a:t>i</a:t>
            </a:r>
            <a:r>
              <a:rPr lang="en-US" sz="600" spc="25" noProof="1"/>
              <a:t> </a:t>
            </a:r>
            <a:r>
              <a:rPr lang="en-US" sz="600" noProof="1"/>
              <a:t>Virgili</a:t>
            </a:r>
            <a:r>
              <a:rPr lang="en-US" sz="600" spc="25" noProof="1"/>
              <a:t> </a:t>
            </a:r>
            <a:r>
              <a:rPr lang="en-US" sz="600" noProof="1"/>
              <a:t>and</a:t>
            </a:r>
            <a:r>
              <a:rPr lang="en-US" sz="600" spc="25" noProof="1"/>
              <a:t> </a:t>
            </a: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de</a:t>
            </a:r>
            <a:r>
              <a:rPr lang="en-US" sz="600" spc="25" noProof="1"/>
              <a:t> </a:t>
            </a:r>
            <a:r>
              <a:rPr lang="en-US" sz="600" spc="-10" noProof="1"/>
              <a:t>Lleida</a:t>
            </a:r>
            <a:endParaRPr lang="en-US" sz="600" noProof="1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8895" cy="5080"/>
            </a:xfrm>
            <a:custGeom>
              <a:avLst/>
              <a:gdLst/>
              <a:ahLst/>
              <a:cxnLst/>
              <a:rect l="l" t="t" r="r" b="b"/>
              <a:pathLst>
                <a:path w="48895" h="5080">
                  <a:moveTo>
                    <a:pt x="0" y="5060"/>
                  </a:moveTo>
                  <a:lnTo>
                    <a:pt x="0" y="0"/>
                  </a:lnTo>
                  <a:lnTo>
                    <a:pt x="48428" y="0"/>
                  </a:lnTo>
                  <a:lnTo>
                    <a:pt x="484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1" name="object 4">
            <a:extLst>
              <a:ext uri="{FF2B5EF4-FFF2-40B4-BE49-F238E27FC236}">
                <a16:creationId xmlns:a16="http://schemas.microsoft.com/office/drawing/2014/main" id="{53D29060-4CCC-9584-B2CA-ECAD6932200B}"/>
              </a:ext>
            </a:extLst>
          </p:cNvPr>
          <p:cNvSpPr txBox="1"/>
          <p:nvPr/>
        </p:nvSpPr>
        <p:spPr>
          <a:xfrm>
            <a:off x="359994" y="1284711"/>
            <a:ext cx="299280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u="sng" noProof="1">
                <a:hlinkClick r:id="rId3"/>
              </a:rPr>
              <a:t>Session 6 &amp; 7 - AWS Networking</a:t>
            </a:r>
            <a:endParaRPr lang="en-US" sz="1000" noProof="1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41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5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89" h="5080">
                  <a:moveTo>
                    <a:pt x="0" y="5060"/>
                  </a:moveTo>
                  <a:lnTo>
                    <a:pt x="0" y="0"/>
                  </a:lnTo>
                  <a:lnTo>
                    <a:pt x="21062" y="0"/>
                  </a:lnTo>
                  <a:lnTo>
                    <a:pt x="210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Networking</a:t>
            </a:r>
            <a:r>
              <a:rPr lang="en-US" noProof="1"/>
              <a:t> </a:t>
            </a:r>
            <a:r>
              <a:rPr lang="en-US" spc="-45" noProof="1"/>
              <a:t>concepts</a:t>
            </a:r>
            <a:r>
              <a:rPr lang="en-US" spc="5" noProof="1"/>
              <a:t> </a:t>
            </a:r>
            <a:r>
              <a:rPr lang="en-US" noProof="1"/>
              <a:t>we </a:t>
            </a:r>
            <a:r>
              <a:rPr lang="en-US" spc="-25" noProof="1"/>
              <a:t>already</a:t>
            </a:r>
            <a:r>
              <a:rPr lang="en-US" spc="5" noProof="1"/>
              <a:t> </a:t>
            </a:r>
            <a:r>
              <a:rPr lang="en-US" spc="-25" noProof="1"/>
              <a:t>met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391"/>
            <a:ext cx="503618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Throughout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course,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interacting with different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concepts.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them: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800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connecting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instances.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instances.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lang="en-US" sz="900" b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155" cy="5080"/>
            </a:xfrm>
            <a:custGeom>
              <a:avLst/>
              <a:gdLst/>
              <a:ahLst/>
              <a:cxnLst/>
              <a:rect l="l" t="t" r="r" b="b"/>
              <a:pathLst>
                <a:path w="97155" h="5080">
                  <a:moveTo>
                    <a:pt x="0" y="5060"/>
                  </a:moveTo>
                  <a:lnTo>
                    <a:pt x="0" y="0"/>
                  </a:lnTo>
                  <a:lnTo>
                    <a:pt x="96768" y="0"/>
                  </a:lnTo>
                  <a:lnTo>
                    <a:pt x="967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Networking</a:t>
            </a:r>
            <a:r>
              <a:rPr lang="en-US" noProof="1"/>
              <a:t> </a:t>
            </a:r>
            <a:r>
              <a:rPr lang="en-US" spc="-45" noProof="1"/>
              <a:t>concepts</a:t>
            </a:r>
            <a:r>
              <a:rPr lang="en-US" spc="5" noProof="1"/>
              <a:t> </a:t>
            </a:r>
            <a:r>
              <a:rPr lang="en-US" noProof="1"/>
              <a:t>we </a:t>
            </a:r>
            <a:r>
              <a:rPr lang="en-US" spc="-25" noProof="1"/>
              <a:t>already</a:t>
            </a:r>
            <a:r>
              <a:rPr lang="en-US" spc="5" noProof="1"/>
              <a:t> </a:t>
            </a:r>
            <a:r>
              <a:rPr lang="en-US" spc="-25" noProof="1"/>
              <a:t>met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1069749"/>
            <a:ext cx="4999355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Although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concepts,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haven’t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really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detail.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Here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questions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ask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ourselves: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800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sometimes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interchangeably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difference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changing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lab?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5415" cy="5080"/>
            </a:xfrm>
            <a:custGeom>
              <a:avLst/>
              <a:gdLst/>
              <a:ahLst/>
              <a:cxnLst/>
              <a:rect l="l" t="t" r="r" b="b"/>
              <a:pathLst>
                <a:path w="145415" h="5080">
                  <a:moveTo>
                    <a:pt x="0" y="5060"/>
                  </a:moveTo>
                  <a:lnTo>
                    <a:pt x="0" y="0"/>
                  </a:lnTo>
                  <a:lnTo>
                    <a:pt x="145196" y="0"/>
                  </a:lnTo>
                  <a:lnTo>
                    <a:pt x="14519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1164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Networking</a:t>
            </a:r>
            <a:r>
              <a:rPr lang="en-US" sz="1100" b="1" spc="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8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basics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63500" cy="5080"/>
            </a:xfrm>
            <a:custGeom>
              <a:avLst/>
              <a:gdLst/>
              <a:ahLst/>
              <a:cxnLst/>
              <a:rect l="l" t="t" r="r" b="b"/>
              <a:pathLst>
                <a:path w="63500" h="5080">
                  <a:moveTo>
                    <a:pt x="0" y="5060"/>
                  </a:moveTo>
                  <a:lnTo>
                    <a:pt x="0" y="0"/>
                  </a:lnTo>
                  <a:lnTo>
                    <a:pt x="63150" y="0"/>
                  </a:lnTo>
                  <a:lnTo>
                    <a:pt x="631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70" noProof="1"/>
              <a:t> </a:t>
            </a:r>
            <a:r>
              <a:rPr lang="en-US" spc="-25" noProof="1"/>
              <a:t>is</a:t>
            </a:r>
            <a:r>
              <a:rPr lang="en-US" spc="70" noProof="1"/>
              <a:t> </a:t>
            </a:r>
            <a:r>
              <a:rPr lang="en-US" noProof="1"/>
              <a:t>an</a:t>
            </a:r>
            <a:r>
              <a:rPr lang="en-US" spc="70" noProof="1"/>
              <a:t> </a:t>
            </a:r>
            <a:r>
              <a:rPr lang="en-US" noProof="1"/>
              <a:t>IP</a:t>
            </a:r>
            <a:r>
              <a:rPr lang="en-US" spc="75" noProof="1"/>
              <a:t> </a:t>
            </a:r>
            <a:r>
              <a:rPr lang="en-US" spc="-60" noProof="1"/>
              <a:t>address?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54963" y="1373393"/>
            <a:ext cx="443865" cy="123189"/>
            <a:chOff x="1054963" y="1373393"/>
            <a:chExt cx="443865" cy="123189"/>
          </a:xfrm>
        </p:grpSpPr>
        <p:sp>
          <p:nvSpPr>
            <p:cNvPr id="4" name="object 4"/>
            <p:cNvSpPr/>
            <p:nvPr/>
          </p:nvSpPr>
          <p:spPr>
            <a:xfrm>
              <a:off x="1054963" y="1373393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9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407793" y="123034"/>
                  </a:lnTo>
                  <a:lnTo>
                    <a:pt x="421806" y="120205"/>
                  </a:lnTo>
                  <a:lnTo>
                    <a:pt x="433249" y="112490"/>
                  </a:lnTo>
                  <a:lnTo>
                    <a:pt x="440964" y="101047"/>
                  </a:lnTo>
                  <a:lnTo>
                    <a:pt x="443793" y="87034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054963" y="1373393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9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407793" y="123034"/>
                  </a:lnTo>
                  <a:lnTo>
                    <a:pt x="421806" y="120205"/>
                  </a:lnTo>
                  <a:lnTo>
                    <a:pt x="433249" y="112490"/>
                  </a:lnTo>
                  <a:lnTo>
                    <a:pt x="440964" y="101047"/>
                  </a:lnTo>
                  <a:lnTo>
                    <a:pt x="443793" y="87034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672069" y="1373165"/>
            <a:ext cx="623570" cy="123825"/>
            <a:chOff x="1672069" y="1373165"/>
            <a:chExt cx="623570" cy="123825"/>
          </a:xfrm>
        </p:grpSpPr>
        <p:sp>
          <p:nvSpPr>
            <p:cNvPr id="7" name="object 7"/>
            <p:cNvSpPr/>
            <p:nvPr/>
          </p:nvSpPr>
          <p:spPr>
            <a:xfrm>
              <a:off x="1672069" y="1373165"/>
              <a:ext cx="623570" cy="123825"/>
            </a:xfrm>
            <a:custGeom>
              <a:avLst/>
              <a:gdLst/>
              <a:ahLst/>
              <a:cxnLst/>
              <a:rect l="l" t="t" r="r" b="b"/>
              <a:pathLst>
                <a:path w="623569" h="12382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262"/>
                  </a:lnTo>
                  <a:lnTo>
                    <a:pt x="2829" y="101275"/>
                  </a:lnTo>
                  <a:lnTo>
                    <a:pt x="10544" y="112718"/>
                  </a:lnTo>
                  <a:lnTo>
                    <a:pt x="21987" y="120433"/>
                  </a:lnTo>
                  <a:lnTo>
                    <a:pt x="36000" y="123262"/>
                  </a:lnTo>
                  <a:lnTo>
                    <a:pt x="587145" y="123262"/>
                  </a:lnTo>
                  <a:lnTo>
                    <a:pt x="601158" y="120433"/>
                  </a:lnTo>
                  <a:lnTo>
                    <a:pt x="612602" y="112718"/>
                  </a:lnTo>
                  <a:lnTo>
                    <a:pt x="620317" y="101275"/>
                  </a:lnTo>
                  <a:lnTo>
                    <a:pt x="623146" y="8726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672069" y="1373165"/>
              <a:ext cx="623570" cy="123825"/>
            </a:xfrm>
            <a:custGeom>
              <a:avLst/>
              <a:gdLst/>
              <a:ahLst/>
              <a:cxnLst/>
              <a:rect l="l" t="t" r="r" b="b"/>
              <a:pathLst>
                <a:path w="623569" h="12382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262"/>
                  </a:lnTo>
                  <a:lnTo>
                    <a:pt x="2829" y="101275"/>
                  </a:lnTo>
                  <a:lnTo>
                    <a:pt x="10544" y="112718"/>
                  </a:lnTo>
                  <a:lnTo>
                    <a:pt x="21987" y="120433"/>
                  </a:lnTo>
                  <a:lnTo>
                    <a:pt x="36000" y="123262"/>
                  </a:lnTo>
                  <a:lnTo>
                    <a:pt x="587145" y="123262"/>
                  </a:lnTo>
                  <a:lnTo>
                    <a:pt x="601158" y="120433"/>
                  </a:lnTo>
                  <a:lnTo>
                    <a:pt x="612602" y="112718"/>
                  </a:lnTo>
                  <a:lnTo>
                    <a:pt x="620317" y="101275"/>
                  </a:lnTo>
                  <a:lnTo>
                    <a:pt x="623146" y="8726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63993" y="2068508"/>
            <a:ext cx="4032250" cy="516890"/>
            <a:chOff x="863993" y="2068508"/>
            <a:chExt cx="4032250" cy="516890"/>
          </a:xfrm>
        </p:grpSpPr>
        <p:sp>
          <p:nvSpPr>
            <p:cNvPr id="10" name="object 10"/>
            <p:cNvSpPr/>
            <p:nvPr/>
          </p:nvSpPr>
          <p:spPr>
            <a:xfrm>
              <a:off x="863993" y="2068508"/>
              <a:ext cx="4032250" cy="516890"/>
            </a:xfrm>
            <a:custGeom>
              <a:avLst/>
              <a:gdLst/>
              <a:ahLst/>
              <a:cxnLst/>
              <a:rect l="l" t="t" r="r" b="b"/>
              <a:pathLst>
                <a:path w="4032250" h="51688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2322"/>
                  </a:lnTo>
                  <a:lnTo>
                    <a:pt x="4243" y="483341"/>
                  </a:lnTo>
                  <a:lnTo>
                    <a:pt x="15816" y="500506"/>
                  </a:lnTo>
                  <a:lnTo>
                    <a:pt x="32980" y="512079"/>
                  </a:lnTo>
                  <a:lnTo>
                    <a:pt x="54000" y="516322"/>
                  </a:lnTo>
                  <a:lnTo>
                    <a:pt x="3978067" y="516322"/>
                  </a:lnTo>
                  <a:lnTo>
                    <a:pt x="3999086" y="512079"/>
                  </a:lnTo>
                  <a:lnTo>
                    <a:pt x="4016251" y="500506"/>
                  </a:lnTo>
                  <a:lnTo>
                    <a:pt x="4027823" y="483341"/>
                  </a:lnTo>
                  <a:lnTo>
                    <a:pt x="4032067" y="462322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881993" y="2086508"/>
              <a:ext cx="3996690" cy="480695"/>
            </a:xfrm>
            <a:custGeom>
              <a:avLst/>
              <a:gdLst/>
              <a:ahLst/>
              <a:cxnLst/>
              <a:rect l="l" t="t" r="r" b="b"/>
              <a:pathLst>
                <a:path w="3996690" h="480694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4322"/>
                  </a:lnTo>
                  <a:lnTo>
                    <a:pt x="2829" y="458335"/>
                  </a:lnTo>
                  <a:lnTo>
                    <a:pt x="10544" y="469778"/>
                  </a:lnTo>
                  <a:lnTo>
                    <a:pt x="21987" y="477493"/>
                  </a:lnTo>
                  <a:lnTo>
                    <a:pt x="36000" y="480322"/>
                  </a:lnTo>
                  <a:lnTo>
                    <a:pt x="3960067" y="480322"/>
                  </a:lnTo>
                  <a:lnTo>
                    <a:pt x="3974080" y="477493"/>
                  </a:lnTo>
                  <a:lnTo>
                    <a:pt x="3985523" y="469778"/>
                  </a:lnTo>
                  <a:lnTo>
                    <a:pt x="3993238" y="458335"/>
                  </a:lnTo>
                  <a:lnTo>
                    <a:pt x="3996067" y="444322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433" y="762981"/>
            <a:ext cx="506920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75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identifier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device.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lang="en-US" sz="900" noProof="1">
              <a:latin typeface="Arial"/>
              <a:cs typeface="Arial"/>
            </a:endParaRPr>
          </a:p>
          <a:p>
            <a:pPr marL="239395" marR="139065" indent="-143510">
              <a:lnSpc>
                <a:spcPct val="116199"/>
              </a:lnSpc>
              <a:spcBef>
                <a:spcPts val="625"/>
              </a:spcBef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32-bit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four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8-bit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numbers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separated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dots.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For 	example,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1.2.3.4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52.4.75.36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8-bit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numbers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octet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0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255.</a:t>
            </a:r>
            <a:endParaRPr lang="en-US" sz="900" noProof="1">
              <a:latin typeface="Arial"/>
              <a:cs typeface="Arial"/>
            </a:endParaRPr>
          </a:p>
          <a:p>
            <a:pPr marL="239395" marR="5080" indent="-143510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0.0.0.0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255.255.255.255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	total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4,294,967,296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possible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(2^32).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724535" marR="690245" indent="60325">
              <a:lnSpc>
                <a:spcPct val="116199"/>
              </a:lnSpc>
            </a:pPr>
            <a:r>
              <a:rPr lang="en-US" sz="900" spc="-30" noProof="1">
                <a:latin typeface="Arial"/>
                <a:cs typeface="Arial"/>
              </a:rPr>
              <a:t>So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we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45" noProof="1">
                <a:latin typeface="Arial"/>
                <a:cs typeface="Arial"/>
              </a:rPr>
              <a:t>have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25" noProof="1">
                <a:latin typeface="Arial"/>
                <a:cs typeface="Arial"/>
              </a:rPr>
              <a:t>around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four billion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IP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addresses.</a:t>
            </a:r>
            <a:r>
              <a:rPr lang="en-US" sz="900" spc="130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This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might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70" noProof="1">
                <a:latin typeface="Arial"/>
                <a:cs typeface="Arial"/>
              </a:rPr>
              <a:t>seem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like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a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20" noProof="1">
                <a:latin typeface="Arial"/>
                <a:cs typeface="Arial"/>
              </a:rPr>
              <a:t>lot, </a:t>
            </a:r>
            <a:r>
              <a:rPr lang="en-US" sz="900" noProof="1">
                <a:latin typeface="Arial"/>
                <a:cs typeface="Arial"/>
              </a:rPr>
              <a:t>but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it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35" noProof="1">
                <a:latin typeface="Arial"/>
                <a:cs typeface="Arial"/>
              </a:rPr>
              <a:t>is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not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45" noProof="1">
                <a:latin typeface="Arial"/>
                <a:cs typeface="Arial"/>
              </a:rPr>
              <a:t>enough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to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25" noProof="1">
                <a:latin typeface="Arial"/>
                <a:cs typeface="Arial"/>
              </a:rPr>
              <a:t>give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an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IP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65" noProof="1">
                <a:latin typeface="Arial"/>
                <a:cs typeface="Arial"/>
              </a:rPr>
              <a:t>address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to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30" noProof="1">
                <a:latin typeface="Arial"/>
                <a:cs typeface="Arial"/>
              </a:rPr>
              <a:t>every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spc="-35" noProof="1">
                <a:latin typeface="Arial"/>
                <a:cs typeface="Arial"/>
              </a:rPr>
              <a:t>device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in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the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20" noProof="1">
                <a:latin typeface="Arial"/>
                <a:cs typeface="Arial"/>
              </a:rPr>
              <a:t>world</a:t>
            </a:r>
            <a:r>
              <a:rPr lang="en-US" sz="900" spc="-20" noProof="1"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193675" cy="5080"/>
            </a:xfrm>
            <a:custGeom>
              <a:avLst/>
              <a:gdLst/>
              <a:ahLst/>
              <a:cxnLst/>
              <a:rect l="l" t="t" r="r" b="b"/>
              <a:pathLst>
                <a:path w="193675" h="5080">
                  <a:moveTo>
                    <a:pt x="0" y="5060"/>
                  </a:moveTo>
                  <a:lnTo>
                    <a:pt x="0" y="0"/>
                  </a:lnTo>
                  <a:lnTo>
                    <a:pt x="193625" y="0"/>
                  </a:lnTo>
                  <a:lnTo>
                    <a:pt x="1936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lang="en-US" sz="1000" b="1" spc="7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lang="en-US" sz="1000" b="1" spc="7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7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IP</a:t>
            </a:r>
            <a:r>
              <a:rPr lang="en-US" sz="1000" b="1" spc="7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60" noProof="1">
                <a:solidFill>
                  <a:srgbClr val="F9F9F9"/>
                </a:solidFill>
                <a:latin typeface="Arial"/>
                <a:cs typeface="Arial"/>
              </a:rPr>
              <a:t>address?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696" y="644331"/>
            <a:ext cx="3204608" cy="17993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298" y="2556136"/>
            <a:ext cx="16510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this?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idea?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42570" cy="5080"/>
            </a:xfrm>
            <a:custGeom>
              <a:avLst/>
              <a:gdLst/>
              <a:ahLst/>
              <a:cxnLst/>
              <a:rect l="l" t="t" r="r" b="b"/>
              <a:pathLst>
                <a:path w="242570" h="5080">
                  <a:moveTo>
                    <a:pt x="0" y="5060"/>
                  </a:moveTo>
                  <a:lnTo>
                    <a:pt x="0" y="0"/>
                  </a:lnTo>
                  <a:lnTo>
                    <a:pt x="242053" y="0"/>
                  </a:lnTo>
                  <a:lnTo>
                    <a:pt x="2420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Private</a:t>
            </a:r>
            <a:r>
              <a:rPr lang="en-US" spc="30" noProof="1"/>
              <a:t> </a:t>
            </a:r>
            <a:r>
              <a:rPr lang="en-US" spc="-40" noProof="1"/>
              <a:t>vs</a:t>
            </a:r>
            <a:r>
              <a:rPr lang="en-US" spc="35" noProof="1"/>
              <a:t> </a:t>
            </a:r>
            <a:r>
              <a:rPr lang="en-US" spc="-10" noProof="1"/>
              <a:t>Public</a:t>
            </a:r>
            <a:r>
              <a:rPr lang="en-US" spc="30" noProof="1"/>
              <a:t> </a:t>
            </a:r>
            <a:r>
              <a:rPr lang="en-US" noProof="1"/>
              <a:t>IP</a:t>
            </a:r>
            <a:r>
              <a:rPr lang="en-US" spc="35" noProof="1"/>
              <a:t> </a:t>
            </a:r>
            <a:r>
              <a:rPr lang="en-US" spc="-65" noProof="1"/>
              <a:t>addresses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7743" y="2149063"/>
            <a:ext cx="2775585" cy="138430"/>
            <a:chOff x="587743" y="2149063"/>
            <a:chExt cx="2775585" cy="138430"/>
          </a:xfrm>
        </p:grpSpPr>
        <p:sp>
          <p:nvSpPr>
            <p:cNvPr id="4" name="object 4"/>
            <p:cNvSpPr/>
            <p:nvPr/>
          </p:nvSpPr>
          <p:spPr>
            <a:xfrm>
              <a:off x="587743" y="2149063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587743" y="2149063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1083584"/>
            <a:ext cx="5037455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problem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having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enough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addresses,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  <a:p>
            <a:pPr marL="24384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3840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reused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networks.</a:t>
            </a:r>
            <a:endParaRPr lang="en-US" sz="900" noProof="1">
              <a:latin typeface="Arial"/>
              <a:cs typeface="Arial"/>
            </a:endParaRPr>
          </a:p>
          <a:p>
            <a:pPr marL="243840" marR="110489" indent="-147955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reused.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Ranges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reserved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endParaRPr lang="en-US" sz="900" noProof="1">
              <a:latin typeface="Arial"/>
              <a:cs typeface="Arial"/>
            </a:endParaRPr>
          </a:p>
          <a:p>
            <a:pPr marL="256540">
              <a:lnSpc>
                <a:spcPct val="100000"/>
              </a:lnSpc>
              <a:spcBef>
                <a:spcPts val="175"/>
              </a:spcBef>
            </a:pPr>
            <a:r>
              <a:rPr lang="en-US" sz="900" spc="-70" noProof="1">
                <a:latin typeface="Courier New"/>
                <a:cs typeface="Courier New"/>
              </a:rPr>
              <a:t>10.x.x.x, 172.16.x.x - 172.31.x.x, </a:t>
            </a:r>
            <a:r>
              <a:rPr lang="en-US" sz="900" spc="-75" noProof="1">
                <a:latin typeface="Courier New"/>
                <a:cs typeface="Courier New"/>
              </a:rPr>
              <a:t>192.168.x.x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reserved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0830" cy="5080"/>
            </a:xfrm>
            <a:custGeom>
              <a:avLst/>
              <a:gdLst/>
              <a:ahLst/>
              <a:cxnLst/>
              <a:rect l="l" t="t" r="r" b="b"/>
              <a:pathLst>
                <a:path w="290830" h="5080">
                  <a:moveTo>
                    <a:pt x="0" y="5060"/>
                  </a:moveTo>
                  <a:lnTo>
                    <a:pt x="0" y="0"/>
                  </a:lnTo>
                  <a:lnTo>
                    <a:pt x="290394" y="0"/>
                  </a:lnTo>
                  <a:lnTo>
                    <a:pt x="2903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Private</a:t>
            </a:r>
            <a:r>
              <a:rPr lang="en-US" spc="30" noProof="1"/>
              <a:t> </a:t>
            </a:r>
            <a:r>
              <a:rPr lang="en-US" spc="-40" noProof="1"/>
              <a:t>vs</a:t>
            </a:r>
            <a:r>
              <a:rPr lang="en-US" spc="35" noProof="1"/>
              <a:t> </a:t>
            </a:r>
            <a:r>
              <a:rPr lang="en-US" spc="-10" noProof="1"/>
              <a:t>Public</a:t>
            </a:r>
            <a:r>
              <a:rPr lang="en-US" spc="30" noProof="1"/>
              <a:t> </a:t>
            </a:r>
            <a:r>
              <a:rPr lang="en-US" noProof="1"/>
              <a:t>IP</a:t>
            </a:r>
            <a:r>
              <a:rPr lang="en-US" spc="35" noProof="1"/>
              <a:t> </a:t>
            </a:r>
            <a:r>
              <a:rPr lang="en-US" spc="-65" noProof="1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467"/>
            <a:ext cx="5037455" cy="10610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hotels.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street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reused.</a:t>
            </a:r>
            <a:endParaRPr lang="en-US" sz="900" noProof="1">
              <a:latin typeface="Arial"/>
              <a:cs typeface="Arial"/>
            </a:endParaRPr>
          </a:p>
          <a:p>
            <a:pPr marL="239395" marR="272415" indent="-143510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outside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room 	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hotel.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39090" cy="5080"/>
            </a:xfrm>
            <a:custGeom>
              <a:avLst/>
              <a:gdLst/>
              <a:ahLst/>
              <a:cxnLst/>
              <a:rect l="l" t="t" r="r" b="b"/>
              <a:pathLst>
                <a:path w="339090" h="5080">
                  <a:moveTo>
                    <a:pt x="0" y="5060"/>
                  </a:moveTo>
                  <a:lnTo>
                    <a:pt x="0" y="0"/>
                  </a:lnTo>
                  <a:lnTo>
                    <a:pt x="338822" y="0"/>
                  </a:lnTo>
                  <a:lnTo>
                    <a:pt x="3388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041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DNS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3319" y="950915"/>
            <a:ext cx="503174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</a:rPr>
              <a:t>Domain</a:t>
            </a:r>
            <a:r>
              <a:rPr lang="en-US" sz="900" spc="55" noProof="1">
                <a:solidFill>
                  <a:srgbClr val="22373A"/>
                </a:solidFill>
              </a:rPr>
              <a:t> </a:t>
            </a:r>
            <a:r>
              <a:rPr lang="en-US" sz="900" noProof="1">
                <a:solidFill>
                  <a:srgbClr val="22373A"/>
                </a:solidFill>
              </a:rPr>
              <a:t>Name</a:t>
            </a:r>
            <a:r>
              <a:rPr lang="en-US" sz="900" spc="55" noProof="1">
                <a:solidFill>
                  <a:srgbClr val="22373A"/>
                </a:solidFill>
              </a:rPr>
              <a:t> </a:t>
            </a:r>
            <a:r>
              <a:rPr lang="en-US" sz="900" spc="-30" noProof="1">
                <a:solidFill>
                  <a:srgbClr val="22373A"/>
                </a:solidFill>
              </a:rPr>
              <a:t>System</a:t>
            </a:r>
            <a:r>
              <a:rPr lang="en-US" sz="900" spc="50" noProof="1">
                <a:solidFill>
                  <a:srgbClr val="22373A"/>
                </a:solidFill>
              </a:rPr>
              <a:t> </a:t>
            </a:r>
            <a:r>
              <a:rPr lang="en-US" sz="900" noProof="1">
                <a:solidFill>
                  <a:srgbClr val="22373A"/>
                </a:solidFill>
              </a:rPr>
              <a:t>(DNS)</a:t>
            </a:r>
            <a:r>
              <a:rPr lang="en-US" sz="900" spc="35" noProof="1">
                <a:solidFill>
                  <a:srgbClr val="22373A"/>
                </a:solidFill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5" noProof="1">
                <a:solidFill>
                  <a:srgbClr val="22373A"/>
                </a:solidFill>
                <a:latin typeface="Arial"/>
                <a:cs typeface="Arial"/>
              </a:rPr>
              <a:t>system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translates</a:t>
            </a:r>
            <a:r>
              <a:rPr lang="en-US" sz="900" b="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addresses.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said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 DNS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or the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public IP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instance?</a:t>
            </a:r>
            <a:r>
              <a:rPr lang="en-US" sz="900" b="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 DNS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human-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readable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references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667881"/>
            <a:ext cx="501015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7556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analogy,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corresponds,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phone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book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translates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7350" cy="5080"/>
            </a:xfrm>
            <a:custGeom>
              <a:avLst/>
              <a:gdLst/>
              <a:ahLst/>
              <a:cxnLst/>
              <a:rect l="l" t="t" r="r" b="b"/>
              <a:pathLst>
                <a:path w="387350" h="5080">
                  <a:moveTo>
                    <a:pt x="0" y="5060"/>
                  </a:moveTo>
                  <a:lnTo>
                    <a:pt x="0" y="0"/>
                  </a:lnTo>
                  <a:lnTo>
                    <a:pt x="387250" y="0"/>
                  </a:lnTo>
                  <a:lnTo>
                    <a:pt x="3872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Ports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91793"/>
            <a:ext cx="5015230" cy="320040"/>
            <a:chOff x="372646" y="1491793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9714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9811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286622"/>
            <a:ext cx="5015230" cy="320040"/>
            <a:chOff x="372646" y="2286622"/>
            <a:chExt cx="5015230" cy="320040"/>
          </a:xfrm>
        </p:grpSpPr>
        <p:sp>
          <p:nvSpPr>
            <p:cNvPr id="7" name="object 7"/>
            <p:cNvSpPr/>
            <p:nvPr/>
          </p:nvSpPr>
          <p:spPr>
            <a:xfrm>
              <a:off x="377994" y="229197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29294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623" y="2922106"/>
            <a:ext cx="5015230" cy="313690"/>
            <a:chOff x="372623" y="2922106"/>
            <a:chExt cx="5015230" cy="313690"/>
          </a:xfrm>
        </p:grpSpPr>
        <p:sp>
          <p:nvSpPr>
            <p:cNvPr id="10" name="object 10"/>
            <p:cNvSpPr/>
            <p:nvPr/>
          </p:nvSpPr>
          <p:spPr>
            <a:xfrm>
              <a:off x="377994" y="2927477"/>
              <a:ext cx="5004435" cy="302895"/>
            </a:xfrm>
            <a:custGeom>
              <a:avLst/>
              <a:gdLst/>
              <a:ahLst/>
              <a:cxnLst/>
              <a:rect l="l" t="t" r="r" b="b"/>
              <a:pathLst>
                <a:path w="5004435" h="30289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6343"/>
                  </a:lnTo>
                  <a:lnTo>
                    <a:pt x="2829" y="280356"/>
                  </a:lnTo>
                  <a:lnTo>
                    <a:pt x="10544" y="291799"/>
                  </a:lnTo>
                  <a:lnTo>
                    <a:pt x="21987" y="299514"/>
                  </a:lnTo>
                  <a:lnTo>
                    <a:pt x="36000" y="302343"/>
                  </a:lnTo>
                  <a:lnTo>
                    <a:pt x="4968064" y="302343"/>
                  </a:lnTo>
                  <a:lnTo>
                    <a:pt x="4982077" y="299514"/>
                  </a:lnTo>
                  <a:lnTo>
                    <a:pt x="4993521" y="291799"/>
                  </a:lnTo>
                  <a:lnTo>
                    <a:pt x="5001236" y="280356"/>
                  </a:lnTo>
                  <a:lnTo>
                    <a:pt x="5004065" y="266343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2928456"/>
              <a:ext cx="5002530" cy="300990"/>
            </a:xfrm>
            <a:custGeom>
              <a:avLst/>
              <a:gdLst/>
              <a:ahLst/>
              <a:cxnLst/>
              <a:rect l="l" t="t" r="r" b="b"/>
              <a:pathLst>
                <a:path w="5002530" h="300989">
                  <a:moveTo>
                    <a:pt x="0" y="265364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5364"/>
                  </a:lnTo>
                  <a:lnTo>
                    <a:pt x="4999354" y="278996"/>
                  </a:lnTo>
                  <a:lnTo>
                    <a:pt x="4991849" y="290128"/>
                  </a:lnTo>
                  <a:lnTo>
                    <a:pt x="4980717" y="297633"/>
                  </a:lnTo>
                  <a:lnTo>
                    <a:pt x="4967085" y="300385"/>
                  </a:lnTo>
                  <a:lnTo>
                    <a:pt x="35021" y="300385"/>
                  </a:lnTo>
                  <a:lnTo>
                    <a:pt x="21389" y="297633"/>
                  </a:lnTo>
                  <a:lnTo>
                    <a:pt x="10257" y="290128"/>
                  </a:lnTo>
                  <a:lnTo>
                    <a:pt x="2752" y="278996"/>
                  </a:lnTo>
                  <a:lnTo>
                    <a:pt x="0" y="265364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1718" y="348847"/>
            <a:ext cx="5039995" cy="2839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254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device,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knew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DNS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least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running: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(port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22)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8888).</a:t>
            </a:r>
            <a:endParaRPr lang="en-US" sz="900" noProof="1">
              <a:latin typeface="Arial"/>
              <a:cs typeface="Arial"/>
            </a:endParaRPr>
          </a:p>
          <a:p>
            <a:pPr marL="17780" marR="146050" indent="-5715">
              <a:lnSpc>
                <a:spcPct val="116199"/>
              </a:lnSpc>
              <a:spcBef>
                <a:spcPts val="62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22,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wanted.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your-ec2-instance-public-</a:t>
            </a:r>
            <a:r>
              <a:rPr lang="en-US" sz="800" spc="-50" noProof="1">
                <a:latin typeface="Courier New"/>
                <a:cs typeface="Courier New"/>
              </a:rPr>
              <a:t>ip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-</a:t>
            </a:r>
            <a:r>
              <a:rPr lang="en-US" sz="800" noProof="1">
                <a:latin typeface="Courier New"/>
                <a:cs typeface="Courier New"/>
              </a:rPr>
              <a:t>p </a:t>
            </a:r>
            <a:r>
              <a:rPr lang="en-US" sz="800" spc="-25" noProof="1">
                <a:latin typeface="Courier New"/>
                <a:cs typeface="Courier New"/>
              </a:rPr>
              <a:t>22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24130" indent="-4445">
              <a:lnSpc>
                <a:spcPct val="116199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above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didn’t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specify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port.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notice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specify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port: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your-ec2-instance-public-</a:t>
            </a:r>
            <a:r>
              <a:rPr lang="en-US" sz="800" spc="-50" noProof="1">
                <a:latin typeface="Courier New"/>
                <a:cs typeface="Courier New"/>
              </a:rPr>
              <a:t>ip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-</a:t>
            </a:r>
            <a:r>
              <a:rPr lang="en-US" sz="800" noProof="1">
                <a:latin typeface="Courier New"/>
                <a:cs typeface="Courier New"/>
              </a:rPr>
              <a:t>p </a:t>
            </a:r>
            <a:r>
              <a:rPr lang="en-US" sz="800" spc="-20" noProof="1">
                <a:latin typeface="Courier New"/>
                <a:cs typeface="Courier New"/>
              </a:rPr>
              <a:t>1234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ssh: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connect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host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your-ec2-instance-public-</a:t>
            </a:r>
            <a:r>
              <a:rPr lang="en-US" sz="800" spc="-50" noProof="1">
                <a:latin typeface="Courier New"/>
                <a:cs typeface="Courier New"/>
              </a:rPr>
              <a:t>ip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2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port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1234: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Connection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timed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out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35609" cy="5080"/>
            </a:xfrm>
            <a:custGeom>
              <a:avLst/>
              <a:gdLst/>
              <a:ahLst/>
              <a:cxnLst/>
              <a:rect l="l" t="t" r="r" b="b"/>
              <a:pathLst>
                <a:path w="435609" h="5080">
                  <a:moveTo>
                    <a:pt x="0" y="5060"/>
                  </a:moveTo>
                  <a:lnTo>
                    <a:pt x="0" y="0"/>
                  </a:lnTo>
                  <a:lnTo>
                    <a:pt x="435591" y="0"/>
                  </a:lnTo>
                  <a:lnTo>
                    <a:pt x="43559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Ports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392784"/>
            <a:ext cx="5015230" cy="320040"/>
            <a:chOff x="372646" y="1392784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398131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399110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8773" y="1815992"/>
            <a:ext cx="204657" cy="12075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63917" y="2294371"/>
            <a:ext cx="4032250" cy="354965"/>
            <a:chOff x="863993" y="2185854"/>
            <a:chExt cx="4032250" cy="354965"/>
          </a:xfrm>
        </p:grpSpPr>
        <p:sp>
          <p:nvSpPr>
            <p:cNvPr id="8" name="object 8"/>
            <p:cNvSpPr/>
            <p:nvPr/>
          </p:nvSpPr>
          <p:spPr>
            <a:xfrm>
              <a:off x="863993" y="2185854"/>
              <a:ext cx="4032250" cy="354965"/>
            </a:xfrm>
            <a:custGeom>
              <a:avLst/>
              <a:gdLst/>
              <a:ahLst/>
              <a:cxnLst/>
              <a:rect l="l" t="t" r="r" b="b"/>
              <a:pathLst>
                <a:path w="4032250" h="354964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300488"/>
                  </a:lnTo>
                  <a:lnTo>
                    <a:pt x="4243" y="321508"/>
                  </a:lnTo>
                  <a:lnTo>
                    <a:pt x="15816" y="338672"/>
                  </a:lnTo>
                  <a:lnTo>
                    <a:pt x="32980" y="350245"/>
                  </a:lnTo>
                  <a:lnTo>
                    <a:pt x="54000" y="354488"/>
                  </a:lnTo>
                  <a:lnTo>
                    <a:pt x="3978067" y="354488"/>
                  </a:lnTo>
                  <a:lnTo>
                    <a:pt x="3999086" y="350245"/>
                  </a:lnTo>
                  <a:lnTo>
                    <a:pt x="4016251" y="338672"/>
                  </a:lnTo>
                  <a:lnTo>
                    <a:pt x="4027823" y="321508"/>
                  </a:lnTo>
                  <a:lnTo>
                    <a:pt x="4032067" y="300488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881993" y="2203853"/>
              <a:ext cx="3996690" cy="318770"/>
            </a:xfrm>
            <a:custGeom>
              <a:avLst/>
              <a:gdLst/>
              <a:ahLst/>
              <a:cxnLst/>
              <a:rect l="l" t="t" r="r" b="b"/>
              <a:pathLst>
                <a:path w="3996690" h="318769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82488"/>
                  </a:lnTo>
                  <a:lnTo>
                    <a:pt x="2829" y="296501"/>
                  </a:lnTo>
                  <a:lnTo>
                    <a:pt x="10544" y="307944"/>
                  </a:lnTo>
                  <a:lnTo>
                    <a:pt x="21987" y="315660"/>
                  </a:lnTo>
                  <a:lnTo>
                    <a:pt x="36000" y="318489"/>
                  </a:lnTo>
                  <a:lnTo>
                    <a:pt x="3960067" y="318489"/>
                  </a:lnTo>
                  <a:lnTo>
                    <a:pt x="3974080" y="315660"/>
                  </a:lnTo>
                  <a:lnTo>
                    <a:pt x="3985523" y="307944"/>
                  </a:lnTo>
                  <a:lnTo>
                    <a:pt x="3993238" y="296501"/>
                  </a:lnTo>
                  <a:lnTo>
                    <a:pt x="3996067" y="282488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10393" y="613802"/>
            <a:ext cx="5071110" cy="1979930"/>
          </a:xfrm>
          <a:prstGeom prst="rect">
            <a:avLst/>
          </a:prstGeom>
        </p:spPr>
        <p:txBody>
          <a:bodyPr vert="horz" wrap="square" lIns="0" tIns="186906" rIns="0" bIns="0" rtlCol="0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lang="en-US" noProof="1"/>
              <a:t>What</a:t>
            </a:r>
            <a:r>
              <a:rPr lang="en-US" spc="10" noProof="1"/>
              <a:t> </a:t>
            </a:r>
            <a:r>
              <a:rPr lang="en-US" noProof="1"/>
              <a:t>did</a:t>
            </a:r>
            <a:r>
              <a:rPr lang="en-US" spc="15" noProof="1"/>
              <a:t> </a:t>
            </a:r>
            <a:r>
              <a:rPr lang="en-US" spc="-40" noProof="1"/>
              <a:t>we</a:t>
            </a:r>
            <a:r>
              <a:rPr lang="en-US" spc="15" noProof="1"/>
              <a:t> </a:t>
            </a:r>
            <a:r>
              <a:rPr lang="en-US" noProof="1"/>
              <a:t>do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75" noProof="1"/>
              <a:t>access</a:t>
            </a:r>
            <a:r>
              <a:rPr lang="en-US" spc="15" noProof="1"/>
              <a:t> </a:t>
            </a:r>
            <a:r>
              <a:rPr lang="en-US" noProof="1"/>
              <a:t>te</a:t>
            </a:r>
            <a:r>
              <a:rPr lang="en-US" spc="15" noProof="1"/>
              <a:t> </a:t>
            </a:r>
            <a:r>
              <a:rPr lang="en-US" noProof="1"/>
              <a:t>jupyter</a:t>
            </a:r>
            <a:r>
              <a:rPr lang="en-US" spc="15" noProof="1"/>
              <a:t> </a:t>
            </a:r>
            <a:r>
              <a:rPr lang="en-US" spc="-10" noProof="1"/>
              <a:t>notebook</a:t>
            </a:r>
            <a:r>
              <a:rPr lang="en-US" spc="15" noProof="1"/>
              <a:t> </a:t>
            </a:r>
            <a:r>
              <a:rPr lang="en-US" spc="-40" noProof="1"/>
              <a:t>service?</a:t>
            </a:r>
            <a:r>
              <a:rPr lang="en-US" spc="100" noProof="1"/>
              <a:t> </a:t>
            </a:r>
            <a:r>
              <a:rPr lang="en-US" spc="-10" noProof="1"/>
              <a:t>We</a:t>
            </a:r>
            <a:r>
              <a:rPr lang="en-US" spc="15" noProof="1"/>
              <a:t> </a:t>
            </a:r>
            <a:r>
              <a:rPr lang="en-US" spc="-55" noProof="1"/>
              <a:t>used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public</a:t>
            </a:r>
            <a:r>
              <a:rPr lang="en-US" spc="15" noProof="1"/>
              <a:t> </a:t>
            </a:r>
            <a:r>
              <a:rPr lang="en-US" noProof="1"/>
              <a:t>IP</a:t>
            </a:r>
            <a:r>
              <a:rPr lang="en-US" spc="15" noProof="1"/>
              <a:t> </a:t>
            </a:r>
            <a:r>
              <a:rPr lang="en-US" spc="-45" noProof="1"/>
              <a:t>address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25" noProof="1"/>
              <a:t>EC2 instance</a:t>
            </a:r>
            <a:r>
              <a:rPr lang="en-US" spc="5" noProof="1"/>
              <a:t> </a:t>
            </a:r>
            <a:r>
              <a:rPr lang="en-US" noProof="1"/>
              <a:t>(or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DNS</a:t>
            </a:r>
            <a:r>
              <a:rPr lang="en-US" spc="10" noProof="1"/>
              <a:t> </a:t>
            </a:r>
            <a:r>
              <a:rPr lang="en-US" spc="-20" noProof="1"/>
              <a:t>name)</a:t>
            </a:r>
            <a:r>
              <a:rPr lang="en-US" spc="5" noProof="1"/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noProof="1"/>
              <a:t>port</a:t>
            </a:r>
            <a:r>
              <a:rPr lang="en-US" spc="5" noProof="1"/>
              <a:t> </a:t>
            </a:r>
            <a:r>
              <a:rPr lang="en-US" spc="-10" noProof="1"/>
              <a:t>8888.</a:t>
            </a:r>
            <a:r>
              <a:rPr lang="en-US" spc="95" noProof="1"/>
              <a:t> </a:t>
            </a:r>
            <a:r>
              <a:rPr lang="en-US" noProof="1"/>
              <a:t>But</a:t>
            </a:r>
            <a:r>
              <a:rPr lang="en-US" spc="10" noProof="1"/>
              <a:t> </a:t>
            </a:r>
            <a:r>
              <a:rPr lang="en-US" spc="-20" noProof="1"/>
              <a:t>instead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5" noProof="1"/>
              <a:t> </a:t>
            </a:r>
            <a:r>
              <a:rPr lang="en-US" spc="-20" noProof="1"/>
              <a:t>using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5" noProof="1"/>
              <a:t>SSH</a:t>
            </a:r>
            <a:r>
              <a:rPr lang="en-US" spc="5" noProof="1"/>
              <a:t> </a:t>
            </a:r>
            <a:r>
              <a:rPr lang="en-US" spc="-25" noProof="1"/>
              <a:t>command,</a:t>
            </a:r>
            <a:r>
              <a:rPr lang="en-US" spc="10" noProof="1"/>
              <a:t> </a:t>
            </a:r>
            <a:r>
              <a:rPr lang="en-US" spc="-40" noProof="1"/>
              <a:t>we</a:t>
            </a:r>
            <a:r>
              <a:rPr lang="en-US" spc="5" noProof="1"/>
              <a:t> </a:t>
            </a:r>
            <a:r>
              <a:rPr lang="en-US" noProof="1"/>
              <a:t>typed</a:t>
            </a:r>
            <a:r>
              <a:rPr lang="en-US" spc="5" noProof="1"/>
              <a:t> </a:t>
            </a:r>
            <a:r>
              <a:rPr lang="en-US" spc="-25" noProof="1"/>
              <a:t>the </a:t>
            </a:r>
            <a:r>
              <a:rPr lang="en-US" spc="-10" noProof="1"/>
              <a:t>following</a:t>
            </a:r>
            <a:r>
              <a:rPr lang="en-US" spc="30" noProof="1"/>
              <a:t> </a:t>
            </a:r>
            <a:r>
              <a:rPr lang="en-US" noProof="1"/>
              <a:t>in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browser:</a:t>
            </a: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pc="-10" noProof="1"/>
          </a:p>
          <a:p>
            <a:pPr marL="215900">
              <a:lnSpc>
                <a:spcPct val="100000"/>
              </a:lnSpc>
            </a:pPr>
            <a:r>
              <a:rPr lang="en-US" sz="800" spc="-60" noProof="1">
                <a:solidFill>
                  <a:srgbClr val="000000"/>
                </a:solidFill>
                <a:latin typeface="Courier New"/>
                <a:cs typeface="Courier New"/>
              </a:rPr>
              <a:t>http://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solidFill>
                  <a:srgbClr val="000000"/>
                </a:solidFill>
                <a:latin typeface="Courier New"/>
                <a:cs typeface="Courier New"/>
              </a:rPr>
              <a:t>your-ec2-instance-public-</a:t>
            </a: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ip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:8888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104139" indent="-4445">
              <a:lnSpc>
                <a:spcPct val="116199"/>
              </a:lnSpc>
            </a:pPr>
            <a:r>
              <a:rPr lang="en-US" noProof="1"/>
              <a:t>That</a:t>
            </a:r>
            <a:r>
              <a:rPr lang="en-US" spc="-25" noProof="1"/>
              <a:t> </a:t>
            </a:r>
            <a:r>
              <a:rPr lang="en-US" noProof="1"/>
              <a:t>is</a:t>
            </a:r>
            <a:r>
              <a:rPr lang="en-US" spc="20" noProof="1"/>
              <a:t> </a:t>
            </a:r>
            <a:r>
              <a:rPr lang="en-US" spc="-50" noProof="1"/>
              <a:t>because</a:t>
            </a:r>
            <a:r>
              <a:rPr lang="en-US" spc="20" noProof="1"/>
              <a:t> </a:t>
            </a:r>
            <a:r>
              <a:rPr lang="en-US" noProof="1"/>
              <a:t>for</a:t>
            </a:r>
            <a:r>
              <a:rPr lang="en-US" spc="20" noProof="1"/>
              <a:t> </a:t>
            </a:r>
            <a:r>
              <a:rPr lang="en-US" spc="-25" noProof="1"/>
              <a:t>SSH,</a:t>
            </a:r>
            <a:r>
              <a:rPr lang="en-US" spc="20" noProof="1"/>
              <a:t> </a:t>
            </a:r>
            <a:r>
              <a:rPr lang="en-US" spc="-40" noProof="1"/>
              <a:t>we</a:t>
            </a:r>
            <a:r>
              <a:rPr lang="en-US" spc="20" noProof="1"/>
              <a:t> </a:t>
            </a:r>
            <a:r>
              <a:rPr lang="en-US" spc="-55" noProof="1"/>
              <a:t>use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10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ssh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-25" noProof="1"/>
              <a:t>command</a:t>
            </a:r>
            <a:r>
              <a:rPr lang="en-US" spc="20" noProof="1"/>
              <a:t> </a:t>
            </a:r>
            <a:r>
              <a:rPr lang="en-US" noProof="1"/>
              <a:t>and</a:t>
            </a:r>
            <a:r>
              <a:rPr lang="en-US" spc="20" noProof="1"/>
              <a:t> </a:t>
            </a:r>
            <a:r>
              <a:rPr lang="en-US" noProof="1"/>
              <a:t>point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20" noProof="1"/>
              <a:t>specific</a:t>
            </a:r>
            <a:r>
              <a:rPr lang="en-US" spc="20" noProof="1"/>
              <a:t> </a:t>
            </a:r>
            <a:r>
              <a:rPr lang="en-US" noProof="1"/>
              <a:t>IP</a:t>
            </a:r>
            <a:r>
              <a:rPr lang="en-US" spc="20" noProof="1"/>
              <a:t> </a:t>
            </a:r>
            <a:r>
              <a:rPr lang="en-US" spc="-45" noProof="1"/>
              <a:t>address</a:t>
            </a:r>
            <a:r>
              <a:rPr lang="en-US" spc="20" noProof="1"/>
              <a:t> </a:t>
            </a:r>
            <a:r>
              <a:rPr lang="en-US" noProof="1"/>
              <a:t>(or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DNS</a:t>
            </a:r>
            <a:r>
              <a:rPr lang="en-US" spc="10" noProof="1"/>
              <a:t> </a:t>
            </a:r>
            <a:r>
              <a:rPr lang="en-US" spc="-20" noProof="1"/>
              <a:t>name)</a:t>
            </a:r>
            <a:r>
              <a:rPr lang="en-US" spc="5" noProof="1"/>
              <a:t> </a:t>
            </a:r>
            <a:r>
              <a:rPr lang="en-US" noProof="1"/>
              <a:t>and</a:t>
            </a:r>
            <a:r>
              <a:rPr lang="en-US" spc="20" noProof="1"/>
              <a:t> </a:t>
            </a:r>
            <a:r>
              <a:rPr lang="en-US" noProof="1"/>
              <a:t>port.</a:t>
            </a:r>
            <a:r>
              <a:rPr lang="en-US" spc="110" noProof="1"/>
              <a:t> </a:t>
            </a:r>
            <a:r>
              <a:rPr lang="en-US" spc="-25" noProof="1"/>
              <a:t>But </a:t>
            </a:r>
            <a:r>
              <a:rPr lang="en-US" noProof="1"/>
              <a:t>for</a:t>
            </a:r>
            <a:r>
              <a:rPr lang="en-US" spc="5" noProof="1"/>
              <a:t> </a:t>
            </a:r>
            <a:r>
              <a:rPr lang="en-US" noProof="1"/>
              <a:t>jupyter</a:t>
            </a:r>
            <a:r>
              <a:rPr lang="en-US" spc="10" noProof="1"/>
              <a:t> </a:t>
            </a:r>
            <a:r>
              <a:rPr lang="en-US" spc="-20" noProof="1"/>
              <a:t>notebooks,</a:t>
            </a:r>
            <a:r>
              <a:rPr lang="en-US" spc="10" noProof="1"/>
              <a:t> </a:t>
            </a:r>
            <a:r>
              <a:rPr lang="en-US" spc="-40" noProof="1"/>
              <a:t>we</a:t>
            </a:r>
            <a:r>
              <a:rPr lang="en-US" spc="10" noProof="1"/>
              <a:t> </a:t>
            </a:r>
            <a:r>
              <a:rPr lang="en-US" spc="-55" noProof="1"/>
              <a:t>use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40" noProof="1"/>
              <a:t>browser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0" noProof="1"/>
              <a:t> </a:t>
            </a:r>
            <a:r>
              <a:rPr lang="en-US" noProof="1"/>
              <a:t>point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specific</a:t>
            </a:r>
            <a:r>
              <a:rPr lang="en-US" spc="10" noProof="1"/>
              <a:t> </a:t>
            </a:r>
            <a:r>
              <a:rPr lang="en-US" noProof="1"/>
              <a:t>IP</a:t>
            </a:r>
            <a:r>
              <a:rPr lang="en-US" spc="10" noProof="1"/>
              <a:t> </a:t>
            </a:r>
            <a:r>
              <a:rPr lang="en-US" spc="-45" noProof="1"/>
              <a:t>address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0" noProof="1"/>
              <a:t> </a:t>
            </a:r>
            <a:r>
              <a:rPr lang="en-US" spc="-10" noProof="1"/>
              <a:t>port.</a:t>
            </a: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lang="en-US" spc="-10" noProof="1"/>
          </a:p>
          <a:p>
            <a:pPr marL="27940" algn="ctr">
              <a:lnSpc>
                <a:spcPct val="100000"/>
              </a:lnSpc>
            </a:pPr>
            <a:r>
              <a:rPr lang="en-US" noProof="1">
                <a:solidFill>
                  <a:srgbClr val="000000"/>
                </a:solidFill>
              </a:rPr>
              <a:t>In</a:t>
            </a:r>
            <a:r>
              <a:rPr lang="en-US" spc="-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both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75" noProof="1">
                <a:solidFill>
                  <a:srgbClr val="000000"/>
                </a:solidFill>
              </a:rPr>
              <a:t>cases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50" noProof="1">
                <a:solidFill>
                  <a:srgbClr val="000000"/>
                </a:solidFill>
              </a:rPr>
              <a:t>we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spc="-40" noProof="1">
                <a:solidFill>
                  <a:srgbClr val="000000"/>
                </a:solidFill>
              </a:rPr>
              <a:t>are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50" noProof="1">
                <a:solidFill>
                  <a:srgbClr val="000000"/>
                </a:solidFill>
              </a:rPr>
              <a:t>accessing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a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spc="-40" noProof="1">
                <a:solidFill>
                  <a:srgbClr val="000000"/>
                </a:solidFill>
              </a:rPr>
              <a:t>service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on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a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20" noProof="1">
                <a:solidFill>
                  <a:srgbClr val="000000"/>
                </a:solidFill>
              </a:rPr>
              <a:t>remote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spc="-10" noProof="1">
                <a:solidFill>
                  <a:srgbClr val="000000"/>
                </a:solidFill>
              </a:rPr>
              <a:t>device.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484505" cy="5080"/>
            </a:xfrm>
            <a:custGeom>
              <a:avLst/>
              <a:gdLst/>
              <a:ahLst/>
              <a:cxnLst/>
              <a:rect l="l" t="t" r="r" b="b"/>
              <a:pathLst>
                <a:path w="484505" h="5080">
                  <a:moveTo>
                    <a:pt x="0" y="5060"/>
                  </a:moveTo>
                  <a:lnTo>
                    <a:pt x="0" y="0"/>
                  </a:lnTo>
                  <a:lnTo>
                    <a:pt x="484019" y="0"/>
                  </a:lnTo>
                  <a:lnTo>
                    <a:pt x="4840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Recap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1124" rIns="0" bIns="0" rtlCol="0">
            <a:spAutoFit/>
          </a:bodyPr>
          <a:lstStyle/>
          <a:p>
            <a:pPr marL="17780" marR="92710" indent="-5715">
              <a:lnSpc>
                <a:spcPct val="116199"/>
              </a:lnSpc>
              <a:spcBef>
                <a:spcPts val="100"/>
              </a:spcBef>
            </a:pPr>
            <a:r>
              <a:rPr lang="en-US" spc="-20" noProof="1"/>
              <a:t>We’ve</a:t>
            </a:r>
            <a:r>
              <a:rPr lang="en-US" spc="-35" noProof="1"/>
              <a:t> </a:t>
            </a:r>
            <a:r>
              <a:rPr lang="en-US" spc="-70" noProof="1"/>
              <a:t>seen</a:t>
            </a:r>
            <a:r>
              <a:rPr lang="en-US" spc="10" noProof="1"/>
              <a:t> </a:t>
            </a:r>
            <a:r>
              <a:rPr lang="en-US" spc="-10" noProof="1"/>
              <a:t>how </a:t>
            </a:r>
            <a:r>
              <a:rPr lang="en-US" noProof="1"/>
              <a:t>IP</a:t>
            </a:r>
            <a:r>
              <a:rPr lang="en-US" spc="-5" noProof="1"/>
              <a:t> </a:t>
            </a:r>
            <a:r>
              <a:rPr lang="en-US" spc="-60" noProof="1"/>
              <a:t>addresses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spc="-10" noProof="1"/>
              <a:t> </a:t>
            </a:r>
            <a:r>
              <a:rPr lang="en-US" spc="-55" noProof="1"/>
              <a:t>used</a:t>
            </a:r>
            <a:r>
              <a:rPr lang="en-US" spc="-5" noProof="1"/>
              <a:t> </a:t>
            </a:r>
            <a:r>
              <a:rPr lang="en-US" noProof="1"/>
              <a:t>to</a:t>
            </a:r>
            <a:r>
              <a:rPr lang="en-US" spc="-10" noProof="1"/>
              <a:t> </a:t>
            </a:r>
            <a:r>
              <a:rPr lang="en-US" b="1" spc="-10" noProof="1">
                <a:latin typeface="Arial"/>
                <a:cs typeface="Arial"/>
              </a:rPr>
              <a:t>identify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45" noProof="1">
                <a:latin typeface="Arial"/>
                <a:cs typeface="Arial"/>
              </a:rPr>
              <a:t>devices</a:t>
            </a:r>
            <a:r>
              <a:rPr lang="en-US" spc="-45" noProof="1"/>
              <a:t>,</a:t>
            </a:r>
            <a:r>
              <a:rPr lang="en-US" spc="-10" noProof="1"/>
              <a:t> </a:t>
            </a:r>
            <a:r>
              <a:rPr lang="en-US" noProof="1"/>
              <a:t>and</a:t>
            </a:r>
            <a:r>
              <a:rPr lang="en-US" spc="-10" noProof="1"/>
              <a:t> how</a:t>
            </a:r>
            <a:r>
              <a:rPr lang="en-US" spc="-5" noProof="1"/>
              <a:t> </a:t>
            </a:r>
            <a:r>
              <a:rPr lang="en-US" spc="-10" noProof="1"/>
              <a:t>there’s private </a:t>
            </a: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noProof="1"/>
              <a:t>public</a:t>
            </a:r>
            <a:r>
              <a:rPr lang="en-US" spc="-10" noProof="1"/>
              <a:t> </a:t>
            </a:r>
            <a:r>
              <a:rPr lang="en-US" spc="-25" noProof="1"/>
              <a:t>IP </a:t>
            </a:r>
            <a:r>
              <a:rPr lang="en-US" spc="-60" noProof="1"/>
              <a:t>addresses</a:t>
            </a:r>
            <a:r>
              <a:rPr lang="en-US" spc="10" noProof="1"/>
              <a:t> </a:t>
            </a:r>
            <a:r>
              <a:rPr lang="en-US" noProof="1"/>
              <a:t>that</a:t>
            </a:r>
            <a:r>
              <a:rPr lang="en-US" spc="15" noProof="1"/>
              <a:t> </a:t>
            </a:r>
            <a:r>
              <a:rPr lang="en-US" spc="-30" noProof="1"/>
              <a:t>are</a:t>
            </a:r>
            <a:r>
              <a:rPr lang="en-US" spc="15" noProof="1"/>
              <a:t> </a:t>
            </a:r>
            <a:r>
              <a:rPr lang="en-US" spc="-55" noProof="1"/>
              <a:t>used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noProof="1"/>
              <a:t>identify</a:t>
            </a:r>
            <a:r>
              <a:rPr lang="en-US" spc="15" noProof="1"/>
              <a:t> </a:t>
            </a:r>
            <a:r>
              <a:rPr lang="en-US" spc="-45" noProof="1"/>
              <a:t>devices</a:t>
            </a:r>
            <a:r>
              <a:rPr lang="en-US" spc="15" noProof="1"/>
              <a:t> </a:t>
            </a:r>
            <a:r>
              <a:rPr lang="en-US" b="1" spc="-10" noProof="1">
                <a:latin typeface="Arial"/>
                <a:cs typeface="Arial"/>
              </a:rPr>
              <a:t>within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a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network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noProof="1"/>
              <a:t>and</a:t>
            </a:r>
            <a:r>
              <a:rPr lang="en-US" spc="15" noProof="1"/>
              <a:t> </a:t>
            </a:r>
            <a:r>
              <a:rPr lang="en-US" b="1" noProof="1">
                <a:latin typeface="Arial"/>
                <a:cs typeface="Arial"/>
              </a:rPr>
              <a:t>on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internet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spc="-30" noProof="1"/>
              <a:t>respectively.</a:t>
            </a:r>
            <a:r>
              <a:rPr lang="en-US" spc="100" noProof="1"/>
              <a:t> </a:t>
            </a:r>
            <a:r>
              <a:rPr lang="en-US" spc="-20" noProof="1"/>
              <a:t>Some </a:t>
            </a:r>
            <a:r>
              <a:rPr lang="en-US" spc="-30" noProof="1"/>
              <a:t>questions</a:t>
            </a:r>
            <a:r>
              <a:rPr lang="en-US" spc="65" noProof="1"/>
              <a:t> </a:t>
            </a:r>
            <a:r>
              <a:rPr lang="en-US" noProof="1"/>
              <a:t>to</a:t>
            </a:r>
            <a:r>
              <a:rPr lang="en-US" spc="70" noProof="1"/>
              <a:t> </a:t>
            </a:r>
            <a:r>
              <a:rPr lang="en-US" noProof="1"/>
              <a:t>think</a:t>
            </a:r>
            <a:r>
              <a:rPr lang="en-US" spc="65" noProof="1"/>
              <a:t> </a:t>
            </a:r>
            <a:r>
              <a:rPr lang="en-US" spc="-10" noProof="1"/>
              <a:t>about:</a:t>
            </a: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lang="en-US" noProof="1"/>
              <a:t>How do</a:t>
            </a:r>
            <a:r>
              <a:rPr lang="en-US" spc="5" noProof="1"/>
              <a:t> </a:t>
            </a:r>
            <a:r>
              <a:rPr lang="en-US" noProof="1"/>
              <a:t>multiple</a:t>
            </a:r>
            <a:r>
              <a:rPr lang="en-US" spc="5" noProof="1"/>
              <a:t> </a:t>
            </a:r>
            <a:r>
              <a:rPr lang="en-US" spc="-45" noProof="1"/>
              <a:t>devices</a:t>
            </a:r>
            <a:r>
              <a:rPr lang="en-US" spc="5" noProof="1"/>
              <a:t> </a:t>
            </a:r>
            <a:r>
              <a:rPr lang="en-US" noProof="1"/>
              <a:t>in 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5" noProof="1"/>
              <a:t> </a:t>
            </a:r>
            <a:r>
              <a:rPr lang="en-US" spc="-55" noProof="1"/>
              <a:t>share</a:t>
            </a:r>
            <a:r>
              <a:rPr lang="en-US" spc="5" noProof="1"/>
              <a:t> </a:t>
            </a:r>
            <a:r>
              <a:rPr lang="en-US" noProof="1"/>
              <a:t>a </a:t>
            </a:r>
            <a:r>
              <a:rPr lang="en-US" spc="-25" noProof="1"/>
              <a:t>single</a:t>
            </a:r>
            <a:r>
              <a:rPr lang="en-US" spc="5" noProof="1"/>
              <a:t> </a:t>
            </a:r>
            <a:r>
              <a:rPr lang="en-US" noProof="1"/>
              <a:t>public</a:t>
            </a:r>
            <a:r>
              <a:rPr lang="en-US" spc="5" noProof="1"/>
              <a:t> </a:t>
            </a:r>
            <a:r>
              <a:rPr lang="en-US" noProof="1"/>
              <a:t>IP</a:t>
            </a:r>
            <a:r>
              <a:rPr lang="en-US" spc="5" noProof="1"/>
              <a:t> </a:t>
            </a:r>
            <a:r>
              <a:rPr lang="en-US" spc="-10" noProof="1"/>
              <a:t>address?</a:t>
            </a:r>
          </a:p>
          <a:p>
            <a:pPr marL="23939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noProof="1"/>
              <a:t>What</a:t>
            </a:r>
            <a:r>
              <a:rPr lang="en-US" spc="5" noProof="1"/>
              <a:t> </a:t>
            </a:r>
            <a:r>
              <a:rPr lang="en-US" spc="-40" noProof="1"/>
              <a:t>even</a:t>
            </a:r>
            <a:r>
              <a:rPr lang="en-US" spc="5" noProof="1"/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10" noProof="1"/>
              <a:t>network?</a:t>
            </a:r>
          </a:p>
          <a:p>
            <a:pPr marL="245745" marR="5080" indent="-147955">
              <a:lnSpc>
                <a:spcPct val="116199"/>
              </a:lnSpc>
              <a:buChar char="•"/>
              <a:tabLst>
                <a:tab pos="245745" algn="l"/>
              </a:tabLst>
            </a:pPr>
            <a:r>
              <a:rPr lang="en-US" noProof="1"/>
              <a:t>How</a:t>
            </a:r>
            <a:r>
              <a:rPr lang="en-US" spc="-20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spc="-40" noProof="1"/>
              <a:t>we</a:t>
            </a:r>
            <a:r>
              <a:rPr lang="en-US" spc="-10" noProof="1"/>
              <a:t> </a:t>
            </a:r>
            <a:r>
              <a:rPr lang="en-US" spc="-40" noProof="1"/>
              <a:t>manage</a:t>
            </a:r>
            <a:r>
              <a:rPr lang="en-US" spc="-15" noProof="1"/>
              <a:t> </a:t>
            </a:r>
            <a:r>
              <a:rPr lang="en-US" noProof="1"/>
              <a:t>the</a:t>
            </a:r>
            <a:r>
              <a:rPr lang="en-US" spc="-10" noProof="1"/>
              <a:t> </a:t>
            </a:r>
            <a:r>
              <a:rPr lang="en-US" noProof="1"/>
              <a:t>IP</a:t>
            </a:r>
            <a:r>
              <a:rPr lang="en-US" spc="-10" noProof="1"/>
              <a:t> </a:t>
            </a:r>
            <a:r>
              <a:rPr lang="en-US" spc="-60" noProof="1"/>
              <a:t>addresses</a:t>
            </a:r>
            <a:r>
              <a:rPr lang="en-US" noProof="1"/>
              <a:t> in</a:t>
            </a:r>
            <a:r>
              <a:rPr lang="en-US" spc="-15" noProof="1"/>
              <a:t> </a:t>
            </a:r>
            <a:r>
              <a:rPr lang="en-US" noProof="1"/>
              <a:t>a</a:t>
            </a:r>
            <a:r>
              <a:rPr lang="en-US" spc="-5" noProof="1"/>
              <a:t> </a:t>
            </a:r>
            <a:r>
              <a:rPr lang="en-US" spc="-20" noProof="1"/>
              <a:t>network?</a:t>
            </a:r>
            <a:r>
              <a:rPr lang="en-US" spc="70" noProof="1"/>
              <a:t> </a:t>
            </a:r>
            <a:r>
              <a:rPr lang="en-US" noProof="1"/>
              <a:t>How</a:t>
            </a:r>
            <a:r>
              <a:rPr lang="en-US" spc="-10" noProof="1"/>
              <a:t> </a:t>
            </a:r>
            <a:r>
              <a:rPr lang="en-US" noProof="1"/>
              <a:t>do</a:t>
            </a:r>
            <a:r>
              <a:rPr lang="en-US" spc="-10" noProof="1"/>
              <a:t> </a:t>
            </a:r>
            <a:r>
              <a:rPr lang="en-US" spc="-40" noProof="1"/>
              <a:t>we</a:t>
            </a:r>
            <a:r>
              <a:rPr lang="en-US" spc="-10" noProof="1"/>
              <a:t> </a:t>
            </a:r>
            <a:r>
              <a:rPr lang="en-US" spc="-45" noProof="1"/>
              <a:t>choose</a:t>
            </a:r>
            <a:r>
              <a:rPr lang="en-US" spc="-10" noProof="1"/>
              <a:t> </a:t>
            </a:r>
            <a:r>
              <a:rPr lang="en-US" noProof="1"/>
              <a:t>which</a:t>
            </a:r>
            <a:r>
              <a:rPr lang="en-US" spc="-10" noProof="1"/>
              <a:t> </a:t>
            </a:r>
            <a:r>
              <a:rPr lang="en-US" spc="-45" noProof="1"/>
              <a:t>devices</a:t>
            </a:r>
            <a:r>
              <a:rPr lang="en-US" spc="-10" noProof="1"/>
              <a:t> </a:t>
            </a:r>
            <a:r>
              <a:rPr lang="en-US" noProof="1"/>
              <a:t>get</a:t>
            </a:r>
            <a:r>
              <a:rPr lang="en-US" spc="-10" noProof="1"/>
              <a:t> </a:t>
            </a:r>
            <a:r>
              <a:rPr lang="en-US" noProof="1"/>
              <a:t>which</a:t>
            </a:r>
            <a:r>
              <a:rPr lang="en-US" spc="-10" noProof="1"/>
              <a:t> </a:t>
            </a:r>
            <a:r>
              <a:rPr lang="en-US" spc="-25" noProof="1"/>
              <a:t>IP </a:t>
            </a:r>
            <a:r>
              <a:rPr lang="en-US" spc="-10" noProof="1"/>
              <a:t>addresses?</a:t>
            </a:r>
          </a:p>
          <a:p>
            <a:pPr marL="17780" marR="213995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Let’s</a:t>
            </a:r>
            <a:r>
              <a:rPr lang="en-US" spc="10" noProof="1"/>
              <a:t> </a:t>
            </a:r>
            <a:r>
              <a:rPr lang="en-US" spc="-35" noProof="1"/>
              <a:t>explore</a:t>
            </a:r>
            <a:r>
              <a:rPr lang="en-US" spc="5" noProof="1"/>
              <a:t> </a:t>
            </a:r>
            <a:r>
              <a:rPr lang="en-US" spc="-30" noProof="1"/>
              <a:t>these</a:t>
            </a:r>
            <a:r>
              <a:rPr lang="en-US" spc="10" noProof="1"/>
              <a:t> </a:t>
            </a:r>
            <a:r>
              <a:rPr lang="en-US" spc="-30" noProof="1"/>
              <a:t>questions</a:t>
            </a:r>
            <a:r>
              <a:rPr lang="en-US" spc="10" noProof="1"/>
              <a:t> </a:t>
            </a:r>
            <a:r>
              <a:rPr lang="en-US" noProof="1"/>
              <a:t>further</a:t>
            </a:r>
            <a:r>
              <a:rPr lang="en-US" spc="10" noProof="1"/>
              <a:t> </a:t>
            </a:r>
            <a:r>
              <a:rPr lang="en-US" noProof="1"/>
              <a:t>starting</a:t>
            </a:r>
            <a:r>
              <a:rPr lang="en-US" spc="10" noProof="1"/>
              <a:t> </a:t>
            </a:r>
            <a:r>
              <a:rPr lang="en-US" noProof="1"/>
              <a:t>with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situation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10" noProof="1"/>
              <a:t> </a:t>
            </a:r>
            <a:r>
              <a:rPr lang="en-US" spc="-20" noProof="1"/>
              <a:t>may</a:t>
            </a:r>
            <a:r>
              <a:rPr lang="en-US" spc="10" noProof="1"/>
              <a:t> </a:t>
            </a:r>
            <a:r>
              <a:rPr lang="en-US" noProof="1"/>
              <a:t>be</a:t>
            </a:r>
            <a:r>
              <a:rPr lang="en-US" spc="10" noProof="1"/>
              <a:t> </a:t>
            </a:r>
            <a:r>
              <a:rPr lang="en-US" noProof="1"/>
              <a:t>familiar</a:t>
            </a:r>
            <a:r>
              <a:rPr lang="en-US" spc="10" noProof="1"/>
              <a:t> </a:t>
            </a:r>
            <a:r>
              <a:rPr lang="en-US" noProof="1"/>
              <a:t>with:</a:t>
            </a:r>
            <a:r>
              <a:rPr lang="en-US" spc="95" noProof="1"/>
              <a:t> </a:t>
            </a:r>
            <a:r>
              <a:rPr lang="en-US" spc="-10" noProof="1"/>
              <a:t>your</a:t>
            </a:r>
            <a:r>
              <a:rPr lang="en-US" spc="10" noProof="1"/>
              <a:t> </a:t>
            </a:r>
            <a:r>
              <a:rPr lang="en-US" spc="-20" noProof="1"/>
              <a:t>home </a:t>
            </a:r>
            <a:r>
              <a:rPr lang="en-US" spc="-10" noProof="1"/>
              <a:t>network.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629285" cy="5080"/>
            </a:xfrm>
            <a:custGeom>
              <a:avLst/>
              <a:gdLst/>
              <a:ahLst/>
              <a:cxnLst/>
              <a:rect l="l" t="t" r="r" b="b"/>
              <a:pathLst>
                <a:path w="629285" h="5080">
                  <a:moveTo>
                    <a:pt x="0" y="5060"/>
                  </a:moveTo>
                  <a:lnTo>
                    <a:pt x="0" y="0"/>
                  </a:lnTo>
                  <a:lnTo>
                    <a:pt x="629216" y="0"/>
                  </a:lnTo>
                  <a:lnTo>
                    <a:pt x="629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Our</a:t>
            </a:r>
            <a:r>
              <a:rPr lang="en-US" spc="5" noProof="1"/>
              <a:t> </a:t>
            </a:r>
            <a:r>
              <a:rPr lang="en-US" spc="-25" noProof="1"/>
              <a:t>home</a:t>
            </a:r>
            <a:r>
              <a:rPr lang="en-US" spc="5" noProof="1"/>
              <a:t> </a:t>
            </a:r>
            <a:r>
              <a:rPr lang="en-US" spc="-35" noProof="1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79834"/>
            <a:ext cx="506539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simple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connected.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could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phone,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TV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speaker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(like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Amazon Echo).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056" y="1368397"/>
            <a:ext cx="2369903" cy="11995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678180" cy="5080"/>
            </a:xfrm>
            <a:custGeom>
              <a:avLst/>
              <a:gdLst/>
              <a:ahLst/>
              <a:cxnLst/>
              <a:rect l="l" t="t" r="r" b="b"/>
              <a:pathLst>
                <a:path w="678180" h="5080">
                  <a:moveTo>
                    <a:pt x="0" y="5060"/>
                  </a:moveTo>
                  <a:lnTo>
                    <a:pt x="0" y="0"/>
                  </a:lnTo>
                  <a:lnTo>
                    <a:pt x="677645" y="0"/>
                  </a:lnTo>
                  <a:lnTo>
                    <a:pt x="6776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Our</a:t>
            </a:r>
            <a:r>
              <a:rPr lang="en-US" spc="5" noProof="1"/>
              <a:t> </a:t>
            </a:r>
            <a:r>
              <a:rPr lang="en-US" spc="-25" noProof="1"/>
              <a:t>home</a:t>
            </a:r>
            <a:r>
              <a:rPr lang="en-US" spc="5" noProof="1"/>
              <a:t> </a:t>
            </a:r>
            <a:r>
              <a:rPr lang="en-US" spc="-35" noProof="1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742470"/>
            <a:ext cx="484441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themselves. F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playing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spotify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my phone,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speaker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speaker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playing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song.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happening?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directly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speaker?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3488" y="1405798"/>
            <a:ext cx="2153025" cy="11995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26440" cy="5080"/>
            </a:xfrm>
            <a:custGeom>
              <a:avLst/>
              <a:gdLst/>
              <a:ahLst/>
              <a:cxnLst/>
              <a:rect l="l" t="t" r="r" b="b"/>
              <a:pathLst>
                <a:path w="726440" h="5080">
                  <a:moveTo>
                    <a:pt x="0" y="5060"/>
                  </a:moveTo>
                  <a:lnTo>
                    <a:pt x="0" y="0"/>
                  </a:lnTo>
                  <a:lnTo>
                    <a:pt x="726073" y="0"/>
                  </a:lnTo>
                  <a:lnTo>
                    <a:pt x="726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03482"/>
            <a:ext cx="5048250" cy="87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30" indent="3810" algn="just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No!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player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heard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it: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device we must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restart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working.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receptionist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between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speaker,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speaker.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538" y="1644787"/>
            <a:ext cx="2222928" cy="11995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74700" cy="5080"/>
            </a:xfrm>
            <a:custGeom>
              <a:avLst/>
              <a:gdLst/>
              <a:ahLst/>
              <a:cxnLst/>
              <a:rect l="l" t="t" r="r" b="b"/>
              <a:pathLst>
                <a:path w="774700" h="5080">
                  <a:moveTo>
                    <a:pt x="0" y="5060"/>
                  </a:moveTo>
                  <a:lnTo>
                    <a:pt x="0" y="0"/>
                  </a:lnTo>
                  <a:lnTo>
                    <a:pt x="774501" y="0"/>
                  </a:lnTo>
                  <a:lnTo>
                    <a:pt x="7745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776231"/>
            <a:ext cx="5015230" cy="312420"/>
            <a:chOff x="372646" y="1776231"/>
            <a:chExt cx="5015230" cy="312420"/>
          </a:xfrm>
        </p:grpSpPr>
        <p:sp>
          <p:nvSpPr>
            <p:cNvPr id="4" name="object 4"/>
            <p:cNvSpPr/>
            <p:nvPr/>
          </p:nvSpPr>
          <p:spPr>
            <a:xfrm>
              <a:off x="377994" y="1781578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432"/>
                  </a:lnTo>
                  <a:lnTo>
                    <a:pt x="2829" y="279445"/>
                  </a:lnTo>
                  <a:lnTo>
                    <a:pt x="10544" y="290888"/>
                  </a:lnTo>
                  <a:lnTo>
                    <a:pt x="21987" y="298603"/>
                  </a:lnTo>
                  <a:lnTo>
                    <a:pt x="36000" y="301432"/>
                  </a:lnTo>
                  <a:lnTo>
                    <a:pt x="4968064" y="301432"/>
                  </a:lnTo>
                  <a:lnTo>
                    <a:pt x="4982077" y="298603"/>
                  </a:lnTo>
                  <a:lnTo>
                    <a:pt x="4993521" y="290888"/>
                  </a:lnTo>
                  <a:lnTo>
                    <a:pt x="5001236" y="279445"/>
                  </a:lnTo>
                  <a:lnTo>
                    <a:pt x="5004065" y="26543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782557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45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453"/>
                  </a:lnTo>
                  <a:lnTo>
                    <a:pt x="4999354" y="278085"/>
                  </a:lnTo>
                  <a:lnTo>
                    <a:pt x="4991849" y="289217"/>
                  </a:lnTo>
                  <a:lnTo>
                    <a:pt x="4980717" y="296722"/>
                  </a:lnTo>
                  <a:lnTo>
                    <a:pt x="4967085" y="299474"/>
                  </a:lnTo>
                  <a:lnTo>
                    <a:pt x="35021" y="299474"/>
                  </a:lnTo>
                  <a:lnTo>
                    <a:pt x="21389" y="296722"/>
                  </a:lnTo>
                  <a:lnTo>
                    <a:pt x="10257" y="289217"/>
                  </a:lnTo>
                  <a:lnTo>
                    <a:pt x="2752" y="278085"/>
                  </a:lnTo>
                  <a:lnTo>
                    <a:pt x="0" y="26445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403941"/>
            <a:ext cx="5015230" cy="312420"/>
            <a:chOff x="372646" y="2403941"/>
            <a:chExt cx="5015230" cy="312420"/>
          </a:xfrm>
        </p:grpSpPr>
        <p:sp>
          <p:nvSpPr>
            <p:cNvPr id="7" name="object 7"/>
            <p:cNvSpPr/>
            <p:nvPr/>
          </p:nvSpPr>
          <p:spPr>
            <a:xfrm>
              <a:off x="377994" y="2409289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432"/>
                  </a:lnTo>
                  <a:lnTo>
                    <a:pt x="2829" y="279445"/>
                  </a:lnTo>
                  <a:lnTo>
                    <a:pt x="10544" y="290888"/>
                  </a:lnTo>
                  <a:lnTo>
                    <a:pt x="21987" y="298603"/>
                  </a:lnTo>
                  <a:lnTo>
                    <a:pt x="36000" y="301432"/>
                  </a:lnTo>
                  <a:lnTo>
                    <a:pt x="4968064" y="301432"/>
                  </a:lnTo>
                  <a:lnTo>
                    <a:pt x="4982077" y="298603"/>
                  </a:lnTo>
                  <a:lnTo>
                    <a:pt x="4993521" y="290888"/>
                  </a:lnTo>
                  <a:lnTo>
                    <a:pt x="5001236" y="279445"/>
                  </a:lnTo>
                  <a:lnTo>
                    <a:pt x="5004065" y="26543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410268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45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453"/>
                  </a:lnTo>
                  <a:lnTo>
                    <a:pt x="4999354" y="278085"/>
                  </a:lnTo>
                  <a:lnTo>
                    <a:pt x="4991849" y="289217"/>
                  </a:lnTo>
                  <a:lnTo>
                    <a:pt x="4980717" y="296722"/>
                  </a:lnTo>
                  <a:lnTo>
                    <a:pt x="4967085" y="299474"/>
                  </a:lnTo>
                  <a:lnTo>
                    <a:pt x="35021" y="299474"/>
                  </a:lnTo>
                  <a:lnTo>
                    <a:pt x="21389" y="296722"/>
                  </a:lnTo>
                  <a:lnTo>
                    <a:pt x="10257" y="289217"/>
                  </a:lnTo>
                  <a:lnTo>
                    <a:pt x="2752" y="278085"/>
                  </a:lnTo>
                  <a:lnTo>
                    <a:pt x="0" y="26445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341718" y="633263"/>
            <a:ext cx="5071110" cy="2005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>
              <a:lnSpc>
                <a:spcPct val="116199"/>
              </a:lnSpc>
              <a:spcBef>
                <a:spcPts val="100"/>
              </a:spcBef>
            </a:pPr>
            <a:r>
              <a:rPr lang="en-US" spc="-40" noProof="1"/>
              <a:t>Remember</a:t>
            </a:r>
            <a:r>
              <a:rPr lang="en-US" spc="-5" noProof="1"/>
              <a:t>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20" noProof="1"/>
              <a:t>said</a:t>
            </a:r>
            <a:r>
              <a:rPr lang="en-US" spc="-5" noProof="1"/>
              <a:t> </a:t>
            </a:r>
            <a:r>
              <a:rPr lang="en-US" spc="-10" noProof="1"/>
              <a:t>there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spc="-5" noProof="1"/>
              <a:t> </a:t>
            </a:r>
            <a:r>
              <a:rPr lang="en-US" noProof="1"/>
              <a:t>different</a:t>
            </a:r>
            <a:r>
              <a:rPr lang="en-US" spc="-5" noProof="1"/>
              <a:t> </a:t>
            </a:r>
            <a:r>
              <a:rPr lang="en-US" spc="-10" noProof="1"/>
              <a:t>private</a:t>
            </a:r>
            <a:r>
              <a:rPr lang="en-US" spc="-5" noProof="1"/>
              <a:t> </a:t>
            </a:r>
            <a:r>
              <a:rPr lang="en-US" noProof="1"/>
              <a:t>IP </a:t>
            </a:r>
            <a:r>
              <a:rPr lang="en-US" spc="-40" noProof="1"/>
              <a:t>ranges</a:t>
            </a:r>
            <a:r>
              <a:rPr lang="en-US" spc="-5" noProof="1"/>
              <a:t> </a:t>
            </a:r>
            <a:r>
              <a:rPr lang="en-US" spc="-45" noProof="1"/>
              <a:t>reserved</a:t>
            </a:r>
            <a:r>
              <a:rPr lang="en-US" spc="-5" noProof="1"/>
              <a:t> </a:t>
            </a:r>
            <a:r>
              <a:rPr lang="en-US" noProof="1"/>
              <a:t>for</a:t>
            </a:r>
            <a:r>
              <a:rPr lang="en-US" spc="-5" noProof="1"/>
              <a:t> </a:t>
            </a:r>
            <a:r>
              <a:rPr lang="en-US" spc="-10" noProof="1"/>
              <a:t>private</a:t>
            </a:r>
            <a:r>
              <a:rPr lang="en-US" spc="-5" noProof="1"/>
              <a:t> </a:t>
            </a:r>
            <a:r>
              <a:rPr lang="en-US" spc="-30" noProof="1"/>
              <a:t>networks?</a:t>
            </a:r>
            <a:r>
              <a:rPr lang="en-US" spc="75" noProof="1"/>
              <a:t> </a:t>
            </a:r>
            <a:r>
              <a:rPr lang="en-US" noProof="1"/>
              <a:t>Well, the</a:t>
            </a:r>
            <a:r>
              <a:rPr lang="en-US" spc="-5" noProof="1"/>
              <a:t> </a:t>
            </a:r>
            <a:r>
              <a:rPr lang="en-US" spc="-10" noProof="1"/>
              <a:t>router </a:t>
            </a:r>
            <a:r>
              <a:rPr lang="en-US" spc="-70" noProof="1"/>
              <a:t>uses</a:t>
            </a:r>
            <a:r>
              <a:rPr lang="en-US" spc="10" noProof="1"/>
              <a:t> </a:t>
            </a:r>
            <a:r>
              <a:rPr lang="en-US" spc="-30" noProof="1"/>
              <a:t>these</a:t>
            </a:r>
            <a:r>
              <a:rPr lang="en-US" spc="10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noProof="1"/>
              <a:t>IP</a:t>
            </a:r>
            <a:r>
              <a:rPr lang="en-US" spc="10" noProof="1"/>
              <a:t> </a:t>
            </a:r>
            <a:r>
              <a:rPr lang="en-US" spc="-60" noProof="1"/>
              <a:t>addresses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identify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5" noProof="1"/>
              <a:t>devices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10" noProof="1"/>
              <a:t>network.</a:t>
            </a:r>
            <a:r>
              <a:rPr lang="en-US" spc="95" noProof="1"/>
              <a:t> </a:t>
            </a:r>
            <a:r>
              <a:rPr lang="en-US" spc="-20" noProof="1"/>
              <a:t>So</a:t>
            </a:r>
            <a:r>
              <a:rPr lang="en-US" spc="10" noProof="1"/>
              <a:t> </a:t>
            </a:r>
            <a:r>
              <a:rPr lang="en-US" spc="-25" noProof="1"/>
              <a:t>when</a:t>
            </a:r>
            <a:r>
              <a:rPr lang="en-US" spc="10" noProof="1"/>
              <a:t> </a:t>
            </a:r>
            <a:r>
              <a:rPr lang="en-US" noProof="1"/>
              <a:t>my</a:t>
            </a:r>
            <a:r>
              <a:rPr lang="en-US" spc="10" noProof="1"/>
              <a:t> </a:t>
            </a:r>
            <a:r>
              <a:rPr lang="en-US" spc="-30" noProof="1"/>
              <a:t>phone</a:t>
            </a:r>
            <a:r>
              <a:rPr lang="en-US" spc="10" noProof="1"/>
              <a:t> </a:t>
            </a:r>
            <a:r>
              <a:rPr lang="en-US" spc="-55" noProof="1"/>
              <a:t>sends</a:t>
            </a:r>
            <a:r>
              <a:rPr lang="en-US" spc="10" noProof="1"/>
              <a:t> </a:t>
            </a:r>
            <a:r>
              <a:rPr lang="en-US" spc="-50" noProof="1"/>
              <a:t>a</a:t>
            </a:r>
            <a:r>
              <a:rPr lang="en-US" spc="500" noProof="1"/>
              <a:t> </a:t>
            </a:r>
            <a:r>
              <a:rPr lang="en-US" spc="-75" noProof="1"/>
              <a:t>message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smart</a:t>
            </a:r>
            <a:r>
              <a:rPr lang="en-US" spc="25" noProof="1"/>
              <a:t> </a:t>
            </a:r>
            <a:r>
              <a:rPr lang="en-US" spc="-40" noProof="1"/>
              <a:t>speaker,</a:t>
            </a:r>
            <a:r>
              <a:rPr lang="en-US" spc="25" noProof="1"/>
              <a:t> </a:t>
            </a:r>
            <a:r>
              <a:rPr lang="en-US" b="1" noProof="1">
                <a:latin typeface="Arial"/>
                <a:cs typeface="Arial"/>
              </a:rPr>
              <a:t>it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75" noProof="1">
                <a:latin typeface="Arial"/>
                <a:cs typeface="Arial"/>
              </a:rPr>
              <a:t>uses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private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IP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55" noProof="1">
                <a:latin typeface="Arial"/>
                <a:cs typeface="Arial"/>
              </a:rPr>
              <a:t>address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of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smart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speaker</a:t>
            </a:r>
            <a:r>
              <a:rPr lang="en-US" spc="-35" noProof="1"/>
              <a:t>.</a:t>
            </a:r>
            <a:r>
              <a:rPr lang="en-US" spc="114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55" noProof="1"/>
              <a:t>same</a:t>
            </a:r>
            <a:r>
              <a:rPr lang="en-US" spc="25" noProof="1"/>
              <a:t> </a:t>
            </a:r>
            <a:r>
              <a:rPr lang="en-US" spc="-40" noProof="1"/>
              <a:t>way</a:t>
            </a:r>
            <a:r>
              <a:rPr lang="en-US" spc="20" noProof="1"/>
              <a:t> </a:t>
            </a:r>
            <a:r>
              <a:rPr lang="en-US" spc="-50" noProof="1"/>
              <a:t>a</a:t>
            </a:r>
            <a:r>
              <a:rPr lang="en-US" noProof="1"/>
              <a:t> hotel</a:t>
            </a:r>
            <a:r>
              <a:rPr lang="en-US" spc="15" noProof="1"/>
              <a:t> </a:t>
            </a:r>
            <a:r>
              <a:rPr lang="en-US" spc="-70" noProof="1"/>
              <a:t>uses</a:t>
            </a:r>
            <a:r>
              <a:rPr lang="en-US" spc="15" noProof="1"/>
              <a:t> </a:t>
            </a:r>
            <a:r>
              <a:rPr lang="en-US" noProof="1"/>
              <a:t>room</a:t>
            </a:r>
            <a:r>
              <a:rPr lang="en-US" spc="20" noProof="1"/>
              <a:t> </a:t>
            </a:r>
            <a:r>
              <a:rPr lang="en-US" spc="-25" noProof="1"/>
              <a:t>numbers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noProof="1"/>
              <a:t>identify</a:t>
            </a:r>
            <a:r>
              <a:rPr lang="en-US" spc="15" noProof="1"/>
              <a:t> </a:t>
            </a:r>
            <a:r>
              <a:rPr lang="en-US" spc="-10" noProof="1"/>
              <a:t>rooms.</a:t>
            </a:r>
          </a:p>
          <a:p>
            <a:pPr marL="12700" marR="436245" indent="5080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In</a:t>
            </a:r>
            <a:r>
              <a:rPr lang="en-US" spc="-5" noProof="1"/>
              <a:t> </a:t>
            </a:r>
            <a:r>
              <a:rPr lang="en-US" noProof="1"/>
              <a:t>fact, let’s do an </a:t>
            </a:r>
            <a:r>
              <a:rPr lang="en-US" spc="-10" noProof="1"/>
              <a:t>experiment.</a:t>
            </a:r>
            <a:r>
              <a:rPr lang="en-US" spc="80" noProof="1"/>
              <a:t> </a:t>
            </a:r>
            <a:r>
              <a:rPr lang="en-US" spc="-10" noProof="1"/>
              <a:t>Open</a:t>
            </a:r>
            <a:r>
              <a:rPr lang="en-US" noProof="1"/>
              <a:t> a terminal and</a:t>
            </a:r>
            <a:r>
              <a:rPr lang="en-US" spc="-5" noProof="1"/>
              <a:t> </a:t>
            </a:r>
            <a:r>
              <a:rPr lang="en-US" noProof="1"/>
              <a:t>run the </a:t>
            </a:r>
            <a:r>
              <a:rPr lang="en-US" spc="-10" noProof="1"/>
              <a:t>following</a:t>
            </a:r>
            <a:r>
              <a:rPr lang="en-US" noProof="1"/>
              <a:t> </a:t>
            </a:r>
            <a:r>
              <a:rPr lang="en-US" spc="-25" noProof="1"/>
              <a:t>command</a:t>
            </a:r>
            <a:r>
              <a:rPr lang="en-US" noProof="1"/>
              <a:t> if </a:t>
            </a:r>
            <a:r>
              <a:rPr lang="en-US" spc="-10" noProof="1"/>
              <a:t>you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noProof="1"/>
              <a:t> </a:t>
            </a:r>
            <a:r>
              <a:rPr lang="en-US" spc="-25" noProof="1"/>
              <a:t>on </a:t>
            </a:r>
            <a:r>
              <a:rPr lang="en-US" spc="-10" noProof="1"/>
              <a:t>Windows:</a:t>
            </a: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pc="-10" noProof="1"/>
          </a:p>
          <a:p>
            <a:pPr marL="215900">
              <a:lnSpc>
                <a:spcPct val="100000"/>
              </a:lnSpc>
            </a:pP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Node&gt; ipconfig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</a:pPr>
            <a:r>
              <a:rPr lang="en-US" noProof="1"/>
              <a:t>Or</a:t>
            </a:r>
            <a:r>
              <a:rPr lang="en-US" spc="5" noProof="1"/>
              <a:t> </a:t>
            </a:r>
            <a:r>
              <a:rPr lang="en-US" noProof="1"/>
              <a:t>if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5" noProof="1"/>
              <a:t> </a:t>
            </a:r>
            <a:r>
              <a:rPr lang="en-US" spc="-30" noProof="1"/>
              <a:t>are</a:t>
            </a:r>
            <a:r>
              <a:rPr lang="en-US" spc="10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Linux</a:t>
            </a:r>
            <a:r>
              <a:rPr lang="en-US" spc="10" noProof="1"/>
              <a:t> </a:t>
            </a:r>
            <a:r>
              <a:rPr lang="en-US" noProof="1"/>
              <a:t>or</a:t>
            </a:r>
            <a:r>
              <a:rPr lang="en-US" spc="10" noProof="1"/>
              <a:t> </a:t>
            </a:r>
            <a:r>
              <a:rPr lang="en-US" spc="-10" noProof="1"/>
              <a:t>MacOS:</a:t>
            </a: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pc="-10" noProof="1"/>
          </a:p>
          <a:p>
            <a:pPr marL="215900">
              <a:lnSpc>
                <a:spcPct val="100000"/>
              </a:lnSpc>
            </a:pP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$ ifconfig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822960" cy="5080"/>
            </a:xfrm>
            <a:custGeom>
              <a:avLst/>
              <a:gdLst/>
              <a:ahLst/>
              <a:cxnLst/>
              <a:rect l="l" t="t" r="r" b="b"/>
              <a:pathLst>
                <a:path w="822960" h="5080">
                  <a:moveTo>
                    <a:pt x="0" y="5060"/>
                  </a:moveTo>
                  <a:lnTo>
                    <a:pt x="0" y="0"/>
                  </a:lnTo>
                  <a:lnTo>
                    <a:pt x="822842" y="0"/>
                  </a:lnTo>
                  <a:lnTo>
                    <a:pt x="8228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39418" y="1281900"/>
            <a:ext cx="742950" cy="122555"/>
            <a:chOff x="1339418" y="1281900"/>
            <a:chExt cx="742950" cy="122555"/>
          </a:xfrm>
        </p:grpSpPr>
        <p:sp>
          <p:nvSpPr>
            <p:cNvPr id="4" name="object 4"/>
            <p:cNvSpPr/>
            <p:nvPr/>
          </p:nvSpPr>
          <p:spPr>
            <a:xfrm>
              <a:off x="1339418" y="1281900"/>
              <a:ext cx="742950" cy="122555"/>
            </a:xfrm>
            <a:custGeom>
              <a:avLst/>
              <a:gdLst/>
              <a:ahLst/>
              <a:cxnLst/>
              <a:rect l="l" t="t" r="r" b="b"/>
              <a:pathLst>
                <a:path w="742950" h="122555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351"/>
                  </a:lnTo>
                  <a:lnTo>
                    <a:pt x="2829" y="100364"/>
                  </a:lnTo>
                  <a:lnTo>
                    <a:pt x="10544" y="111807"/>
                  </a:lnTo>
                  <a:lnTo>
                    <a:pt x="21987" y="119522"/>
                  </a:lnTo>
                  <a:lnTo>
                    <a:pt x="36000" y="122351"/>
                  </a:lnTo>
                  <a:lnTo>
                    <a:pt x="706713" y="122351"/>
                  </a:lnTo>
                  <a:lnTo>
                    <a:pt x="720727" y="119522"/>
                  </a:lnTo>
                  <a:lnTo>
                    <a:pt x="732170" y="111807"/>
                  </a:lnTo>
                  <a:lnTo>
                    <a:pt x="739885" y="100364"/>
                  </a:lnTo>
                  <a:lnTo>
                    <a:pt x="742714" y="8635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339418" y="1281900"/>
              <a:ext cx="742950" cy="122555"/>
            </a:xfrm>
            <a:custGeom>
              <a:avLst/>
              <a:gdLst/>
              <a:ahLst/>
              <a:cxnLst/>
              <a:rect l="l" t="t" r="r" b="b"/>
              <a:pathLst>
                <a:path w="742950" h="122555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351"/>
                  </a:lnTo>
                  <a:lnTo>
                    <a:pt x="2829" y="100364"/>
                  </a:lnTo>
                  <a:lnTo>
                    <a:pt x="10544" y="111807"/>
                  </a:lnTo>
                  <a:lnTo>
                    <a:pt x="21987" y="119522"/>
                  </a:lnTo>
                  <a:lnTo>
                    <a:pt x="36000" y="122351"/>
                  </a:lnTo>
                  <a:lnTo>
                    <a:pt x="706713" y="122351"/>
                  </a:lnTo>
                  <a:lnTo>
                    <a:pt x="720727" y="119522"/>
                  </a:lnTo>
                  <a:lnTo>
                    <a:pt x="732170" y="111807"/>
                  </a:lnTo>
                  <a:lnTo>
                    <a:pt x="739885" y="100364"/>
                  </a:lnTo>
                  <a:lnTo>
                    <a:pt x="742714" y="8635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4335" y="1229109"/>
            <a:ext cx="5091430" cy="9023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IPv4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45" noProof="1">
                <a:latin typeface="Courier New"/>
                <a:cs typeface="Courier New"/>
              </a:rPr>
              <a:t>Address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fits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192.168.x.x,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10.x.x.x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endParaRPr lang="en-US" sz="900" noProof="1">
              <a:latin typeface="Arial"/>
              <a:cs typeface="Arial"/>
            </a:endParaRPr>
          </a:p>
          <a:p>
            <a:pPr marL="15240" marR="5080" indent="-3175">
              <a:lnSpc>
                <a:spcPct val="116199"/>
              </a:lnSpc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172.16.x.x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172.31.x.x.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times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regular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homes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192.168.x.x.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analogous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how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hotels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numbers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(like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101)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5240" marR="2794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visit a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whatismyip.com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will </a:t>
            </a:r>
            <a:r>
              <a:rPr lang="en-US" sz="900" spc="-10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IP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outside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871855" cy="5080"/>
            </a:xfrm>
            <a:custGeom>
              <a:avLst/>
              <a:gdLst/>
              <a:ahLst/>
              <a:cxnLst/>
              <a:rect l="l" t="t" r="r" b="b"/>
              <a:pathLst>
                <a:path w="871855" h="5080">
                  <a:moveTo>
                    <a:pt x="0" y="5060"/>
                  </a:moveTo>
                  <a:lnTo>
                    <a:pt x="0" y="0"/>
                  </a:lnTo>
                  <a:lnTo>
                    <a:pt x="871270" y="0"/>
                  </a:lnTo>
                  <a:lnTo>
                    <a:pt x="8712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38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Let’s </a:t>
            </a:r>
            <a:r>
              <a:rPr lang="en-US" spc="-95" noProof="1"/>
              <a:t>see</a:t>
            </a:r>
            <a:r>
              <a:rPr lang="en-US" spc="35" noProof="1"/>
              <a:t> </a:t>
            </a:r>
            <a:r>
              <a:rPr lang="en-US" spc="-10" noProof="1"/>
              <a:t>now</a:t>
            </a:r>
            <a:r>
              <a:rPr lang="en-US" spc="20" noProof="1"/>
              <a:t> </a:t>
            </a:r>
            <a:r>
              <a:rPr lang="en-US" spc="-10" noProof="1"/>
              <a:t>how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router</a:t>
            </a:r>
            <a:r>
              <a:rPr lang="en-US" spc="20" noProof="1"/>
              <a:t> </a:t>
            </a:r>
            <a:r>
              <a:rPr lang="en-US" spc="-70" noProof="1"/>
              <a:t>uses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b="1" spc="-35" noProof="1">
                <a:latin typeface="Arial"/>
                <a:cs typeface="Arial"/>
              </a:rPr>
              <a:t>public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IP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spc="-55" noProof="1">
                <a:latin typeface="Arial"/>
                <a:cs typeface="Arial"/>
              </a:rPr>
              <a:t>address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communicate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with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internet</a:t>
            </a:r>
            <a:r>
              <a:rPr lang="en-US" spc="-10" noProof="1"/>
              <a:t>.</a:t>
            </a:r>
          </a:p>
          <a:p>
            <a:pPr marL="17780" marR="98425">
              <a:lnSpc>
                <a:spcPct val="116199"/>
              </a:lnSpc>
              <a:spcBef>
                <a:spcPts val="625"/>
              </a:spcBef>
            </a:pPr>
            <a:r>
              <a:rPr lang="en-US" spc="-25" noProof="1"/>
              <a:t>Imagine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10" noProof="1"/>
              <a:t> </a:t>
            </a:r>
            <a:r>
              <a:rPr lang="en-US" spc="-30" noProof="1"/>
              <a:t>are</a:t>
            </a:r>
            <a:r>
              <a:rPr lang="en-US" spc="10" noProof="1"/>
              <a:t> </a:t>
            </a:r>
            <a:r>
              <a:rPr lang="en-US" spc="-20" noProof="1"/>
              <a:t>staying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noProof="1"/>
              <a:t>hotel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5" noProof="1"/>
              <a:t> </a:t>
            </a:r>
            <a:r>
              <a:rPr lang="en-US" noProof="1"/>
              <a:t>want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spc="-55" noProof="1"/>
              <a:t>send</a:t>
            </a:r>
            <a:r>
              <a:rPr lang="en-US" spc="1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letter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10" noProof="1"/>
              <a:t>friend’s</a:t>
            </a:r>
            <a:r>
              <a:rPr lang="en-US" spc="10" noProof="1"/>
              <a:t> </a:t>
            </a:r>
            <a:r>
              <a:rPr lang="en-US" spc="-25" noProof="1"/>
              <a:t>home</a:t>
            </a:r>
            <a:r>
              <a:rPr lang="en-US" spc="10" noProof="1"/>
              <a:t> </a:t>
            </a:r>
            <a:r>
              <a:rPr lang="en-US" noProof="1"/>
              <a:t>(and</a:t>
            </a:r>
            <a:r>
              <a:rPr lang="en-US" spc="15" noProof="1"/>
              <a:t> </a:t>
            </a:r>
            <a:r>
              <a:rPr lang="en-US" spc="-25" noProof="1"/>
              <a:t>imagine</a:t>
            </a:r>
            <a:r>
              <a:rPr lang="en-US" spc="10" noProof="1"/>
              <a:t> </a:t>
            </a:r>
            <a:r>
              <a:rPr lang="en-US" spc="-25" noProof="1"/>
              <a:t>the </a:t>
            </a:r>
            <a:r>
              <a:rPr lang="en-US" noProof="1"/>
              <a:t>hotel</a:t>
            </a:r>
            <a:r>
              <a:rPr lang="en-US" spc="10" noProof="1"/>
              <a:t> </a:t>
            </a:r>
            <a:r>
              <a:rPr lang="en-US" noProof="1"/>
              <a:t>is</a:t>
            </a:r>
            <a:r>
              <a:rPr lang="en-US" spc="15" noProof="1"/>
              <a:t> </a:t>
            </a:r>
            <a:r>
              <a:rPr lang="en-US" noProof="1"/>
              <a:t>willing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55" noProof="1"/>
              <a:t>send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letter</a:t>
            </a:r>
            <a:r>
              <a:rPr lang="en-US" spc="15" noProof="1"/>
              <a:t> </a:t>
            </a:r>
            <a:r>
              <a:rPr lang="en-US" noProof="1"/>
              <a:t>for</a:t>
            </a:r>
            <a:r>
              <a:rPr lang="en-US" spc="10" noProof="1"/>
              <a:t> </a:t>
            </a:r>
            <a:r>
              <a:rPr lang="en-US" noProof="1"/>
              <a:t>you).</a:t>
            </a:r>
            <a:r>
              <a:rPr lang="en-US" spc="100" noProof="1"/>
              <a:t> </a:t>
            </a:r>
            <a:r>
              <a:rPr lang="en-US" spc="-20" noProof="1"/>
              <a:t>You</a:t>
            </a:r>
            <a:r>
              <a:rPr lang="en-US" spc="15" noProof="1"/>
              <a:t> </a:t>
            </a:r>
            <a:r>
              <a:rPr lang="en-US" spc="-10" noProof="1"/>
              <a:t>would</a:t>
            </a:r>
            <a:r>
              <a:rPr lang="en-US" spc="10" noProof="1"/>
              <a:t> </a:t>
            </a:r>
            <a:r>
              <a:rPr lang="en-US" noProof="1"/>
              <a:t>write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5" noProof="1"/>
              <a:t>address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spc="-10" noProof="1"/>
              <a:t>your</a:t>
            </a:r>
            <a:r>
              <a:rPr lang="en-US" spc="10" noProof="1"/>
              <a:t> </a:t>
            </a:r>
            <a:r>
              <a:rPr lang="en-US" spc="-10" noProof="1"/>
              <a:t>friend’s</a:t>
            </a:r>
            <a:r>
              <a:rPr lang="en-US" spc="15" noProof="1"/>
              <a:t> </a:t>
            </a:r>
            <a:r>
              <a:rPr lang="en-US" spc="-25" noProof="1"/>
              <a:t>home</a:t>
            </a:r>
            <a:r>
              <a:rPr lang="en-US" spc="10" noProof="1"/>
              <a:t> </a:t>
            </a:r>
            <a:r>
              <a:rPr lang="en-US" noProof="1"/>
              <a:t>on</a:t>
            </a:r>
            <a:r>
              <a:rPr lang="en-US" spc="15" noProof="1"/>
              <a:t> </a:t>
            </a:r>
            <a:r>
              <a:rPr lang="en-US" spc="-25" noProof="1"/>
              <a:t>the </a:t>
            </a:r>
            <a:r>
              <a:rPr lang="en-US" spc="-35" noProof="1"/>
              <a:t>envelope,</a:t>
            </a:r>
            <a:r>
              <a:rPr lang="en-US" spc="30" noProof="1"/>
              <a:t> </a:t>
            </a:r>
            <a:r>
              <a:rPr lang="en-US" spc="-10" noProof="1"/>
              <a:t>hand</a:t>
            </a:r>
            <a:r>
              <a:rPr lang="en-US" spc="35" noProof="1"/>
              <a:t> </a:t>
            </a:r>
            <a:r>
              <a:rPr lang="en-US" noProof="1"/>
              <a:t>it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10" noProof="1"/>
              <a:t>receptionist,</a:t>
            </a:r>
            <a:r>
              <a:rPr lang="en-US" spc="35" noProof="1"/>
              <a:t> </a:t>
            </a:r>
            <a:r>
              <a:rPr lang="en-US" noProof="1"/>
              <a:t>and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receptionist</a:t>
            </a:r>
            <a:r>
              <a:rPr lang="en-US" spc="35" noProof="1"/>
              <a:t> </a:t>
            </a:r>
            <a:r>
              <a:rPr lang="en-US" spc="-10" noProof="1"/>
              <a:t>would</a:t>
            </a:r>
            <a:r>
              <a:rPr lang="en-US" spc="35" noProof="1"/>
              <a:t> </a:t>
            </a:r>
            <a:r>
              <a:rPr lang="en-US" spc="-55" noProof="1"/>
              <a:t>send</a:t>
            </a:r>
            <a:r>
              <a:rPr lang="en-US" spc="30" noProof="1"/>
              <a:t> </a:t>
            </a:r>
            <a:r>
              <a:rPr lang="en-US" noProof="1"/>
              <a:t>it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spc="-10" noProof="1"/>
              <a:t>your</a:t>
            </a:r>
            <a:r>
              <a:rPr lang="en-US" spc="35" noProof="1"/>
              <a:t> </a:t>
            </a:r>
            <a:r>
              <a:rPr lang="en-US" spc="-10" noProof="1"/>
              <a:t>friend’s</a:t>
            </a:r>
            <a:r>
              <a:rPr lang="en-US" spc="35" noProof="1"/>
              <a:t> </a:t>
            </a:r>
            <a:r>
              <a:rPr lang="en-US" spc="-10" noProof="1"/>
              <a:t>home.</a:t>
            </a:r>
          </a:p>
          <a:p>
            <a:pPr marL="17780" marR="5080">
              <a:lnSpc>
                <a:spcPct val="116199"/>
              </a:lnSpc>
              <a:spcBef>
                <a:spcPts val="630"/>
              </a:spcBef>
            </a:pPr>
            <a:r>
              <a:rPr lang="en-US" noProof="1"/>
              <a:t>More </a:t>
            </a:r>
            <a:r>
              <a:rPr lang="en-US" spc="-30" noProof="1"/>
              <a:t>people</a:t>
            </a:r>
            <a:r>
              <a:rPr lang="en-US" noProof="1"/>
              <a:t> on the hotel </a:t>
            </a:r>
            <a:r>
              <a:rPr lang="en-US" spc="-20" noProof="1"/>
              <a:t>may</a:t>
            </a:r>
            <a:r>
              <a:rPr lang="en-US" noProof="1"/>
              <a:t> be </a:t>
            </a:r>
            <a:r>
              <a:rPr lang="en-US" spc="-35" noProof="1"/>
              <a:t>sending</a:t>
            </a:r>
            <a:r>
              <a:rPr lang="en-US" noProof="1"/>
              <a:t> letters to their </a:t>
            </a:r>
            <a:r>
              <a:rPr lang="en-US" spc="-30" noProof="1"/>
              <a:t>respective</a:t>
            </a:r>
            <a:r>
              <a:rPr lang="en-US" noProof="1"/>
              <a:t> </a:t>
            </a:r>
            <a:r>
              <a:rPr lang="en-US" spc="-10" noProof="1"/>
              <a:t>friends’</a:t>
            </a:r>
            <a:r>
              <a:rPr lang="en-US" noProof="1"/>
              <a:t> </a:t>
            </a:r>
            <a:r>
              <a:rPr lang="en-US" spc="-35" noProof="1"/>
              <a:t>homes,</a:t>
            </a:r>
            <a:r>
              <a:rPr lang="en-US" noProof="1"/>
              <a:t> </a:t>
            </a:r>
            <a:r>
              <a:rPr lang="en-US" spc="-25" noProof="1"/>
              <a:t>so</a:t>
            </a:r>
            <a:r>
              <a:rPr lang="en-US" noProof="1"/>
              <a:t> the</a:t>
            </a:r>
            <a:r>
              <a:rPr lang="en-US" spc="5" noProof="1"/>
              <a:t> </a:t>
            </a:r>
            <a:r>
              <a:rPr lang="en-US" spc="-10" noProof="1"/>
              <a:t>receptionist </a:t>
            </a:r>
            <a:r>
              <a:rPr lang="en-US" b="1" spc="-45" noProof="1">
                <a:latin typeface="Arial"/>
                <a:cs typeface="Arial"/>
              </a:rPr>
              <a:t>needs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keep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track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of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which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letter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45" noProof="1">
                <a:latin typeface="Arial"/>
                <a:cs typeface="Arial"/>
              </a:rPr>
              <a:t>goes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which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home</a:t>
            </a:r>
            <a:r>
              <a:rPr lang="en-US" b="1" spc="-5" noProof="1">
                <a:latin typeface="Arial"/>
                <a:cs typeface="Arial"/>
              </a:rPr>
              <a:t> </a:t>
            </a:r>
            <a:r>
              <a:rPr lang="en-US" spc="-25" noProof="1"/>
              <a:t>so</a:t>
            </a:r>
            <a:r>
              <a:rPr lang="en-US" spc="-5" noProof="1"/>
              <a:t> </a:t>
            </a:r>
            <a:r>
              <a:rPr lang="en-US" spc="-25" noProof="1"/>
              <a:t>when</a:t>
            </a:r>
            <a:r>
              <a:rPr lang="en-US" noProof="1"/>
              <a:t> the</a:t>
            </a:r>
            <a:r>
              <a:rPr lang="en-US" spc="-5" noProof="1"/>
              <a:t> </a:t>
            </a:r>
            <a:r>
              <a:rPr lang="en-US" spc="-55" noProof="1"/>
              <a:t>responses</a:t>
            </a:r>
            <a:r>
              <a:rPr lang="en-US" spc="-5" noProof="1"/>
              <a:t> </a:t>
            </a:r>
            <a:r>
              <a:rPr lang="en-US" spc="-30" noProof="1"/>
              <a:t>come</a:t>
            </a:r>
            <a:r>
              <a:rPr lang="en-US" noProof="1"/>
              <a:t> </a:t>
            </a:r>
            <a:r>
              <a:rPr lang="en-US" spc="-10" noProof="1"/>
              <a:t>back,</a:t>
            </a:r>
            <a:r>
              <a:rPr lang="en-US" spc="-5" noProof="1"/>
              <a:t> </a:t>
            </a:r>
            <a:r>
              <a:rPr lang="en-US" spc="-25" noProof="1"/>
              <a:t>the </a:t>
            </a:r>
            <a:r>
              <a:rPr lang="en-US" spc="-20" noProof="1"/>
              <a:t>receptionist</a:t>
            </a:r>
            <a:r>
              <a:rPr lang="en-US" spc="30" noProof="1"/>
              <a:t> </a:t>
            </a:r>
            <a:r>
              <a:rPr lang="en-US" spc="-30" noProof="1"/>
              <a:t>knows</a:t>
            </a:r>
            <a:r>
              <a:rPr lang="en-US" spc="30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spc="-10" noProof="1"/>
              <a:t>whom</a:t>
            </a:r>
            <a:r>
              <a:rPr lang="en-US" spc="30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spc="-20" noProof="1"/>
              <a:t>give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letter.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20115" cy="5080"/>
            </a:xfrm>
            <a:custGeom>
              <a:avLst/>
              <a:gdLst/>
              <a:ahLst/>
              <a:cxnLst/>
              <a:rect l="l" t="t" r="r" b="b"/>
              <a:pathLst>
                <a:path w="920115" h="5080">
                  <a:moveTo>
                    <a:pt x="0" y="5060"/>
                  </a:moveTo>
                  <a:lnTo>
                    <a:pt x="0" y="0"/>
                  </a:lnTo>
                  <a:lnTo>
                    <a:pt x="919699" y="0"/>
                  </a:lnTo>
                  <a:lnTo>
                    <a:pt x="9196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990768"/>
            <a:ext cx="506984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thing.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streaming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video,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TV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streaming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movie,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handling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TV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5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 marR="5588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router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5" noProof="1">
                <a:solidFill>
                  <a:srgbClr val="22373A"/>
                </a:solidFill>
                <a:latin typeface="Arial"/>
                <a:cs typeface="Arial"/>
              </a:rPr>
              <a:t>keeps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track 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responses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knows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response.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Translation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(NAT)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protocol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single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address. Read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68375" cy="5080"/>
            </a:xfrm>
            <a:custGeom>
              <a:avLst/>
              <a:gdLst/>
              <a:ahLst/>
              <a:cxnLst/>
              <a:rect l="l" t="t" r="r" b="b"/>
              <a:pathLst>
                <a:path w="968375" h="5080">
                  <a:moveTo>
                    <a:pt x="0" y="5060"/>
                  </a:moveTo>
                  <a:lnTo>
                    <a:pt x="0" y="0"/>
                  </a:lnTo>
                  <a:lnTo>
                    <a:pt x="968039" y="0"/>
                  </a:lnTo>
                  <a:lnTo>
                    <a:pt x="9680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0" noProof="1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54942"/>
            <a:ext cx="508571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2705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far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talking about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 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within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 algn="just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example,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phone,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TV,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speaker,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 part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they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510" marR="68580" algn="just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hotel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analogy,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 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different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rooms,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room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309" y="1993200"/>
            <a:ext cx="1777395" cy="8996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16635" cy="5080"/>
            </a:xfrm>
            <a:custGeom>
              <a:avLst/>
              <a:gdLst/>
              <a:ahLst/>
              <a:cxnLst/>
              <a:rect l="l" t="t" r="r" b="b"/>
              <a:pathLst>
                <a:path w="1016635" h="5080">
                  <a:moveTo>
                    <a:pt x="0" y="5060"/>
                  </a:moveTo>
                  <a:lnTo>
                    <a:pt x="0" y="0"/>
                  </a:lnTo>
                  <a:lnTo>
                    <a:pt x="1016467" y="0"/>
                  </a:lnTo>
                  <a:lnTo>
                    <a:pt x="10164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0" noProof="1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62029"/>
            <a:ext cx="482536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world;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university,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etc.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60" y="986369"/>
            <a:ext cx="3775878" cy="179941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64895" cy="5080"/>
            </a:xfrm>
            <a:custGeom>
              <a:avLst/>
              <a:gdLst/>
              <a:ahLst/>
              <a:cxnLst/>
              <a:rect l="l" t="t" r="r" b="b"/>
              <a:pathLst>
                <a:path w="1064895" h="5080">
                  <a:moveTo>
                    <a:pt x="0" y="5060"/>
                  </a:moveTo>
                  <a:lnTo>
                    <a:pt x="0" y="0"/>
                  </a:lnTo>
                  <a:lnTo>
                    <a:pt x="1064896" y="0"/>
                  </a:lnTo>
                  <a:lnTo>
                    <a:pt x="106489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11991"/>
            <a:ext cx="50653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hierarchical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made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sales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department,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marketing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department,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etc.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663" y="1136350"/>
            <a:ext cx="2754669" cy="14994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113790" cy="5080"/>
            </a:xfrm>
            <a:custGeom>
              <a:avLst/>
              <a:gdLst/>
              <a:ahLst/>
              <a:cxnLst/>
              <a:rect l="l" t="t" r="r" b="b"/>
              <a:pathLst>
                <a:path w="1113790" h="5080">
                  <a:moveTo>
                    <a:pt x="0" y="5060"/>
                  </a:moveTo>
                  <a:lnTo>
                    <a:pt x="0" y="0"/>
                  </a:lnTo>
                  <a:lnTo>
                    <a:pt x="1113324" y="0"/>
                  </a:lnTo>
                  <a:lnTo>
                    <a:pt x="11133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348847"/>
            <a:ext cx="5069840" cy="71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Although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exist,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fact,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nothing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biggest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endParaRPr lang="en-US" sz="900" noProof="1">
              <a:latin typeface="Arial"/>
              <a:cs typeface="Arial"/>
            </a:endParaRPr>
          </a:p>
          <a:p>
            <a:pPr marL="16510" marR="13652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why 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anything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internet, 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YouTube,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Netflix,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or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even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lecture.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whole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picture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look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567" y="1329457"/>
            <a:ext cx="3490873" cy="17993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210310" cy="5080"/>
            </a:xfrm>
            <a:custGeom>
              <a:avLst/>
              <a:gdLst/>
              <a:ahLst/>
              <a:cxnLst/>
              <a:rect l="l" t="t" r="r" b="b"/>
              <a:pathLst>
                <a:path w="1210310" h="5080">
                  <a:moveTo>
                    <a:pt x="0" y="5060"/>
                  </a:moveTo>
                  <a:lnTo>
                    <a:pt x="0" y="0"/>
                  </a:lnTo>
                  <a:lnTo>
                    <a:pt x="1210093" y="0"/>
                  </a:lnTo>
                  <a:lnTo>
                    <a:pt x="12100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850299"/>
            <a:ext cx="563880" cy="122555"/>
            <a:chOff x="359994" y="1850299"/>
            <a:chExt cx="563880" cy="122555"/>
          </a:xfrm>
        </p:grpSpPr>
        <p:sp>
          <p:nvSpPr>
            <p:cNvPr id="4" name="object 4"/>
            <p:cNvSpPr/>
            <p:nvPr/>
          </p:nvSpPr>
          <p:spPr>
            <a:xfrm>
              <a:off x="359994" y="1850299"/>
              <a:ext cx="563880" cy="122555"/>
            </a:xfrm>
            <a:custGeom>
              <a:avLst/>
              <a:gdLst/>
              <a:ahLst/>
              <a:cxnLst/>
              <a:rect l="l" t="t" r="r" b="b"/>
              <a:pathLst>
                <a:path w="563880" h="122555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527362" y="122010"/>
                  </a:lnTo>
                  <a:lnTo>
                    <a:pt x="541374" y="119181"/>
                  </a:lnTo>
                  <a:lnTo>
                    <a:pt x="552817" y="111465"/>
                  </a:lnTo>
                  <a:lnTo>
                    <a:pt x="560533" y="100022"/>
                  </a:lnTo>
                  <a:lnTo>
                    <a:pt x="563362" y="86009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850299"/>
              <a:ext cx="563880" cy="122555"/>
            </a:xfrm>
            <a:custGeom>
              <a:avLst/>
              <a:gdLst/>
              <a:ahLst/>
              <a:cxnLst/>
              <a:rect l="l" t="t" r="r" b="b"/>
              <a:pathLst>
                <a:path w="563880" h="122555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527362" y="122010"/>
                  </a:lnTo>
                  <a:lnTo>
                    <a:pt x="541374" y="119181"/>
                  </a:lnTo>
                  <a:lnTo>
                    <a:pt x="552817" y="111465"/>
                  </a:lnTo>
                  <a:lnTo>
                    <a:pt x="560533" y="100022"/>
                  </a:lnTo>
                  <a:lnTo>
                    <a:pt x="563362" y="86009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8985" rIns="0" bIns="0" rtlCol="0">
            <a:spAutoFit/>
          </a:bodyPr>
          <a:lstStyle/>
          <a:p>
            <a:pPr marL="17780" marR="132080" indent="-5715">
              <a:lnSpc>
                <a:spcPct val="116199"/>
              </a:lnSpc>
              <a:spcBef>
                <a:spcPts val="100"/>
              </a:spcBef>
            </a:pPr>
            <a:r>
              <a:rPr lang="en-US" spc="-10" noProof="1"/>
              <a:t>We</a:t>
            </a:r>
            <a:r>
              <a:rPr lang="en-US" spc="20" noProof="1"/>
              <a:t> </a:t>
            </a:r>
            <a:r>
              <a:rPr lang="en-US" spc="-10" noProof="1"/>
              <a:t>constantly</a:t>
            </a:r>
            <a:r>
              <a:rPr lang="en-US" spc="20" noProof="1"/>
              <a:t> </a:t>
            </a:r>
            <a:r>
              <a:rPr lang="en-US" spc="-55" noProof="1"/>
              <a:t>use</a:t>
            </a:r>
            <a:r>
              <a:rPr lang="en-US" spc="25" noProof="1"/>
              <a:t> </a:t>
            </a:r>
            <a:r>
              <a:rPr lang="en-US" spc="-30" noProof="1"/>
              <a:t>concepts</a:t>
            </a:r>
            <a:r>
              <a:rPr lang="en-US" spc="20" noProof="1"/>
              <a:t> </a:t>
            </a:r>
            <a:r>
              <a:rPr lang="en-US" noProof="1"/>
              <a:t>like</a:t>
            </a:r>
            <a:r>
              <a:rPr lang="en-US" spc="20" noProof="1"/>
              <a:t> </a:t>
            </a:r>
            <a:r>
              <a:rPr lang="en-US" i="1" noProof="1">
                <a:latin typeface="Arial"/>
                <a:cs typeface="Arial"/>
              </a:rPr>
              <a:t>the</a:t>
            </a:r>
            <a:r>
              <a:rPr lang="en-US" i="1" spc="25" noProof="1">
                <a:latin typeface="Arial"/>
                <a:cs typeface="Arial"/>
              </a:rPr>
              <a:t> </a:t>
            </a:r>
            <a:r>
              <a:rPr lang="en-US" i="1" spc="-10" noProof="1">
                <a:latin typeface="Arial"/>
                <a:cs typeface="Arial"/>
              </a:rPr>
              <a:t>cloud</a:t>
            </a:r>
            <a:r>
              <a:rPr lang="en-US" i="1" spc="20" noProof="1">
                <a:latin typeface="Arial"/>
                <a:cs typeface="Arial"/>
              </a:rPr>
              <a:t> </a:t>
            </a:r>
            <a:r>
              <a:rPr lang="en-US" noProof="1"/>
              <a:t>or</a:t>
            </a:r>
            <a:r>
              <a:rPr lang="en-US" spc="25" noProof="1"/>
              <a:t> </a:t>
            </a:r>
            <a:r>
              <a:rPr lang="en-US" i="1" noProof="1">
                <a:latin typeface="Arial"/>
                <a:cs typeface="Arial"/>
              </a:rPr>
              <a:t>the</a:t>
            </a:r>
            <a:r>
              <a:rPr lang="en-US" i="1" spc="20" noProof="1">
                <a:latin typeface="Arial"/>
                <a:cs typeface="Arial"/>
              </a:rPr>
              <a:t> </a:t>
            </a:r>
            <a:r>
              <a:rPr lang="en-US" i="1" noProof="1">
                <a:latin typeface="Arial"/>
                <a:cs typeface="Arial"/>
              </a:rPr>
              <a:t>internet</a:t>
            </a:r>
            <a:r>
              <a:rPr lang="en-US" i="1" spc="20" noProof="1">
                <a:latin typeface="Arial"/>
                <a:cs typeface="Arial"/>
              </a:rPr>
              <a:t> </a:t>
            </a:r>
            <a:r>
              <a:rPr lang="en-US" noProof="1"/>
              <a:t>without</a:t>
            </a:r>
            <a:r>
              <a:rPr lang="en-US" spc="25" noProof="1"/>
              <a:t> </a:t>
            </a:r>
            <a:r>
              <a:rPr lang="en-US" spc="-10" noProof="1"/>
              <a:t>really</a:t>
            </a:r>
            <a:r>
              <a:rPr lang="en-US" spc="20" noProof="1"/>
              <a:t> </a:t>
            </a:r>
            <a:r>
              <a:rPr lang="en-US" noProof="1"/>
              <a:t>thinking</a:t>
            </a:r>
            <a:r>
              <a:rPr lang="en-US" spc="25" noProof="1"/>
              <a:t> </a:t>
            </a:r>
            <a:r>
              <a:rPr lang="en-US" noProof="1"/>
              <a:t>that</a:t>
            </a:r>
            <a:r>
              <a:rPr lang="en-US" spc="20" noProof="1"/>
              <a:t> </a:t>
            </a:r>
            <a:r>
              <a:rPr lang="en-US" noProof="1"/>
              <a:t>this</a:t>
            </a:r>
            <a:r>
              <a:rPr lang="en-US" spc="20" noProof="1"/>
              <a:t> </a:t>
            </a:r>
            <a:r>
              <a:rPr lang="en-US" noProof="1"/>
              <a:t>is</a:t>
            </a:r>
            <a:r>
              <a:rPr lang="en-US" spc="25" noProof="1"/>
              <a:t> </a:t>
            </a:r>
            <a:r>
              <a:rPr lang="en-US" noProof="1"/>
              <a:t>just</a:t>
            </a:r>
            <a:r>
              <a:rPr lang="en-US" spc="20" noProof="1"/>
              <a:t> </a:t>
            </a:r>
            <a:r>
              <a:rPr lang="en-US" spc="-50" noProof="1"/>
              <a:t>a</a:t>
            </a:r>
            <a:r>
              <a:rPr lang="en-US" spc="-40" noProof="1"/>
              <a:t> colossal</a:t>
            </a:r>
            <a:r>
              <a:rPr lang="en-US" spc="5" noProof="1"/>
              <a:t> </a:t>
            </a:r>
            <a:r>
              <a:rPr lang="en-US" noProof="1"/>
              <a:t>amount</a:t>
            </a:r>
            <a:r>
              <a:rPr lang="en-US" spc="10" noProof="1"/>
              <a:t> </a:t>
            </a:r>
            <a:r>
              <a:rPr lang="en-US" noProof="1"/>
              <a:t>of</a:t>
            </a:r>
            <a:r>
              <a:rPr lang="en-US" spc="10" noProof="1"/>
              <a:t> </a:t>
            </a:r>
            <a:r>
              <a:rPr lang="en-US" spc="-45" noProof="1"/>
              <a:t>devices</a:t>
            </a:r>
            <a:r>
              <a:rPr lang="en-US" spc="5" noProof="1"/>
              <a:t> </a:t>
            </a:r>
            <a:r>
              <a:rPr lang="en-US" spc="-30" noProof="1"/>
              <a:t>connected</a:t>
            </a:r>
            <a:r>
              <a:rPr lang="en-US" spc="10" noProof="1"/>
              <a:t> </a:t>
            </a:r>
            <a:r>
              <a:rPr lang="en-US" spc="-35" noProof="1"/>
              <a:t>between</a:t>
            </a:r>
            <a:r>
              <a:rPr lang="en-US" spc="10" noProof="1"/>
              <a:t> </a:t>
            </a:r>
            <a:r>
              <a:rPr lang="en-US" spc="-10" noProof="1"/>
              <a:t>them.</a:t>
            </a: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pc="-10" noProof="1"/>
              <a:t>When</a:t>
            </a:r>
            <a:r>
              <a:rPr lang="en-US" spc="15" noProof="1"/>
              <a:t> </a:t>
            </a:r>
            <a:r>
              <a:rPr lang="en-US" noProof="1"/>
              <a:t>I</a:t>
            </a:r>
            <a:r>
              <a:rPr lang="en-US" spc="20" noProof="1"/>
              <a:t> </a:t>
            </a:r>
            <a:r>
              <a:rPr lang="en-US" noProof="1"/>
              <a:t>want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spc="-20" noProof="1"/>
              <a:t>connect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noProof="1"/>
              <a:t>an</a:t>
            </a:r>
            <a:r>
              <a:rPr lang="en-US" spc="15" noProof="1"/>
              <a:t> </a:t>
            </a:r>
            <a:r>
              <a:rPr lang="en-US" spc="-25" noProof="1"/>
              <a:t>EC2</a:t>
            </a:r>
            <a:r>
              <a:rPr lang="en-US" spc="20" noProof="1"/>
              <a:t> </a:t>
            </a:r>
            <a:r>
              <a:rPr lang="en-US" spc="-25" noProof="1"/>
              <a:t>machine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20" noProof="1"/>
              <a:t> </a:t>
            </a:r>
            <a:r>
              <a:rPr lang="en-US" i="1" noProof="1">
                <a:latin typeface="Arial"/>
                <a:cs typeface="Arial"/>
              </a:rPr>
              <a:t>the</a:t>
            </a:r>
            <a:r>
              <a:rPr lang="en-US" i="1" spc="15" noProof="1">
                <a:latin typeface="Arial"/>
                <a:cs typeface="Arial"/>
              </a:rPr>
              <a:t> </a:t>
            </a:r>
            <a:r>
              <a:rPr lang="en-US" i="1" noProof="1">
                <a:latin typeface="Arial"/>
                <a:cs typeface="Arial"/>
              </a:rPr>
              <a:t>cloud</a:t>
            </a:r>
            <a:r>
              <a:rPr lang="en-US" noProof="1"/>
              <a:t>,</a:t>
            </a:r>
            <a:r>
              <a:rPr lang="en-US" spc="20" noProof="1"/>
              <a:t> </a:t>
            </a:r>
            <a:r>
              <a:rPr lang="en-US" spc="-30" noProof="1"/>
              <a:t>(assuming</a:t>
            </a:r>
            <a:r>
              <a:rPr lang="en-US" spc="15" noProof="1"/>
              <a:t> </a:t>
            </a:r>
            <a:r>
              <a:rPr lang="en-US" noProof="1"/>
              <a:t>it</a:t>
            </a:r>
            <a:r>
              <a:rPr lang="en-US" spc="20" noProof="1"/>
              <a:t> </a:t>
            </a:r>
            <a:r>
              <a:rPr lang="en-US" noProof="1"/>
              <a:t>is</a:t>
            </a:r>
            <a:r>
              <a:rPr lang="en-US" spc="15" noProof="1"/>
              <a:t> </a:t>
            </a:r>
            <a:r>
              <a:rPr lang="en-US" noProof="1"/>
              <a:t>on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default</a:t>
            </a:r>
            <a:r>
              <a:rPr lang="en-US" spc="20" noProof="1"/>
              <a:t> </a:t>
            </a:r>
            <a:r>
              <a:rPr lang="en-US" spc="-10" noProof="1"/>
              <a:t>region</a:t>
            </a:r>
          </a:p>
          <a:p>
            <a:pPr marL="17780" marR="5080" indent="12065">
              <a:lnSpc>
                <a:spcPct val="116199"/>
              </a:lnSpc>
            </a:pP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us-east-1</a:t>
            </a:r>
            <a:r>
              <a:rPr lang="en-US" spc="-44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),</a:t>
            </a:r>
            <a:r>
              <a:rPr lang="en-US" spc="20" noProof="1"/>
              <a:t> </a:t>
            </a:r>
            <a:r>
              <a:rPr lang="en-US" noProof="1"/>
              <a:t>I</a:t>
            </a:r>
            <a:r>
              <a:rPr lang="en-US" spc="25" noProof="1"/>
              <a:t> </a:t>
            </a:r>
            <a:r>
              <a:rPr lang="en-US" noProof="1"/>
              <a:t>am</a:t>
            </a:r>
            <a:r>
              <a:rPr lang="en-US" spc="30" noProof="1"/>
              <a:t> </a:t>
            </a:r>
            <a:r>
              <a:rPr lang="en-US" noProof="1"/>
              <a:t>just</a:t>
            </a:r>
            <a:r>
              <a:rPr lang="en-US" spc="25" noProof="1"/>
              <a:t> </a:t>
            </a:r>
            <a:r>
              <a:rPr lang="en-US" spc="-35" noProof="1"/>
              <a:t>sending</a:t>
            </a:r>
            <a:r>
              <a:rPr lang="en-US" spc="30" noProof="1"/>
              <a:t> </a:t>
            </a:r>
            <a:r>
              <a:rPr lang="en-US" spc="-10" noProof="1"/>
              <a:t>electrical</a:t>
            </a:r>
            <a:r>
              <a:rPr lang="en-US" spc="30" noProof="1"/>
              <a:t> </a:t>
            </a:r>
            <a:r>
              <a:rPr lang="en-US" spc="-30" noProof="1"/>
              <a:t>signals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noProof="1"/>
              <a:t>a</a:t>
            </a:r>
            <a:r>
              <a:rPr lang="en-US" spc="30" noProof="1"/>
              <a:t> </a:t>
            </a:r>
            <a:r>
              <a:rPr lang="en-US" spc="-10" noProof="1"/>
              <a:t>computer</a:t>
            </a:r>
            <a:r>
              <a:rPr lang="en-US" spc="25" noProof="1"/>
              <a:t> </a:t>
            </a:r>
            <a:r>
              <a:rPr lang="en-US" spc="-10" noProof="1"/>
              <a:t>located</a:t>
            </a:r>
            <a:r>
              <a:rPr lang="en-US" spc="30" noProof="1"/>
              <a:t> </a:t>
            </a:r>
            <a:r>
              <a:rPr lang="en-US" noProof="1"/>
              <a:t>in</a:t>
            </a:r>
            <a:r>
              <a:rPr lang="en-US" spc="30" noProof="1"/>
              <a:t> </a:t>
            </a:r>
            <a:r>
              <a:rPr lang="en-US" noProof="1"/>
              <a:t>a</a:t>
            </a:r>
            <a:r>
              <a:rPr lang="en-US" spc="25" noProof="1"/>
              <a:t> </a:t>
            </a:r>
            <a:r>
              <a:rPr lang="en-US" spc="-20" noProof="1"/>
              <a:t>datacenter</a:t>
            </a:r>
            <a:r>
              <a:rPr lang="en-US" spc="30" noProof="1"/>
              <a:t> </a:t>
            </a:r>
            <a:r>
              <a:rPr lang="en-US" noProof="1"/>
              <a:t>in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United States.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258570" cy="5080"/>
            </a:xfrm>
            <a:custGeom>
              <a:avLst/>
              <a:gdLst/>
              <a:ahLst/>
              <a:cxnLst/>
              <a:rect l="l" t="t" r="r" b="b"/>
              <a:pathLst>
                <a:path w="1258570" h="5080">
                  <a:moveTo>
                    <a:pt x="0" y="5060"/>
                  </a:moveTo>
                  <a:lnTo>
                    <a:pt x="0" y="0"/>
                  </a:lnTo>
                  <a:lnTo>
                    <a:pt x="1258521" y="0"/>
                  </a:lnTo>
                  <a:lnTo>
                    <a:pt x="1258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990768"/>
            <a:ext cx="507238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762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moment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insane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trip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signals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5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series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(ISPs)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Spain,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cross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Atlantic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Ocean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United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States,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then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series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ISPs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United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States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datacenter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located.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internet is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possible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an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immense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infrastructure of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cables,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switches,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fact,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huge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cables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under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ocean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continents.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map of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cables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submarinecablemap.com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307465" cy="5080"/>
            </a:xfrm>
            <a:custGeom>
              <a:avLst/>
              <a:gdLst/>
              <a:ahLst/>
              <a:cxnLst/>
              <a:rect l="l" t="t" r="r" b="b"/>
              <a:pathLst>
                <a:path w="1307465" h="5080">
                  <a:moveTo>
                    <a:pt x="0" y="5060"/>
                  </a:moveTo>
                  <a:lnTo>
                    <a:pt x="0" y="0"/>
                  </a:lnTo>
                  <a:lnTo>
                    <a:pt x="1306862" y="0"/>
                  </a:lnTo>
                  <a:lnTo>
                    <a:pt x="13068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76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internet?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536" y="475651"/>
            <a:ext cx="4848937" cy="23990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355725" cy="5080"/>
            </a:xfrm>
            <a:custGeom>
              <a:avLst/>
              <a:gdLst/>
              <a:ahLst/>
              <a:cxnLst/>
              <a:rect l="l" t="t" r="r" b="b"/>
              <a:pathLst>
                <a:path w="1355725" h="5080">
                  <a:moveTo>
                    <a:pt x="0" y="5060"/>
                  </a:moveTo>
                  <a:lnTo>
                    <a:pt x="0" y="0"/>
                  </a:lnTo>
                  <a:lnTo>
                    <a:pt x="1355290" y="0"/>
                  </a:lnTo>
                  <a:lnTo>
                    <a:pt x="13552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62054"/>
            <a:ext cx="463486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ever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thought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doing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anything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sending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signals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0" noProof="1">
                <a:solidFill>
                  <a:srgbClr val="22373A"/>
                </a:solidFill>
                <a:latin typeface="Arial"/>
                <a:cs typeface="Arial"/>
              </a:rPr>
              <a:t>crossing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ocean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451" y="986413"/>
            <a:ext cx="2399109" cy="179933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403985" cy="5080"/>
            </a:xfrm>
            <a:custGeom>
              <a:avLst/>
              <a:gdLst/>
              <a:ahLst/>
              <a:cxnLst/>
              <a:rect l="l" t="t" r="r" b="b"/>
              <a:pathLst>
                <a:path w="1403985" h="5080">
                  <a:moveTo>
                    <a:pt x="0" y="5060"/>
                  </a:moveTo>
                  <a:lnTo>
                    <a:pt x="0" y="0"/>
                  </a:lnTo>
                  <a:lnTo>
                    <a:pt x="1403719" y="0"/>
                  </a:lnTo>
                  <a:lnTo>
                    <a:pt x="14037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Playing</a:t>
            </a:r>
            <a:r>
              <a:rPr lang="en-US" spc="30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8355" y="1090471"/>
            <a:ext cx="264795" cy="146050"/>
            <a:chOff x="1628355" y="1090471"/>
            <a:chExt cx="264795" cy="146050"/>
          </a:xfrm>
        </p:grpSpPr>
        <p:sp>
          <p:nvSpPr>
            <p:cNvPr id="4" name="object 4"/>
            <p:cNvSpPr/>
            <p:nvPr/>
          </p:nvSpPr>
          <p:spPr>
            <a:xfrm>
              <a:off x="1628355" y="1090471"/>
              <a:ext cx="264795" cy="146050"/>
            </a:xfrm>
            <a:custGeom>
              <a:avLst/>
              <a:gdLst/>
              <a:ahLst/>
              <a:cxnLst/>
              <a:rect l="l" t="t" r="r" b="b"/>
              <a:pathLst>
                <a:path w="264794" h="1460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695"/>
                  </a:lnTo>
                  <a:lnTo>
                    <a:pt x="2829" y="123708"/>
                  </a:lnTo>
                  <a:lnTo>
                    <a:pt x="10544" y="135151"/>
                  </a:lnTo>
                  <a:lnTo>
                    <a:pt x="21987" y="142866"/>
                  </a:lnTo>
                  <a:lnTo>
                    <a:pt x="36000" y="145695"/>
                  </a:lnTo>
                  <a:lnTo>
                    <a:pt x="228441" y="145695"/>
                  </a:lnTo>
                  <a:lnTo>
                    <a:pt x="242454" y="142866"/>
                  </a:lnTo>
                  <a:lnTo>
                    <a:pt x="253897" y="135151"/>
                  </a:lnTo>
                  <a:lnTo>
                    <a:pt x="261612" y="123708"/>
                  </a:lnTo>
                  <a:lnTo>
                    <a:pt x="264441" y="109695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8355" y="1090471"/>
              <a:ext cx="264795" cy="146050"/>
            </a:xfrm>
            <a:custGeom>
              <a:avLst/>
              <a:gdLst/>
              <a:ahLst/>
              <a:cxnLst/>
              <a:rect l="l" t="t" r="r" b="b"/>
              <a:pathLst>
                <a:path w="264794" h="1460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695"/>
                  </a:lnTo>
                  <a:lnTo>
                    <a:pt x="2829" y="123708"/>
                  </a:lnTo>
                  <a:lnTo>
                    <a:pt x="10544" y="135151"/>
                  </a:lnTo>
                  <a:lnTo>
                    <a:pt x="21987" y="142866"/>
                  </a:lnTo>
                  <a:lnTo>
                    <a:pt x="36000" y="145695"/>
                  </a:lnTo>
                  <a:lnTo>
                    <a:pt x="228441" y="145695"/>
                  </a:lnTo>
                  <a:lnTo>
                    <a:pt x="242454" y="142866"/>
                  </a:lnTo>
                  <a:lnTo>
                    <a:pt x="253897" y="135151"/>
                  </a:lnTo>
                  <a:lnTo>
                    <a:pt x="261612" y="123708"/>
                  </a:lnTo>
                  <a:lnTo>
                    <a:pt x="264441" y="109695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461625"/>
            <a:ext cx="5015230" cy="311785"/>
            <a:chOff x="372646" y="1461625"/>
            <a:chExt cx="5015230" cy="311785"/>
          </a:xfrm>
        </p:grpSpPr>
        <p:sp>
          <p:nvSpPr>
            <p:cNvPr id="7" name="object 7"/>
            <p:cNvSpPr/>
            <p:nvPr/>
          </p:nvSpPr>
          <p:spPr>
            <a:xfrm>
              <a:off x="377994" y="1466972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926"/>
                  </a:lnTo>
                  <a:lnTo>
                    <a:pt x="2829" y="278939"/>
                  </a:lnTo>
                  <a:lnTo>
                    <a:pt x="10544" y="290382"/>
                  </a:lnTo>
                  <a:lnTo>
                    <a:pt x="21987" y="298097"/>
                  </a:lnTo>
                  <a:lnTo>
                    <a:pt x="36000" y="300927"/>
                  </a:lnTo>
                  <a:lnTo>
                    <a:pt x="4968064" y="300927"/>
                  </a:lnTo>
                  <a:lnTo>
                    <a:pt x="4982077" y="298097"/>
                  </a:lnTo>
                  <a:lnTo>
                    <a:pt x="4993521" y="290382"/>
                  </a:lnTo>
                  <a:lnTo>
                    <a:pt x="5001236" y="278939"/>
                  </a:lnTo>
                  <a:lnTo>
                    <a:pt x="5004065" y="2649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467951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5">
                  <a:moveTo>
                    <a:pt x="0" y="2639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947"/>
                  </a:lnTo>
                  <a:lnTo>
                    <a:pt x="4999354" y="277579"/>
                  </a:lnTo>
                  <a:lnTo>
                    <a:pt x="4991849" y="288711"/>
                  </a:lnTo>
                  <a:lnTo>
                    <a:pt x="4980717" y="296216"/>
                  </a:lnTo>
                  <a:lnTo>
                    <a:pt x="4967085" y="298968"/>
                  </a:lnTo>
                  <a:lnTo>
                    <a:pt x="35021" y="298968"/>
                  </a:lnTo>
                  <a:lnTo>
                    <a:pt x="21389" y="296216"/>
                  </a:lnTo>
                  <a:lnTo>
                    <a:pt x="10257" y="288711"/>
                  </a:lnTo>
                  <a:lnTo>
                    <a:pt x="2752" y="277579"/>
                  </a:lnTo>
                  <a:lnTo>
                    <a:pt x="0" y="2639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876303"/>
            <a:ext cx="5026025" cy="160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80645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quick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far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signals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travel 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given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location.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ping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measure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signal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location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google.es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5080" indent="-4445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above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signal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google.es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measure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signal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go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back.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round-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trip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measured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milliseconds.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round-trip time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good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indicator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bigger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round-trip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farther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452245" cy="5080"/>
            </a:xfrm>
            <a:custGeom>
              <a:avLst/>
              <a:gdLst/>
              <a:ahLst/>
              <a:cxnLst/>
              <a:rect l="l" t="t" r="r" b="b"/>
              <a:pathLst>
                <a:path w="1452245" h="5080">
                  <a:moveTo>
                    <a:pt x="0" y="5060"/>
                  </a:moveTo>
                  <a:lnTo>
                    <a:pt x="0" y="0"/>
                  </a:lnTo>
                  <a:lnTo>
                    <a:pt x="1452147" y="0"/>
                  </a:lnTo>
                  <a:lnTo>
                    <a:pt x="1452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Playing</a:t>
            </a:r>
            <a:r>
              <a:rPr lang="en-US" spc="30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614521"/>
            <a:ext cx="5015230" cy="706120"/>
            <a:chOff x="372646" y="1614521"/>
            <a:chExt cx="5015230" cy="706120"/>
          </a:xfrm>
        </p:grpSpPr>
        <p:sp>
          <p:nvSpPr>
            <p:cNvPr id="4" name="object 4"/>
            <p:cNvSpPr/>
            <p:nvPr/>
          </p:nvSpPr>
          <p:spPr>
            <a:xfrm>
              <a:off x="377994" y="1619868"/>
              <a:ext cx="5004435" cy="695325"/>
            </a:xfrm>
            <a:custGeom>
              <a:avLst/>
              <a:gdLst/>
              <a:ahLst/>
              <a:cxnLst/>
              <a:rect l="l" t="t" r="r" b="b"/>
              <a:pathLst>
                <a:path w="5004435" h="695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8904"/>
                  </a:lnTo>
                  <a:lnTo>
                    <a:pt x="2829" y="672917"/>
                  </a:lnTo>
                  <a:lnTo>
                    <a:pt x="10544" y="684361"/>
                  </a:lnTo>
                  <a:lnTo>
                    <a:pt x="21987" y="692076"/>
                  </a:lnTo>
                  <a:lnTo>
                    <a:pt x="36000" y="694905"/>
                  </a:lnTo>
                  <a:lnTo>
                    <a:pt x="4968064" y="694905"/>
                  </a:lnTo>
                  <a:lnTo>
                    <a:pt x="4982077" y="692076"/>
                  </a:lnTo>
                  <a:lnTo>
                    <a:pt x="4993521" y="684361"/>
                  </a:lnTo>
                  <a:lnTo>
                    <a:pt x="5001236" y="672917"/>
                  </a:lnTo>
                  <a:lnTo>
                    <a:pt x="5004065" y="65890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620848"/>
              <a:ext cx="5002530" cy="693420"/>
            </a:xfrm>
            <a:custGeom>
              <a:avLst/>
              <a:gdLst/>
              <a:ahLst/>
              <a:cxnLst/>
              <a:rect l="l" t="t" r="r" b="b"/>
              <a:pathLst>
                <a:path w="5002530" h="693419">
                  <a:moveTo>
                    <a:pt x="0" y="65792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57925"/>
                  </a:lnTo>
                  <a:lnTo>
                    <a:pt x="4999354" y="671557"/>
                  </a:lnTo>
                  <a:lnTo>
                    <a:pt x="4991849" y="682689"/>
                  </a:lnTo>
                  <a:lnTo>
                    <a:pt x="4980717" y="690194"/>
                  </a:lnTo>
                  <a:lnTo>
                    <a:pt x="4967085" y="692946"/>
                  </a:lnTo>
                  <a:lnTo>
                    <a:pt x="35021" y="692946"/>
                  </a:lnTo>
                  <a:lnTo>
                    <a:pt x="21389" y="690194"/>
                  </a:lnTo>
                  <a:lnTo>
                    <a:pt x="10257" y="682689"/>
                  </a:lnTo>
                  <a:lnTo>
                    <a:pt x="2752" y="671557"/>
                  </a:lnTo>
                  <a:lnTo>
                    <a:pt x="0" y="65792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1029224"/>
            <a:ext cx="5053965" cy="120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much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parts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domain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countries.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 domains: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es.pool.ntp.org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Spain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5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3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us.pool.ntp.org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United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States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ru.pool.ntp.org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Russia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nz.pool.ntp.org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5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New</a:t>
            </a:r>
            <a:r>
              <a:rPr lang="en-US" sz="800" i="1" spc="-5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Zealand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500505" cy="5080"/>
            </a:xfrm>
            <a:custGeom>
              <a:avLst/>
              <a:gdLst/>
              <a:ahLst/>
              <a:cxnLst/>
              <a:rect l="l" t="t" r="r" b="b"/>
              <a:pathLst>
                <a:path w="1500505" h="5080">
                  <a:moveTo>
                    <a:pt x="0" y="5060"/>
                  </a:moveTo>
                  <a:lnTo>
                    <a:pt x="0" y="0"/>
                  </a:lnTo>
                  <a:lnTo>
                    <a:pt x="1500487" y="0"/>
                  </a:lnTo>
                  <a:lnTo>
                    <a:pt x="150048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Playing</a:t>
            </a:r>
            <a:r>
              <a:rPr lang="en-US" spc="30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08172" y="1090074"/>
            <a:ext cx="443865" cy="114300"/>
            <a:chOff x="3308172" y="1090074"/>
            <a:chExt cx="443865" cy="114300"/>
          </a:xfrm>
        </p:grpSpPr>
        <p:sp>
          <p:nvSpPr>
            <p:cNvPr id="4" name="object 4"/>
            <p:cNvSpPr/>
            <p:nvPr/>
          </p:nvSpPr>
          <p:spPr>
            <a:xfrm>
              <a:off x="3308172" y="1090074"/>
              <a:ext cx="443865" cy="114300"/>
            </a:xfrm>
            <a:custGeom>
              <a:avLst/>
              <a:gdLst/>
              <a:ahLst/>
              <a:cxnLst/>
              <a:rect l="l" t="t" r="r" b="b"/>
              <a:pathLst>
                <a:path w="443864" h="11430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407793" y="114266"/>
                  </a:lnTo>
                  <a:lnTo>
                    <a:pt x="421806" y="111437"/>
                  </a:lnTo>
                  <a:lnTo>
                    <a:pt x="433249" y="103722"/>
                  </a:lnTo>
                  <a:lnTo>
                    <a:pt x="440964" y="92279"/>
                  </a:lnTo>
                  <a:lnTo>
                    <a:pt x="443793" y="78266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308172" y="1090074"/>
              <a:ext cx="443865" cy="114300"/>
            </a:xfrm>
            <a:custGeom>
              <a:avLst/>
              <a:gdLst/>
              <a:ahLst/>
              <a:cxnLst/>
              <a:rect l="l" t="t" r="r" b="b"/>
              <a:pathLst>
                <a:path w="443864" h="11430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407793" y="114266"/>
                  </a:lnTo>
                  <a:lnTo>
                    <a:pt x="421806" y="111437"/>
                  </a:lnTo>
                  <a:lnTo>
                    <a:pt x="433249" y="103722"/>
                  </a:lnTo>
                  <a:lnTo>
                    <a:pt x="440964" y="92279"/>
                  </a:lnTo>
                  <a:lnTo>
                    <a:pt x="443793" y="78266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492472" y="1089961"/>
            <a:ext cx="623570" cy="114935"/>
            <a:chOff x="4492472" y="1089961"/>
            <a:chExt cx="623570" cy="114935"/>
          </a:xfrm>
        </p:grpSpPr>
        <p:sp>
          <p:nvSpPr>
            <p:cNvPr id="7" name="object 7"/>
            <p:cNvSpPr/>
            <p:nvPr/>
          </p:nvSpPr>
          <p:spPr>
            <a:xfrm>
              <a:off x="4492472" y="1089961"/>
              <a:ext cx="623570" cy="114935"/>
            </a:xfrm>
            <a:custGeom>
              <a:avLst/>
              <a:gdLst/>
              <a:ahLst/>
              <a:cxnLst/>
              <a:rect l="l" t="t" r="r" b="b"/>
              <a:pathLst>
                <a:path w="623570" h="11493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494"/>
                  </a:lnTo>
                  <a:lnTo>
                    <a:pt x="2829" y="92507"/>
                  </a:lnTo>
                  <a:lnTo>
                    <a:pt x="10544" y="103950"/>
                  </a:lnTo>
                  <a:lnTo>
                    <a:pt x="21987" y="111665"/>
                  </a:lnTo>
                  <a:lnTo>
                    <a:pt x="36000" y="114494"/>
                  </a:lnTo>
                  <a:lnTo>
                    <a:pt x="587145" y="114494"/>
                  </a:lnTo>
                  <a:lnTo>
                    <a:pt x="601158" y="111665"/>
                  </a:lnTo>
                  <a:lnTo>
                    <a:pt x="612602" y="103950"/>
                  </a:lnTo>
                  <a:lnTo>
                    <a:pt x="620317" y="92507"/>
                  </a:lnTo>
                  <a:lnTo>
                    <a:pt x="623146" y="78494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4492472" y="1089961"/>
              <a:ext cx="623570" cy="114935"/>
            </a:xfrm>
            <a:custGeom>
              <a:avLst/>
              <a:gdLst/>
              <a:ahLst/>
              <a:cxnLst/>
              <a:rect l="l" t="t" r="r" b="b"/>
              <a:pathLst>
                <a:path w="623570" h="11493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494"/>
                  </a:lnTo>
                  <a:lnTo>
                    <a:pt x="2829" y="92507"/>
                  </a:lnTo>
                  <a:lnTo>
                    <a:pt x="10544" y="103950"/>
                  </a:lnTo>
                  <a:lnTo>
                    <a:pt x="21987" y="111665"/>
                  </a:lnTo>
                  <a:lnTo>
                    <a:pt x="36000" y="114494"/>
                  </a:lnTo>
                  <a:lnTo>
                    <a:pt x="587145" y="114494"/>
                  </a:lnTo>
                  <a:lnTo>
                    <a:pt x="601158" y="111665"/>
                  </a:lnTo>
                  <a:lnTo>
                    <a:pt x="612602" y="103950"/>
                  </a:lnTo>
                  <a:lnTo>
                    <a:pt x="620317" y="92507"/>
                  </a:lnTo>
                  <a:lnTo>
                    <a:pt x="623146" y="78494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646" y="1614521"/>
            <a:ext cx="5015230" cy="706120"/>
            <a:chOff x="372646" y="1614521"/>
            <a:chExt cx="5015230" cy="706120"/>
          </a:xfrm>
        </p:grpSpPr>
        <p:sp>
          <p:nvSpPr>
            <p:cNvPr id="10" name="object 10"/>
            <p:cNvSpPr/>
            <p:nvPr/>
          </p:nvSpPr>
          <p:spPr>
            <a:xfrm>
              <a:off x="377994" y="1619868"/>
              <a:ext cx="5004435" cy="695325"/>
            </a:xfrm>
            <a:custGeom>
              <a:avLst/>
              <a:gdLst/>
              <a:ahLst/>
              <a:cxnLst/>
              <a:rect l="l" t="t" r="r" b="b"/>
              <a:pathLst>
                <a:path w="5004435" h="695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8904"/>
                  </a:lnTo>
                  <a:lnTo>
                    <a:pt x="2829" y="672917"/>
                  </a:lnTo>
                  <a:lnTo>
                    <a:pt x="10544" y="684361"/>
                  </a:lnTo>
                  <a:lnTo>
                    <a:pt x="21987" y="692076"/>
                  </a:lnTo>
                  <a:lnTo>
                    <a:pt x="36000" y="694905"/>
                  </a:lnTo>
                  <a:lnTo>
                    <a:pt x="4968064" y="694905"/>
                  </a:lnTo>
                  <a:lnTo>
                    <a:pt x="4982077" y="692076"/>
                  </a:lnTo>
                  <a:lnTo>
                    <a:pt x="4993521" y="684361"/>
                  </a:lnTo>
                  <a:lnTo>
                    <a:pt x="5001236" y="672917"/>
                  </a:lnTo>
                  <a:lnTo>
                    <a:pt x="5004065" y="65890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1620848"/>
              <a:ext cx="5002530" cy="693420"/>
            </a:xfrm>
            <a:custGeom>
              <a:avLst/>
              <a:gdLst/>
              <a:ahLst/>
              <a:cxnLst/>
              <a:rect l="l" t="t" r="r" b="b"/>
              <a:pathLst>
                <a:path w="5002530" h="693419">
                  <a:moveTo>
                    <a:pt x="0" y="65792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57925"/>
                  </a:lnTo>
                  <a:lnTo>
                    <a:pt x="4999354" y="671557"/>
                  </a:lnTo>
                  <a:lnTo>
                    <a:pt x="4991849" y="682689"/>
                  </a:lnTo>
                  <a:lnTo>
                    <a:pt x="4980717" y="690194"/>
                  </a:lnTo>
                  <a:lnTo>
                    <a:pt x="4967085" y="692946"/>
                  </a:lnTo>
                  <a:lnTo>
                    <a:pt x="35021" y="692946"/>
                  </a:lnTo>
                  <a:lnTo>
                    <a:pt x="21389" y="690194"/>
                  </a:lnTo>
                  <a:lnTo>
                    <a:pt x="10257" y="682689"/>
                  </a:lnTo>
                  <a:lnTo>
                    <a:pt x="2752" y="671557"/>
                  </a:lnTo>
                  <a:lnTo>
                    <a:pt x="0" y="65792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2100" y="1040018"/>
            <a:ext cx="5293185" cy="1187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explore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tracert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b="1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75" noProof="1">
                <a:latin typeface="Courier New"/>
                <a:cs typeface="Courier New"/>
              </a:rPr>
              <a:t>traceroute</a:t>
            </a:r>
            <a:r>
              <a:rPr lang="en-US" sz="900" b="1" spc="-114" noProof="1">
                <a:latin typeface="Courier New"/>
                <a:cs typeface="Courier New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MacOS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).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shows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given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goes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through.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lang="en-US" sz="800" spc="-60" noProof="1">
                <a:latin typeface="Courier New"/>
                <a:cs typeface="Courier New"/>
              </a:rPr>
              <a:t>$ tracert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es.pool.ntp.org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3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20" noProof="1">
                <a:solidFill>
                  <a:srgbClr val="60A0AF"/>
                </a:solidFill>
                <a:latin typeface="Courier New"/>
                <a:cs typeface="Courier New"/>
              </a:rPr>
              <a:t>Spain</a:t>
            </a:r>
            <a:endParaRPr lang="en-US" sz="800" noProof="1">
              <a:latin typeface="Courier New"/>
              <a:cs typeface="Courier New"/>
            </a:endParaRPr>
          </a:p>
          <a:p>
            <a:pPr marL="213995" marR="2656840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$ tracert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us.pool.ntp.org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2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United</a:t>
            </a:r>
            <a:r>
              <a:rPr lang="en-US" sz="800" i="1" spc="-3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States </a:t>
            </a:r>
          </a:p>
          <a:p>
            <a:pPr marL="213995" marR="2656840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$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tracert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ru.pool.ntp.org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3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Russia </a:t>
            </a:r>
          </a:p>
          <a:p>
            <a:pPr marL="213995" marR="2656840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$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tracert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nz.pool.ntp.org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3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New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Zealand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1549400" cy="5080"/>
            </a:xfrm>
            <a:custGeom>
              <a:avLst/>
              <a:gdLst/>
              <a:ahLst/>
              <a:cxnLst/>
              <a:rect l="l" t="t" r="r" b="b"/>
              <a:pathLst>
                <a:path w="1549400" h="5080">
                  <a:moveTo>
                    <a:pt x="0" y="5060"/>
                  </a:moveTo>
                  <a:lnTo>
                    <a:pt x="0" y="0"/>
                  </a:lnTo>
                  <a:lnTo>
                    <a:pt x="1548916" y="0"/>
                  </a:lnTo>
                  <a:lnTo>
                    <a:pt x="15489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1160491"/>
            <a:ext cx="483362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We’ve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solidFill>
                  <a:srgbClr val="22373A"/>
                </a:solidFill>
                <a:latin typeface="Arial"/>
                <a:cs typeface="Arial"/>
              </a:rPr>
              <a:t>seen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biggest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questions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about: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made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networks?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connected?</a:t>
            </a:r>
            <a:endParaRPr lang="en-US" sz="900" noProof="1">
              <a:latin typeface="Arial"/>
              <a:cs typeface="Arial"/>
            </a:endParaRPr>
          </a:p>
          <a:p>
            <a:pPr marL="245745" marR="29209" indent="-147955">
              <a:lnSpc>
                <a:spcPct val="116199"/>
              </a:lnSpc>
              <a:buChar char="•"/>
              <a:tabLst>
                <a:tab pos="24574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decide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traﬀic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goes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other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97660" cy="5080"/>
            </a:xfrm>
            <a:custGeom>
              <a:avLst/>
              <a:gdLst/>
              <a:ahLst/>
              <a:cxnLst/>
              <a:rect l="l" t="t" r="r" b="b"/>
              <a:pathLst>
                <a:path w="1597660" h="5080">
                  <a:moveTo>
                    <a:pt x="0" y="5060"/>
                  </a:moveTo>
                  <a:lnTo>
                    <a:pt x="0" y="0"/>
                  </a:lnTo>
                  <a:lnTo>
                    <a:pt x="1597344" y="0"/>
                  </a:lnTo>
                  <a:lnTo>
                    <a:pt x="159734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715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Subnetting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695325" cy="5080"/>
            </a:xfrm>
            <a:custGeom>
              <a:avLst/>
              <a:gdLst/>
              <a:ahLst/>
              <a:cxnLst/>
              <a:rect l="l" t="t" r="r" b="b"/>
              <a:pathLst>
                <a:path w="695325" h="5080">
                  <a:moveTo>
                    <a:pt x="0" y="5060"/>
                  </a:moveTo>
                  <a:lnTo>
                    <a:pt x="0" y="0"/>
                  </a:lnTo>
                  <a:lnTo>
                    <a:pt x="694735" y="0"/>
                  </a:lnTo>
                  <a:lnTo>
                    <a:pt x="6947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1718" y="555625"/>
            <a:ext cx="5071110" cy="2628822"/>
          </a:xfrm>
          <a:prstGeom prst="rect">
            <a:avLst/>
          </a:prstGeom>
        </p:spPr>
        <p:txBody>
          <a:bodyPr vert="horz" wrap="square" lIns="0" tIns="289839" rIns="0" bIns="0" rtlCol="0">
            <a:spAutoFit/>
          </a:bodyPr>
          <a:lstStyle/>
          <a:p>
            <a:pPr marL="17780" marR="309880" indent="-5715">
              <a:lnSpc>
                <a:spcPct val="116199"/>
              </a:lnSpc>
              <a:spcBef>
                <a:spcPts val="100"/>
              </a:spcBef>
            </a:pPr>
            <a:r>
              <a:rPr lang="en-US" noProof="1"/>
              <a:t>While</a:t>
            </a:r>
            <a:r>
              <a:rPr lang="en-US" spc="5" noProof="1"/>
              <a:t> </a:t>
            </a:r>
            <a:r>
              <a:rPr lang="en-US" spc="-20" noProof="1"/>
              <a:t>explaining</a:t>
            </a:r>
            <a:r>
              <a:rPr lang="en-US" spc="10" noProof="1"/>
              <a:t> </a:t>
            </a:r>
            <a:r>
              <a:rPr lang="en-US" noProof="1"/>
              <a:t>what</a:t>
            </a:r>
            <a:r>
              <a:rPr lang="en-US" spc="5" noProof="1"/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internet,</a:t>
            </a:r>
            <a:r>
              <a:rPr lang="en-US" spc="10" noProof="1"/>
              <a:t> </a:t>
            </a:r>
            <a:r>
              <a:rPr lang="en-US" spc="-40" noProof="1"/>
              <a:t>we</a:t>
            </a:r>
            <a:r>
              <a:rPr lang="en-US" spc="10" noProof="1"/>
              <a:t> </a:t>
            </a:r>
            <a:r>
              <a:rPr lang="en-US" spc="-20" noProof="1"/>
              <a:t>mentioned</a:t>
            </a:r>
            <a:r>
              <a:rPr lang="en-US" spc="5" noProof="1"/>
              <a:t> </a:t>
            </a:r>
            <a:r>
              <a:rPr lang="en-US" noProof="1"/>
              <a:t>that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10" noProof="1"/>
              <a:t> </a:t>
            </a:r>
            <a:r>
              <a:rPr lang="en-US" spc="-10" noProof="1"/>
              <a:t>can</a:t>
            </a:r>
            <a:r>
              <a:rPr lang="en-US" spc="10" noProof="1"/>
              <a:t> </a:t>
            </a:r>
            <a:r>
              <a:rPr lang="en-US" noProof="1"/>
              <a:t>be</a:t>
            </a:r>
            <a:r>
              <a:rPr lang="en-US" spc="5" noProof="1"/>
              <a:t> </a:t>
            </a:r>
            <a:r>
              <a:rPr lang="en-US" spc="-30" noProof="1"/>
              <a:t>made</a:t>
            </a:r>
            <a:r>
              <a:rPr lang="en-US" spc="10" noProof="1"/>
              <a:t> </a:t>
            </a:r>
            <a:r>
              <a:rPr lang="en-US" noProof="1"/>
              <a:t>up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10" noProof="1"/>
              <a:t> </a:t>
            </a:r>
            <a:r>
              <a:rPr lang="en-US" spc="-10" noProof="1"/>
              <a:t>different networks.</a:t>
            </a:r>
          </a:p>
          <a:p>
            <a:pPr marL="13970">
              <a:lnSpc>
                <a:spcPct val="100000"/>
              </a:lnSpc>
              <a:spcBef>
                <a:spcPts val="800"/>
              </a:spcBef>
            </a:pPr>
            <a:r>
              <a:rPr lang="en-US" noProof="1"/>
              <a:t>This</a:t>
            </a:r>
            <a:r>
              <a:rPr lang="en-US" spc="-5" noProof="1"/>
              <a:t> </a:t>
            </a:r>
            <a:r>
              <a:rPr lang="en-US" noProof="1"/>
              <a:t>is</a:t>
            </a:r>
            <a:r>
              <a:rPr lang="en-US" spc="5" noProof="1"/>
              <a:t> </a:t>
            </a:r>
            <a:r>
              <a:rPr lang="en-US" spc="-30" noProof="1"/>
              <a:t>where</a:t>
            </a:r>
            <a:r>
              <a:rPr lang="en-US" spc="5" noProof="1"/>
              <a:t> </a:t>
            </a:r>
            <a:r>
              <a:rPr lang="en-US" b="1" spc="-45" noProof="1">
                <a:latin typeface="Arial"/>
                <a:cs typeface="Arial"/>
              </a:rPr>
              <a:t>subnets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spc="-30" noProof="1"/>
              <a:t>come</a:t>
            </a:r>
            <a:r>
              <a:rPr lang="en-US" spc="5" noProof="1"/>
              <a:t> </a:t>
            </a:r>
            <a:r>
              <a:rPr lang="en-US" noProof="1"/>
              <a:t>into</a:t>
            </a:r>
            <a:r>
              <a:rPr lang="en-US" spc="5" noProof="1"/>
              <a:t> </a:t>
            </a:r>
            <a:r>
              <a:rPr lang="en-US" spc="-20" noProof="1"/>
              <a:t>play.</a:t>
            </a:r>
            <a:r>
              <a:rPr lang="en-US" spc="9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b="1" spc="-35" noProof="1">
                <a:latin typeface="Arial"/>
                <a:cs typeface="Arial"/>
              </a:rPr>
              <a:t>subnet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30" noProof="1"/>
              <a:t>way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5" noProof="1"/>
              <a:t> </a:t>
            </a:r>
            <a:r>
              <a:rPr lang="en-US" noProof="1"/>
              <a:t>dividing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5" noProof="1"/>
              <a:t> </a:t>
            </a:r>
            <a:r>
              <a:rPr lang="en-US" noProof="1"/>
              <a:t>into</a:t>
            </a:r>
            <a:r>
              <a:rPr lang="en-US" spc="5" noProof="1"/>
              <a:t> </a:t>
            </a:r>
            <a:r>
              <a:rPr lang="en-US" spc="-25" noProof="1"/>
              <a:t>smaller</a:t>
            </a:r>
            <a:r>
              <a:rPr lang="en-US" spc="10" noProof="1"/>
              <a:t> </a:t>
            </a:r>
            <a:r>
              <a:rPr lang="en-US" spc="-10" noProof="1"/>
              <a:t>networks.</a:t>
            </a:r>
          </a:p>
          <a:p>
            <a:pPr marL="13970">
              <a:lnSpc>
                <a:spcPct val="100000"/>
              </a:lnSpc>
              <a:spcBef>
                <a:spcPts val="800"/>
              </a:spcBef>
            </a:pPr>
            <a:endParaRPr lang="en-US" spc="-10" noProof="1"/>
          </a:p>
          <a:p>
            <a:pPr marL="13970" marR="99060">
              <a:lnSpc>
                <a:spcPct val="116199"/>
              </a:lnSpc>
              <a:spcBef>
                <a:spcPts val="100"/>
              </a:spcBef>
            </a:pPr>
            <a:r>
              <a:rPr lang="en-US" spc="-35" noProof="1"/>
              <a:t>The subnets</a:t>
            </a:r>
            <a:r>
              <a:rPr lang="en-US" spc="5" noProof="1"/>
              <a:t> </a:t>
            </a:r>
            <a:r>
              <a:rPr lang="en-US" spc="-10" noProof="1"/>
              <a:t>allow</a:t>
            </a:r>
            <a:r>
              <a:rPr lang="en-US" spc="5" noProof="1"/>
              <a:t> </a:t>
            </a:r>
            <a:r>
              <a:rPr lang="en-US" spc="-10" noProof="1"/>
              <a:t>us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spc="-10" noProof="1"/>
              <a:t>divide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5" noProof="1"/>
              <a:t> </a:t>
            </a:r>
            <a:r>
              <a:rPr lang="en-US" noProof="1"/>
              <a:t>into</a:t>
            </a:r>
            <a:r>
              <a:rPr lang="en-US" spc="5" noProof="1"/>
              <a:t> </a:t>
            </a:r>
            <a:r>
              <a:rPr lang="en-US" spc="-25" noProof="1"/>
              <a:t>smaller</a:t>
            </a:r>
            <a:r>
              <a:rPr lang="en-US" spc="5" noProof="1"/>
              <a:t> </a:t>
            </a:r>
            <a:r>
              <a:rPr lang="en-US" spc="-30" noProof="1"/>
              <a:t>networks</a:t>
            </a:r>
            <a:r>
              <a:rPr lang="en-US" spc="5" noProof="1"/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spc="-10" noProof="1"/>
              <a:t>control </a:t>
            </a:r>
            <a:r>
              <a:rPr lang="en-US" noProof="1"/>
              <a:t>which</a:t>
            </a:r>
            <a:r>
              <a:rPr lang="en-US" spc="5" noProof="1"/>
              <a:t> </a:t>
            </a:r>
            <a:r>
              <a:rPr lang="en-US" spc="-20" noProof="1"/>
              <a:t>subnet</a:t>
            </a:r>
            <a:r>
              <a:rPr lang="en-US" spc="5" noProof="1"/>
              <a:t> </a:t>
            </a:r>
            <a:r>
              <a:rPr lang="en-US" spc="-10" noProof="1"/>
              <a:t>can</a:t>
            </a:r>
            <a:r>
              <a:rPr lang="en-US" spc="10" noProof="1"/>
              <a:t> </a:t>
            </a:r>
            <a:r>
              <a:rPr lang="en-US" noProof="1"/>
              <a:t>talk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which</a:t>
            </a:r>
            <a:r>
              <a:rPr lang="en-US" spc="5" noProof="1"/>
              <a:t> </a:t>
            </a:r>
            <a:r>
              <a:rPr lang="en-US" noProof="1"/>
              <a:t>other</a:t>
            </a:r>
            <a:r>
              <a:rPr lang="en-US" spc="5" noProof="1"/>
              <a:t> </a:t>
            </a:r>
            <a:r>
              <a:rPr lang="en-US" spc="-10" noProof="1"/>
              <a:t>subnet.</a:t>
            </a:r>
          </a:p>
          <a:p>
            <a:pPr marL="17780" marR="5080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In</a:t>
            </a:r>
            <a:r>
              <a:rPr lang="en-US" spc="-5" noProof="1"/>
              <a:t> </a:t>
            </a:r>
            <a:r>
              <a:rPr lang="en-US" noProof="1"/>
              <a:t>the </a:t>
            </a:r>
            <a:r>
              <a:rPr lang="en-US" spc="-65" noProof="1"/>
              <a:t>case</a:t>
            </a:r>
            <a:r>
              <a:rPr lang="en-US" spc="5" noProof="1"/>
              <a:t> </a:t>
            </a:r>
            <a:r>
              <a:rPr lang="en-US" noProof="1"/>
              <a:t>of a </a:t>
            </a:r>
            <a:r>
              <a:rPr lang="en-US" spc="-30" noProof="1"/>
              <a:t>company</a:t>
            </a:r>
            <a:r>
              <a:rPr lang="en-US" spc="5" noProof="1"/>
              <a:t> </a:t>
            </a:r>
            <a:r>
              <a:rPr lang="en-US" spc="-50" noProof="1"/>
              <a:t>we</a:t>
            </a:r>
            <a:r>
              <a:rPr lang="en-US" noProof="1"/>
              <a:t> </a:t>
            </a:r>
            <a:r>
              <a:rPr lang="en-US" spc="-30" noProof="1"/>
              <a:t>may</a:t>
            </a:r>
            <a:r>
              <a:rPr lang="en-US" noProof="1"/>
              <a:t> want the</a:t>
            </a:r>
            <a:r>
              <a:rPr lang="en-US" spc="5" noProof="1"/>
              <a:t> </a:t>
            </a:r>
            <a:r>
              <a:rPr lang="en-US" spc="-20" noProof="1"/>
              <a:t>subnet</a:t>
            </a:r>
            <a:r>
              <a:rPr lang="en-US" noProof="1"/>
              <a:t> of </a:t>
            </a:r>
            <a:r>
              <a:rPr lang="en-US" spc="-65" noProof="1"/>
              <a:t>sales</a:t>
            </a:r>
            <a:r>
              <a:rPr lang="en-US" spc="5" noProof="1"/>
              <a:t> </a:t>
            </a:r>
            <a:r>
              <a:rPr lang="en-US" spc="-20" noProof="1"/>
              <a:t>department</a:t>
            </a:r>
            <a:r>
              <a:rPr lang="en-US" noProof="1"/>
              <a:t> </a:t>
            </a:r>
            <a:r>
              <a:rPr lang="en-US" spc="-10" noProof="1"/>
              <a:t>and</a:t>
            </a:r>
            <a:r>
              <a:rPr lang="en-US" noProof="1"/>
              <a:t> the </a:t>
            </a:r>
            <a:r>
              <a:rPr lang="en-US" spc="-20" noProof="1"/>
              <a:t>subnet</a:t>
            </a:r>
            <a:r>
              <a:rPr lang="en-US" noProof="1"/>
              <a:t> of</a:t>
            </a:r>
            <a:r>
              <a:rPr lang="en-US" spc="5" noProof="1"/>
              <a:t> </a:t>
            </a:r>
            <a:r>
              <a:rPr lang="en-US" noProof="1"/>
              <a:t>the </a:t>
            </a:r>
            <a:r>
              <a:rPr lang="en-US" spc="-10" noProof="1"/>
              <a:t>marketing department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be</a:t>
            </a:r>
            <a:r>
              <a:rPr lang="en-US" spc="40" noProof="1"/>
              <a:t> </a:t>
            </a:r>
            <a:r>
              <a:rPr lang="en-US" spc="-20" noProof="1"/>
              <a:t>able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talk</a:t>
            </a:r>
            <a:r>
              <a:rPr lang="en-US" spc="40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40" noProof="1"/>
              <a:t> </a:t>
            </a:r>
            <a:r>
              <a:rPr lang="en-US" spc="-20" noProof="1"/>
              <a:t>subnet</a:t>
            </a:r>
            <a:r>
              <a:rPr lang="en-US" spc="40" noProof="1"/>
              <a:t> </a:t>
            </a:r>
            <a:r>
              <a:rPr lang="en-US" noProof="1"/>
              <a:t>of</a:t>
            </a:r>
            <a:r>
              <a:rPr lang="en-US" spc="40" noProof="1"/>
              <a:t> </a:t>
            </a:r>
            <a:r>
              <a:rPr lang="en-US" noProof="1"/>
              <a:t>IT</a:t>
            </a:r>
            <a:r>
              <a:rPr lang="en-US" spc="35" noProof="1"/>
              <a:t> </a:t>
            </a:r>
            <a:r>
              <a:rPr lang="en-US" spc="-10" noProof="1"/>
              <a:t>administration,</a:t>
            </a:r>
            <a:r>
              <a:rPr lang="en-US" spc="40" noProof="1"/>
              <a:t> </a:t>
            </a:r>
            <a:r>
              <a:rPr lang="en-US" noProof="1"/>
              <a:t>but</a:t>
            </a:r>
            <a:r>
              <a:rPr lang="en-US" spc="40" noProof="1"/>
              <a:t> </a:t>
            </a:r>
            <a:r>
              <a:rPr lang="en-US" spc="-40" noProof="1"/>
              <a:t>we</a:t>
            </a:r>
            <a:r>
              <a:rPr lang="en-US" spc="35" noProof="1"/>
              <a:t> </a:t>
            </a:r>
            <a:r>
              <a:rPr lang="en-US" noProof="1"/>
              <a:t>don’t</a:t>
            </a:r>
            <a:r>
              <a:rPr lang="en-US" spc="40" noProof="1"/>
              <a:t> </a:t>
            </a:r>
            <a:r>
              <a:rPr lang="en-US" noProof="1"/>
              <a:t>want</a:t>
            </a:r>
            <a:r>
              <a:rPr lang="en-US" spc="40" noProof="1"/>
              <a:t> </a:t>
            </a:r>
            <a:r>
              <a:rPr lang="en-US" noProof="1"/>
              <a:t>the</a:t>
            </a:r>
            <a:r>
              <a:rPr lang="en-US" spc="40" noProof="1"/>
              <a:t> </a:t>
            </a:r>
            <a:r>
              <a:rPr lang="en-US" spc="-20" noProof="1"/>
              <a:t>subnet</a:t>
            </a:r>
            <a:r>
              <a:rPr lang="en-US" spc="35" noProof="1"/>
              <a:t> </a:t>
            </a:r>
            <a:r>
              <a:rPr lang="en-US" spc="-25" noProof="1"/>
              <a:t>of</a:t>
            </a:r>
            <a:r>
              <a:rPr lang="en-US" spc="500" noProof="1"/>
              <a:t> </a:t>
            </a:r>
            <a:r>
              <a:rPr lang="en-US" spc="-55" noProof="1"/>
              <a:t>sales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be</a:t>
            </a:r>
            <a:r>
              <a:rPr lang="en-US" spc="35" noProof="1"/>
              <a:t> </a:t>
            </a:r>
            <a:r>
              <a:rPr lang="en-US" spc="-20" noProof="1"/>
              <a:t>able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talk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subnet</a:t>
            </a:r>
            <a:r>
              <a:rPr lang="en-US" spc="35" noProof="1"/>
              <a:t> </a:t>
            </a:r>
            <a:r>
              <a:rPr lang="en-US" noProof="1"/>
              <a:t>of</a:t>
            </a:r>
            <a:r>
              <a:rPr lang="en-US" spc="35" noProof="1"/>
              <a:t> </a:t>
            </a:r>
            <a:r>
              <a:rPr lang="en-US" spc="-10" noProof="1"/>
              <a:t>marketing.</a:t>
            </a:r>
          </a:p>
          <a:p>
            <a:pPr marL="17780" marR="297180" indent="-5715">
              <a:lnSpc>
                <a:spcPct val="116199"/>
              </a:lnSpc>
              <a:spcBef>
                <a:spcPts val="625"/>
              </a:spcBef>
            </a:pPr>
            <a:r>
              <a:rPr lang="en-US" spc="-10" noProof="1"/>
              <a:t>We</a:t>
            </a:r>
            <a:r>
              <a:rPr lang="en-US" spc="15" noProof="1"/>
              <a:t> </a:t>
            </a:r>
            <a:r>
              <a:rPr lang="en-US" spc="-10" noProof="1"/>
              <a:t>could</a:t>
            </a:r>
            <a:r>
              <a:rPr lang="en-US" spc="15" noProof="1"/>
              <a:t> </a:t>
            </a:r>
            <a:r>
              <a:rPr lang="en-US" spc="-25" noProof="1"/>
              <a:t>also</a:t>
            </a:r>
            <a:r>
              <a:rPr lang="en-US" spc="20" noProof="1"/>
              <a:t> </a:t>
            </a:r>
            <a:r>
              <a:rPr lang="en-US" spc="-35" noProof="1"/>
              <a:t>have</a:t>
            </a:r>
            <a:r>
              <a:rPr lang="en-US" spc="15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20" noProof="1"/>
              <a:t>security</a:t>
            </a:r>
            <a:r>
              <a:rPr lang="en-US" spc="15" noProof="1"/>
              <a:t> </a:t>
            </a:r>
            <a:r>
              <a:rPr lang="en-US" spc="-35" noProof="1"/>
              <a:t>camera</a:t>
            </a:r>
            <a:r>
              <a:rPr lang="en-US" spc="15" noProof="1"/>
              <a:t> </a:t>
            </a:r>
            <a:r>
              <a:rPr lang="en-US" spc="-20" noProof="1"/>
              <a:t>subnet</a:t>
            </a:r>
            <a:r>
              <a:rPr lang="en-US" spc="20" noProof="1"/>
              <a:t> </a:t>
            </a:r>
            <a:r>
              <a:rPr lang="en-US" noProof="1"/>
              <a:t>that</a:t>
            </a:r>
            <a:r>
              <a:rPr lang="en-US" spc="15" noProof="1"/>
              <a:t> </a:t>
            </a:r>
            <a:r>
              <a:rPr lang="en-US" spc="-40" noProof="1"/>
              <a:t>we</a:t>
            </a:r>
            <a:r>
              <a:rPr lang="en-US" spc="20" noProof="1"/>
              <a:t> </a:t>
            </a:r>
            <a:r>
              <a:rPr lang="en-US" noProof="1"/>
              <a:t>don’t</a:t>
            </a:r>
            <a:r>
              <a:rPr lang="en-US" spc="15" noProof="1"/>
              <a:t> </a:t>
            </a:r>
            <a:r>
              <a:rPr lang="en-US" noProof="1"/>
              <a:t>want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spc="-20" noProof="1"/>
              <a:t>communicate</a:t>
            </a:r>
            <a:r>
              <a:rPr lang="en-US" spc="15" noProof="1"/>
              <a:t> </a:t>
            </a:r>
            <a:r>
              <a:rPr lang="en-US" noProof="1"/>
              <a:t>with</a:t>
            </a:r>
            <a:r>
              <a:rPr lang="en-US" spc="20" noProof="1"/>
              <a:t> </a:t>
            </a:r>
            <a:r>
              <a:rPr lang="en-US" spc="-10" noProof="1"/>
              <a:t>any</a:t>
            </a:r>
            <a:r>
              <a:rPr lang="en-US" spc="15" noProof="1"/>
              <a:t> </a:t>
            </a:r>
            <a:r>
              <a:rPr lang="en-US" spc="-10" noProof="1"/>
              <a:t>other </a:t>
            </a:r>
            <a:r>
              <a:rPr lang="en-US" spc="-20" noProof="1"/>
              <a:t>subnet</a:t>
            </a:r>
            <a:r>
              <a:rPr lang="en-US" spc="-5" noProof="1"/>
              <a:t> </a:t>
            </a:r>
            <a:r>
              <a:rPr lang="en-US" b="1" spc="-20" noProof="1"/>
              <a:t>nor</a:t>
            </a:r>
            <a:r>
              <a:rPr lang="en-US" b="1" spc="10" noProof="1"/>
              <a:t> </a:t>
            </a:r>
            <a:r>
              <a:rPr lang="en-US" b="1" noProof="1"/>
              <a:t>with</a:t>
            </a:r>
            <a:r>
              <a:rPr lang="en-US" b="1" spc="15" noProof="1"/>
              <a:t> </a:t>
            </a:r>
            <a:r>
              <a:rPr lang="en-US" b="1" noProof="1"/>
              <a:t>the</a:t>
            </a:r>
            <a:r>
              <a:rPr lang="en-US" b="1" spc="10" noProof="1"/>
              <a:t> </a:t>
            </a:r>
            <a:r>
              <a:rPr lang="en-US" b="1" spc="-10" noProof="1"/>
              <a:t>internet</a:t>
            </a:r>
            <a:r>
              <a:rPr lang="en-US" spc="-10" noProof="1"/>
              <a:t>.</a:t>
            </a:r>
          </a:p>
          <a:p>
            <a:pPr marL="13970">
              <a:lnSpc>
                <a:spcPct val="100000"/>
              </a:lnSpc>
              <a:spcBef>
                <a:spcPts val="800"/>
              </a:spcBef>
            </a:pPr>
            <a:endParaRPr lang="en-US" spc="-10" noProof="1"/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45920" cy="5080"/>
            </a:xfrm>
            <a:custGeom>
              <a:avLst/>
              <a:gdLst/>
              <a:ahLst/>
              <a:cxnLst/>
              <a:rect l="l" t="t" r="r" b="b"/>
              <a:pathLst>
                <a:path w="1645920" h="5080">
                  <a:moveTo>
                    <a:pt x="0" y="5060"/>
                  </a:moveTo>
                  <a:lnTo>
                    <a:pt x="0" y="0"/>
                  </a:lnTo>
                  <a:lnTo>
                    <a:pt x="1645772" y="0"/>
                  </a:lnTo>
                  <a:lnTo>
                    <a:pt x="16457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216908"/>
            <a:ext cx="2775585" cy="138430"/>
            <a:chOff x="359994" y="1216908"/>
            <a:chExt cx="2775585" cy="138430"/>
          </a:xfrm>
        </p:grpSpPr>
        <p:sp>
          <p:nvSpPr>
            <p:cNvPr id="4" name="object 4"/>
            <p:cNvSpPr/>
            <p:nvPr/>
          </p:nvSpPr>
          <p:spPr>
            <a:xfrm>
              <a:off x="359994" y="1216908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216908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48327" y="1444307"/>
            <a:ext cx="4032250" cy="356235"/>
            <a:chOff x="863993" y="1987027"/>
            <a:chExt cx="4032250" cy="356235"/>
          </a:xfrm>
        </p:grpSpPr>
        <p:sp>
          <p:nvSpPr>
            <p:cNvPr id="7" name="object 7"/>
            <p:cNvSpPr/>
            <p:nvPr/>
          </p:nvSpPr>
          <p:spPr>
            <a:xfrm>
              <a:off x="863993" y="1987027"/>
              <a:ext cx="4032250" cy="356235"/>
            </a:xfrm>
            <a:custGeom>
              <a:avLst/>
              <a:gdLst/>
              <a:ahLst/>
              <a:cxnLst/>
              <a:rect l="l" t="t" r="r" b="b"/>
              <a:pathLst>
                <a:path w="4032250" h="35623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301741"/>
                  </a:lnTo>
                  <a:lnTo>
                    <a:pt x="4243" y="322760"/>
                  </a:lnTo>
                  <a:lnTo>
                    <a:pt x="15816" y="339925"/>
                  </a:lnTo>
                  <a:lnTo>
                    <a:pt x="32980" y="351497"/>
                  </a:lnTo>
                  <a:lnTo>
                    <a:pt x="54000" y="355741"/>
                  </a:lnTo>
                  <a:lnTo>
                    <a:pt x="3978067" y="355741"/>
                  </a:lnTo>
                  <a:lnTo>
                    <a:pt x="3999086" y="351497"/>
                  </a:lnTo>
                  <a:lnTo>
                    <a:pt x="4016251" y="339925"/>
                  </a:lnTo>
                  <a:lnTo>
                    <a:pt x="4027823" y="322760"/>
                  </a:lnTo>
                  <a:lnTo>
                    <a:pt x="4032067" y="301741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881993" y="2005027"/>
              <a:ext cx="3996690" cy="320040"/>
            </a:xfrm>
            <a:custGeom>
              <a:avLst/>
              <a:gdLst/>
              <a:ahLst/>
              <a:cxnLst/>
              <a:rect l="l" t="t" r="r" b="b"/>
              <a:pathLst>
                <a:path w="3996690" h="320039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83741"/>
                  </a:lnTo>
                  <a:lnTo>
                    <a:pt x="2829" y="297754"/>
                  </a:lnTo>
                  <a:lnTo>
                    <a:pt x="10544" y="309197"/>
                  </a:lnTo>
                  <a:lnTo>
                    <a:pt x="21987" y="316912"/>
                  </a:lnTo>
                  <a:lnTo>
                    <a:pt x="36000" y="319741"/>
                  </a:lnTo>
                  <a:lnTo>
                    <a:pt x="3960067" y="319741"/>
                  </a:lnTo>
                  <a:lnTo>
                    <a:pt x="3974080" y="316912"/>
                  </a:lnTo>
                  <a:lnTo>
                    <a:pt x="3985523" y="309197"/>
                  </a:lnTo>
                  <a:lnTo>
                    <a:pt x="3993238" y="297754"/>
                  </a:lnTo>
                  <a:lnTo>
                    <a:pt x="3996067" y="283741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005043"/>
            <a:ext cx="5065395" cy="666208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ranges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mentioned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earlier?</a:t>
            </a:r>
            <a:endParaRPr lang="en-US" sz="900" noProof="1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75"/>
              </a:spcBef>
            </a:pPr>
            <a:r>
              <a:rPr lang="en-US" sz="900" spc="-70" noProof="1">
                <a:latin typeface="Courier New"/>
                <a:cs typeface="Courier New"/>
              </a:rPr>
              <a:t>10.x.x.x, 172.16.x.x - 172.31.x.x, </a:t>
            </a:r>
            <a:r>
              <a:rPr lang="en-US" sz="900" spc="-10" noProof="1">
                <a:latin typeface="Courier New"/>
                <a:cs typeface="Courier New"/>
              </a:rPr>
              <a:t>192.168.x.x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lang="en-US" sz="900" noProof="1">
                <a:latin typeface="Arial"/>
                <a:cs typeface="Arial"/>
              </a:rPr>
              <a:t>How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do</a:t>
            </a:r>
            <a:r>
              <a:rPr lang="en-US" sz="900" spc="-10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we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spc="-25" noProof="1">
                <a:latin typeface="Arial"/>
                <a:cs typeface="Arial"/>
              </a:rPr>
              <a:t>define</a:t>
            </a:r>
            <a:r>
              <a:rPr lang="en-US" sz="900" spc="-10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address</a:t>
            </a:r>
            <a:r>
              <a:rPr lang="en-US" sz="900" spc="-10" noProof="1">
                <a:latin typeface="Arial"/>
                <a:cs typeface="Arial"/>
              </a:rPr>
              <a:t> </a:t>
            </a:r>
            <a:r>
              <a:rPr lang="en-US" sz="900" spc="-40" noProof="1">
                <a:latin typeface="Arial"/>
                <a:cs typeface="Arial"/>
              </a:rPr>
              <a:t>ranges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for</a:t>
            </a:r>
            <a:r>
              <a:rPr lang="en-US" sz="900" spc="-10" noProof="1">
                <a:latin typeface="Arial"/>
                <a:cs typeface="Arial"/>
              </a:rPr>
              <a:t> subnets?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743075" cy="5080"/>
            </a:xfrm>
            <a:custGeom>
              <a:avLst/>
              <a:gdLst/>
              <a:ahLst/>
              <a:cxnLst/>
              <a:rect l="l" t="t" r="r" b="b"/>
              <a:pathLst>
                <a:path w="1743075" h="5080">
                  <a:moveTo>
                    <a:pt x="0" y="5060"/>
                  </a:moveTo>
                  <a:lnTo>
                    <a:pt x="0" y="0"/>
                  </a:lnTo>
                  <a:lnTo>
                    <a:pt x="1742541" y="0"/>
                  </a:lnTo>
                  <a:lnTo>
                    <a:pt x="17425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3463E815-16FA-9EAD-09AD-1B85FDC93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100" y="1216908"/>
            <a:ext cx="5071110" cy="1979930"/>
          </a:xfrm>
          <a:prstGeom prst="rect">
            <a:avLst/>
          </a:prstGeom>
        </p:spPr>
        <p:txBody>
          <a:bodyPr vert="horz" wrap="square" lIns="0" tIns="70885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75"/>
              </a:spcBef>
            </a:pPr>
            <a:r>
              <a:rPr lang="en-US" spc="-20" noProof="1"/>
              <a:t>You</a:t>
            </a:r>
            <a:r>
              <a:rPr lang="en-US" spc="5" noProof="1"/>
              <a:t> </a:t>
            </a:r>
            <a:r>
              <a:rPr lang="en-US" spc="-20" noProof="1"/>
              <a:t>may</a:t>
            </a:r>
            <a:r>
              <a:rPr lang="en-US" spc="10" noProof="1"/>
              <a:t> </a:t>
            </a:r>
            <a:r>
              <a:rPr lang="en-US" spc="-35" noProof="1"/>
              <a:t>have</a:t>
            </a:r>
            <a:r>
              <a:rPr lang="en-US" spc="5" noProof="1"/>
              <a:t> </a:t>
            </a:r>
            <a:r>
              <a:rPr lang="en-US" spc="-10" noProof="1"/>
              <a:t>noticed</a:t>
            </a:r>
            <a:r>
              <a:rPr lang="en-US" spc="10" noProof="1"/>
              <a:t> </a:t>
            </a:r>
            <a:r>
              <a:rPr lang="en-US" noProof="1"/>
              <a:t>that</a:t>
            </a:r>
            <a:r>
              <a:rPr lang="en-US" spc="5" noProof="1"/>
              <a:t> </a:t>
            </a:r>
            <a:r>
              <a:rPr lang="en-US" noProof="1"/>
              <a:t>IP</a:t>
            </a:r>
            <a:r>
              <a:rPr lang="en-US" spc="10" noProof="1"/>
              <a:t> </a:t>
            </a:r>
            <a:r>
              <a:rPr lang="en-US" spc="-60" noProof="1"/>
              <a:t>addresses</a:t>
            </a:r>
            <a:r>
              <a:rPr lang="en-US" spc="5" noProof="1"/>
              <a:t> </a:t>
            </a:r>
            <a:r>
              <a:rPr lang="en-US" noProof="1"/>
              <a:t>often</a:t>
            </a:r>
            <a:r>
              <a:rPr lang="en-US" spc="10" noProof="1"/>
              <a:t> </a:t>
            </a:r>
            <a:r>
              <a:rPr lang="en-US" spc="-30" noProof="1"/>
              <a:t>come</a:t>
            </a:r>
            <a:r>
              <a:rPr lang="en-US" spc="10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trailing</a:t>
            </a:r>
            <a:r>
              <a:rPr lang="en-US" spc="5" noProof="1"/>
              <a:t> </a:t>
            </a:r>
            <a:r>
              <a:rPr lang="en-US" spc="-40" noProof="1"/>
              <a:t>slash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number.</a:t>
            </a:r>
            <a:r>
              <a:rPr lang="en-US" spc="90" noProof="1"/>
              <a:t> </a:t>
            </a:r>
            <a:r>
              <a:rPr lang="en-US" spc="-10" noProof="1"/>
              <a:t>For</a:t>
            </a:r>
            <a:r>
              <a:rPr lang="en-US" spc="10" noProof="1"/>
              <a:t> </a:t>
            </a:r>
            <a:r>
              <a:rPr lang="en-US" spc="-10" noProof="1"/>
              <a:t>example,</a:t>
            </a:r>
          </a:p>
          <a:p>
            <a:pPr marL="30480">
              <a:lnSpc>
                <a:spcPct val="100000"/>
              </a:lnSpc>
              <a:spcBef>
                <a:spcPts val="175"/>
              </a:spcBef>
            </a:pP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192.168.1.0/24</a:t>
            </a:r>
            <a:r>
              <a:rPr lang="en-US" spc="-37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-50" noProof="1"/>
              <a:t>.</a:t>
            </a:r>
          </a:p>
          <a:p>
            <a:pPr marL="1778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This</a:t>
            </a:r>
            <a:r>
              <a:rPr lang="en-US" spc="75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/24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is</a:t>
            </a:r>
            <a:r>
              <a:rPr lang="en-US" spc="25" noProof="1"/>
              <a:t> </a:t>
            </a:r>
            <a:r>
              <a:rPr lang="en-US" spc="-20" noProof="1"/>
              <a:t>called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b="1" spc="-35" noProof="1">
                <a:latin typeface="Arial"/>
                <a:cs typeface="Arial"/>
              </a:rPr>
              <a:t>subnet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mask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noProof="1"/>
              <a:t>and</a:t>
            </a:r>
            <a:r>
              <a:rPr lang="en-US" spc="25" noProof="1"/>
              <a:t> </a:t>
            </a:r>
            <a:r>
              <a:rPr lang="en-US" noProof="1"/>
              <a:t>it</a:t>
            </a:r>
            <a:r>
              <a:rPr lang="en-US" spc="25" noProof="1"/>
              <a:t> </a:t>
            </a:r>
            <a:r>
              <a:rPr lang="en-US" spc="-45" noProof="1"/>
              <a:t>means</a:t>
            </a:r>
            <a:r>
              <a:rPr lang="en-US" spc="30" noProof="1"/>
              <a:t> </a:t>
            </a:r>
            <a:r>
              <a:rPr lang="en-US" noProof="1"/>
              <a:t>that</a:t>
            </a:r>
            <a:r>
              <a:rPr lang="en-US" spc="25" noProof="1"/>
              <a:t> </a:t>
            </a:r>
            <a:r>
              <a:rPr lang="en-US" spc="-40" noProof="1"/>
              <a:t>we</a:t>
            </a:r>
            <a:r>
              <a:rPr lang="en-US" spc="25" noProof="1"/>
              <a:t> </a:t>
            </a:r>
            <a:r>
              <a:rPr lang="en-US" spc="-30" noProof="1"/>
              <a:t>are</a:t>
            </a:r>
            <a:r>
              <a:rPr lang="en-US" spc="25" noProof="1"/>
              <a:t> </a:t>
            </a:r>
            <a:r>
              <a:rPr lang="en-US" noProof="1"/>
              <a:t>not</a:t>
            </a:r>
            <a:r>
              <a:rPr lang="en-US" spc="25" noProof="1"/>
              <a:t> </a:t>
            </a:r>
            <a:r>
              <a:rPr lang="en-US" noProof="1"/>
              <a:t>in</a:t>
            </a:r>
            <a:r>
              <a:rPr lang="en-US" spc="25" noProof="1"/>
              <a:t> </a:t>
            </a:r>
            <a:r>
              <a:rPr lang="en-US" noProof="1"/>
              <a:t>front</a:t>
            </a:r>
            <a:r>
              <a:rPr lang="en-US" spc="25" noProof="1"/>
              <a:t> </a:t>
            </a:r>
            <a:r>
              <a:rPr lang="en-US" noProof="1"/>
              <a:t>of</a:t>
            </a:r>
            <a:r>
              <a:rPr lang="en-US" spc="30" noProof="1"/>
              <a:t> </a:t>
            </a:r>
            <a:r>
              <a:rPr lang="en-US" noProof="1"/>
              <a:t>an</a:t>
            </a:r>
            <a:r>
              <a:rPr lang="en-US" spc="25" noProof="1"/>
              <a:t> </a:t>
            </a:r>
            <a:r>
              <a:rPr lang="en-US" noProof="1"/>
              <a:t>IP</a:t>
            </a:r>
            <a:r>
              <a:rPr lang="en-US" spc="25" noProof="1"/>
              <a:t> </a:t>
            </a:r>
            <a:r>
              <a:rPr lang="en-US" spc="-45" noProof="1"/>
              <a:t>address</a:t>
            </a:r>
            <a:r>
              <a:rPr lang="en-US" spc="25" noProof="1"/>
              <a:t> </a:t>
            </a:r>
            <a:r>
              <a:rPr lang="en-US" noProof="1"/>
              <a:t>but</a:t>
            </a:r>
            <a:r>
              <a:rPr lang="en-US" spc="25" noProof="1"/>
              <a:t> </a:t>
            </a:r>
            <a:r>
              <a:rPr lang="en-US" noProof="1"/>
              <a:t>an</a:t>
            </a:r>
            <a:r>
              <a:rPr lang="en-US" spc="25" noProof="1"/>
              <a:t> </a:t>
            </a:r>
            <a:r>
              <a:rPr lang="en-US" b="1" spc="-25" noProof="1">
                <a:latin typeface="Arial"/>
                <a:cs typeface="Arial"/>
              </a:rPr>
              <a:t>IP </a:t>
            </a:r>
            <a:r>
              <a:rPr lang="en-US" b="1" spc="-55" noProof="1">
                <a:latin typeface="Arial"/>
                <a:cs typeface="Arial"/>
              </a:rPr>
              <a:t>address</a:t>
            </a:r>
            <a:r>
              <a:rPr lang="en-US" b="1" spc="-1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range</a:t>
            </a:r>
            <a:r>
              <a:rPr lang="en-US" spc="-20" noProof="1"/>
              <a:t>,</a:t>
            </a:r>
            <a:r>
              <a:rPr lang="en-US" spc="25" noProof="1"/>
              <a:t> </a:t>
            </a:r>
            <a:r>
              <a:rPr lang="en-US" noProof="1"/>
              <a:t>in</a:t>
            </a:r>
            <a:r>
              <a:rPr lang="en-US" spc="25" noProof="1"/>
              <a:t> </a:t>
            </a:r>
            <a:r>
              <a:rPr lang="en-US" noProof="1"/>
              <a:t>this</a:t>
            </a:r>
            <a:r>
              <a:rPr lang="en-US" spc="25" noProof="1"/>
              <a:t> </a:t>
            </a:r>
            <a:r>
              <a:rPr lang="en-US" spc="-50" noProof="1"/>
              <a:t>case,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30" noProof="1"/>
              <a:t>range</a:t>
            </a:r>
            <a:r>
              <a:rPr lang="en-US" spc="25" noProof="1"/>
              <a:t> </a:t>
            </a:r>
            <a:r>
              <a:rPr lang="en-US" noProof="1"/>
              <a:t>of</a:t>
            </a:r>
            <a:r>
              <a:rPr lang="en-US" spc="25" noProof="1"/>
              <a:t> </a:t>
            </a:r>
            <a:r>
              <a:rPr lang="en-US" noProof="1"/>
              <a:t>IP</a:t>
            </a:r>
            <a:r>
              <a:rPr lang="en-US" spc="25" noProof="1"/>
              <a:t> </a:t>
            </a:r>
            <a:r>
              <a:rPr lang="en-US" spc="-60" noProof="1"/>
              <a:t>addresses</a:t>
            </a:r>
            <a:r>
              <a:rPr lang="en-US" spc="25" noProof="1"/>
              <a:t> </a:t>
            </a:r>
            <a:r>
              <a:rPr lang="en-US" spc="-30" noProof="1"/>
              <a:t>between</a:t>
            </a:r>
            <a:r>
              <a:rPr lang="en-US" spc="110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192.168.1.0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and</a:t>
            </a:r>
            <a:r>
              <a:rPr lang="en-US" spc="114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192.168.1.255</a:t>
            </a:r>
            <a:r>
              <a:rPr lang="en-US" spc="-44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-50" noProof="1"/>
              <a:t>.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316" y="1706485"/>
            <a:ext cx="204657" cy="1390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3432" y="2104795"/>
            <a:ext cx="204657" cy="1390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3388" y="2104795"/>
            <a:ext cx="144873" cy="1390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2915" y="2104795"/>
            <a:ext cx="204657" cy="1390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792" y="2264117"/>
            <a:ext cx="144873" cy="1390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3319" y="944604"/>
            <a:ext cx="494474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30810">
              <a:lnSpc>
                <a:spcPct val="116199"/>
              </a:lnSpc>
              <a:spcBef>
                <a:spcPts val="100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earlier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said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32-bit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8-bit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numbers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separated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dots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simple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built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4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numbers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0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255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separated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dots.</a:t>
            </a:r>
            <a:endParaRPr lang="en-US" sz="900" noProof="1">
              <a:latin typeface="Arial"/>
              <a:cs typeface="Arial"/>
            </a:endParaRPr>
          </a:p>
          <a:p>
            <a:pPr marL="16510" marR="6794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mask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a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telling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can change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/24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24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change,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means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 the last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the 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0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255.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masks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/16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/8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/16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16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16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change.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/8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first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24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change.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1839595" cy="5080"/>
            </a:xfrm>
            <a:custGeom>
              <a:avLst/>
              <a:gdLst/>
              <a:ahLst/>
              <a:cxnLst/>
              <a:rect l="l" t="t" r="r" b="b"/>
              <a:pathLst>
                <a:path w="1839595" h="5080">
                  <a:moveTo>
                    <a:pt x="0" y="5060"/>
                  </a:moveTo>
                  <a:lnTo>
                    <a:pt x="0" y="0"/>
                  </a:lnTo>
                  <a:lnTo>
                    <a:pt x="1839310" y="0"/>
                  </a:lnTo>
                  <a:lnTo>
                    <a:pt x="18393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/>
          <p:nvPr/>
        </p:nvSpPr>
        <p:spPr>
          <a:xfrm>
            <a:off x="2032711" y="1449679"/>
            <a:ext cx="1694814" cy="0"/>
          </a:xfrm>
          <a:custGeom>
            <a:avLst/>
            <a:gdLst/>
            <a:ahLst/>
            <a:cxnLst/>
            <a:rect l="l" t="t" r="r" b="b"/>
            <a:pathLst>
              <a:path w="1694814">
                <a:moveTo>
                  <a:pt x="0" y="0"/>
                </a:moveTo>
                <a:lnTo>
                  <a:pt x="1694573" y="0"/>
                </a:lnTo>
              </a:path>
            </a:pathLst>
          </a:custGeom>
          <a:ln w="9109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4" name="object 4"/>
          <p:cNvSpPr txBox="1"/>
          <p:nvPr/>
        </p:nvSpPr>
        <p:spPr>
          <a:xfrm>
            <a:off x="347294" y="983466"/>
            <a:ext cx="501967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Depending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how many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octets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fixed,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private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R="131445" algn="ctr">
              <a:lnSpc>
                <a:spcPct val="100000"/>
              </a:lnSpc>
              <a:spcBef>
                <a:spcPts val="5"/>
              </a:spcBef>
              <a:tabLst>
                <a:tab pos="79184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Mask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2711" y="1669491"/>
            <a:ext cx="1694814" cy="0"/>
          </a:xfrm>
          <a:custGeom>
            <a:avLst/>
            <a:gdLst/>
            <a:ahLst/>
            <a:cxnLst/>
            <a:rect l="l" t="t" r="r" b="b"/>
            <a:pathLst>
              <a:path w="1694814">
                <a:moveTo>
                  <a:pt x="0" y="0"/>
                </a:moveTo>
                <a:lnTo>
                  <a:pt x="1694573" y="0"/>
                </a:lnTo>
              </a:path>
            </a:pathLst>
          </a:custGeom>
          <a:ln w="5693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6" name="object 6"/>
          <p:cNvSpPr txBox="1"/>
          <p:nvPr/>
        </p:nvSpPr>
        <p:spPr>
          <a:xfrm>
            <a:off x="2020011" y="1667488"/>
            <a:ext cx="201295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/8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/16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/24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2148" y="1667488"/>
            <a:ext cx="928369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16,777,216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(2^24)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65,536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(2^16)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256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(2^8)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32711" y="2207958"/>
            <a:ext cx="1694814" cy="0"/>
          </a:xfrm>
          <a:custGeom>
            <a:avLst/>
            <a:gdLst/>
            <a:ahLst/>
            <a:cxnLst/>
            <a:rect l="l" t="t" r="r" b="b"/>
            <a:pathLst>
              <a:path w="1694814">
                <a:moveTo>
                  <a:pt x="0" y="0"/>
                </a:moveTo>
                <a:lnTo>
                  <a:pt x="1694573" y="0"/>
                </a:lnTo>
              </a:path>
            </a:pathLst>
          </a:custGeom>
          <a:ln w="9109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 lang="en-US" noProof="1"/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1887855" cy="5080"/>
            </a:xfrm>
            <a:custGeom>
              <a:avLst/>
              <a:gdLst/>
              <a:ahLst/>
              <a:cxnLst/>
              <a:rect l="l" t="t" r="r" b="b"/>
              <a:pathLst>
                <a:path w="1887855" h="5080">
                  <a:moveTo>
                    <a:pt x="0" y="5060"/>
                  </a:moveTo>
                  <a:lnTo>
                    <a:pt x="0" y="0"/>
                  </a:lnTo>
                  <a:lnTo>
                    <a:pt x="1887739" y="0"/>
                  </a:lnTo>
                  <a:lnTo>
                    <a:pt x="18877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237" y="1333120"/>
            <a:ext cx="504190" cy="123189"/>
            <a:chOff x="626237" y="1333120"/>
            <a:chExt cx="504190" cy="123189"/>
          </a:xfrm>
        </p:grpSpPr>
        <p:sp>
          <p:nvSpPr>
            <p:cNvPr id="4" name="object 4"/>
            <p:cNvSpPr/>
            <p:nvPr/>
          </p:nvSpPr>
          <p:spPr>
            <a:xfrm>
              <a:off x="626237" y="133312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90" h="123190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626237" y="133312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90" h="123190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10856" y="1165592"/>
            <a:ext cx="840740" cy="290830"/>
            <a:chOff x="1210856" y="1165592"/>
            <a:chExt cx="840740" cy="290830"/>
          </a:xfrm>
        </p:grpSpPr>
        <p:sp>
          <p:nvSpPr>
            <p:cNvPr id="7" name="object 7"/>
            <p:cNvSpPr/>
            <p:nvPr/>
          </p:nvSpPr>
          <p:spPr>
            <a:xfrm>
              <a:off x="1210856" y="1165592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210856" y="1165592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1308696" y="133312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08696" y="133312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10691" y="1802891"/>
            <a:ext cx="683260" cy="457834"/>
            <a:chOff x="1110691" y="1802891"/>
            <a:chExt cx="683260" cy="457834"/>
          </a:xfrm>
        </p:grpSpPr>
        <p:sp>
          <p:nvSpPr>
            <p:cNvPr id="12" name="object 12"/>
            <p:cNvSpPr/>
            <p:nvPr/>
          </p:nvSpPr>
          <p:spPr>
            <a:xfrm>
              <a:off x="1110691" y="1802891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0691" y="1802891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0691" y="1962225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0691" y="1962225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0691" y="2121547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0691" y="2121547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785897" y="1811097"/>
            <a:ext cx="504190" cy="441959"/>
            <a:chOff x="2785897" y="1811097"/>
            <a:chExt cx="504190" cy="441959"/>
          </a:xfrm>
        </p:grpSpPr>
        <p:sp>
          <p:nvSpPr>
            <p:cNvPr id="19" name="object 19"/>
            <p:cNvSpPr/>
            <p:nvPr/>
          </p:nvSpPr>
          <p:spPr>
            <a:xfrm>
              <a:off x="2785897" y="1811097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785897" y="1811097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85897" y="1970419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2" name="object 22"/>
            <p:cNvSpPr/>
            <p:nvPr/>
          </p:nvSpPr>
          <p:spPr>
            <a:xfrm>
              <a:off x="2785897" y="1970419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3" name="object 23"/>
            <p:cNvSpPr/>
            <p:nvPr/>
          </p:nvSpPr>
          <p:spPr>
            <a:xfrm>
              <a:off x="2785897" y="212974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2785897" y="212974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468370" y="1811097"/>
            <a:ext cx="623570" cy="441959"/>
            <a:chOff x="3468370" y="1811097"/>
            <a:chExt cx="623570" cy="441959"/>
          </a:xfrm>
        </p:grpSpPr>
        <p:sp>
          <p:nvSpPr>
            <p:cNvPr id="26" name="object 26"/>
            <p:cNvSpPr/>
            <p:nvPr/>
          </p:nvSpPr>
          <p:spPr>
            <a:xfrm>
              <a:off x="3468370" y="1811097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7" name="object 27"/>
            <p:cNvSpPr/>
            <p:nvPr/>
          </p:nvSpPr>
          <p:spPr>
            <a:xfrm>
              <a:off x="3468370" y="1811097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8" name="object 28"/>
            <p:cNvSpPr/>
            <p:nvPr/>
          </p:nvSpPr>
          <p:spPr>
            <a:xfrm>
              <a:off x="3468370" y="1970419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9" name="object 29"/>
            <p:cNvSpPr/>
            <p:nvPr/>
          </p:nvSpPr>
          <p:spPr>
            <a:xfrm>
              <a:off x="3468370" y="1970419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0" name="object 30"/>
            <p:cNvSpPr/>
            <p:nvPr/>
          </p:nvSpPr>
          <p:spPr>
            <a:xfrm>
              <a:off x="3468370" y="2129740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1" name="object 31"/>
            <p:cNvSpPr/>
            <p:nvPr/>
          </p:nvSpPr>
          <p:spPr>
            <a:xfrm>
              <a:off x="3468370" y="2129740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47294" y="961355"/>
            <a:ext cx="506539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0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subnets.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10.0.0.0/16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total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65,536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ranging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10.0.0.0</a:t>
            </a:r>
            <a:r>
              <a:rPr lang="en-US" sz="900" spc="-9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10.0.255.255</a:t>
            </a:r>
            <a:r>
              <a:rPr lang="en-US" sz="900" spc="-434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wanted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subnets,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ranges: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lang="en-US" sz="900" spc="2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10.0.1.0/24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(IP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10.0.1.0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10.0.1.255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lang="en-US" sz="900" spc="2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10.0.2.0/24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(IP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10.0.2.0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10.0.2.255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lang="en-US" sz="900" spc="2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10.0.3.0/24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(IP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10.0.3.0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10.0.3.255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etc.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34" name="object 3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3234963"/>
              <a:ext cx="1936750" cy="5080"/>
            </a:xfrm>
            <a:custGeom>
              <a:avLst/>
              <a:gdLst/>
              <a:ahLst/>
              <a:cxnLst/>
              <a:rect l="l" t="t" r="r" b="b"/>
              <a:pathLst>
                <a:path w="1936750" h="5080">
                  <a:moveTo>
                    <a:pt x="0" y="5060"/>
                  </a:moveTo>
                  <a:lnTo>
                    <a:pt x="0" y="0"/>
                  </a:lnTo>
                  <a:lnTo>
                    <a:pt x="1936167" y="0"/>
                  </a:lnTo>
                  <a:lnTo>
                    <a:pt x="1936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2143"/>
            <a:ext cx="50653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if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want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cameras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marketing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department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setup: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904" y="836474"/>
            <a:ext cx="3840204" cy="20991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985010" cy="5080"/>
            </a:xfrm>
            <a:custGeom>
              <a:avLst/>
              <a:gdLst/>
              <a:ahLst/>
              <a:cxnLst/>
              <a:rect l="l" t="t" r="r" b="b"/>
              <a:pathLst>
                <a:path w="1985010" h="5080">
                  <a:moveTo>
                    <a:pt x="0" y="5060"/>
                  </a:moveTo>
                  <a:lnTo>
                    <a:pt x="0" y="0"/>
                  </a:lnTo>
                  <a:lnTo>
                    <a:pt x="1984595" y="0"/>
                  </a:lnTo>
                  <a:lnTo>
                    <a:pt x="19845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927" rIns="0" bIns="0" rtlCol="0">
            <a:spAutoFit/>
          </a:bodyPr>
          <a:lstStyle/>
          <a:p>
            <a:pPr marL="17780" marR="75565" indent="-4445">
              <a:lnSpc>
                <a:spcPct val="116199"/>
              </a:lnSpc>
              <a:spcBef>
                <a:spcPts val="100"/>
              </a:spcBef>
            </a:pP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spc="-10" noProof="1"/>
              <a:t>how</a:t>
            </a:r>
            <a:r>
              <a:rPr lang="en-US" noProof="1"/>
              <a:t> do </a:t>
            </a:r>
            <a:r>
              <a:rPr lang="en-US" spc="-10" noProof="1"/>
              <a:t>routers</a:t>
            </a:r>
            <a:r>
              <a:rPr lang="en-US" noProof="1"/>
              <a:t> </a:t>
            </a:r>
            <a:r>
              <a:rPr lang="en-US" spc="-10" noProof="1"/>
              <a:t>apply</a:t>
            </a:r>
            <a:r>
              <a:rPr lang="en-US" spc="-5" noProof="1"/>
              <a:t> </a:t>
            </a:r>
            <a:r>
              <a:rPr lang="en-US" noProof="1"/>
              <a:t>different </a:t>
            </a:r>
            <a:r>
              <a:rPr lang="en-US" spc="-25" noProof="1"/>
              <a:t>rules</a:t>
            </a:r>
            <a:r>
              <a:rPr lang="en-US" noProof="1"/>
              <a:t> to different</a:t>
            </a:r>
            <a:r>
              <a:rPr lang="en-US" spc="-5" noProof="1"/>
              <a:t> </a:t>
            </a:r>
            <a:r>
              <a:rPr lang="en-US" spc="-35" noProof="1"/>
              <a:t>subnets?</a:t>
            </a:r>
            <a:r>
              <a:rPr lang="en-US" spc="85" noProof="1"/>
              <a:t> </a:t>
            </a:r>
            <a:r>
              <a:rPr lang="en-US" noProof="1"/>
              <a:t>They</a:t>
            </a:r>
            <a:r>
              <a:rPr lang="en-US" spc="-5" noProof="1"/>
              <a:t> </a:t>
            </a:r>
            <a:r>
              <a:rPr lang="en-US" spc="-55" noProof="1"/>
              <a:t>use</a:t>
            </a:r>
            <a:r>
              <a:rPr lang="en-US" noProof="1"/>
              <a:t> </a:t>
            </a:r>
            <a:r>
              <a:rPr lang="en-US" b="1" noProof="1">
                <a:latin typeface="Arial"/>
                <a:cs typeface="Arial"/>
              </a:rPr>
              <a:t>route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tables</a:t>
            </a:r>
            <a:r>
              <a:rPr lang="en-US" spc="-10" noProof="1"/>
              <a:t>.</a:t>
            </a:r>
            <a:r>
              <a:rPr lang="en-US" spc="80" noProof="1"/>
              <a:t> </a:t>
            </a:r>
            <a:r>
              <a:rPr lang="en-US" noProof="1"/>
              <a:t>It </a:t>
            </a:r>
            <a:r>
              <a:rPr lang="en-US" spc="-30" noProof="1"/>
              <a:t>consists</a:t>
            </a:r>
            <a:r>
              <a:rPr lang="en-US" noProof="1"/>
              <a:t> of </a:t>
            </a:r>
            <a:r>
              <a:rPr lang="en-US" spc="-50" noProof="1"/>
              <a:t>a</a:t>
            </a:r>
            <a:r>
              <a:rPr lang="en-US" noProof="1"/>
              <a:t> list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10" noProof="1"/>
              <a:t> </a:t>
            </a:r>
            <a:r>
              <a:rPr lang="en-US" spc="-25" noProof="1"/>
              <a:t>rules</a:t>
            </a:r>
            <a:r>
              <a:rPr lang="en-US" spc="5" noProof="1"/>
              <a:t> </a:t>
            </a:r>
            <a:r>
              <a:rPr lang="en-US" noProof="1"/>
              <a:t>that</a:t>
            </a:r>
            <a:r>
              <a:rPr lang="en-US" spc="10" noProof="1"/>
              <a:t> </a:t>
            </a:r>
            <a:r>
              <a:rPr lang="en-US" spc="-20" noProof="1"/>
              <a:t>specify</a:t>
            </a:r>
            <a:r>
              <a:rPr lang="en-US" spc="5" noProof="1"/>
              <a:t> </a:t>
            </a:r>
            <a:r>
              <a:rPr lang="en-US" noProof="1"/>
              <a:t>which</a:t>
            </a:r>
            <a:r>
              <a:rPr lang="en-US" spc="10" noProof="1"/>
              <a:t> </a:t>
            </a:r>
            <a:r>
              <a:rPr lang="en-US" spc="-10" noProof="1"/>
              <a:t>traﬀic</a:t>
            </a:r>
            <a:r>
              <a:rPr lang="en-US" spc="5" noProof="1"/>
              <a:t> </a:t>
            </a:r>
            <a:r>
              <a:rPr lang="en-US" spc="-10" noProof="1"/>
              <a:t>can</a:t>
            </a:r>
            <a:r>
              <a:rPr lang="en-US" spc="10" noProof="1"/>
              <a:t> </a:t>
            </a:r>
            <a:r>
              <a:rPr lang="en-US" noProof="1"/>
              <a:t>go</a:t>
            </a:r>
            <a:r>
              <a:rPr lang="en-US" spc="5" noProof="1"/>
              <a:t> </a:t>
            </a:r>
            <a:r>
              <a:rPr lang="en-US" spc="-10" noProof="1"/>
              <a:t>where.</a:t>
            </a:r>
          </a:p>
          <a:p>
            <a:pPr marL="15240" marR="5080" indent="-3175">
              <a:lnSpc>
                <a:spcPct val="116199"/>
              </a:lnSpc>
              <a:spcBef>
                <a:spcPts val="625"/>
              </a:spcBef>
            </a:pPr>
            <a:r>
              <a:rPr lang="en-US" spc="-10" noProof="1"/>
              <a:t>We</a:t>
            </a:r>
            <a:r>
              <a:rPr lang="en-US" spc="5" noProof="1"/>
              <a:t> </a:t>
            </a:r>
            <a:r>
              <a:rPr lang="en-US" spc="-10" noProof="1"/>
              <a:t>could</a:t>
            </a:r>
            <a:r>
              <a:rPr lang="en-US" spc="5" noProof="1"/>
              <a:t> </a:t>
            </a:r>
            <a:r>
              <a:rPr lang="en-US" noProof="1"/>
              <a:t>build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route</a:t>
            </a:r>
            <a:r>
              <a:rPr lang="en-US" spc="10" noProof="1"/>
              <a:t> </a:t>
            </a:r>
            <a:r>
              <a:rPr lang="en-US" noProof="1"/>
              <a:t>table</a:t>
            </a:r>
            <a:r>
              <a:rPr lang="en-US" spc="10" noProof="1"/>
              <a:t> </a:t>
            </a:r>
            <a:r>
              <a:rPr lang="en-US" noProof="1"/>
              <a:t>that</a:t>
            </a:r>
            <a:r>
              <a:rPr lang="en-US" spc="5" noProof="1"/>
              <a:t> </a:t>
            </a:r>
            <a:r>
              <a:rPr lang="en-US" spc="-75" noProof="1"/>
              <a:t>says</a:t>
            </a:r>
            <a:r>
              <a:rPr lang="en-US" spc="15" noProof="1"/>
              <a:t> </a:t>
            </a:r>
            <a:r>
              <a:rPr lang="en-US" noProof="1"/>
              <a:t>that</a:t>
            </a:r>
            <a:r>
              <a:rPr lang="en-US" spc="10" noProof="1"/>
              <a:t> </a:t>
            </a:r>
            <a:r>
              <a:rPr lang="en-US" spc="-20" noProof="1"/>
              <a:t>traﬀic</a:t>
            </a:r>
            <a:r>
              <a:rPr lang="en-US" spc="10" noProof="1"/>
              <a:t> </a:t>
            </a:r>
            <a:r>
              <a:rPr lang="en-US" noProof="1"/>
              <a:t>from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20" noProof="1"/>
              <a:t>marketing</a:t>
            </a:r>
            <a:r>
              <a:rPr lang="en-US" spc="10" noProof="1"/>
              <a:t> </a:t>
            </a:r>
            <a:r>
              <a:rPr lang="en-US" spc="-20" noProof="1"/>
              <a:t>department</a:t>
            </a:r>
            <a:r>
              <a:rPr lang="en-US" spc="10" noProof="1"/>
              <a:t> </a:t>
            </a:r>
            <a:r>
              <a:rPr lang="en-US" spc="-10" noProof="1"/>
              <a:t>and</a:t>
            </a:r>
            <a:r>
              <a:rPr lang="en-US" spc="10" noProof="1"/>
              <a:t> </a:t>
            </a:r>
            <a:r>
              <a:rPr lang="en-US" spc="-20" noProof="1"/>
              <a:t>security</a:t>
            </a:r>
            <a:r>
              <a:rPr lang="en-US" spc="5" noProof="1"/>
              <a:t> </a:t>
            </a:r>
            <a:r>
              <a:rPr lang="en-US" spc="-55" noProof="1"/>
              <a:t>cameras</a:t>
            </a:r>
            <a:r>
              <a:rPr lang="en-US" spc="-10" noProof="1"/>
              <a:t> can </a:t>
            </a:r>
            <a:r>
              <a:rPr lang="en-US" noProof="1"/>
              <a:t>go</a:t>
            </a:r>
            <a:r>
              <a:rPr lang="en-US" spc="-5" noProof="1"/>
              <a:t> </a:t>
            </a:r>
            <a:r>
              <a:rPr lang="en-US" noProof="1"/>
              <a:t>to</a:t>
            </a:r>
            <a:r>
              <a:rPr lang="en-US" spc="-10" noProof="1"/>
              <a:t> </a:t>
            </a:r>
            <a:r>
              <a:rPr lang="en-US" noProof="1"/>
              <a:t>the</a:t>
            </a:r>
            <a:r>
              <a:rPr lang="en-US" spc="-5" noProof="1"/>
              <a:t> </a:t>
            </a:r>
            <a:r>
              <a:rPr lang="en-US" noProof="1"/>
              <a:t>internet</a:t>
            </a:r>
            <a:r>
              <a:rPr lang="en-US" spc="-5" noProof="1"/>
              <a:t> </a:t>
            </a:r>
            <a:r>
              <a:rPr lang="en-US" noProof="1"/>
              <a:t>(so</a:t>
            </a:r>
            <a:r>
              <a:rPr lang="en-US" spc="-10" noProof="1"/>
              <a:t>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20" noProof="1"/>
              <a:t>may</a:t>
            </a:r>
            <a:r>
              <a:rPr lang="en-US" spc="-10" noProof="1"/>
              <a:t> </a:t>
            </a:r>
            <a:r>
              <a:rPr lang="en-US" noProof="1"/>
              <a:t>simplify</a:t>
            </a:r>
            <a:r>
              <a:rPr lang="en-US" spc="-5" noProof="1"/>
              <a:t> </a:t>
            </a: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spc="-55" noProof="1"/>
              <a:t>say</a:t>
            </a:r>
            <a:r>
              <a:rPr lang="en-US" spc="-10" noProof="1"/>
              <a:t> </a:t>
            </a:r>
            <a:r>
              <a:rPr lang="en-US" noProof="1"/>
              <a:t>that</a:t>
            </a:r>
            <a:r>
              <a:rPr lang="en-US" spc="-5" noProof="1"/>
              <a:t> </a:t>
            </a:r>
            <a:r>
              <a:rPr lang="en-US" spc="-10" noProof="1"/>
              <a:t>traﬀic</a:t>
            </a:r>
            <a:r>
              <a:rPr lang="en-US" spc="-5" noProof="1"/>
              <a:t> </a:t>
            </a:r>
            <a:r>
              <a:rPr lang="en-US" noProof="1"/>
              <a:t>originating</a:t>
            </a:r>
            <a:r>
              <a:rPr lang="en-US" spc="-10" noProof="1"/>
              <a:t> </a:t>
            </a:r>
            <a:r>
              <a:rPr lang="en-US" noProof="1"/>
              <a:t>from</a:t>
            </a:r>
            <a:r>
              <a:rPr lang="en-US" spc="-5" noProof="1"/>
              <a:t> </a:t>
            </a:r>
            <a:r>
              <a:rPr lang="en-US" b="1" spc="-20" noProof="1">
                <a:latin typeface="Arial"/>
                <a:cs typeface="Arial"/>
              </a:rPr>
              <a:t>any</a:t>
            </a:r>
            <a:r>
              <a:rPr lang="en-US" b="1" spc="-10" noProof="1">
                <a:latin typeface="Arial"/>
                <a:cs typeface="Arial"/>
              </a:rPr>
              <a:t> </a:t>
            </a:r>
            <a:r>
              <a:rPr lang="en-US" spc="-20" noProof="1"/>
              <a:t>subnet</a:t>
            </a:r>
            <a:r>
              <a:rPr lang="en-US" spc="-5" noProof="1"/>
              <a:t> </a:t>
            </a:r>
            <a:r>
              <a:rPr lang="en-US" spc="-10" noProof="1"/>
              <a:t>can</a:t>
            </a:r>
            <a:r>
              <a:rPr lang="en-US" spc="-5" noProof="1"/>
              <a:t> </a:t>
            </a:r>
            <a:r>
              <a:rPr lang="en-US" noProof="1"/>
              <a:t>go</a:t>
            </a:r>
            <a:r>
              <a:rPr lang="en-US" spc="-10" noProof="1"/>
              <a:t> </a:t>
            </a:r>
            <a:r>
              <a:rPr lang="en-US" spc="-25" noProof="1"/>
              <a:t>to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internet),</a:t>
            </a:r>
            <a:r>
              <a:rPr lang="en-US" spc="20" noProof="1"/>
              <a:t> </a:t>
            </a:r>
            <a:r>
              <a:rPr lang="en-US" noProof="1"/>
              <a:t>but</a:t>
            </a:r>
            <a:r>
              <a:rPr lang="en-US" spc="20" noProof="1"/>
              <a:t> </a:t>
            </a:r>
            <a:r>
              <a:rPr lang="en-US" spc="-10" noProof="1"/>
              <a:t>traﬀic</a:t>
            </a:r>
            <a:r>
              <a:rPr lang="en-US" spc="20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0" noProof="1"/>
              <a:t>marketing</a:t>
            </a:r>
            <a:r>
              <a:rPr lang="en-US" spc="20" noProof="1"/>
              <a:t> </a:t>
            </a:r>
            <a:r>
              <a:rPr lang="en-US" spc="-10" noProof="1"/>
              <a:t>department</a:t>
            </a:r>
            <a:r>
              <a:rPr lang="en-US" spc="20" noProof="1"/>
              <a:t> </a:t>
            </a:r>
            <a:r>
              <a:rPr lang="en-US" noProof="1"/>
              <a:t>can’t</a:t>
            </a:r>
            <a:r>
              <a:rPr lang="en-US" spc="20" noProof="1"/>
              <a:t> </a:t>
            </a:r>
            <a:r>
              <a:rPr lang="en-US" noProof="1"/>
              <a:t>go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0" noProof="1"/>
              <a:t>security</a:t>
            </a:r>
            <a:r>
              <a:rPr lang="en-US" spc="20" noProof="1"/>
              <a:t> </a:t>
            </a:r>
            <a:r>
              <a:rPr lang="en-US" spc="-40" noProof="1"/>
              <a:t>cameras</a:t>
            </a:r>
            <a:r>
              <a:rPr lang="en-US" spc="20" noProof="1"/>
              <a:t> </a:t>
            </a:r>
            <a:r>
              <a:rPr lang="en-US" spc="-20" noProof="1"/>
              <a:t>subnet</a:t>
            </a:r>
            <a:r>
              <a:rPr lang="en-US" spc="20" noProof="1"/>
              <a:t> </a:t>
            </a:r>
            <a:r>
              <a:rPr lang="en-US" spc="-25" noProof="1"/>
              <a:t>and </a:t>
            </a:r>
            <a:r>
              <a:rPr lang="en-US" spc="-10" noProof="1"/>
              <a:t>vice</a:t>
            </a:r>
            <a:r>
              <a:rPr lang="en-US" spc="-50" noProof="1"/>
              <a:t> </a:t>
            </a:r>
            <a:r>
              <a:rPr lang="en-US" spc="-10" noProof="1"/>
              <a:t>versa.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033270" cy="5080"/>
            </a:xfrm>
            <a:custGeom>
              <a:avLst/>
              <a:gdLst/>
              <a:ahLst/>
              <a:cxnLst/>
              <a:rect l="l" t="t" r="r" b="b"/>
              <a:pathLst>
                <a:path w="2033270" h="5080">
                  <a:moveTo>
                    <a:pt x="0" y="5060"/>
                  </a:moveTo>
                  <a:lnTo>
                    <a:pt x="0" y="0"/>
                  </a:lnTo>
                  <a:lnTo>
                    <a:pt x="2032936" y="0"/>
                  </a:lnTo>
                  <a:lnTo>
                    <a:pt x="20329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71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Networking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lang="en-US" sz="1100" b="1" spc="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905510" cy="5080"/>
            </a:xfrm>
            <a:custGeom>
              <a:avLst/>
              <a:gdLst/>
              <a:ahLst/>
              <a:cxnLst/>
              <a:rect l="l" t="t" r="r" b="b"/>
              <a:pathLst>
                <a:path w="905510" h="5080">
                  <a:moveTo>
                    <a:pt x="0" y="5060"/>
                  </a:moveTo>
                  <a:lnTo>
                    <a:pt x="0" y="0"/>
                  </a:lnTo>
                  <a:lnTo>
                    <a:pt x="905250" y="0"/>
                  </a:lnTo>
                  <a:lnTo>
                    <a:pt x="9052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How</a:t>
            </a:r>
            <a:r>
              <a:rPr lang="en-US" spc="-5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noProof="1"/>
              <a:t>AWS</a:t>
            </a:r>
            <a:r>
              <a:rPr lang="en-US" spc="-5" noProof="1"/>
              <a:t> </a:t>
            </a:r>
            <a:r>
              <a:rPr lang="en-US" spc="-45" noProof="1"/>
              <a:t>networks</a:t>
            </a:r>
            <a:r>
              <a:rPr lang="en-US" noProof="1"/>
              <a:t> </a:t>
            </a:r>
            <a:r>
              <a:rPr lang="en-US" spc="-40" noProof="1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66563"/>
            <a:ext cx="49822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far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talking about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general,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AWS?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Just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reminder,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567" y="981909"/>
            <a:ext cx="3490873" cy="17993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129790" cy="5080"/>
            </a:xfrm>
            <a:custGeom>
              <a:avLst/>
              <a:gdLst/>
              <a:ahLst/>
              <a:cxnLst/>
              <a:rect l="l" t="t" r="r" b="b"/>
              <a:pathLst>
                <a:path w="2129790" h="5080">
                  <a:moveTo>
                    <a:pt x="0" y="5060"/>
                  </a:moveTo>
                  <a:lnTo>
                    <a:pt x="0" y="0"/>
                  </a:lnTo>
                  <a:lnTo>
                    <a:pt x="2129792" y="0"/>
                  </a:lnTo>
                  <a:lnTo>
                    <a:pt x="21297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How</a:t>
            </a:r>
            <a:r>
              <a:rPr lang="en-US" sz="1000" b="1" spc="-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do</a:t>
            </a:r>
            <a:r>
              <a:rPr lang="en-US" sz="1000" b="1" spc="-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-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5" noProof="1">
                <a:solidFill>
                  <a:srgbClr val="F9F9F9"/>
                </a:solidFill>
                <a:latin typeface="Arial"/>
                <a:cs typeface="Arial"/>
              </a:rPr>
              <a:t>networks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work?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964978"/>
            <a:ext cx="21405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course,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76" y="1205958"/>
            <a:ext cx="2356255" cy="119954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8685" cy="5080"/>
            </a:xfrm>
            <a:custGeom>
              <a:avLst/>
              <a:gdLst/>
              <a:ahLst/>
              <a:cxnLst/>
              <a:rect l="l" t="t" r="r" b="b"/>
              <a:pathLst>
                <a:path w="2178685" h="5080">
                  <a:moveTo>
                    <a:pt x="0" y="5060"/>
                  </a:moveTo>
                  <a:lnTo>
                    <a:pt x="0" y="0"/>
                  </a:lnTo>
                  <a:lnTo>
                    <a:pt x="2178221" y="0"/>
                  </a:lnTo>
                  <a:lnTo>
                    <a:pt x="21782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How</a:t>
            </a:r>
            <a:r>
              <a:rPr lang="en-US" spc="-5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noProof="1"/>
              <a:t>AWS</a:t>
            </a:r>
            <a:r>
              <a:rPr lang="en-US" spc="-5" noProof="1"/>
              <a:t> </a:t>
            </a:r>
            <a:r>
              <a:rPr lang="en-US" spc="-45" noProof="1"/>
              <a:t>networks</a:t>
            </a:r>
            <a:r>
              <a:rPr lang="en-US" noProof="1"/>
              <a:t> </a:t>
            </a:r>
            <a:r>
              <a:rPr lang="en-US" spc="-40" noProof="1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32250"/>
            <a:ext cx="5024120" cy="1118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network?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7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individual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space?</a:t>
            </a:r>
            <a:endParaRPr lang="en-US" sz="900" noProof="1">
              <a:latin typeface="Arial"/>
              <a:cs typeface="Arial"/>
            </a:endParaRPr>
          </a:p>
          <a:p>
            <a:pPr marL="12700" marR="220345">
              <a:lnSpc>
                <a:spcPct val="116199"/>
              </a:lnSpc>
              <a:spcBef>
                <a:spcPts val="62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its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Clouds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(VPCs)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fancy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lang="en-US" sz="900" noProof="1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30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lives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creates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configures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us.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want.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26945" cy="5080"/>
            </a:xfrm>
            <a:custGeom>
              <a:avLst/>
              <a:gdLst/>
              <a:ahLst/>
              <a:cxnLst/>
              <a:rect l="l" t="t" r="r" b="b"/>
              <a:pathLst>
                <a:path w="2226945" h="5080">
                  <a:moveTo>
                    <a:pt x="0" y="5060"/>
                  </a:moveTo>
                  <a:lnTo>
                    <a:pt x="0" y="0"/>
                  </a:lnTo>
                  <a:lnTo>
                    <a:pt x="2226561" y="0"/>
                  </a:lnTo>
                  <a:lnTo>
                    <a:pt x="22265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200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Lab:</a:t>
            </a:r>
            <a:r>
              <a:rPr lang="en-US" sz="1100" b="1" spc="1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Experimenting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VPCs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052830" cy="5080"/>
            </a:xfrm>
            <a:custGeom>
              <a:avLst/>
              <a:gdLst/>
              <a:ahLst/>
              <a:cxnLst/>
              <a:rect l="l" t="t" r="r" b="b"/>
              <a:pathLst>
                <a:path w="1052830" h="5080">
                  <a:moveTo>
                    <a:pt x="0" y="5060"/>
                  </a:moveTo>
                  <a:lnTo>
                    <a:pt x="0" y="0"/>
                  </a:lnTo>
                  <a:lnTo>
                    <a:pt x="1052615" y="0"/>
                  </a:lnTo>
                  <a:lnTo>
                    <a:pt x="1052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Goal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5" noProof="1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93096"/>
            <a:ext cx="4920615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lab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will: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 Tables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subnets.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894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Goal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874" y="625581"/>
            <a:ext cx="4466254" cy="20992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17140" cy="5080"/>
            </a:xfrm>
            <a:custGeom>
              <a:avLst/>
              <a:gdLst/>
              <a:ahLst/>
              <a:cxnLst/>
              <a:rect l="l" t="t" r="r" b="b"/>
              <a:pathLst>
                <a:path w="2517140" h="5080">
                  <a:moveTo>
                    <a:pt x="0" y="5060"/>
                  </a:moveTo>
                  <a:lnTo>
                    <a:pt x="0" y="0"/>
                  </a:lnTo>
                  <a:lnTo>
                    <a:pt x="2517043" y="0"/>
                  </a:lnTo>
                  <a:lnTo>
                    <a:pt x="25170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46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900" y="625557"/>
            <a:ext cx="4504221" cy="209925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65400" cy="5080"/>
            </a:xfrm>
            <a:custGeom>
              <a:avLst/>
              <a:gdLst/>
              <a:ahLst/>
              <a:cxnLst/>
              <a:rect l="l" t="t" r="r" b="b"/>
              <a:pathLst>
                <a:path w="2565400" h="5080">
                  <a:moveTo>
                    <a:pt x="0" y="5060"/>
                  </a:moveTo>
                  <a:lnTo>
                    <a:pt x="0" y="0"/>
                  </a:lnTo>
                  <a:lnTo>
                    <a:pt x="2565384" y="0"/>
                  </a:lnTo>
                  <a:lnTo>
                    <a:pt x="25653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25" noProof="1"/>
              <a:t>VPC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9360" y="1520181"/>
            <a:ext cx="504190" cy="147320"/>
            <a:chOff x="979360" y="1520181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979360" y="1520181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979360" y="1520181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1148426"/>
            <a:ext cx="2664460" cy="10839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VPC </a:t>
            </a:r>
            <a:r>
              <a:rPr lang="en-US" sz="900" spc="-20" noProof="1">
                <a:latin typeface="Courier New"/>
                <a:cs typeface="Courier New"/>
              </a:rPr>
              <a:t>only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tag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10.0.0.0/16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614295" cy="5080"/>
            </a:xfrm>
            <a:custGeom>
              <a:avLst/>
              <a:gdLst/>
              <a:ahLst/>
              <a:cxnLst/>
              <a:rect l="l" t="t" r="r" b="b"/>
              <a:pathLst>
                <a:path w="2614295" h="5080">
                  <a:moveTo>
                    <a:pt x="0" y="5060"/>
                  </a:moveTo>
                  <a:lnTo>
                    <a:pt x="0" y="0"/>
                  </a:lnTo>
                  <a:lnTo>
                    <a:pt x="2613812" y="0"/>
                  </a:lnTo>
                  <a:lnTo>
                    <a:pt x="26138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023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public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subnet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in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718" y="514471"/>
            <a:ext cx="31305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add a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to the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VPC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6" y="756805"/>
            <a:ext cx="4426920" cy="209920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662555" cy="5080"/>
            </a:xfrm>
            <a:custGeom>
              <a:avLst/>
              <a:gdLst/>
              <a:ahLst/>
              <a:cxnLst/>
              <a:rect l="l" t="t" r="r" b="b"/>
              <a:pathLst>
                <a:path w="2662555" h="5080">
                  <a:moveTo>
                    <a:pt x="0" y="5060"/>
                  </a:moveTo>
                  <a:lnTo>
                    <a:pt x="0" y="0"/>
                  </a:lnTo>
                  <a:lnTo>
                    <a:pt x="2662241" y="0"/>
                  </a:lnTo>
                  <a:lnTo>
                    <a:pt x="26622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30" noProof="1"/>
              <a:t>public</a:t>
            </a:r>
            <a:r>
              <a:rPr lang="en-US" spc="15" noProof="1"/>
              <a:t> </a:t>
            </a:r>
            <a:r>
              <a:rPr lang="en-US" spc="-35" noProof="1"/>
              <a:t>subnet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25" noProof="1"/>
              <a:t>VPC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937809"/>
            <a:ext cx="3964940" cy="15055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VPC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which is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(test-vpc).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2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test-public-subnet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Availability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5" noProof="1">
                <a:solidFill>
                  <a:srgbClr val="22373A"/>
                </a:solidFill>
                <a:latin typeface="Arial"/>
                <a:cs typeface="Arial"/>
              </a:rPr>
              <a:t>us-east-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1a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(or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consistent)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10.0.0.0/16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(leave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default)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10.0.1.0/24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710815" cy="5080"/>
            </a:xfrm>
            <a:custGeom>
              <a:avLst/>
              <a:gdLst/>
              <a:ahLst/>
              <a:cxnLst/>
              <a:rect l="l" t="t" r="r" b="b"/>
              <a:pathLst>
                <a:path w="2710815" h="5080">
                  <a:moveTo>
                    <a:pt x="0" y="5060"/>
                  </a:moveTo>
                  <a:lnTo>
                    <a:pt x="0" y="0"/>
                  </a:lnTo>
                  <a:lnTo>
                    <a:pt x="2710581" y="0"/>
                  </a:lnTo>
                  <a:lnTo>
                    <a:pt x="27105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subnet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525533"/>
            <a:ext cx="13144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second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one.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080" y="745658"/>
            <a:ext cx="4471853" cy="209929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759075" cy="5080"/>
            </a:xfrm>
            <a:custGeom>
              <a:avLst/>
              <a:gdLst/>
              <a:ahLst/>
              <a:cxnLst/>
              <a:rect l="l" t="t" r="r" b="b"/>
              <a:pathLst>
                <a:path w="2759075" h="5080">
                  <a:moveTo>
                    <a:pt x="0" y="5060"/>
                  </a:moveTo>
                  <a:lnTo>
                    <a:pt x="0" y="0"/>
                  </a:lnTo>
                  <a:lnTo>
                    <a:pt x="2759009" y="0"/>
                  </a:lnTo>
                  <a:lnTo>
                    <a:pt x="27590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10" noProof="1"/>
              <a:t>private</a:t>
            </a:r>
            <a:r>
              <a:rPr lang="en-US" spc="5" noProof="1"/>
              <a:t> </a:t>
            </a:r>
            <a:r>
              <a:rPr lang="en-US" spc="-35" noProof="1"/>
              <a:t>subnet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25" noProof="1"/>
              <a:t>VPC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937809"/>
            <a:ext cx="3709670" cy="15055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VPC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which is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(test-vpc).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private-subnet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Availability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5" noProof="1">
                <a:solidFill>
                  <a:srgbClr val="22373A"/>
                </a:solidFill>
                <a:latin typeface="Arial"/>
                <a:cs typeface="Arial"/>
              </a:rPr>
              <a:t>us-east-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1a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subnet)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10.0.0.0/16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(leave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default)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10.0.2.0/24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807970" cy="5080"/>
            </a:xfrm>
            <a:custGeom>
              <a:avLst/>
              <a:gdLst/>
              <a:ahLst/>
              <a:cxnLst/>
              <a:rect l="l" t="t" r="r" b="b"/>
              <a:pathLst>
                <a:path w="2807970" h="5080">
                  <a:moveTo>
                    <a:pt x="0" y="5060"/>
                  </a:moveTo>
                  <a:lnTo>
                    <a:pt x="0" y="0"/>
                  </a:lnTo>
                  <a:lnTo>
                    <a:pt x="2807438" y="0"/>
                  </a:lnTo>
                  <a:lnTo>
                    <a:pt x="28074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Default</a:t>
            </a:r>
            <a:r>
              <a:rPr lang="en-US" spc="5" noProof="1"/>
              <a:t> </a:t>
            </a:r>
            <a:r>
              <a:rPr lang="en-US" noProof="1"/>
              <a:t>route</a:t>
            </a:r>
            <a:r>
              <a:rPr lang="en-US" spc="5" noProof="1"/>
              <a:t> </a:t>
            </a:r>
            <a:r>
              <a:rPr lang="en-US" spc="-10" noProof="1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793385"/>
            <a:ext cx="499554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noticed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connected?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same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traﬀic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flow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398" y="1354867"/>
            <a:ext cx="1869197" cy="11995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856230" cy="5080"/>
            </a:xfrm>
            <a:custGeom>
              <a:avLst/>
              <a:gdLst/>
              <a:ahLst/>
              <a:cxnLst/>
              <a:rect l="l" t="t" r="r" b="b"/>
              <a:pathLst>
                <a:path w="2856230" h="5080">
                  <a:moveTo>
                    <a:pt x="0" y="5060"/>
                  </a:moveTo>
                  <a:lnTo>
                    <a:pt x="0" y="0"/>
                  </a:lnTo>
                  <a:lnTo>
                    <a:pt x="2855866" y="0"/>
                  </a:lnTo>
                  <a:lnTo>
                    <a:pt x="28558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81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5" noProof="1"/>
              <a:t> </a:t>
            </a:r>
            <a:r>
              <a:rPr lang="en-US" noProof="1"/>
              <a:t>an</a:t>
            </a:r>
            <a:r>
              <a:rPr lang="en-US" spc="15" noProof="1"/>
              <a:t> </a:t>
            </a:r>
            <a:r>
              <a:rPr lang="en-US" noProof="1"/>
              <a:t>EC2</a:t>
            </a:r>
            <a:r>
              <a:rPr lang="en-US" spc="20" noProof="1"/>
              <a:t> </a:t>
            </a:r>
            <a:r>
              <a:rPr lang="en-US" spc="-30" noProof="1"/>
              <a:t>instance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30" noProof="1"/>
              <a:t>public</a:t>
            </a:r>
            <a:r>
              <a:rPr lang="en-US" spc="15" noProof="1"/>
              <a:t> </a:t>
            </a:r>
            <a:r>
              <a:rPr lang="en-US" spc="-25" noProof="1"/>
              <a:t>subnet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4471"/>
            <a:ext cx="34556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going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launch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subnet.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439" y="756801"/>
            <a:ext cx="4461143" cy="209921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904490" cy="5080"/>
            </a:xfrm>
            <a:custGeom>
              <a:avLst/>
              <a:gdLst/>
              <a:ahLst/>
              <a:cxnLst/>
              <a:rect l="l" t="t" r="r" b="b"/>
              <a:pathLst>
                <a:path w="2904490" h="5080">
                  <a:moveTo>
                    <a:pt x="0" y="5060"/>
                  </a:moveTo>
                  <a:lnTo>
                    <a:pt x="0" y="0"/>
                  </a:lnTo>
                  <a:lnTo>
                    <a:pt x="2904207" y="0"/>
                  </a:lnTo>
                  <a:lnTo>
                    <a:pt x="290420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81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5" noProof="1"/>
              <a:t> </a:t>
            </a:r>
            <a:r>
              <a:rPr lang="en-US" noProof="1"/>
              <a:t>an</a:t>
            </a:r>
            <a:r>
              <a:rPr lang="en-US" spc="15" noProof="1"/>
              <a:t> </a:t>
            </a:r>
            <a:r>
              <a:rPr lang="en-US" noProof="1"/>
              <a:t>EC2</a:t>
            </a:r>
            <a:r>
              <a:rPr lang="en-US" spc="20" noProof="1"/>
              <a:t> </a:t>
            </a:r>
            <a:r>
              <a:rPr lang="en-US" spc="-30" noProof="1"/>
              <a:t>instance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30" noProof="1"/>
              <a:t>public</a:t>
            </a:r>
            <a:r>
              <a:rPr lang="en-US" spc="15" noProof="1"/>
              <a:t> </a:t>
            </a:r>
            <a:r>
              <a:rPr lang="en-US" spc="-25" noProof="1"/>
              <a:t>subnet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6813" y="1594648"/>
            <a:ext cx="616585" cy="135890"/>
            <a:chOff x="1986813" y="1594648"/>
            <a:chExt cx="616585" cy="135890"/>
          </a:xfrm>
        </p:grpSpPr>
        <p:sp>
          <p:nvSpPr>
            <p:cNvPr id="4" name="object 4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951995"/>
            <a:ext cx="3905885" cy="147701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 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public-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(login)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aws-</a:t>
            </a:r>
            <a:r>
              <a:rPr lang="en-US" sz="800" spc="-55" noProof="1">
                <a:latin typeface="Courier New"/>
                <a:cs typeface="Courier New"/>
              </a:rPr>
              <a:t>keypair</a:t>
            </a:r>
            <a:r>
              <a:rPr lang="en-US" sz="800" spc="-10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using)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test-public-subnet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Auto-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assign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52750" cy="5080"/>
            </a:xfrm>
            <a:custGeom>
              <a:avLst/>
              <a:gdLst/>
              <a:ahLst/>
              <a:cxnLst/>
              <a:rect l="l" t="t" r="r" b="b"/>
              <a:pathLst>
                <a:path w="2952750" h="5080">
                  <a:moveTo>
                    <a:pt x="0" y="5060"/>
                  </a:moveTo>
                  <a:lnTo>
                    <a:pt x="0" y="0"/>
                  </a:lnTo>
                  <a:lnTo>
                    <a:pt x="2952635" y="0"/>
                  </a:lnTo>
                  <a:lnTo>
                    <a:pt x="29526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57477"/>
            <a:ext cx="5015230" cy="320040"/>
            <a:chOff x="372646" y="1457477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62825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6380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1213492"/>
            <a:ext cx="4997450" cy="956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your-public-ec2-instance-public-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notice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hangs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fails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timeout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error.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means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didn’t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respond.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001645" cy="5080"/>
            </a:xfrm>
            <a:custGeom>
              <a:avLst/>
              <a:gdLst/>
              <a:ahLst/>
              <a:cxnLst/>
              <a:rect l="l" t="t" r="r" b="b"/>
              <a:pathLst>
                <a:path w="3001645" h="5080">
                  <a:moveTo>
                    <a:pt x="0" y="5060"/>
                  </a:moveTo>
                  <a:lnTo>
                    <a:pt x="0" y="0"/>
                  </a:lnTo>
                  <a:lnTo>
                    <a:pt x="3001063" y="0"/>
                  </a:lnTo>
                  <a:lnTo>
                    <a:pt x="3001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649155"/>
            <a:ext cx="5093970" cy="209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Observations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844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reason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private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default.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Although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yet.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22373A"/>
              </a:buClr>
              <a:buFont typeface="Arial"/>
              <a:buChar char="•"/>
            </a:pPr>
            <a:endParaRPr lang="en-US" sz="900" noProof="1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routing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entrypoint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0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5110" algn="l"/>
              </a:tabLst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  <a:p>
            <a:pPr marL="245745" marR="27305" indent="-147955">
              <a:lnSpc>
                <a:spcPct val="116199"/>
              </a:lnSpc>
              <a:buChar char="•"/>
              <a:tabLst>
                <a:tab pos="24574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bidirectional.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also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internet.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049905" cy="5080"/>
            </a:xfrm>
            <a:custGeom>
              <a:avLst/>
              <a:gdLst/>
              <a:ahLst/>
              <a:cxnLst/>
              <a:rect l="l" t="t" r="r" b="b"/>
              <a:pathLst>
                <a:path w="3049905" h="5080">
                  <a:moveTo>
                    <a:pt x="0" y="5060"/>
                  </a:moveTo>
                  <a:lnTo>
                    <a:pt x="0" y="0"/>
                  </a:lnTo>
                  <a:lnTo>
                    <a:pt x="3049404" y="0"/>
                  </a:lnTo>
                  <a:lnTo>
                    <a:pt x="304940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412118"/>
            <a:ext cx="475996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329" y="836448"/>
            <a:ext cx="4551347" cy="209924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098165" cy="5080"/>
            </a:xfrm>
            <a:custGeom>
              <a:avLst/>
              <a:gdLst/>
              <a:ahLst/>
              <a:cxnLst/>
              <a:rect l="l" t="t" r="r" b="b"/>
              <a:pathLst>
                <a:path w="3098165" h="5080">
                  <a:moveTo>
                    <a:pt x="0" y="5060"/>
                  </a:moveTo>
                  <a:lnTo>
                    <a:pt x="0" y="0"/>
                  </a:lnTo>
                  <a:lnTo>
                    <a:pt x="3097832" y="0"/>
                  </a:lnTo>
                  <a:lnTo>
                    <a:pt x="30978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1804" y="2293733"/>
            <a:ext cx="504190" cy="139065"/>
            <a:chOff x="1991804" y="2293733"/>
            <a:chExt cx="504190" cy="139065"/>
          </a:xfrm>
        </p:grpSpPr>
        <p:sp>
          <p:nvSpPr>
            <p:cNvPr id="4" name="object 4"/>
            <p:cNvSpPr/>
            <p:nvPr/>
          </p:nvSpPr>
          <p:spPr>
            <a:xfrm>
              <a:off x="1991804" y="2293733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91804" y="2293733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923919"/>
            <a:ext cx="4039235" cy="1494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an Internet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0" noProof="1">
                <a:solidFill>
                  <a:srgbClr val="22373A"/>
                </a:solidFill>
                <a:latin typeface="Arial"/>
                <a:cs typeface="Arial"/>
              </a:rPr>
              <a:t>Gateways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igw</a:t>
            </a:r>
            <a:endParaRPr lang="en-US" sz="8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corner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Attach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test-vpc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Attach</a:t>
            </a:r>
            <a:r>
              <a:rPr lang="en-US" sz="9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146425" cy="5080"/>
            </a:xfrm>
            <a:custGeom>
              <a:avLst/>
              <a:gdLst/>
              <a:ahLst/>
              <a:cxnLst/>
              <a:rect l="l" t="t" r="r" b="b"/>
              <a:pathLst>
                <a:path w="3146425" h="5080">
                  <a:moveTo>
                    <a:pt x="0" y="5060"/>
                  </a:moveTo>
                  <a:lnTo>
                    <a:pt x="0" y="0"/>
                  </a:lnTo>
                  <a:lnTo>
                    <a:pt x="3146261" y="0"/>
                  </a:lnTo>
                  <a:lnTo>
                    <a:pt x="31462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93385"/>
            <a:ext cx="489902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getting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despite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private.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785" y="1354849"/>
            <a:ext cx="1934428" cy="119957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194685" cy="5080"/>
            </a:xfrm>
            <a:custGeom>
              <a:avLst/>
              <a:gdLst/>
              <a:ahLst/>
              <a:cxnLst/>
              <a:rect l="l" t="t" r="r" b="b"/>
              <a:pathLst>
                <a:path w="3194685" h="5080">
                  <a:moveTo>
                    <a:pt x="0" y="5060"/>
                  </a:moveTo>
                  <a:lnTo>
                    <a:pt x="0" y="0"/>
                  </a:lnTo>
                  <a:lnTo>
                    <a:pt x="3194689" y="0"/>
                  </a:lnTo>
                  <a:lnTo>
                    <a:pt x="31946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5144"/>
            <a:ext cx="35591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 be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97" y="756121"/>
            <a:ext cx="4534820" cy="20992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243580" cy="5080"/>
            </a:xfrm>
            <a:custGeom>
              <a:avLst/>
              <a:gdLst/>
              <a:ahLst/>
              <a:cxnLst/>
              <a:rect l="l" t="t" r="r" b="b"/>
              <a:pathLst>
                <a:path w="3243580" h="5080">
                  <a:moveTo>
                    <a:pt x="0" y="5060"/>
                  </a:moveTo>
                  <a:lnTo>
                    <a:pt x="0" y="0"/>
                  </a:lnTo>
                  <a:lnTo>
                    <a:pt x="3243029" y="0"/>
                  </a:lnTo>
                  <a:lnTo>
                    <a:pt x="32430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02063"/>
            <a:ext cx="3985895" cy="236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Tables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the left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2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test-public-to-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corner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associations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associations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corner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routes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Destination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0.0.0.0/0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800" i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spc="-2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8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igw).</a:t>
            </a:r>
            <a:endParaRPr lang="en-US" sz="800" noProof="1">
              <a:latin typeface="Arial"/>
              <a:cs typeface="Arial"/>
            </a:endParaRPr>
          </a:p>
          <a:p>
            <a:pPr marL="239395" indent="-20574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428893"/>
            <a:ext cx="2794000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subnet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indeed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now.</a:t>
            </a:r>
            <a:endParaRPr lang="en-US" sz="900" noProof="1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340100" cy="5080"/>
            </a:xfrm>
            <a:custGeom>
              <a:avLst/>
              <a:gdLst/>
              <a:ahLst/>
              <a:cxnLst/>
              <a:rect l="l" t="t" r="r" b="b"/>
              <a:pathLst>
                <a:path w="3340100" h="5080">
                  <a:moveTo>
                    <a:pt x="0" y="5060"/>
                  </a:moveTo>
                  <a:lnTo>
                    <a:pt x="0" y="0"/>
                  </a:lnTo>
                  <a:lnTo>
                    <a:pt x="3339886" y="0"/>
                  </a:lnTo>
                  <a:lnTo>
                    <a:pt x="333988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834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0" noProof="1"/>
              <a:t> </a:t>
            </a:r>
            <a:r>
              <a:rPr lang="en-US" noProof="1"/>
              <a:t>an</a:t>
            </a:r>
            <a:r>
              <a:rPr lang="en-US" spc="10" noProof="1"/>
              <a:t> </a:t>
            </a:r>
            <a:r>
              <a:rPr lang="en-US" noProof="1"/>
              <a:t>EC2</a:t>
            </a:r>
            <a:r>
              <a:rPr lang="en-US" spc="15" noProof="1"/>
              <a:t> </a:t>
            </a:r>
            <a:r>
              <a:rPr lang="en-US" spc="-30" noProof="1"/>
              <a:t>instance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spc="-25" noProof="1"/>
              <a:t>subnet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514459"/>
            <a:ext cx="35045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now going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launch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private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874" y="756810"/>
            <a:ext cx="4466254" cy="20992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388360" cy="5080"/>
            </a:xfrm>
            <a:custGeom>
              <a:avLst/>
              <a:gdLst/>
              <a:ahLst/>
              <a:cxnLst/>
              <a:rect l="l" t="t" r="r" b="b"/>
              <a:pathLst>
                <a:path w="3388360" h="5080">
                  <a:moveTo>
                    <a:pt x="0" y="5060"/>
                  </a:moveTo>
                  <a:lnTo>
                    <a:pt x="0" y="0"/>
                  </a:lnTo>
                  <a:lnTo>
                    <a:pt x="3388314" y="0"/>
                  </a:lnTo>
                  <a:lnTo>
                    <a:pt x="33883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834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0" noProof="1"/>
              <a:t> </a:t>
            </a:r>
            <a:r>
              <a:rPr lang="en-US" noProof="1"/>
              <a:t>an</a:t>
            </a:r>
            <a:r>
              <a:rPr lang="en-US" spc="10" noProof="1"/>
              <a:t> </a:t>
            </a:r>
            <a:r>
              <a:rPr lang="en-US" noProof="1"/>
              <a:t>EC2</a:t>
            </a:r>
            <a:r>
              <a:rPr lang="en-US" spc="15" noProof="1"/>
              <a:t> </a:t>
            </a:r>
            <a:r>
              <a:rPr lang="en-US" spc="-30" noProof="1"/>
              <a:t>instance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spc="-25" noProof="1"/>
              <a:t>subnet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6813" y="1594648"/>
            <a:ext cx="616585" cy="135890"/>
            <a:chOff x="1986813" y="1594648"/>
            <a:chExt cx="616585" cy="135890"/>
          </a:xfrm>
        </p:grpSpPr>
        <p:sp>
          <p:nvSpPr>
            <p:cNvPr id="4" name="object 4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951995"/>
            <a:ext cx="3905885" cy="147701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 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private-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(login)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aws-</a:t>
            </a:r>
            <a:r>
              <a:rPr lang="en-US" sz="800" spc="-55" noProof="1">
                <a:latin typeface="Courier New"/>
                <a:cs typeface="Courier New"/>
              </a:rPr>
              <a:t>keypair</a:t>
            </a:r>
            <a:r>
              <a:rPr lang="en-US" sz="800" spc="-10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using)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private-subnet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Auto-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assign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437254" cy="5080"/>
            </a:xfrm>
            <a:custGeom>
              <a:avLst/>
              <a:gdLst/>
              <a:ahLst/>
              <a:cxnLst/>
              <a:rect l="l" t="t" r="r" b="b"/>
              <a:pathLst>
                <a:path w="3437254" h="5080">
                  <a:moveTo>
                    <a:pt x="0" y="5060"/>
                  </a:moveTo>
                  <a:lnTo>
                    <a:pt x="0" y="0"/>
                  </a:lnTo>
                  <a:lnTo>
                    <a:pt x="3436655" y="0"/>
                  </a:lnTo>
                  <a:lnTo>
                    <a:pt x="34366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500" y="1815338"/>
            <a:ext cx="5562600" cy="320040"/>
            <a:chOff x="372646" y="1815338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820685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82166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432" y="996723"/>
            <a:ext cx="5970053" cy="15401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386715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resides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 subnet.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aim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17780" marR="42735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first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step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be 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our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onto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into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there.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 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run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 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scp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your-public-ec2-instance-public-</a:t>
            </a:r>
            <a:r>
              <a:rPr lang="en-US" sz="800" spc="-45" noProof="1">
                <a:latin typeface="Courier New"/>
                <a:cs typeface="Courier New"/>
              </a:rPr>
              <a:t>ip</a:t>
            </a:r>
            <a:r>
              <a:rPr lang="en-US" sz="800" spc="-4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45" noProof="1">
                <a:latin typeface="Courier New"/>
                <a:cs typeface="Courier New"/>
              </a:rPr>
              <a:t>:/home/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445770" indent="-4445">
              <a:lnSpc>
                <a:spcPct val="116199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is just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 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485515" cy="5080"/>
            </a:xfrm>
            <a:custGeom>
              <a:avLst/>
              <a:gdLst/>
              <a:ahLst/>
              <a:cxnLst/>
              <a:rect l="l" t="t" r="r" b="b"/>
              <a:pathLst>
                <a:path w="3485515" h="5080">
                  <a:moveTo>
                    <a:pt x="0" y="5060"/>
                  </a:moveTo>
                  <a:lnTo>
                    <a:pt x="0" y="0"/>
                  </a:lnTo>
                  <a:lnTo>
                    <a:pt x="3485083" y="0"/>
                  </a:lnTo>
                  <a:lnTo>
                    <a:pt x="34850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012533"/>
            <a:ext cx="5015230" cy="320040"/>
            <a:chOff x="372646" y="1012533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01788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1885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40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648041"/>
            <a:ext cx="5015230" cy="320040"/>
            <a:chOff x="372646" y="1648041"/>
            <a:chExt cx="5015230" cy="320040"/>
          </a:xfrm>
        </p:grpSpPr>
        <p:sp>
          <p:nvSpPr>
            <p:cNvPr id="7" name="object 7"/>
            <p:cNvSpPr/>
            <p:nvPr/>
          </p:nvSpPr>
          <p:spPr>
            <a:xfrm>
              <a:off x="377994" y="1653388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654367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646" y="2283549"/>
            <a:ext cx="5015230" cy="320040"/>
            <a:chOff x="372646" y="2283549"/>
            <a:chExt cx="5015230" cy="320040"/>
          </a:xfrm>
        </p:grpSpPr>
        <p:sp>
          <p:nvSpPr>
            <p:cNvPr id="10" name="object 10"/>
            <p:cNvSpPr/>
            <p:nvPr/>
          </p:nvSpPr>
          <p:spPr>
            <a:xfrm>
              <a:off x="377994" y="2288896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2289875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433" y="768560"/>
            <a:ext cx="4914900" cy="17921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your-public-ec2-instance-public-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[ec2-public]$ chmod</a:t>
            </a:r>
            <a:r>
              <a:rPr lang="en-US" sz="800" spc="-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600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</a:t>
            </a:r>
            <a:r>
              <a:rPr lang="en-US" sz="800" spc="-10" noProof="1">
                <a:latin typeface="Courier New"/>
                <a:cs typeface="Courier New"/>
              </a:rPr>
              <a:t>keypair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[ec2-public]$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ssh</a:t>
            </a:r>
            <a:r>
              <a:rPr lang="en-US" sz="800" spc="8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your-private-ec2-instance-public-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3533775" cy="5080"/>
            </a:xfrm>
            <a:custGeom>
              <a:avLst/>
              <a:gdLst/>
              <a:ahLst/>
              <a:cxnLst/>
              <a:rect l="l" t="t" r="r" b="b"/>
              <a:pathLst>
                <a:path w="3533775" h="5080">
                  <a:moveTo>
                    <a:pt x="0" y="5060"/>
                  </a:moveTo>
                  <a:lnTo>
                    <a:pt x="0" y="0"/>
                  </a:lnTo>
                  <a:lnTo>
                    <a:pt x="3533512" y="0"/>
                  </a:lnTo>
                  <a:lnTo>
                    <a:pt x="35335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740675"/>
            <a:ext cx="5015230" cy="320040"/>
            <a:chOff x="372646" y="1740675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746022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747001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376177"/>
            <a:ext cx="5015230" cy="311785"/>
            <a:chOff x="372646" y="2376177"/>
            <a:chExt cx="5015230" cy="311785"/>
          </a:xfrm>
        </p:grpSpPr>
        <p:sp>
          <p:nvSpPr>
            <p:cNvPr id="7" name="object 7"/>
            <p:cNvSpPr/>
            <p:nvPr/>
          </p:nvSpPr>
          <p:spPr>
            <a:xfrm>
              <a:off x="377994" y="2381524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926"/>
                  </a:lnTo>
                  <a:lnTo>
                    <a:pt x="2829" y="278939"/>
                  </a:lnTo>
                  <a:lnTo>
                    <a:pt x="10544" y="290382"/>
                  </a:lnTo>
                  <a:lnTo>
                    <a:pt x="21987" y="298097"/>
                  </a:lnTo>
                  <a:lnTo>
                    <a:pt x="36000" y="300927"/>
                  </a:lnTo>
                  <a:lnTo>
                    <a:pt x="4968064" y="300927"/>
                  </a:lnTo>
                  <a:lnTo>
                    <a:pt x="4982077" y="298097"/>
                  </a:lnTo>
                  <a:lnTo>
                    <a:pt x="4993521" y="290382"/>
                  </a:lnTo>
                  <a:lnTo>
                    <a:pt x="5001236" y="278939"/>
                  </a:lnTo>
                  <a:lnTo>
                    <a:pt x="5004065" y="2649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382504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5">
                  <a:moveTo>
                    <a:pt x="0" y="2639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947"/>
                  </a:lnTo>
                  <a:lnTo>
                    <a:pt x="4999354" y="277579"/>
                  </a:lnTo>
                  <a:lnTo>
                    <a:pt x="4991849" y="288711"/>
                  </a:lnTo>
                  <a:lnTo>
                    <a:pt x="4980717" y="296216"/>
                  </a:lnTo>
                  <a:lnTo>
                    <a:pt x="4967085" y="298968"/>
                  </a:lnTo>
                  <a:lnTo>
                    <a:pt x="35021" y="298968"/>
                  </a:lnTo>
                  <a:lnTo>
                    <a:pt x="21389" y="296216"/>
                  </a:lnTo>
                  <a:lnTo>
                    <a:pt x="10257" y="288711"/>
                  </a:lnTo>
                  <a:lnTo>
                    <a:pt x="2752" y="277579"/>
                  </a:lnTo>
                  <a:lnTo>
                    <a:pt x="0" y="2639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438394"/>
            <a:ext cx="5069840" cy="25303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28905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notice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fails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timeout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did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earlier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IP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instead.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4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4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[ec2-private]$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ssh</a:t>
            </a:r>
            <a:r>
              <a:rPr lang="en-US" sz="800" spc="8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your-private-ec2-instance-private-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[ec2-private]$</a:t>
            </a: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 ping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google.com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out,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signaling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582035" cy="5080"/>
            </a:xfrm>
            <a:custGeom>
              <a:avLst/>
              <a:gdLst/>
              <a:ahLst/>
              <a:cxnLst/>
              <a:rect l="l" t="t" r="r" b="b"/>
              <a:pathLst>
                <a:path w="3582035" h="5080">
                  <a:moveTo>
                    <a:pt x="0" y="5060"/>
                  </a:moveTo>
                  <a:lnTo>
                    <a:pt x="0" y="0"/>
                  </a:lnTo>
                  <a:lnTo>
                    <a:pt x="3581852" y="0"/>
                  </a:lnTo>
                  <a:lnTo>
                    <a:pt x="35818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322293"/>
            <a:ext cx="3721735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Observations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844"/>
              </a:spcBef>
              <a:buChar char="•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never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be.</a:t>
            </a:r>
            <a:endParaRPr lang="en-US" sz="900" noProof="1">
              <a:latin typeface="Arial"/>
              <a:cs typeface="Arial"/>
            </a:endParaRPr>
          </a:p>
          <a:p>
            <a:pPr marL="233679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3679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30295" cy="5080"/>
            </a:xfrm>
            <a:custGeom>
              <a:avLst/>
              <a:gdLst/>
              <a:ahLst/>
              <a:cxnLst/>
              <a:rect l="l" t="t" r="r" b="b"/>
              <a:pathLst>
                <a:path w="3630295" h="5080">
                  <a:moveTo>
                    <a:pt x="0" y="5060"/>
                  </a:moveTo>
                  <a:lnTo>
                    <a:pt x="0" y="0"/>
                  </a:lnTo>
                  <a:lnTo>
                    <a:pt x="3630280" y="0"/>
                  </a:lnTo>
                  <a:lnTo>
                    <a:pt x="36302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718" y="515144"/>
            <a:ext cx="14655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ended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setup.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602" y="756117"/>
            <a:ext cx="4200816" cy="209922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679190" cy="5080"/>
            </a:xfrm>
            <a:custGeom>
              <a:avLst/>
              <a:gdLst/>
              <a:ahLst/>
              <a:cxnLst/>
              <a:rect l="l" t="t" r="r" b="b"/>
              <a:pathLst>
                <a:path w="3679190" h="5080">
                  <a:moveTo>
                    <a:pt x="0" y="5060"/>
                  </a:moveTo>
                  <a:lnTo>
                    <a:pt x="0" y="0"/>
                  </a:lnTo>
                  <a:lnTo>
                    <a:pt x="3678709" y="0"/>
                  </a:lnTo>
                  <a:lnTo>
                    <a:pt x="36787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718" y="514433"/>
            <a:ext cx="34728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directly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12" y="756784"/>
            <a:ext cx="4437597" cy="20992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727450" cy="5080"/>
            </a:xfrm>
            <a:custGeom>
              <a:avLst/>
              <a:gdLst/>
              <a:ahLst/>
              <a:cxnLst/>
              <a:rect l="l" t="t" r="r" b="b"/>
              <a:pathLst>
                <a:path w="3727450" h="5080">
                  <a:moveTo>
                    <a:pt x="0" y="5060"/>
                  </a:moveTo>
                  <a:lnTo>
                    <a:pt x="0" y="0"/>
                  </a:lnTo>
                  <a:lnTo>
                    <a:pt x="3727137" y="0"/>
                  </a:lnTo>
                  <a:lnTo>
                    <a:pt x="37271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515132"/>
            <a:ext cx="366267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299" y="756110"/>
            <a:ext cx="4423405" cy="20992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775710" cy="5080"/>
            </a:xfrm>
            <a:custGeom>
              <a:avLst/>
              <a:gdLst/>
              <a:ahLst/>
              <a:cxnLst/>
              <a:rect l="l" t="t" r="r" b="b"/>
              <a:pathLst>
                <a:path w="3775710" h="5080">
                  <a:moveTo>
                    <a:pt x="0" y="5060"/>
                  </a:moveTo>
                  <a:lnTo>
                    <a:pt x="0" y="0"/>
                  </a:lnTo>
                  <a:lnTo>
                    <a:pt x="3775478" y="0"/>
                  </a:lnTo>
                  <a:lnTo>
                    <a:pt x="37754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5224</Words>
  <Application>Microsoft Macintosh PowerPoint</Application>
  <PresentationFormat>Personalizado</PresentationFormat>
  <Paragraphs>365</Paragraphs>
  <Slides>73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73</vt:i4>
      </vt:variant>
    </vt:vector>
  </HeadingPairs>
  <TitlesOfParts>
    <vt:vector size="76" baseType="lpstr">
      <vt:lpstr>Arial</vt:lpstr>
      <vt:lpstr>Courier New</vt:lpstr>
      <vt:lpstr>Office Theme</vt:lpstr>
      <vt:lpstr>Presentación de PowerPoint</vt:lpstr>
      <vt:lpstr>Presentación de PowerPoint</vt:lpstr>
      <vt:lpstr>Networking concepts we already met</vt:lpstr>
      <vt:lpstr>Networking concepts we already met</vt:lpstr>
      <vt:lpstr>Presentación de PowerPoint</vt:lpstr>
      <vt:lpstr>What is an IP address?</vt:lpstr>
      <vt:lpstr>Presentación de PowerPoint</vt:lpstr>
      <vt:lpstr>Private vs Public IP addresses</vt:lpstr>
      <vt:lpstr>Private vs Public IP addresses</vt:lpstr>
      <vt:lpstr>The Domain Name System (DNS) is a system that translates domain names to IP addresses. Remember during class when I said you can use the DNS name or the public IP address to connect to an EC2 instance? A DNS name or a domain name is a human-readable name that references an IP address.</vt:lpstr>
      <vt:lpstr>Ports</vt:lpstr>
      <vt:lpstr>Ports</vt:lpstr>
      <vt:lpstr>Recap</vt:lpstr>
      <vt:lpstr>Our home network</vt:lpstr>
      <vt:lpstr>Our home network</vt:lpstr>
      <vt:lpstr>Your router and NAT</vt:lpstr>
      <vt:lpstr>Your router and NAT</vt:lpstr>
      <vt:lpstr>Your router and NAT</vt:lpstr>
      <vt:lpstr>Your router and NAT</vt:lpstr>
      <vt:lpstr>Your router and NAT</vt:lpstr>
      <vt:lpstr>What is a network?</vt:lpstr>
      <vt:lpstr>What is a network?</vt:lpstr>
      <vt:lpstr>What is the internet?</vt:lpstr>
      <vt:lpstr>What is the internet?</vt:lpstr>
      <vt:lpstr>What is the internet?</vt:lpstr>
      <vt:lpstr>What is the internet?</vt:lpstr>
      <vt:lpstr>Presentación de PowerPoint</vt:lpstr>
      <vt:lpstr>What is the internet?</vt:lpstr>
      <vt:lpstr>Playing with the internet</vt:lpstr>
      <vt:lpstr>Playing with the internet</vt:lpstr>
      <vt:lpstr>Playing with the internet</vt:lpstr>
      <vt:lpstr>Recap</vt:lpstr>
      <vt:lpstr>Presentación de PowerPoint</vt:lpstr>
      <vt:lpstr>What is a subnet?</vt:lpstr>
      <vt:lpstr>What is a subnet?</vt:lpstr>
      <vt:lpstr>What is a subnet?</vt:lpstr>
      <vt:lpstr>What is a subnet?</vt:lpstr>
      <vt:lpstr>What is a subnet?</vt:lpstr>
      <vt:lpstr>What is a subnet?</vt:lpstr>
      <vt:lpstr>What is a subnet?</vt:lpstr>
      <vt:lpstr>Presentación de PowerPoint</vt:lpstr>
      <vt:lpstr>How do AWS networks work?</vt:lpstr>
      <vt:lpstr>Presentación de PowerPoint</vt:lpstr>
      <vt:lpstr>How do AWS networks work?</vt:lpstr>
      <vt:lpstr>Presentación de PowerPoint</vt:lpstr>
      <vt:lpstr>Goal of the lab</vt:lpstr>
      <vt:lpstr>Presentación de PowerPoint</vt:lpstr>
      <vt:lpstr>Presentación de PowerPoint</vt:lpstr>
      <vt:lpstr>Creating a VPC</vt:lpstr>
      <vt:lpstr>We are now going to add a subnet to the VPC we just created.</vt:lpstr>
      <vt:lpstr>Creating a public subnet in a VPC</vt:lpstr>
      <vt:lpstr>Presentación de PowerPoint</vt:lpstr>
      <vt:lpstr>Creating a private subnet in a VPC</vt:lpstr>
      <vt:lpstr>Default route table</vt:lpstr>
      <vt:lpstr>Deploying an EC2 instance in the public subnet</vt:lpstr>
      <vt:lpstr>Deploying an EC2 instance in the public subnet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Deploying an EC2 instance in the private subnet</vt:lpstr>
      <vt:lpstr>Deploying an EC2 instance in the private subnet</vt:lpstr>
      <vt:lpstr>Accessing the private EC2 instance</vt:lpstr>
      <vt:lpstr>Accessing the private EC2 instance</vt:lpstr>
      <vt:lpstr>Accessing the private EC2 instance</vt:lpstr>
      <vt:lpstr>Accessing the private EC2 instance</vt:lpstr>
      <vt:lpstr>Presentación de PowerPoint</vt:lpstr>
      <vt:lpstr>Where we can’t directly access the private EC2 instance through SSH.</vt:lpstr>
      <vt:lpstr>But we can access the private EC2 instance from the public EC2 instance.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AWS - Networking</dc:title>
  <dc:creator>Ferran Aran Domingo ` `%%%`#`&amp;12_`__~~~ౡ氀猀攀</dc:creator>
  <cp:keywords>Cloud Computing, AWS, Healtcare, Cloud Computing in Healthcare</cp:keywords>
  <cp:lastModifiedBy>Francesc Xavier Solsona Tehas</cp:lastModifiedBy>
  <cp:revision>32</cp:revision>
  <dcterms:created xsi:type="dcterms:W3CDTF">2025-05-19T16:07:08Z</dcterms:created>
  <dcterms:modified xsi:type="dcterms:W3CDTF">2026-05-07T17:30:04Z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2025-03-27T00:00:00Z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2025-03-27T00:00:00Z</vt:filetime>
  </property>
</Properties>
</file>