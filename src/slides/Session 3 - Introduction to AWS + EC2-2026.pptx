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1" r:id="rId56"/>
    <p:sldId id="310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09"/>
  </p:normalViewPr>
  <p:slideViewPr>
    <p:cSldViewPr>
      <p:cViewPr varScale="1">
        <p:scale>
          <a:sx n="258" d="100"/>
          <a:sy n="258" d="100"/>
        </p:scale>
        <p:origin x="64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modSld sldOrd">
      <pc:chgData name="Francesc Xavier Solsona Tehas" userId="1f95e2c3-a25c-4efc-a37b-de93ab79e53c" providerId="ADAL" clId="{C51773D9-DD29-5A84-A509-762D3F3EA38B}" dt="2026-02-25T11:51:49.140" v="615" actId="20577"/>
      <pc:docMkLst>
        <pc:docMk/>
      </pc:docMkLst>
      <pc:sldChg chg="modSp mod">
        <pc:chgData name="Francesc Xavier Solsona Tehas" userId="1f95e2c3-a25c-4efc-a37b-de93ab79e53c" providerId="ADAL" clId="{C51773D9-DD29-5A84-A509-762D3F3EA38B}" dt="2026-02-14T10:56:35.911" v="41" actId="14100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14T10:56:35.911" v="41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12:10.087" v="59" actId="14100"/>
        <pc:sldMkLst>
          <pc:docMk/>
          <pc:sldMk cId="0" sldId="290"/>
        </pc:sldMkLst>
        <pc:spChg chg="mod">
          <ac:chgData name="Francesc Xavier Solsona Tehas" userId="1f95e2c3-a25c-4efc-a37b-de93ab79e53c" providerId="ADAL" clId="{C51773D9-DD29-5A84-A509-762D3F3EA38B}" dt="2026-02-14T11:12:05.887" v="58" actId="1076"/>
          <ac:spMkLst>
            <pc:docMk/>
            <pc:sldMk cId="0" sldId="290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2:10.087" v="59" actId="14100"/>
          <ac:picMkLst>
            <pc:docMk/>
            <pc:sldMk cId="0" sldId="290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2:24.963" v="61" actId="14100"/>
        <pc:sldMkLst>
          <pc:docMk/>
          <pc:sldMk cId="0" sldId="291"/>
        </pc:sldMkLst>
        <pc:picChg chg="mod">
          <ac:chgData name="Francesc Xavier Solsona Tehas" userId="1f95e2c3-a25c-4efc-a37b-de93ab79e53c" providerId="ADAL" clId="{C51773D9-DD29-5A84-A509-762D3F3EA38B}" dt="2026-02-14T11:12:24.963" v="61" actId="14100"/>
          <ac:picMkLst>
            <pc:docMk/>
            <pc:sldMk cId="0" sldId="291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4:27.712" v="77" actId="14100"/>
        <pc:sldMkLst>
          <pc:docMk/>
          <pc:sldMk cId="0" sldId="292"/>
        </pc:sldMkLst>
        <pc:spChg chg="mod">
          <ac:chgData name="Francesc Xavier Solsona Tehas" userId="1f95e2c3-a25c-4efc-a37b-de93ab79e53c" providerId="ADAL" clId="{C51773D9-DD29-5A84-A509-762D3F3EA38B}" dt="2026-02-14T11:13:57.663" v="62"/>
          <ac:spMkLst>
            <pc:docMk/>
            <pc:sldMk cId="0" sldId="292"/>
            <ac:spMk id="3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4T11:14:21.178" v="75" actId="1035"/>
          <ac:spMkLst>
            <pc:docMk/>
            <pc:sldMk cId="0" sldId="292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4:27.712" v="77" actId="14100"/>
          <ac:picMkLst>
            <pc:docMk/>
            <pc:sldMk cId="0" sldId="292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14:57.711" v="82" actId="14100"/>
        <pc:sldMkLst>
          <pc:docMk/>
          <pc:sldMk cId="0" sldId="293"/>
        </pc:sldMkLst>
        <pc:spChg chg="mod">
          <ac:chgData name="Francesc Xavier Solsona Tehas" userId="1f95e2c3-a25c-4efc-a37b-de93ab79e53c" providerId="ADAL" clId="{C51773D9-DD29-5A84-A509-762D3F3EA38B}" dt="2026-02-14T11:14:45.903" v="78" actId="1076"/>
          <ac:spMkLst>
            <pc:docMk/>
            <pc:sldMk cId="0" sldId="293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14:57.711" v="82" actId="14100"/>
          <ac:picMkLst>
            <pc:docMk/>
            <pc:sldMk cId="0" sldId="293"/>
            <ac:picMk id="4" creationId="{00000000-0000-0000-0000-000000000000}"/>
          </ac:picMkLst>
        </pc:picChg>
      </pc:sldChg>
      <pc:sldChg chg="addSp modSp mod">
        <pc:chgData name="Francesc Xavier Solsona Tehas" userId="1f95e2c3-a25c-4efc-a37b-de93ab79e53c" providerId="ADAL" clId="{C51773D9-DD29-5A84-A509-762D3F3EA38B}" dt="2026-02-14T11:19:17.730" v="206" actId="14100"/>
        <pc:sldMkLst>
          <pc:docMk/>
          <pc:sldMk cId="0" sldId="294"/>
        </pc:sldMkLst>
        <pc:spChg chg="mod">
          <ac:chgData name="Francesc Xavier Solsona Tehas" userId="1f95e2c3-a25c-4efc-a37b-de93ab79e53c" providerId="ADAL" clId="{C51773D9-DD29-5A84-A509-762D3F3EA38B}" dt="2026-02-14T11:18:38.767" v="195" actId="5793"/>
          <ac:spMkLst>
            <pc:docMk/>
            <pc:sldMk cId="0" sldId="294"/>
            <ac:spMk id="3" creationId="{00000000-0000-0000-0000-000000000000}"/>
          </ac:spMkLst>
        </pc:spChg>
        <pc:spChg chg="add mod">
          <ac:chgData name="Francesc Xavier Solsona Tehas" userId="1f95e2c3-a25c-4efc-a37b-de93ab79e53c" providerId="ADAL" clId="{C51773D9-DD29-5A84-A509-762D3F3EA38B}" dt="2026-02-14T11:18:59.632" v="202" actId="1037"/>
          <ac:spMkLst>
            <pc:docMk/>
            <pc:sldMk cId="0" sldId="294"/>
            <ac:spMk id="10" creationId="{94DB57A0-D61C-F006-F732-E3D21F3580C9}"/>
          </ac:spMkLst>
        </pc:spChg>
        <pc:spChg chg="add mod">
          <ac:chgData name="Francesc Xavier Solsona Tehas" userId="1f95e2c3-a25c-4efc-a37b-de93ab79e53c" providerId="ADAL" clId="{C51773D9-DD29-5A84-A509-762D3F3EA38B}" dt="2026-02-14T11:18:53.680" v="199" actId="1076"/>
          <ac:spMkLst>
            <pc:docMk/>
            <pc:sldMk cId="0" sldId="294"/>
            <ac:spMk id="11" creationId="{3848A72E-B31A-BFC0-6DD4-3EBE22F7E4EE}"/>
          </ac:spMkLst>
        </pc:spChg>
        <pc:picChg chg="mod">
          <ac:chgData name="Francesc Xavier Solsona Tehas" userId="1f95e2c3-a25c-4efc-a37b-de93ab79e53c" providerId="ADAL" clId="{C51773D9-DD29-5A84-A509-762D3F3EA38B}" dt="2026-02-14T11:19:17.730" v="206" actId="14100"/>
          <ac:picMkLst>
            <pc:docMk/>
            <pc:sldMk cId="0" sldId="294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0:02.297" v="211" actId="207"/>
        <pc:sldMkLst>
          <pc:docMk/>
          <pc:sldMk cId="0" sldId="295"/>
        </pc:sldMkLst>
        <pc:spChg chg="mod">
          <ac:chgData name="Francesc Xavier Solsona Tehas" userId="1f95e2c3-a25c-4efc-a37b-de93ab79e53c" providerId="ADAL" clId="{C51773D9-DD29-5A84-A509-762D3F3EA38B}" dt="2026-02-14T11:20:02.297" v="211" actId="207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24:31.313" v="220" actId="207"/>
        <pc:sldMkLst>
          <pc:docMk/>
          <pc:sldMk cId="0" sldId="296"/>
        </pc:sldMkLst>
        <pc:spChg chg="mod">
          <ac:chgData name="Francesc Xavier Solsona Tehas" userId="1f95e2c3-a25c-4efc-a37b-de93ab79e53c" providerId="ADAL" clId="{C51773D9-DD29-5A84-A509-762D3F3EA38B}" dt="2026-02-14T11:24:31.313" v="220" actId="207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26:47.451" v="224" actId="14100"/>
        <pc:sldMkLst>
          <pc:docMk/>
          <pc:sldMk cId="0" sldId="297"/>
        </pc:sldMkLst>
        <pc:spChg chg="mod">
          <ac:chgData name="Francesc Xavier Solsona Tehas" userId="1f95e2c3-a25c-4efc-a37b-de93ab79e53c" providerId="ADAL" clId="{C51773D9-DD29-5A84-A509-762D3F3EA38B}" dt="2026-02-14T11:26:39.696" v="221" actId="1076"/>
          <ac:spMkLst>
            <pc:docMk/>
            <pc:sldMk cId="0" sldId="297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6:47.451" v="224" actId="14100"/>
          <ac:picMkLst>
            <pc:docMk/>
            <pc:sldMk cId="0" sldId="297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7:16.148" v="236" actId="14100"/>
        <pc:sldMkLst>
          <pc:docMk/>
          <pc:sldMk cId="0" sldId="298"/>
        </pc:sldMkLst>
        <pc:spChg chg="mod">
          <ac:chgData name="Francesc Xavier Solsona Tehas" userId="1f95e2c3-a25c-4efc-a37b-de93ab79e53c" providerId="ADAL" clId="{C51773D9-DD29-5A84-A509-762D3F3EA38B}" dt="2026-02-14T11:27:04.993" v="233" actId="1035"/>
          <ac:spMkLst>
            <pc:docMk/>
            <pc:sldMk cId="0" sldId="298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7:16.148" v="236" actId="14100"/>
          <ac:picMkLst>
            <pc:docMk/>
            <pc:sldMk cId="0" sldId="298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7:47.032" v="244" actId="14100"/>
        <pc:sldMkLst>
          <pc:docMk/>
          <pc:sldMk cId="0" sldId="299"/>
        </pc:sldMkLst>
        <pc:spChg chg="mod">
          <ac:chgData name="Francesc Xavier Solsona Tehas" userId="1f95e2c3-a25c-4efc-a37b-de93ab79e53c" providerId="ADAL" clId="{C51773D9-DD29-5A84-A509-762D3F3EA38B}" dt="2026-02-14T11:27:38.391" v="242" actId="1036"/>
          <ac:spMkLst>
            <pc:docMk/>
            <pc:sldMk cId="0" sldId="299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7:47.032" v="244" actId="14100"/>
          <ac:picMkLst>
            <pc:docMk/>
            <pc:sldMk cId="0" sldId="299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8:05.957" v="250" actId="14100"/>
        <pc:sldMkLst>
          <pc:docMk/>
          <pc:sldMk cId="0" sldId="300"/>
        </pc:sldMkLst>
        <pc:spChg chg="mod">
          <ac:chgData name="Francesc Xavier Solsona Tehas" userId="1f95e2c3-a25c-4efc-a37b-de93ab79e53c" providerId="ADAL" clId="{C51773D9-DD29-5A84-A509-762D3F3EA38B}" dt="2026-02-14T11:28:01.900" v="249" actId="1036"/>
          <ac:spMkLst>
            <pc:docMk/>
            <pc:sldMk cId="0" sldId="300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8:05.957" v="250" actId="14100"/>
          <ac:picMkLst>
            <pc:docMk/>
            <pc:sldMk cId="0" sldId="300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14T11:28:29.735" v="258" actId="14100"/>
        <pc:sldMkLst>
          <pc:docMk/>
          <pc:sldMk cId="0" sldId="301"/>
        </pc:sldMkLst>
        <pc:spChg chg="mod">
          <ac:chgData name="Francesc Xavier Solsona Tehas" userId="1f95e2c3-a25c-4efc-a37b-de93ab79e53c" providerId="ADAL" clId="{C51773D9-DD29-5A84-A509-762D3F3EA38B}" dt="2026-02-14T11:28:23.380" v="256" actId="1036"/>
          <ac:spMkLst>
            <pc:docMk/>
            <pc:sldMk cId="0" sldId="301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8:29.735" v="258" actId="14100"/>
          <ac:picMkLst>
            <pc:docMk/>
            <pc:sldMk cId="0" sldId="301"/>
            <ac:picMk id="4" creationId="{00000000-0000-0000-0000-000000000000}"/>
          </ac:picMkLst>
        </pc:picChg>
      </pc:sldChg>
      <pc:sldChg chg="modSp mod modNotesTx">
        <pc:chgData name="Francesc Xavier Solsona Tehas" userId="1f95e2c3-a25c-4efc-a37b-de93ab79e53c" providerId="ADAL" clId="{C51773D9-DD29-5A84-A509-762D3F3EA38B}" dt="2026-02-25T11:30:24.535" v="546" actId="20577"/>
        <pc:sldMkLst>
          <pc:docMk/>
          <pc:sldMk cId="0" sldId="302"/>
        </pc:sldMkLst>
        <pc:spChg chg="mod">
          <ac:chgData name="Francesc Xavier Solsona Tehas" userId="1f95e2c3-a25c-4efc-a37b-de93ab79e53c" providerId="ADAL" clId="{C51773D9-DD29-5A84-A509-762D3F3EA38B}" dt="2026-02-25T11:30:24.535" v="546" actId="20577"/>
          <ac:spMkLst>
            <pc:docMk/>
            <pc:sldMk cId="0" sldId="302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29:35.252" v="278" actId="14100"/>
          <ac:picMkLst>
            <pc:docMk/>
            <pc:sldMk cId="0" sldId="302"/>
            <ac:picMk id="4" creationId="{00000000-0000-0000-0000-000000000000}"/>
          </ac:picMkLst>
        </pc:picChg>
      </pc:sldChg>
      <pc:sldChg chg="modSp mod modNotesTx">
        <pc:chgData name="Francesc Xavier Solsona Tehas" userId="1f95e2c3-a25c-4efc-a37b-de93ab79e53c" providerId="ADAL" clId="{C51773D9-DD29-5A84-A509-762D3F3EA38B}" dt="2026-02-14T11:35:42.126" v="353" actId="20577"/>
        <pc:sldMkLst>
          <pc:docMk/>
          <pc:sldMk cId="0" sldId="303"/>
        </pc:sldMkLst>
        <pc:spChg chg="mod">
          <ac:chgData name="Francesc Xavier Solsona Tehas" userId="1f95e2c3-a25c-4efc-a37b-de93ab79e53c" providerId="ADAL" clId="{C51773D9-DD29-5A84-A509-762D3F3EA38B}" dt="2026-02-14T11:35:16.467" v="323" actId="1036"/>
          <ac:spMkLst>
            <pc:docMk/>
            <pc:sldMk cId="0" sldId="303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35:23.501" v="325" actId="14100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Francesc Xavier Solsona Tehas" userId="1f95e2c3-a25c-4efc-a37b-de93ab79e53c" providerId="ADAL" clId="{C51773D9-DD29-5A84-A509-762D3F3EA38B}" dt="2026-02-14T13:22:16.306" v="359" actId="478"/>
        <pc:sldMkLst>
          <pc:docMk/>
          <pc:sldMk cId="0" sldId="305"/>
        </pc:sldMkLst>
      </pc:sldChg>
      <pc:sldChg chg="modSp mod">
        <pc:chgData name="Francesc Xavier Solsona Tehas" userId="1f95e2c3-a25c-4efc-a37b-de93ab79e53c" providerId="ADAL" clId="{C51773D9-DD29-5A84-A509-762D3F3EA38B}" dt="2026-02-14T11:08:51.314" v="48" actId="14100"/>
        <pc:sldMkLst>
          <pc:docMk/>
          <pc:sldMk cId="0" sldId="309"/>
        </pc:sldMkLst>
        <pc:picChg chg="mod">
          <ac:chgData name="Francesc Xavier Solsona Tehas" userId="1f95e2c3-a25c-4efc-a37b-de93ab79e53c" providerId="ADAL" clId="{C51773D9-DD29-5A84-A509-762D3F3EA38B}" dt="2026-02-14T11:08:51.314" v="48" actId="14100"/>
          <ac:picMkLst>
            <pc:docMk/>
            <pc:sldMk cId="0" sldId="309"/>
            <ac:picMk id="4" creationId="{00000000-0000-0000-0000-000000000000}"/>
          </ac:picMkLst>
        </pc:picChg>
      </pc:sldChg>
      <pc:sldChg chg="modSp mod ord">
        <pc:chgData name="Francesc Xavier Solsona Tehas" userId="1f95e2c3-a25c-4efc-a37b-de93ab79e53c" providerId="ADAL" clId="{C51773D9-DD29-5A84-A509-762D3F3EA38B}" dt="2026-02-25T11:38:29.922" v="590" actId="14100"/>
        <pc:sldMkLst>
          <pc:docMk/>
          <pc:sldMk cId="0" sldId="311"/>
        </pc:sldMkLst>
        <pc:spChg chg="mod">
          <ac:chgData name="Francesc Xavier Solsona Tehas" userId="1f95e2c3-a25c-4efc-a37b-de93ab79e53c" providerId="ADAL" clId="{C51773D9-DD29-5A84-A509-762D3F3EA38B}" dt="2026-02-25T11:38:29.922" v="590" actId="14100"/>
          <ac:spMkLst>
            <pc:docMk/>
            <pc:sldMk cId="0" sldId="311"/>
            <ac:spMk id="5" creationId="{00000000-0000-0000-0000-000000000000}"/>
          </ac:spMkLst>
        </pc:spChg>
        <pc:picChg chg="mod">
          <ac:chgData name="Francesc Xavier Solsona Tehas" userId="1f95e2c3-a25c-4efc-a37b-de93ab79e53c" providerId="ADAL" clId="{C51773D9-DD29-5A84-A509-762D3F3EA38B}" dt="2026-02-14T11:09:19.999" v="55" actId="1037"/>
          <ac:picMkLst>
            <pc:docMk/>
            <pc:sldMk cId="0" sldId="311"/>
            <ac:picMk id="4" creationId="{00000000-0000-0000-0000-000000000000}"/>
          </ac:picMkLst>
        </pc:picChg>
      </pc:sldChg>
      <pc:sldChg chg="modSp mod">
        <pc:chgData name="Francesc Xavier Solsona Tehas" userId="1f95e2c3-a25c-4efc-a37b-de93ab79e53c" providerId="ADAL" clId="{C51773D9-DD29-5A84-A509-762D3F3EA38B}" dt="2026-02-25T11:39:08.221" v="593" actId="207"/>
        <pc:sldMkLst>
          <pc:docMk/>
          <pc:sldMk cId="0" sldId="312"/>
        </pc:sldMkLst>
        <pc:spChg chg="mod">
          <ac:chgData name="Francesc Xavier Solsona Tehas" userId="1f95e2c3-a25c-4efc-a37b-de93ab79e53c" providerId="ADAL" clId="{C51773D9-DD29-5A84-A509-762D3F3EA38B}" dt="2026-02-25T11:39:08.221" v="593" actId="207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06:42.846" v="43" actId="20577"/>
        <pc:sldMkLst>
          <pc:docMk/>
          <pc:sldMk cId="0" sldId="319"/>
        </pc:sldMkLst>
        <pc:spChg chg="mod">
          <ac:chgData name="Francesc Xavier Solsona Tehas" userId="1f95e2c3-a25c-4efc-a37b-de93ab79e53c" providerId="ADAL" clId="{C51773D9-DD29-5A84-A509-762D3F3EA38B}" dt="2026-02-14T11:06:42.846" v="43" actId="20577"/>
          <ac:spMkLst>
            <pc:docMk/>
            <pc:sldMk cId="0" sldId="319"/>
            <ac:spMk id="1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4T11:06:45.996" v="45" actId="20577"/>
        <pc:sldMkLst>
          <pc:docMk/>
          <pc:sldMk cId="0" sldId="320"/>
        </pc:sldMkLst>
        <pc:spChg chg="mod">
          <ac:chgData name="Francesc Xavier Solsona Tehas" userId="1f95e2c3-a25c-4efc-a37b-de93ab79e53c" providerId="ADAL" clId="{C51773D9-DD29-5A84-A509-762D3F3EA38B}" dt="2026-02-14T11:06:45.996" v="45" actId="20577"/>
          <ac:spMkLst>
            <pc:docMk/>
            <pc:sldMk cId="0" sldId="320"/>
            <ac:spMk id="1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5T11:51:49.140" v="615" actId="20577"/>
        <pc:sldMkLst>
          <pc:docMk/>
          <pc:sldMk cId="0" sldId="328"/>
        </pc:sldMkLst>
        <pc:spChg chg="mod">
          <ac:chgData name="Francesc Xavier Solsona Tehas" userId="1f95e2c3-a25c-4efc-a37b-de93ab79e53c" providerId="ADAL" clId="{C51773D9-DD29-5A84-A509-762D3F3EA38B}" dt="2026-02-25T11:51:49.140" v="615" actId="20577"/>
          <ac:spMkLst>
            <pc:docMk/>
            <pc:sldMk cId="0" sldId="328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6EEFB-8C2A-5C47-9353-657B625C444F}" type="datetimeFigureOut">
              <a:rPr lang="es-ES" smtClean="0"/>
              <a:t>25/2/26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9EDAF-B4A8-2B48-B3B4-4F9364856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281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Notice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Budget. </a:t>
            </a:r>
            <a:r>
              <a:rPr lang="es-ES" dirty="0" err="1"/>
              <a:t>Underlined</a:t>
            </a:r>
            <a:r>
              <a:rPr lang="es-ES" dirty="0"/>
              <a:t> in red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23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Here </a:t>
            </a:r>
            <a:r>
              <a:rPr lang="es-ES" dirty="0" err="1"/>
              <a:t>you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dashboard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EDAF-B4A8-2B48-B3B4-4F936485687B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18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19278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29108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718" y="846814"/>
            <a:ext cx="5073650" cy="1656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wsacademy.instructure.com/" TargetMode="Externa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mailto:ec2-user@ec2-3-87-76-117.compute-1.amazonaws.com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uv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://ec2-3-87-76-117.compute-1.amazonaws.com:8888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242941"/>
            <a:ext cx="16287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3832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800" spc="-10" dirty="0"/>
              <a:t>Francesc Solsona Tehas </a:t>
            </a:r>
            <a:r>
              <a:rPr lang="es-ES" sz="800" spc="-20" dirty="0">
                <a:hlinkClick r:id="rId2"/>
              </a:rPr>
              <a:t>francesc.solsona</a:t>
            </a:r>
            <a:r>
              <a:rPr sz="800" spc="-20" dirty="0">
                <a:hlinkClick r:id="rId2"/>
              </a:rPr>
              <a:t>@udl.cat</a:t>
            </a:r>
            <a:endParaRPr sz="800" dirty="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 dirty="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 dirty="0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09220" cy="5080"/>
            </a:xfrm>
            <a:custGeom>
              <a:avLst/>
              <a:gdLst/>
              <a:ahLst/>
              <a:cxnLst/>
              <a:rect l="l" t="t" r="r" b="b"/>
              <a:pathLst>
                <a:path w="109220" h="5080">
                  <a:moveTo>
                    <a:pt x="0" y="5060"/>
                  </a:moveTo>
                  <a:lnTo>
                    <a:pt x="0" y="0"/>
                  </a:lnTo>
                  <a:lnTo>
                    <a:pt x="108634" y="0"/>
                  </a:lnTo>
                  <a:lnTo>
                    <a:pt x="1086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03"/>
            <a:ext cx="1774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Recap:</a:t>
            </a:r>
            <a:r>
              <a:rPr sz="1100" b="1" spc="6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Where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are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we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now?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993"/>
            <a:ext cx="2505710" cy="5080"/>
            <a:chOff x="1627403" y="1646993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99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993"/>
              <a:ext cx="47625" cy="5080"/>
            </a:xfrm>
            <a:custGeom>
              <a:avLst/>
              <a:gdLst/>
              <a:ahLst/>
              <a:cxnLst/>
              <a:rect l="l" t="t" r="r" b="b"/>
              <a:pathLst>
                <a:path w="47625" h="5080">
                  <a:moveTo>
                    <a:pt x="0" y="5060"/>
                  </a:moveTo>
                  <a:lnTo>
                    <a:pt x="0" y="0"/>
                  </a:lnTo>
                  <a:lnTo>
                    <a:pt x="47248" y="0"/>
                  </a:lnTo>
                  <a:lnTo>
                    <a:pt x="472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597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Public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vs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vs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Hybrid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635731"/>
            <a:ext cx="49314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sessions,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differences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public,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private,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670" y="877961"/>
            <a:ext cx="2650659" cy="14994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7924" y="2511423"/>
            <a:ext cx="3104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grow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paradigms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804" cy="5080"/>
            </a:xfrm>
            <a:custGeom>
              <a:avLst/>
              <a:gdLst/>
              <a:ahLst/>
              <a:cxnLst/>
              <a:rect l="l" t="t" r="r" b="b"/>
              <a:pathLst>
                <a:path w="217804" h="5080">
                  <a:moveTo>
                    <a:pt x="0" y="5060"/>
                  </a:moveTo>
                  <a:lnTo>
                    <a:pt x="0" y="0"/>
                  </a:lnTo>
                  <a:lnTo>
                    <a:pt x="217356" y="0"/>
                  </a:lnTo>
                  <a:lnTo>
                    <a:pt x="2173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Website</a:t>
            </a:r>
            <a:r>
              <a:rPr spc="-30" dirty="0"/>
              <a:t> </a:t>
            </a:r>
            <a:r>
              <a:rPr spc="-35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4881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explored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compared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103" y="613739"/>
            <a:ext cx="3841790" cy="20992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8209" y="2846957"/>
            <a:ext cx="3023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8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Differences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40" dirty="0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deployment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26390" cy="5080"/>
            </a:xfrm>
            <a:custGeom>
              <a:avLst/>
              <a:gdLst/>
              <a:ahLst/>
              <a:cxnLst/>
              <a:rect l="l" t="t" r="r" b="b"/>
              <a:pathLst>
                <a:path w="326390" h="5080">
                  <a:moveTo>
                    <a:pt x="0" y="5060"/>
                  </a:moveTo>
                  <a:lnTo>
                    <a:pt x="0" y="0"/>
                  </a:lnTo>
                  <a:lnTo>
                    <a:pt x="326078" y="0"/>
                  </a:lnTo>
                  <a:lnTo>
                    <a:pt x="326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Cloud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spc="10" dirty="0"/>
              <a:t> </a:t>
            </a:r>
            <a:r>
              <a:rPr spc="-35" dirty="0"/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4503"/>
            <a:ext cx="502602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go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beyond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just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Examples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GitHub,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Netflix,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many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more.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335" y="796640"/>
            <a:ext cx="3293343" cy="17993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1283" y="2729977"/>
            <a:ext cx="14776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800" b="1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34975" cy="5080"/>
            </a:xfrm>
            <a:custGeom>
              <a:avLst/>
              <a:gdLst/>
              <a:ahLst/>
              <a:cxnLst/>
              <a:rect l="l" t="t" r="r" b="b"/>
              <a:pathLst>
                <a:path w="434975" h="5080">
                  <a:moveTo>
                    <a:pt x="0" y="5060"/>
                  </a:moveTo>
                  <a:lnTo>
                    <a:pt x="0" y="0"/>
                  </a:lnTo>
                  <a:lnTo>
                    <a:pt x="434712" y="0"/>
                  </a:lnTo>
                  <a:lnTo>
                    <a:pt x="4347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Cloud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spc="10" dirty="0"/>
              <a:t> </a:t>
            </a:r>
            <a:r>
              <a:rPr spc="-35" dirty="0"/>
              <a:t>everywhere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80965"/>
            <a:ext cx="50692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Beyond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 (GCP),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Amazon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(AWS).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055" y="810204"/>
            <a:ext cx="4317896" cy="17993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0338" y="2743516"/>
            <a:ext cx="14598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43560" cy="5080"/>
            </a:xfrm>
            <a:custGeom>
              <a:avLst/>
              <a:gdLst/>
              <a:ahLst/>
              <a:cxnLst/>
              <a:rect l="l" t="t" r="r" b="b"/>
              <a:pathLst>
                <a:path w="543560" h="5080">
                  <a:moveTo>
                    <a:pt x="0" y="5060"/>
                  </a:moveTo>
                  <a:lnTo>
                    <a:pt x="0" y="0"/>
                  </a:lnTo>
                  <a:lnTo>
                    <a:pt x="543434" y="0"/>
                  </a:lnTo>
                  <a:lnTo>
                    <a:pt x="5434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Amazon</a:t>
            </a:r>
            <a:r>
              <a:rPr spc="15" dirty="0"/>
              <a:t> </a:t>
            </a:r>
            <a:r>
              <a:rPr dirty="0"/>
              <a:t>Web</a:t>
            </a:r>
            <a:r>
              <a:rPr spc="20" dirty="0"/>
              <a:t> </a:t>
            </a:r>
            <a:r>
              <a:rPr spc="-5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3787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focus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variety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0374" y="613747"/>
            <a:ext cx="2099251" cy="20992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28469" y="2846970"/>
            <a:ext cx="1503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5: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652145" cy="5080"/>
            </a:xfrm>
            <a:custGeom>
              <a:avLst/>
              <a:gdLst/>
              <a:ahLst/>
              <a:cxnLst/>
              <a:rect l="l" t="t" r="r" b="b"/>
              <a:pathLst>
                <a:path w="652145" h="5080">
                  <a:moveTo>
                    <a:pt x="0" y="5060"/>
                  </a:moveTo>
                  <a:lnTo>
                    <a:pt x="0" y="0"/>
                  </a:lnTo>
                  <a:lnTo>
                    <a:pt x="652068" y="0"/>
                  </a:lnTo>
                  <a:lnTo>
                    <a:pt x="6520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Amazon</a:t>
            </a:r>
            <a:r>
              <a:rPr spc="20" dirty="0"/>
              <a:t> </a:t>
            </a:r>
            <a:r>
              <a:rPr dirty="0"/>
              <a:t>Web</a:t>
            </a:r>
            <a:r>
              <a:rPr spc="20" dirty="0"/>
              <a:t> </a:t>
            </a:r>
            <a:r>
              <a:rPr spc="-45" dirty="0"/>
              <a:t>Services:</a:t>
            </a:r>
            <a:r>
              <a:rPr spc="120" dirty="0"/>
              <a:t> </a:t>
            </a:r>
            <a:r>
              <a:rPr spc="-25" dirty="0"/>
              <a:t>EC2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33229"/>
            <a:ext cx="47631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(Elastic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540" y="880478"/>
            <a:ext cx="2998927" cy="14994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13914" y="2513912"/>
            <a:ext cx="932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761365" cy="5080"/>
            </a:xfrm>
            <a:custGeom>
              <a:avLst/>
              <a:gdLst/>
              <a:ahLst/>
              <a:cxnLst/>
              <a:rect l="l" t="t" r="r" b="b"/>
              <a:pathLst>
                <a:path w="761365" h="5080">
                  <a:moveTo>
                    <a:pt x="0" y="5060"/>
                  </a:moveTo>
                  <a:lnTo>
                    <a:pt x="0" y="0"/>
                  </a:lnTo>
                  <a:lnTo>
                    <a:pt x="760790" y="0"/>
                  </a:lnTo>
                  <a:lnTo>
                    <a:pt x="7607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35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Connecting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331470" cy="5080"/>
            </a:xfrm>
            <a:custGeom>
              <a:avLst/>
              <a:gdLst/>
              <a:ahLst/>
              <a:cxnLst/>
              <a:rect l="l" t="t" r="r" b="b"/>
              <a:pathLst>
                <a:path w="331469" h="5080">
                  <a:moveTo>
                    <a:pt x="0" y="5060"/>
                  </a:moveTo>
                  <a:lnTo>
                    <a:pt x="0" y="0"/>
                  </a:lnTo>
                  <a:lnTo>
                    <a:pt x="330891" y="0"/>
                  </a:lnTo>
                  <a:lnTo>
                    <a:pt x="3308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899866"/>
            <a:ext cx="500888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Terminal?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interface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commands.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Unlike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graphical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interfaces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(GUIs),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direct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5080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5080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  <a:p>
            <a:pPr marL="17780" marR="62230">
              <a:lnSpc>
                <a:spcPct val="116199"/>
              </a:lnSpc>
              <a:spcBef>
                <a:spcPts val="670"/>
              </a:spcBef>
            </a:pPr>
            <a:r>
              <a:rPr b="1" dirty="0">
                <a:latin typeface="Arial"/>
                <a:cs typeface="Arial"/>
              </a:rPr>
              <a:t>SSH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(Secure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Shell)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protocol</a:t>
            </a:r>
            <a:r>
              <a:rPr spc="15" dirty="0"/>
              <a:t> </a:t>
            </a:r>
            <a:r>
              <a:rPr dirty="0"/>
              <a:t>that</a:t>
            </a:r>
            <a:r>
              <a:rPr spc="15" dirty="0"/>
              <a:t> </a:t>
            </a:r>
            <a:r>
              <a:rPr spc="-25" dirty="0"/>
              <a:t>allows</a:t>
            </a:r>
            <a:r>
              <a:rPr spc="15" dirty="0"/>
              <a:t> </a:t>
            </a:r>
            <a:r>
              <a:rPr spc="-50" dirty="0"/>
              <a:t>secure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75" dirty="0"/>
              <a:t>access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machines</a:t>
            </a:r>
            <a:r>
              <a:rPr spc="15" dirty="0"/>
              <a:t> </a:t>
            </a:r>
            <a:r>
              <a:rPr spc="-10" dirty="0"/>
              <a:t>over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internet.</a:t>
            </a:r>
            <a:r>
              <a:rPr spc="105" dirty="0"/>
              <a:t> </a:t>
            </a:r>
            <a:r>
              <a:rPr spc="-25" dirty="0"/>
              <a:t>It </a:t>
            </a:r>
            <a:r>
              <a:rPr spc="-45" dirty="0"/>
              <a:t>enables</a:t>
            </a:r>
            <a:r>
              <a:rPr spc="15" dirty="0"/>
              <a:t> </a:t>
            </a:r>
            <a:r>
              <a:rPr spc="-50" dirty="0"/>
              <a:t>users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5" dirty="0"/>
              <a:t>execute</a:t>
            </a:r>
            <a:r>
              <a:rPr spc="15" dirty="0"/>
              <a:t> </a:t>
            </a:r>
            <a:r>
              <a:rPr spc="-40" dirty="0"/>
              <a:t>commands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45" dirty="0"/>
              <a:t>servers</a:t>
            </a:r>
            <a:r>
              <a:rPr spc="15" dirty="0"/>
              <a:t> </a:t>
            </a:r>
            <a:r>
              <a:rPr spc="-45" dirty="0"/>
              <a:t>as</a:t>
            </a:r>
            <a:r>
              <a:rPr spc="15" dirty="0"/>
              <a:t> </a:t>
            </a:r>
            <a:r>
              <a:rPr dirty="0"/>
              <a:t>if</a:t>
            </a:r>
            <a:r>
              <a:rPr spc="15" dirty="0"/>
              <a:t> </a:t>
            </a:r>
            <a:r>
              <a:rPr dirty="0"/>
              <a:t>they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15" dirty="0"/>
              <a:t> </a:t>
            </a:r>
            <a:r>
              <a:rPr spc="-20" dirty="0"/>
              <a:t>physically</a:t>
            </a:r>
            <a:r>
              <a:rPr spc="20" dirty="0"/>
              <a:t> </a:t>
            </a:r>
            <a:r>
              <a:rPr spc="-10" dirty="0"/>
              <a:t>present.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remote</a:t>
            </a:r>
            <a:r>
              <a:rPr spc="25" dirty="0"/>
              <a:t> </a:t>
            </a:r>
            <a:r>
              <a:rPr spc="-10" dirty="0"/>
              <a:t>terminal</a:t>
            </a:r>
            <a:r>
              <a:rPr spc="25" dirty="0"/>
              <a:t> </a:t>
            </a:r>
            <a:r>
              <a:rPr spc="-25" dirty="0"/>
              <a:t>through</a:t>
            </a:r>
            <a:r>
              <a:rPr spc="25" dirty="0"/>
              <a:t> </a:t>
            </a:r>
            <a:r>
              <a:rPr spc="-25" dirty="0"/>
              <a:t>SSH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116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Terminal?</a:t>
            </a:r>
          </a:p>
          <a:p>
            <a:pPr marL="17780" marR="65405" indent="-4445">
              <a:lnSpc>
                <a:spcPct val="116199"/>
              </a:lnSpc>
              <a:spcBef>
                <a:spcPts val="670"/>
              </a:spcBef>
            </a:pPr>
            <a:r>
              <a:rPr dirty="0"/>
              <a:t>A</a:t>
            </a:r>
            <a:r>
              <a:rPr spc="20" dirty="0"/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dirty="0"/>
              <a:t>an</a:t>
            </a:r>
            <a:r>
              <a:rPr spc="20" dirty="0"/>
              <a:t> </a:t>
            </a:r>
            <a:r>
              <a:rPr spc="-10" dirty="0"/>
              <a:t>interface</a:t>
            </a:r>
            <a:r>
              <a:rPr spc="25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spc="-25" dirty="0"/>
              <a:t>allows</a:t>
            </a:r>
            <a:r>
              <a:rPr spc="25" dirty="0"/>
              <a:t> </a:t>
            </a:r>
            <a:r>
              <a:rPr spc="-50" dirty="0"/>
              <a:t>users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interact</a:t>
            </a:r>
            <a:r>
              <a:rPr spc="25" dirty="0"/>
              <a:t> </a:t>
            </a:r>
            <a:r>
              <a:rPr dirty="0"/>
              <a:t>with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10" dirty="0"/>
              <a:t>computer</a:t>
            </a:r>
            <a:r>
              <a:rPr spc="25" dirty="0"/>
              <a:t> </a:t>
            </a:r>
            <a:r>
              <a:rPr spc="-20" dirty="0"/>
              <a:t>using</a:t>
            </a:r>
            <a:r>
              <a:rPr spc="25" dirty="0"/>
              <a:t> </a:t>
            </a:r>
            <a:r>
              <a:rPr dirty="0"/>
              <a:t>text</a:t>
            </a:r>
            <a:r>
              <a:rPr spc="25" dirty="0"/>
              <a:t> </a:t>
            </a:r>
            <a:r>
              <a:rPr spc="-30" dirty="0"/>
              <a:t>commands.</a:t>
            </a:r>
            <a:r>
              <a:rPr spc="110" dirty="0"/>
              <a:t> </a:t>
            </a:r>
            <a:r>
              <a:rPr spc="-10" dirty="0"/>
              <a:t>Unlike </a:t>
            </a:r>
            <a:r>
              <a:rPr spc="-20" dirty="0"/>
              <a:t>graphical</a:t>
            </a:r>
            <a:r>
              <a:rPr spc="10" dirty="0"/>
              <a:t> </a:t>
            </a:r>
            <a:r>
              <a:rPr spc="-35" dirty="0"/>
              <a:t>user</a:t>
            </a:r>
            <a:r>
              <a:rPr spc="10" dirty="0"/>
              <a:t> </a:t>
            </a:r>
            <a:r>
              <a:rPr spc="-25" dirty="0"/>
              <a:t>interfaces</a:t>
            </a:r>
            <a:r>
              <a:rPr spc="15" dirty="0"/>
              <a:t> </a:t>
            </a:r>
            <a:r>
              <a:rPr dirty="0"/>
              <a:t>(GUIs),</a:t>
            </a:r>
            <a:r>
              <a:rPr spc="10" dirty="0"/>
              <a:t> </a:t>
            </a:r>
            <a:r>
              <a:rPr spc="-10" dirty="0"/>
              <a:t>terminals</a:t>
            </a:r>
            <a:r>
              <a:rPr spc="15" dirty="0"/>
              <a:t> </a:t>
            </a:r>
            <a:r>
              <a:rPr spc="-10" dirty="0"/>
              <a:t>allow</a:t>
            </a:r>
            <a:r>
              <a:rPr spc="10" dirty="0"/>
              <a:t> </a:t>
            </a:r>
            <a:r>
              <a:rPr dirty="0"/>
              <a:t>direct</a:t>
            </a:r>
            <a:r>
              <a:rPr spc="15" dirty="0"/>
              <a:t> </a:t>
            </a:r>
            <a:r>
              <a:rPr spc="-20" dirty="0"/>
              <a:t>communication</a:t>
            </a:r>
            <a:r>
              <a:rPr spc="10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operating</a:t>
            </a:r>
            <a:r>
              <a:rPr spc="15" dirty="0"/>
              <a:t> </a:t>
            </a:r>
            <a:r>
              <a:rPr spc="-10" dirty="0"/>
              <a:t>system.</a:t>
            </a:r>
          </a:p>
          <a:p>
            <a:pPr marL="17780">
              <a:lnSpc>
                <a:spcPct val="100000"/>
              </a:lnSpc>
              <a:spcBef>
                <a:spcPts val="855"/>
              </a:spcBef>
            </a:pPr>
            <a:r>
              <a:rPr b="1" dirty="0">
                <a:latin typeface="Arial"/>
                <a:cs typeface="Arial"/>
              </a:rPr>
              <a:t>What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is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SSH?</a:t>
            </a:r>
          </a:p>
          <a:p>
            <a:pPr marL="17780" marR="122555">
              <a:lnSpc>
                <a:spcPct val="116199"/>
              </a:lnSpc>
              <a:spcBef>
                <a:spcPts val="670"/>
              </a:spcBef>
            </a:pPr>
            <a:r>
              <a:rPr b="1" dirty="0">
                <a:latin typeface="Arial"/>
                <a:cs typeface="Arial"/>
              </a:rPr>
              <a:t>SSH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(Secure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Shell)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protocol</a:t>
            </a:r>
            <a:r>
              <a:rPr spc="15" dirty="0"/>
              <a:t> </a:t>
            </a:r>
            <a:r>
              <a:rPr dirty="0"/>
              <a:t>that</a:t>
            </a:r>
            <a:r>
              <a:rPr spc="15" dirty="0"/>
              <a:t> </a:t>
            </a:r>
            <a:r>
              <a:rPr spc="-25" dirty="0"/>
              <a:t>allows</a:t>
            </a:r>
            <a:r>
              <a:rPr spc="15" dirty="0"/>
              <a:t> </a:t>
            </a:r>
            <a:r>
              <a:rPr spc="-50" dirty="0"/>
              <a:t>secure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75" dirty="0"/>
              <a:t>access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machines</a:t>
            </a:r>
            <a:r>
              <a:rPr spc="15" dirty="0"/>
              <a:t> </a:t>
            </a:r>
            <a:r>
              <a:rPr spc="-10" dirty="0"/>
              <a:t>over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internet.</a:t>
            </a:r>
            <a:r>
              <a:rPr spc="105" dirty="0"/>
              <a:t> </a:t>
            </a:r>
            <a:r>
              <a:rPr spc="-25" dirty="0"/>
              <a:t>It </a:t>
            </a:r>
            <a:r>
              <a:rPr spc="-45" dirty="0"/>
              <a:t>enables</a:t>
            </a:r>
            <a:r>
              <a:rPr spc="15" dirty="0"/>
              <a:t> </a:t>
            </a:r>
            <a:r>
              <a:rPr spc="-50" dirty="0"/>
              <a:t>users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35" dirty="0"/>
              <a:t>execute</a:t>
            </a:r>
            <a:r>
              <a:rPr spc="15" dirty="0"/>
              <a:t> </a:t>
            </a:r>
            <a:r>
              <a:rPr spc="-40" dirty="0"/>
              <a:t>commands</a:t>
            </a:r>
            <a:r>
              <a:rPr spc="15" dirty="0"/>
              <a:t> </a:t>
            </a:r>
            <a:r>
              <a:rPr dirty="0"/>
              <a:t>on</a:t>
            </a:r>
            <a:r>
              <a:rPr spc="15" dirty="0"/>
              <a:t> </a:t>
            </a:r>
            <a:r>
              <a:rPr spc="-20" dirty="0"/>
              <a:t>remote</a:t>
            </a:r>
            <a:r>
              <a:rPr spc="20" dirty="0"/>
              <a:t> </a:t>
            </a:r>
            <a:r>
              <a:rPr spc="-45" dirty="0"/>
              <a:t>servers</a:t>
            </a:r>
            <a:r>
              <a:rPr spc="15" dirty="0"/>
              <a:t> </a:t>
            </a:r>
            <a:r>
              <a:rPr spc="-45" dirty="0"/>
              <a:t>as</a:t>
            </a:r>
            <a:r>
              <a:rPr spc="15" dirty="0"/>
              <a:t> </a:t>
            </a:r>
            <a:r>
              <a:rPr dirty="0"/>
              <a:t>if</a:t>
            </a:r>
            <a:r>
              <a:rPr spc="15" dirty="0"/>
              <a:t> </a:t>
            </a:r>
            <a:r>
              <a:rPr dirty="0"/>
              <a:t>they</a:t>
            </a:r>
            <a:r>
              <a:rPr spc="15" dirty="0"/>
              <a:t> </a:t>
            </a:r>
            <a:r>
              <a:rPr spc="-45" dirty="0"/>
              <a:t>were</a:t>
            </a:r>
            <a:r>
              <a:rPr spc="15" dirty="0"/>
              <a:t> </a:t>
            </a:r>
            <a:r>
              <a:rPr spc="-20" dirty="0"/>
              <a:t>physically</a:t>
            </a:r>
            <a:r>
              <a:rPr spc="20" dirty="0"/>
              <a:t> </a:t>
            </a:r>
            <a:r>
              <a:rPr spc="-10" dirty="0"/>
              <a:t>present.</a:t>
            </a:r>
          </a:p>
          <a:p>
            <a:pPr marL="17780" marR="5080" indent="-5715">
              <a:lnSpc>
                <a:spcPct val="116199"/>
              </a:lnSpc>
              <a:spcBef>
                <a:spcPts val="450"/>
              </a:spcBef>
            </a:pPr>
            <a:r>
              <a:rPr spc="-10" dirty="0"/>
              <a:t>When </a:t>
            </a:r>
            <a:r>
              <a:rPr spc="-40" dirty="0"/>
              <a:t>we</a:t>
            </a:r>
            <a:r>
              <a:rPr spc="-5" dirty="0"/>
              <a:t> </a:t>
            </a:r>
            <a:r>
              <a:rPr spc="-20" dirty="0"/>
              <a:t>connect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0" dirty="0"/>
              <a:t>remote</a:t>
            </a:r>
            <a:r>
              <a:rPr spc="-5" dirty="0"/>
              <a:t> </a:t>
            </a:r>
            <a:r>
              <a:rPr spc="-25" dirty="0"/>
              <a:t>machine</a:t>
            </a:r>
            <a:r>
              <a:rPr spc="-5" dirty="0"/>
              <a:t> </a:t>
            </a:r>
            <a:r>
              <a:rPr dirty="0"/>
              <a:t>through</a:t>
            </a:r>
            <a:r>
              <a:rPr spc="-5" dirty="0"/>
              <a:t> </a:t>
            </a:r>
            <a:r>
              <a:rPr spc="-25" dirty="0"/>
              <a:t>SSH,</a:t>
            </a:r>
            <a:r>
              <a:rPr spc="-5" dirty="0"/>
              <a:t> </a:t>
            </a:r>
            <a:r>
              <a:rPr spc="-40" dirty="0"/>
              <a:t>we</a:t>
            </a:r>
            <a:r>
              <a:rPr spc="-5" dirty="0"/>
              <a:t> </a:t>
            </a:r>
            <a:r>
              <a:rPr spc="-30" dirty="0"/>
              <a:t>are</a:t>
            </a:r>
            <a:r>
              <a:rPr spc="-5" dirty="0"/>
              <a:t> </a:t>
            </a:r>
            <a:r>
              <a:rPr spc="-30" dirty="0"/>
              <a:t>essentially</a:t>
            </a:r>
            <a:r>
              <a:rPr spc="-5" dirty="0"/>
              <a:t> </a:t>
            </a:r>
            <a:r>
              <a:rPr spc="-25" dirty="0"/>
              <a:t>opening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b="1" spc="-10" dirty="0">
                <a:latin typeface="Arial"/>
                <a:cs typeface="Arial"/>
              </a:rPr>
              <a:t>remote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terminal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spc="-25" dirty="0"/>
              <a:t>on </a:t>
            </a:r>
            <a:r>
              <a:rPr dirty="0"/>
              <a:t>that</a:t>
            </a:r>
            <a:r>
              <a:rPr spc="120" dirty="0"/>
              <a:t> </a:t>
            </a:r>
            <a:r>
              <a:rPr spc="-10" dirty="0"/>
              <a:t>machine.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869950" cy="5080"/>
            </a:xfrm>
            <a:custGeom>
              <a:avLst/>
              <a:gdLst/>
              <a:ahLst/>
              <a:cxnLst/>
              <a:rect l="l" t="t" r="r" b="b"/>
              <a:pathLst>
                <a:path w="869950" h="5080">
                  <a:moveTo>
                    <a:pt x="0" y="5060"/>
                  </a:moveTo>
                  <a:lnTo>
                    <a:pt x="0" y="0"/>
                  </a:lnTo>
                  <a:lnTo>
                    <a:pt x="869424" y="0"/>
                  </a:lnTo>
                  <a:lnTo>
                    <a:pt x="8694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846814"/>
            <a:ext cx="506793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establish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connection.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eliminates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password-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authentication,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46814"/>
            <a:ext cx="5067935" cy="98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establish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connection.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eliminates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password-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authentication,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Keys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kept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secret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2788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45" dirty="0"/>
              <a:t>does</a:t>
            </a:r>
            <a:r>
              <a:rPr spc="10" dirty="0"/>
              <a:t> </a:t>
            </a:r>
            <a:r>
              <a:rPr dirty="0"/>
              <a:t>SSH</a:t>
            </a:r>
            <a:r>
              <a:rPr spc="15" dirty="0"/>
              <a:t> </a:t>
            </a:r>
            <a:r>
              <a:rPr spc="-45" dirty="0"/>
              <a:t>work?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>
              <a:lnSpc>
                <a:spcPct val="116199"/>
              </a:lnSpc>
              <a:spcBef>
                <a:spcPts val="100"/>
              </a:spcBef>
            </a:pPr>
            <a:r>
              <a:rPr spc="-45" dirty="0"/>
              <a:t>SSH</a:t>
            </a:r>
            <a:r>
              <a:rPr spc="5" dirty="0"/>
              <a:t> </a:t>
            </a:r>
            <a:r>
              <a:rPr spc="-30" dirty="0"/>
              <a:t>works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b="1" spc="-35" dirty="0">
                <a:latin typeface="Arial"/>
                <a:cs typeface="Arial"/>
              </a:rPr>
              <a:t>public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private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60" dirty="0">
                <a:latin typeface="Arial"/>
                <a:cs typeface="Arial"/>
              </a:rPr>
              <a:t>keys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25" dirty="0"/>
              <a:t>establish</a:t>
            </a:r>
            <a:r>
              <a:rPr spc="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50" dirty="0"/>
              <a:t>secure</a:t>
            </a:r>
            <a:r>
              <a:rPr spc="5" dirty="0"/>
              <a:t> </a:t>
            </a:r>
            <a:r>
              <a:rPr spc="-10" dirty="0"/>
              <a:t>connection.</a:t>
            </a:r>
            <a:r>
              <a:rPr spc="95" dirty="0"/>
              <a:t> </a:t>
            </a:r>
            <a:r>
              <a:rPr dirty="0"/>
              <a:t>This</a:t>
            </a:r>
            <a:r>
              <a:rPr spc="5" dirty="0"/>
              <a:t> </a:t>
            </a:r>
            <a:r>
              <a:rPr spc="-20" dirty="0"/>
              <a:t>eliminates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50" dirty="0"/>
              <a:t>need</a:t>
            </a:r>
            <a:r>
              <a:rPr spc="5" dirty="0"/>
              <a:t> </a:t>
            </a:r>
            <a:r>
              <a:rPr spc="-25" dirty="0"/>
              <a:t>for </a:t>
            </a:r>
            <a:r>
              <a:rPr spc="-65" dirty="0"/>
              <a:t>password-</a:t>
            </a:r>
            <a:r>
              <a:rPr spc="-30" dirty="0"/>
              <a:t>based</a:t>
            </a:r>
            <a:r>
              <a:rPr spc="60" dirty="0"/>
              <a:t> </a:t>
            </a:r>
            <a:r>
              <a:rPr spc="-10" dirty="0"/>
              <a:t>authentication,</a:t>
            </a:r>
            <a:r>
              <a:rPr spc="65" dirty="0"/>
              <a:t> </a:t>
            </a:r>
            <a:r>
              <a:rPr spc="-35" dirty="0"/>
              <a:t>enhancing</a:t>
            </a:r>
            <a:r>
              <a:rPr spc="65" dirty="0"/>
              <a:t> </a:t>
            </a:r>
            <a:r>
              <a:rPr spc="-10" dirty="0"/>
              <a:t>security.</a:t>
            </a:r>
          </a:p>
          <a:p>
            <a:pPr marL="17780">
              <a:lnSpc>
                <a:spcPct val="100000"/>
              </a:lnSpc>
              <a:spcBef>
                <a:spcPts val="770"/>
              </a:spcBef>
            </a:pPr>
            <a:r>
              <a:rPr b="1" spc="-20" dirty="0">
                <a:latin typeface="Arial"/>
                <a:cs typeface="Arial"/>
              </a:rPr>
              <a:t>Public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and </a:t>
            </a:r>
            <a:r>
              <a:rPr b="1" dirty="0">
                <a:latin typeface="Arial"/>
                <a:cs typeface="Arial"/>
              </a:rPr>
              <a:t>Private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Keys</a:t>
            </a:r>
          </a:p>
          <a:p>
            <a:pPr marL="245110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5110" algn="l"/>
              </a:tabLst>
            </a:pPr>
            <a:r>
              <a:rPr b="1" spc="-20" dirty="0">
                <a:latin typeface="Arial"/>
                <a:cs typeface="Arial"/>
              </a:rPr>
              <a:t>Public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key</a:t>
            </a:r>
            <a:r>
              <a:rPr spc="-10" dirty="0"/>
              <a:t>:</a:t>
            </a:r>
            <a:r>
              <a:rPr spc="95" dirty="0"/>
              <a:t> </a:t>
            </a:r>
            <a:r>
              <a:rPr spc="-10" dirty="0"/>
              <a:t>We</a:t>
            </a:r>
            <a:r>
              <a:rPr spc="15" dirty="0"/>
              <a:t> </a:t>
            </a:r>
            <a:r>
              <a:rPr spc="-30" dirty="0"/>
              <a:t>are</a:t>
            </a:r>
            <a:r>
              <a:rPr spc="15" dirty="0"/>
              <a:t> </a:t>
            </a:r>
            <a:r>
              <a:rPr spc="-10" dirty="0"/>
              <a:t>going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55" dirty="0"/>
              <a:t>share</a:t>
            </a:r>
            <a:r>
              <a:rPr spc="10" dirty="0"/>
              <a:t> </a:t>
            </a:r>
            <a:r>
              <a:rPr dirty="0"/>
              <a:t>this</a:t>
            </a:r>
            <a:r>
              <a:rPr spc="15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server.</a:t>
            </a: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5110" algn="l"/>
              </a:tabLst>
            </a:pPr>
            <a:r>
              <a:rPr b="1" dirty="0">
                <a:latin typeface="Arial"/>
                <a:cs typeface="Arial"/>
              </a:rPr>
              <a:t>Private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key</a:t>
            </a:r>
            <a:r>
              <a:rPr spc="-10" dirty="0"/>
              <a:t>:</a:t>
            </a:r>
            <a:r>
              <a:rPr spc="60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spc="-25" dirty="0"/>
              <a:t>one</a:t>
            </a:r>
            <a:r>
              <a:rPr spc="-1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kept</a:t>
            </a:r>
            <a:r>
              <a:rPr spc="-15" dirty="0"/>
              <a:t> </a:t>
            </a:r>
            <a:r>
              <a:rPr spc="-25" dirty="0"/>
              <a:t>secret</a:t>
            </a:r>
            <a:r>
              <a:rPr spc="-1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our</a:t>
            </a:r>
            <a:r>
              <a:rPr spc="-15" dirty="0"/>
              <a:t> </a:t>
            </a:r>
            <a:r>
              <a:rPr dirty="0"/>
              <a:t>local</a:t>
            </a:r>
            <a:r>
              <a:rPr spc="-15" dirty="0"/>
              <a:t> </a:t>
            </a:r>
            <a:r>
              <a:rPr spc="-10" dirty="0"/>
              <a:t>machine.</a:t>
            </a:r>
          </a:p>
          <a:p>
            <a:pPr marL="17780">
              <a:lnSpc>
                <a:spcPct val="100000"/>
              </a:lnSpc>
              <a:spcBef>
                <a:spcPts val="1035"/>
              </a:spcBef>
            </a:pPr>
            <a:r>
              <a:rPr b="1" spc="-35" dirty="0">
                <a:latin typeface="Arial"/>
                <a:cs typeface="Arial"/>
              </a:rPr>
              <a:t>Key-</a:t>
            </a:r>
            <a:r>
              <a:rPr b="1" spc="-10" dirty="0">
                <a:latin typeface="Arial"/>
                <a:cs typeface="Arial"/>
              </a:rPr>
              <a:t>Based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Authentication</a:t>
            </a:r>
          </a:p>
          <a:p>
            <a:pPr marL="17780" marR="385445" indent="-5715">
              <a:lnSpc>
                <a:spcPct val="116199"/>
              </a:lnSpc>
              <a:spcBef>
                <a:spcPts val="670"/>
              </a:spcBef>
            </a:pPr>
            <a:r>
              <a:rPr spc="-10" dirty="0"/>
              <a:t>When</a:t>
            </a:r>
            <a:r>
              <a:rPr spc="5" dirty="0"/>
              <a:t> </a:t>
            </a:r>
            <a:r>
              <a:rPr spc="-40" dirty="0"/>
              <a:t>we</a:t>
            </a:r>
            <a:r>
              <a:rPr spc="5" dirty="0"/>
              <a:t> </a:t>
            </a:r>
            <a:r>
              <a:rPr spc="-20" dirty="0"/>
              <a:t>connect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35" dirty="0"/>
              <a:t>server</a:t>
            </a:r>
            <a:r>
              <a:rPr spc="5" dirty="0"/>
              <a:t> </a:t>
            </a:r>
            <a:r>
              <a:rPr spc="-20" dirty="0"/>
              <a:t>using</a:t>
            </a:r>
            <a:r>
              <a:rPr spc="5" dirty="0"/>
              <a:t> </a:t>
            </a:r>
            <a:r>
              <a:rPr spc="-25" dirty="0"/>
              <a:t>SSH,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35" dirty="0"/>
              <a:t>server</a:t>
            </a:r>
            <a:r>
              <a:rPr spc="5" dirty="0"/>
              <a:t> </a:t>
            </a:r>
            <a:r>
              <a:rPr dirty="0"/>
              <a:t>(the</a:t>
            </a:r>
            <a:r>
              <a:rPr spc="5" dirty="0"/>
              <a:t> </a:t>
            </a:r>
            <a:r>
              <a:rPr spc="-25" dirty="0"/>
              <a:t>EC2</a:t>
            </a:r>
            <a:r>
              <a:rPr spc="5" dirty="0"/>
              <a:t> </a:t>
            </a:r>
            <a:r>
              <a:rPr spc="-10" dirty="0"/>
              <a:t>machine)</a:t>
            </a:r>
            <a:r>
              <a:rPr spc="5" dirty="0"/>
              <a:t> </a:t>
            </a:r>
            <a:r>
              <a:rPr spc="-40" dirty="0"/>
              <a:t>checks</a:t>
            </a:r>
            <a:r>
              <a:rPr spc="5" dirty="0"/>
              <a:t> </a:t>
            </a:r>
            <a:r>
              <a:rPr dirty="0"/>
              <a:t>if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public</a:t>
            </a:r>
            <a:r>
              <a:rPr spc="5" dirty="0"/>
              <a:t> </a:t>
            </a:r>
            <a:r>
              <a:rPr spc="-25" dirty="0"/>
              <a:t>key </a:t>
            </a:r>
            <a:r>
              <a:rPr spc="-30" dirty="0"/>
              <a:t>matches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private</a:t>
            </a:r>
            <a:r>
              <a:rPr spc="10" dirty="0"/>
              <a:t> </a:t>
            </a:r>
            <a:r>
              <a:rPr spc="-30" dirty="0"/>
              <a:t>key.</a:t>
            </a:r>
            <a:r>
              <a:rPr spc="95" dirty="0"/>
              <a:t> </a:t>
            </a:r>
            <a:r>
              <a:rPr dirty="0"/>
              <a:t>If</a:t>
            </a:r>
            <a:r>
              <a:rPr spc="10" dirty="0"/>
              <a:t> </a:t>
            </a:r>
            <a:r>
              <a:rPr dirty="0"/>
              <a:t>they</a:t>
            </a:r>
            <a:r>
              <a:rPr spc="10" dirty="0"/>
              <a:t> </a:t>
            </a:r>
            <a:r>
              <a:rPr dirty="0"/>
              <a:t>match,</a:t>
            </a:r>
            <a:r>
              <a:rPr spc="10" dirty="0"/>
              <a:t> </a:t>
            </a:r>
            <a:r>
              <a:rPr spc="-75" dirty="0"/>
              <a:t>access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10" dirty="0"/>
              <a:t>granted.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8535" cy="5080"/>
            </a:xfrm>
            <a:custGeom>
              <a:avLst/>
              <a:gdLst/>
              <a:ahLst/>
              <a:cxnLst/>
              <a:rect l="l" t="t" r="r" b="b"/>
              <a:pathLst>
                <a:path w="978535" h="5080">
                  <a:moveTo>
                    <a:pt x="0" y="5060"/>
                  </a:moveTo>
                  <a:lnTo>
                    <a:pt x="0" y="0"/>
                  </a:lnTo>
                  <a:lnTo>
                    <a:pt x="978147" y="0"/>
                  </a:lnTo>
                  <a:lnTo>
                    <a:pt x="978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35" dirty="0"/>
              <a:t>you</a:t>
            </a:r>
            <a:r>
              <a:rPr spc="-5" dirty="0"/>
              <a:t> </a:t>
            </a:r>
            <a:r>
              <a:rPr spc="-10" dirty="0"/>
              <a:t>mean</a:t>
            </a:r>
            <a:r>
              <a:rPr dirty="0"/>
              <a:t> </a:t>
            </a:r>
            <a:r>
              <a:rPr spc="-10" dirty="0"/>
              <a:t>by</a:t>
            </a:r>
            <a:r>
              <a:rPr spc="-5" dirty="0"/>
              <a:t> </a:t>
            </a:r>
            <a:r>
              <a:rPr spc="-10" dirty="0"/>
              <a:t>client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40" dirty="0"/>
              <a:t>server?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51809"/>
            <a:ext cx="4371975" cy="782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describes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87120" cy="5080"/>
            </a:xfrm>
            <a:custGeom>
              <a:avLst/>
              <a:gdLst/>
              <a:ahLst/>
              <a:cxnLst/>
              <a:rect l="l" t="t" r="r" b="b"/>
              <a:pathLst>
                <a:path w="1087120" h="5080">
                  <a:moveTo>
                    <a:pt x="0" y="5060"/>
                  </a:moveTo>
                  <a:lnTo>
                    <a:pt x="0" y="0"/>
                  </a:lnTo>
                  <a:lnTo>
                    <a:pt x="1086781" y="0"/>
                  </a:lnTo>
                  <a:lnTo>
                    <a:pt x="1086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do</a:t>
            </a:r>
            <a:r>
              <a:rPr spc="-5" dirty="0"/>
              <a:t> </a:t>
            </a:r>
            <a:r>
              <a:rPr spc="-35" dirty="0"/>
              <a:t>you</a:t>
            </a:r>
            <a:r>
              <a:rPr spc="-5" dirty="0"/>
              <a:t> </a:t>
            </a:r>
            <a:r>
              <a:rPr spc="-10" dirty="0"/>
              <a:t>mean</a:t>
            </a:r>
            <a:r>
              <a:rPr dirty="0"/>
              <a:t> </a:t>
            </a:r>
            <a:r>
              <a:rPr spc="-10" dirty="0"/>
              <a:t>by</a:t>
            </a:r>
            <a:r>
              <a:rPr spc="-5" dirty="0"/>
              <a:t> </a:t>
            </a:r>
            <a:r>
              <a:rPr spc="-10" dirty="0"/>
              <a:t>client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spc="-5" dirty="0"/>
              <a:t> </a:t>
            </a:r>
            <a:r>
              <a:rPr spc="-40" dirty="0"/>
              <a:t>server?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951809"/>
            <a:ext cx="4915535" cy="146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44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describes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sz="900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things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machine)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9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Watching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endParaRPr sz="900">
              <a:latin typeface="Arial"/>
              <a:cs typeface="Arial"/>
            </a:endParaRPr>
          </a:p>
          <a:p>
            <a:pPr marL="13335" marR="5080" indent="-1270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watch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YouTube’s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server)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stream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video.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87120" cy="5080"/>
            </a:xfrm>
            <a:custGeom>
              <a:avLst/>
              <a:gdLst/>
              <a:ahLst/>
              <a:cxnLst/>
              <a:rect l="l" t="t" r="r" b="b"/>
              <a:pathLst>
                <a:path w="1087120" h="5080">
                  <a:moveTo>
                    <a:pt x="0" y="5060"/>
                  </a:moveTo>
                  <a:lnTo>
                    <a:pt x="0" y="0"/>
                  </a:lnTo>
                  <a:lnTo>
                    <a:pt x="1086781" y="0"/>
                  </a:lnTo>
                  <a:lnTo>
                    <a:pt x="1086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380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client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server?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66188"/>
            <a:ext cx="5040019" cy="1420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6191" y="2420174"/>
            <a:ext cx="23882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model when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watching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195705" cy="5080"/>
            </a:xfrm>
            <a:custGeom>
              <a:avLst/>
              <a:gdLst/>
              <a:ahLst/>
              <a:cxnLst/>
              <a:rect l="l" t="t" r="r" b="b"/>
              <a:pathLst>
                <a:path w="1195705" h="5080">
                  <a:moveTo>
                    <a:pt x="0" y="5060"/>
                  </a:moveTo>
                  <a:lnTo>
                    <a:pt x="0" y="0"/>
                  </a:lnTo>
                  <a:lnTo>
                    <a:pt x="1195503" y="0"/>
                  </a:lnTo>
                  <a:lnTo>
                    <a:pt x="11955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380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client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server?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541" y="596950"/>
            <a:ext cx="3182925" cy="17991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27339" y="2530092"/>
            <a:ext cx="23056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Client-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server model when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sending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emails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304290" cy="5080"/>
            </a:xfrm>
            <a:custGeom>
              <a:avLst/>
              <a:gdLst/>
              <a:ahLst/>
              <a:cxnLst/>
              <a:rect l="l" t="t" r="r" b="b"/>
              <a:pathLst>
                <a:path w="1304290" h="5080">
                  <a:moveTo>
                    <a:pt x="0" y="5060"/>
                  </a:moveTo>
                  <a:lnTo>
                    <a:pt x="0" y="0"/>
                  </a:lnTo>
                  <a:lnTo>
                    <a:pt x="1304137" y="0"/>
                  </a:lnTo>
                  <a:lnTo>
                    <a:pt x="13041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03"/>
            <a:ext cx="194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Why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do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6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need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i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open</a:t>
            </a:r>
            <a:r>
              <a:rPr sz="1100" b="1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i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ports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993"/>
            <a:ext cx="2505710" cy="5080"/>
            <a:chOff x="1627403" y="1646993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99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993"/>
              <a:ext cx="567690" cy="5080"/>
            </a:xfrm>
            <a:custGeom>
              <a:avLst/>
              <a:gdLst/>
              <a:ahLst/>
              <a:cxnLst/>
              <a:rect l="l" t="t" r="r" b="b"/>
              <a:pathLst>
                <a:path w="567689" h="5080">
                  <a:moveTo>
                    <a:pt x="0" y="5060"/>
                  </a:moveTo>
                  <a:lnTo>
                    <a:pt x="0" y="0"/>
                  </a:lnTo>
                  <a:lnTo>
                    <a:pt x="567210" y="0"/>
                  </a:lnTo>
                  <a:lnTo>
                    <a:pt x="5672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Ports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76219"/>
            <a:ext cx="3973829" cy="407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76219"/>
            <a:ext cx="3973829" cy="1158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57700"/>
              </a:lnSpc>
              <a:spcBef>
                <a:spcPts val="22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services.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(Remote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Login)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(Web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39395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(Secure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76219"/>
            <a:ext cx="3977640" cy="221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Ports?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57700"/>
              </a:lnSpc>
              <a:spcBef>
                <a:spcPts val="22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differentiate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types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services.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(Remote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Login)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(Web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(Secure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reception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(SSH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80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(HTTP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service).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443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lounge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(HTTPS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2875" cy="5080"/>
            </a:xfrm>
            <a:custGeom>
              <a:avLst/>
              <a:gdLst/>
              <a:ahLst/>
              <a:cxnLst/>
              <a:rect l="l" t="t" r="r" b="b"/>
              <a:pathLst>
                <a:path w="1412875" h="5080">
                  <a:moveTo>
                    <a:pt x="0" y="5060"/>
                  </a:moveTo>
                  <a:lnTo>
                    <a:pt x="0" y="0"/>
                  </a:lnTo>
                  <a:lnTo>
                    <a:pt x="1412859" y="0"/>
                  </a:lnTo>
                  <a:lnTo>
                    <a:pt x="1412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54527"/>
            <a:ext cx="4290695" cy="782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558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54527"/>
            <a:ext cx="4294505" cy="166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69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firewall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configure:</a:t>
            </a:r>
            <a:endParaRPr sz="900" dirty="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 dirty="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Outbound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60" dirty="0"/>
              <a:t>groups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2246" y="2696844"/>
            <a:ext cx="563880" cy="139700"/>
            <a:chOff x="1972246" y="2696844"/>
            <a:chExt cx="563880" cy="139700"/>
          </a:xfrm>
        </p:grpSpPr>
        <p:sp>
          <p:nvSpPr>
            <p:cNvPr id="4" name="object 4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72246" y="2696844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354527"/>
            <a:ext cx="4706620" cy="264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44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define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which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blocks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incoming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explicitly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certain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HTTP).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69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firewall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configure: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Outbound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93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9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Opening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(SSH)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endParaRPr sz="900">
              <a:latin typeface="Arial"/>
              <a:cs typeface="Arial"/>
            </a:endParaRPr>
          </a:p>
          <a:p>
            <a:pPr marL="243204" lvl="1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sz="9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22</a:t>
            </a:r>
            <a:endParaRPr sz="900">
              <a:latin typeface="Arial"/>
              <a:cs typeface="Arial"/>
            </a:endParaRPr>
          </a:p>
          <a:p>
            <a:pPr marL="243840" marR="5080" lvl="1" indent="-147955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sz="9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0.0.0.0/0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(not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recommended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reasons).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522095" cy="5080"/>
            </a:xfrm>
            <a:custGeom>
              <a:avLst/>
              <a:gdLst/>
              <a:ahLst/>
              <a:cxnLst/>
              <a:rect l="l" t="t" r="r" b="b"/>
              <a:pathLst>
                <a:path w="1522095" h="5080">
                  <a:moveTo>
                    <a:pt x="0" y="5060"/>
                  </a:moveTo>
                  <a:lnTo>
                    <a:pt x="0" y="0"/>
                  </a:lnTo>
                  <a:lnTo>
                    <a:pt x="1521493" y="0"/>
                  </a:lnTo>
                  <a:lnTo>
                    <a:pt x="15214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467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Today’s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on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662305" cy="5080"/>
            </a:xfrm>
            <a:custGeom>
              <a:avLst/>
              <a:gdLst/>
              <a:ahLst/>
              <a:cxnLst/>
              <a:rect l="l" t="t" r="r" b="b"/>
              <a:pathLst>
                <a:path w="662305" h="5080">
                  <a:moveTo>
                    <a:pt x="0" y="5060"/>
                  </a:moveTo>
                  <a:lnTo>
                    <a:pt x="0" y="0"/>
                  </a:lnTo>
                  <a:lnTo>
                    <a:pt x="661745" y="0"/>
                  </a:lnTo>
                  <a:lnTo>
                    <a:pt x="6617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7505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1441450" cy="40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Goals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000" b="1" spc="-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132250"/>
            <a:ext cx="1610995" cy="64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Goals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32250"/>
            <a:ext cx="173418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909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Goals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32250"/>
            <a:ext cx="3851910" cy="111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Today,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will: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EC2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30680" cy="5080"/>
            </a:xfrm>
            <a:custGeom>
              <a:avLst/>
              <a:gdLst/>
              <a:ahLst/>
              <a:cxnLst/>
              <a:rect l="l" t="t" r="r" b="b"/>
              <a:pathLst>
                <a:path w="1630680" h="5080">
                  <a:moveTo>
                    <a:pt x="0" y="5060"/>
                  </a:moveTo>
                  <a:lnTo>
                    <a:pt x="0" y="0"/>
                  </a:lnTo>
                  <a:lnTo>
                    <a:pt x="1630216" y="0"/>
                  </a:lnTo>
                  <a:lnTo>
                    <a:pt x="1630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10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Introduction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Academy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433" y="383365"/>
            <a:ext cx="493458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educators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limited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budget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restricted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79" y="807701"/>
            <a:ext cx="3598862" cy="17994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04199" y="2741115"/>
            <a:ext cx="1151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9: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739264" cy="5080"/>
            </a:xfrm>
            <a:custGeom>
              <a:avLst/>
              <a:gdLst/>
              <a:ahLst/>
              <a:cxnLst/>
              <a:rect l="l" t="t" r="r" b="b"/>
              <a:pathLst>
                <a:path w="1739264" h="5080">
                  <a:moveTo>
                    <a:pt x="0" y="5060"/>
                  </a:moveTo>
                  <a:lnTo>
                    <a:pt x="0" y="0"/>
                  </a:lnTo>
                  <a:lnTo>
                    <a:pt x="1738850" y="0"/>
                  </a:lnTo>
                  <a:lnTo>
                    <a:pt x="1738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4" y="297443"/>
            <a:ext cx="5687226" cy="26366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79052" y="3020336"/>
            <a:ext cx="1442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10:</a:t>
            </a:r>
            <a:r>
              <a:rPr sz="8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Accepting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invite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847850" cy="5080"/>
            </a:xfrm>
            <a:custGeom>
              <a:avLst/>
              <a:gdLst/>
              <a:ahLst/>
              <a:cxnLst/>
              <a:rect l="l" t="t" r="r" b="b"/>
              <a:pathLst>
                <a:path w="1847850" h="5080">
                  <a:moveTo>
                    <a:pt x="0" y="5060"/>
                  </a:moveTo>
                  <a:lnTo>
                    <a:pt x="0" y="0"/>
                  </a:lnTo>
                  <a:lnTo>
                    <a:pt x="1847572" y="0"/>
                  </a:lnTo>
                  <a:lnTo>
                    <a:pt x="18475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0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Activating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your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account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479425"/>
            <a:ext cx="3429000" cy="15419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11070" y="2155328"/>
            <a:ext cx="15379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11: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account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956435" cy="5080"/>
            </a:xfrm>
            <a:custGeom>
              <a:avLst/>
              <a:gdLst/>
              <a:ahLst/>
              <a:cxnLst/>
              <a:rect l="l" t="t" r="r" b="b"/>
              <a:pathLst>
                <a:path w="1956435" h="5080">
                  <a:moveTo>
                    <a:pt x="0" y="5060"/>
                  </a:moveTo>
                  <a:lnTo>
                    <a:pt x="0" y="0"/>
                  </a:lnTo>
                  <a:lnTo>
                    <a:pt x="1956206" y="0"/>
                  </a:lnTo>
                  <a:lnTo>
                    <a:pt x="19562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Logging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spc="-30" dirty="0"/>
              <a:t>now</a:t>
            </a:r>
            <a:r>
              <a:rPr spc="-10" dirty="0"/>
              <a:t> </a:t>
            </a:r>
            <a:r>
              <a:rPr spc="-2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3242"/>
            <a:ext cx="508381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https://awsacademy.instructure.com/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student.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9900" y="730602"/>
            <a:ext cx="2133600" cy="21694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00529" y="2917825"/>
            <a:ext cx="1758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12: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65020" cy="5080"/>
            </a:xfrm>
            <a:custGeom>
              <a:avLst/>
              <a:gdLst/>
              <a:ahLst/>
              <a:cxnLst/>
              <a:rect l="l" t="t" r="r" b="b"/>
              <a:pathLst>
                <a:path w="2065020" h="5080">
                  <a:moveTo>
                    <a:pt x="0" y="5060"/>
                  </a:moveTo>
                  <a:lnTo>
                    <a:pt x="0" y="0"/>
                  </a:lnTo>
                  <a:lnTo>
                    <a:pt x="2064928" y="0"/>
                  </a:lnTo>
                  <a:lnTo>
                    <a:pt x="20649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Logging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spc="-30" dirty="0"/>
              <a:t>now</a:t>
            </a:r>
            <a:r>
              <a:rPr spc="-10" dirty="0"/>
              <a:t> </a:t>
            </a:r>
            <a:r>
              <a:rPr spc="-2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85706"/>
            <a:ext cx="41821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receive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email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648266"/>
            <a:ext cx="4182110" cy="22416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4841" y="2917825"/>
            <a:ext cx="1557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13: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verification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4240" cy="5080"/>
            </a:xfrm>
            <a:custGeom>
              <a:avLst/>
              <a:gdLst/>
              <a:ahLst/>
              <a:cxnLst/>
              <a:rect l="l" t="t" r="r" b="b"/>
              <a:pathLst>
                <a:path w="2174240" h="5080">
                  <a:moveTo>
                    <a:pt x="0" y="5060"/>
                  </a:moveTo>
                  <a:lnTo>
                    <a:pt x="0" y="0"/>
                  </a:lnTo>
                  <a:lnTo>
                    <a:pt x="2173650" y="0"/>
                  </a:lnTo>
                  <a:lnTo>
                    <a:pt x="21736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30" dirty="0"/>
              <a:t> </a:t>
            </a:r>
            <a:r>
              <a:rPr spc="-65" dirty="0"/>
              <a:t>courses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2387067" cy="1517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lang="es-ES" sz="900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900" dirty="0">
              <a:latin typeface="Arial"/>
              <a:cs typeface="Arial"/>
            </a:endParaRPr>
          </a:p>
          <a:p>
            <a:pPr marL="324485" indent="-228600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Foundation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endParaRPr lang="es-ES" sz="900" spc="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800"/>
              </a:spcBef>
              <a:tabLst>
                <a:tab pos="239395" algn="l"/>
              </a:tabLst>
            </a:pPr>
            <a:r>
              <a:rPr lang="es-ES" sz="900" spc="5" dirty="0">
                <a:solidFill>
                  <a:srgbClr val="22373A"/>
                </a:solidFill>
                <a:latin typeface="Arial"/>
                <a:cs typeface="Arial"/>
              </a:rPr>
              <a:t>     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(Theory-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learning).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324485" indent="-228600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  <a:tabLst>
                <a:tab pos="239395" algn="l"/>
              </a:tabLst>
            </a:pPr>
            <a:endParaRPr sz="900" dirty="0">
              <a:latin typeface="Arial"/>
              <a:cs typeface="Arial"/>
            </a:endParaRP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s-ES" sz="900" spc="-25" dirty="0">
                <a:solidFill>
                  <a:srgbClr val="22373A"/>
                </a:solidFill>
                <a:latin typeface="Arial"/>
                <a:cs typeface="Arial"/>
              </a:rPr>
              <a:t>           2.   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endParaRPr lang="es-ES" sz="900" spc="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s-ES" sz="900" spc="-30" dirty="0">
                <a:solidFill>
                  <a:srgbClr val="22373A"/>
                </a:solidFill>
                <a:latin typeface="Arial"/>
                <a:cs typeface="Arial"/>
              </a:rPr>
              <a:t>	     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(Hands-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experience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endParaRPr lang="es-ES" sz="900" spc="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95885" lvl="2">
              <a:spcBef>
                <a:spcPts val="175"/>
              </a:spcBef>
              <a:tabLst>
                <a:tab pos="239395" algn="l"/>
              </a:tabLst>
            </a:pPr>
            <a:r>
              <a:rPr lang="es-ES" sz="900" spc="10" dirty="0">
                <a:solidFill>
                  <a:srgbClr val="22373A"/>
                </a:solidFill>
                <a:latin typeface="Arial"/>
                <a:cs typeface="Arial"/>
              </a:rPr>
              <a:t>            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services).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500" y="332104"/>
            <a:ext cx="2514600" cy="26157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7262" y="2950411"/>
            <a:ext cx="1305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14: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courses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282825" cy="5080"/>
            </a:xfrm>
            <a:custGeom>
              <a:avLst/>
              <a:gdLst/>
              <a:ahLst/>
              <a:cxnLst/>
              <a:rect l="l" t="t" r="r" b="b"/>
              <a:pathLst>
                <a:path w="2282825" h="5080">
                  <a:moveTo>
                    <a:pt x="0" y="5060"/>
                  </a:moveTo>
                  <a:lnTo>
                    <a:pt x="0" y="0"/>
                  </a:lnTo>
                  <a:lnTo>
                    <a:pt x="2282285" y="0"/>
                  </a:lnTo>
                  <a:lnTo>
                    <a:pt x="228228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94DB57A0-D61C-F006-F732-E3D21F3580C9}"/>
              </a:ext>
            </a:extLst>
          </p:cNvPr>
          <p:cNvSpPr/>
          <p:nvPr/>
        </p:nvSpPr>
        <p:spPr>
          <a:xfrm>
            <a:off x="63500" y="762499"/>
            <a:ext cx="304800" cy="175585"/>
          </a:xfrm>
          <a:prstGeom prst="rightArrow">
            <a:avLst>
              <a:gd name="adj1" fmla="val 50000"/>
              <a:gd name="adj2" fmla="val 46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3848A72E-B31A-BFC0-6DD4-3EBE22F7E4EE}"/>
              </a:ext>
            </a:extLst>
          </p:cNvPr>
          <p:cNvSpPr/>
          <p:nvPr/>
        </p:nvSpPr>
        <p:spPr>
          <a:xfrm>
            <a:off x="444500" y="1419862"/>
            <a:ext cx="228600" cy="118642"/>
          </a:xfrm>
          <a:prstGeom prst="rightArrow">
            <a:avLst>
              <a:gd name="adj1" fmla="val 50000"/>
              <a:gd name="adj2" fmla="val 46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5" dirty="0"/>
              <a:t> </a:t>
            </a:r>
            <a:r>
              <a:rPr spc="-55" dirty="0"/>
              <a:t>courses:</a:t>
            </a:r>
            <a:r>
              <a:rPr spc="105" dirty="0"/>
              <a:t> </a:t>
            </a:r>
            <a:r>
              <a:rPr dirty="0"/>
              <a:t>AWS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10" dirty="0"/>
              <a:t> </a:t>
            </a:r>
            <a:r>
              <a:rPr spc="-30" dirty="0"/>
              <a:t>Foundation</a:t>
            </a:r>
            <a:r>
              <a:rPr spc="5" dirty="0"/>
              <a:t> </a:t>
            </a:r>
            <a:r>
              <a:rPr spc="-35" dirty="0"/>
              <a:t>Course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1718" y="846814"/>
            <a:ext cx="5073650" cy="1519006"/>
          </a:xfrm>
          <a:prstGeom prst="rect">
            <a:avLst/>
          </a:prstGeom>
        </p:spPr>
        <p:txBody>
          <a:bodyPr vert="horz" wrap="square" lIns="0" tIns="315277" rIns="0" bIns="0" rtlCol="0">
            <a:spAutoFit/>
          </a:bodyPr>
          <a:lstStyle/>
          <a:p>
            <a:pPr marL="184785" marR="5080" indent="-171450">
              <a:lnSpc>
                <a:spcPct val="1161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/>
              <a:t>All the</a:t>
            </a:r>
            <a:r>
              <a:rPr spc="5" dirty="0"/>
              <a:t> </a:t>
            </a:r>
            <a:r>
              <a:rPr spc="-20" dirty="0"/>
              <a:t>students</a:t>
            </a:r>
            <a:r>
              <a:rPr spc="5" dirty="0"/>
              <a:t> </a:t>
            </a:r>
            <a:r>
              <a:rPr spc="-30" dirty="0"/>
              <a:t>are</a:t>
            </a:r>
            <a:r>
              <a:rPr spc="5" dirty="0"/>
              <a:t> </a:t>
            </a:r>
            <a:r>
              <a:rPr dirty="0"/>
              <a:t>invited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20" dirty="0"/>
              <a:t>complete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b="1" spc="-30" dirty="0">
                <a:solidFill>
                  <a:srgbClr val="0070C0"/>
                </a:solidFill>
              </a:rPr>
              <a:t>AWS</a:t>
            </a:r>
            <a:r>
              <a:rPr b="1" spc="5" dirty="0">
                <a:solidFill>
                  <a:srgbClr val="0070C0"/>
                </a:solidFill>
              </a:rPr>
              <a:t> </a:t>
            </a:r>
            <a:r>
              <a:rPr b="1" spc="-10" dirty="0">
                <a:solidFill>
                  <a:srgbClr val="0070C0"/>
                </a:solidFill>
              </a:rPr>
              <a:t>Cloud</a:t>
            </a:r>
            <a:r>
              <a:rPr b="1" spc="5" dirty="0">
                <a:solidFill>
                  <a:srgbClr val="0070C0"/>
                </a:solidFill>
              </a:rPr>
              <a:t> </a:t>
            </a:r>
            <a:r>
              <a:rPr b="1" spc="-25" dirty="0">
                <a:solidFill>
                  <a:srgbClr val="0070C0"/>
                </a:solidFill>
              </a:rPr>
              <a:t>Foundations</a:t>
            </a:r>
            <a:r>
              <a:rPr dirty="0"/>
              <a:t> </a:t>
            </a:r>
            <a:r>
              <a:rPr spc="-30" dirty="0"/>
              <a:t>course.</a:t>
            </a:r>
            <a:r>
              <a:rPr spc="95" dirty="0"/>
              <a:t> </a:t>
            </a:r>
            <a:r>
              <a:rPr dirty="0"/>
              <a:t>This</a:t>
            </a:r>
            <a:r>
              <a:rPr spc="5" dirty="0"/>
              <a:t> </a:t>
            </a:r>
            <a:r>
              <a:rPr spc="-40" dirty="0"/>
              <a:t>course</a:t>
            </a:r>
            <a:r>
              <a:rPr spc="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25" dirty="0"/>
              <a:t>available</a:t>
            </a:r>
            <a:r>
              <a:rPr spc="5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5" dirty="0"/>
              <a:t> </a:t>
            </a:r>
            <a:r>
              <a:rPr spc="-25" dirty="0"/>
              <a:t>AWS</a:t>
            </a:r>
            <a:r>
              <a:rPr spc="10" dirty="0"/>
              <a:t> </a:t>
            </a:r>
            <a:r>
              <a:rPr spc="-25" dirty="0"/>
              <a:t>Educate</a:t>
            </a:r>
            <a:r>
              <a:rPr spc="10" dirty="0"/>
              <a:t> </a:t>
            </a:r>
            <a:r>
              <a:rPr dirty="0"/>
              <a:t>platform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it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great</a:t>
            </a:r>
            <a:r>
              <a:rPr spc="5" dirty="0"/>
              <a:t> </a:t>
            </a:r>
            <a:r>
              <a:rPr dirty="0"/>
              <a:t>introduction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AWS</a:t>
            </a:r>
            <a:r>
              <a:rPr spc="10" dirty="0"/>
              <a:t> </a:t>
            </a:r>
            <a:r>
              <a:rPr spc="-40" dirty="0"/>
              <a:t>services.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course</a:t>
            </a:r>
            <a:r>
              <a:rPr spc="10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25" dirty="0">
                <a:solidFill>
                  <a:srgbClr val="0070C0"/>
                </a:solidFill>
              </a:rPr>
              <a:t>not mandatory</a:t>
            </a:r>
            <a:r>
              <a:rPr spc="-25" dirty="0"/>
              <a:t>,</a:t>
            </a:r>
            <a:r>
              <a:rPr spc="40" dirty="0"/>
              <a:t> </a:t>
            </a:r>
            <a:r>
              <a:rPr dirty="0"/>
              <a:t>but</a:t>
            </a:r>
            <a:r>
              <a:rPr spc="45" dirty="0"/>
              <a:t> </a:t>
            </a:r>
            <a:r>
              <a:rPr dirty="0"/>
              <a:t>it</a:t>
            </a:r>
            <a:r>
              <a:rPr spc="45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dirty="0"/>
              <a:t>highly</a:t>
            </a:r>
            <a:r>
              <a:rPr spc="45" dirty="0"/>
              <a:t> </a:t>
            </a:r>
            <a:r>
              <a:rPr spc="-10" dirty="0"/>
              <a:t>recommended.</a:t>
            </a:r>
            <a:endParaRPr lang="es-ES" spc="-10" dirty="0"/>
          </a:p>
          <a:p>
            <a:pPr marL="184785" marR="5080" indent="-171450">
              <a:lnSpc>
                <a:spcPct val="1161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pc="-10" dirty="0"/>
          </a:p>
          <a:p>
            <a:pPr marL="184785" marR="148590" indent="-171450">
              <a:lnSpc>
                <a:spcPct val="116199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dirty="0"/>
              <a:t>This introductory</a:t>
            </a:r>
            <a:r>
              <a:rPr spc="5" dirty="0"/>
              <a:t> </a:t>
            </a:r>
            <a:r>
              <a:rPr spc="-40" dirty="0"/>
              <a:t>course</a:t>
            </a:r>
            <a:r>
              <a:rPr spc="5" dirty="0"/>
              <a:t> </a:t>
            </a:r>
            <a:r>
              <a:rPr dirty="0"/>
              <a:t>is </a:t>
            </a:r>
            <a:r>
              <a:rPr spc="-20" dirty="0"/>
              <a:t>intended</a:t>
            </a:r>
            <a:r>
              <a:rPr spc="5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spc="-20" dirty="0"/>
              <a:t>students</a:t>
            </a:r>
            <a:r>
              <a:rPr spc="5" dirty="0"/>
              <a:t> </a:t>
            </a:r>
            <a:r>
              <a:rPr dirty="0"/>
              <a:t>who </a:t>
            </a:r>
            <a:r>
              <a:rPr spc="-60" dirty="0"/>
              <a:t>seek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spc="-10" dirty="0"/>
              <a:t>overall</a:t>
            </a:r>
            <a:r>
              <a:rPr dirty="0"/>
              <a:t> </a:t>
            </a:r>
            <a:r>
              <a:rPr spc="-25" dirty="0"/>
              <a:t>understanding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cloud computing</a:t>
            </a:r>
            <a:r>
              <a:rPr spc="15" dirty="0"/>
              <a:t> </a:t>
            </a:r>
            <a:r>
              <a:rPr spc="-25" dirty="0"/>
              <a:t>concepts,</a:t>
            </a:r>
            <a:r>
              <a:rPr spc="15" dirty="0"/>
              <a:t> </a:t>
            </a:r>
            <a:r>
              <a:rPr spc="-25" dirty="0"/>
              <a:t>independent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20" dirty="0"/>
              <a:t>specific</a:t>
            </a:r>
            <a:r>
              <a:rPr spc="15" dirty="0"/>
              <a:t> </a:t>
            </a:r>
            <a:r>
              <a:rPr spc="-10" dirty="0"/>
              <a:t>technical</a:t>
            </a:r>
            <a:r>
              <a:rPr spc="15" dirty="0"/>
              <a:t> </a:t>
            </a:r>
            <a:r>
              <a:rPr spc="-10" dirty="0"/>
              <a:t>roles.</a:t>
            </a:r>
            <a:r>
              <a:rPr spc="105" dirty="0"/>
              <a:t> </a:t>
            </a:r>
            <a:r>
              <a:rPr dirty="0"/>
              <a:t>It</a:t>
            </a:r>
            <a:r>
              <a:rPr spc="15" dirty="0"/>
              <a:t> </a:t>
            </a:r>
            <a:r>
              <a:rPr spc="-35" dirty="0"/>
              <a:t>provides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20" dirty="0"/>
              <a:t>detailed</a:t>
            </a:r>
            <a:r>
              <a:rPr spc="15" dirty="0"/>
              <a:t> </a:t>
            </a:r>
            <a:r>
              <a:rPr spc="-30" dirty="0"/>
              <a:t>overview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cloud </a:t>
            </a:r>
            <a:r>
              <a:rPr spc="-25" dirty="0"/>
              <a:t>concepts,</a:t>
            </a:r>
            <a:r>
              <a:rPr spc="-10" dirty="0"/>
              <a:t> </a:t>
            </a:r>
            <a:r>
              <a:rPr spc="-25" dirty="0"/>
              <a:t>AWS</a:t>
            </a:r>
            <a:r>
              <a:rPr spc="-10" dirty="0"/>
              <a:t> </a:t>
            </a:r>
            <a:r>
              <a:rPr spc="-30" dirty="0"/>
              <a:t>core</a:t>
            </a:r>
            <a:r>
              <a:rPr spc="-10" dirty="0"/>
              <a:t> </a:t>
            </a:r>
            <a:r>
              <a:rPr spc="-45" dirty="0"/>
              <a:t>services,</a:t>
            </a:r>
            <a:r>
              <a:rPr spc="-5" dirty="0"/>
              <a:t> </a:t>
            </a:r>
            <a:r>
              <a:rPr spc="-30" dirty="0"/>
              <a:t>security,</a:t>
            </a:r>
            <a:r>
              <a:rPr spc="-10" dirty="0"/>
              <a:t> architecture, </a:t>
            </a:r>
            <a:r>
              <a:rPr dirty="0"/>
              <a:t>pricing,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support.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91410" cy="5080"/>
            </a:xfrm>
            <a:custGeom>
              <a:avLst/>
              <a:gdLst/>
              <a:ahLst/>
              <a:cxnLst/>
              <a:rect l="l" t="t" r="r" b="b"/>
              <a:pathLst>
                <a:path w="2391410" h="5080">
                  <a:moveTo>
                    <a:pt x="0" y="5060"/>
                  </a:moveTo>
                  <a:lnTo>
                    <a:pt x="0" y="0"/>
                  </a:lnTo>
                  <a:lnTo>
                    <a:pt x="2391006" y="0"/>
                  </a:lnTo>
                  <a:lnTo>
                    <a:pt x="23910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Available</a:t>
            </a:r>
            <a:r>
              <a:rPr spc="10" dirty="0"/>
              <a:t> </a:t>
            </a:r>
            <a:r>
              <a:rPr spc="-55" dirty="0"/>
              <a:t>courses:</a:t>
            </a:r>
            <a:r>
              <a:rPr spc="105" dirty="0"/>
              <a:t> </a:t>
            </a:r>
            <a:r>
              <a:rPr dirty="0"/>
              <a:t>AWS</a:t>
            </a:r>
            <a:r>
              <a:rPr spc="15" dirty="0"/>
              <a:t> </a:t>
            </a:r>
            <a:r>
              <a:rPr spc="-30" dirty="0"/>
              <a:t>Learner</a:t>
            </a:r>
            <a:r>
              <a:rPr spc="10" dirty="0"/>
              <a:t> </a:t>
            </a:r>
            <a:r>
              <a:rPr spc="-25" dirty="0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1092423"/>
            <a:ext cx="5093970" cy="19569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will be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0070C0"/>
                </a:solidFill>
                <a:latin typeface="Arial"/>
                <a:cs typeface="Arial"/>
              </a:rPr>
              <a:t>Learner</a:t>
            </a:r>
            <a:r>
              <a:rPr sz="900" b="1" dirty="0">
                <a:solidFill>
                  <a:srgbClr val="0070C0"/>
                </a:solidFill>
                <a:latin typeface="Arial"/>
                <a:cs typeface="Arial"/>
              </a:rPr>
              <a:t> Lab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today’s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future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deliverables.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sz="900" dirty="0">
              <a:latin typeface="Arial"/>
              <a:cs typeface="Arial"/>
            </a:endParaRPr>
          </a:p>
          <a:p>
            <a:pPr marL="184785" marR="147320" indent="-171450">
              <a:lnSpc>
                <a:spcPct val="116199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practice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70C0"/>
                </a:solidFill>
                <a:latin typeface="Arial"/>
                <a:cs typeface="Arial"/>
              </a:rPr>
              <a:t>limited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70C0"/>
                </a:solidFill>
                <a:latin typeface="Arial"/>
                <a:cs typeface="Arial"/>
              </a:rPr>
              <a:t>set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0070C0"/>
                </a:solidFill>
                <a:latin typeface="Arial"/>
                <a:cs typeface="Arial"/>
              </a:rPr>
              <a:t>services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sz="900" b="1" spc="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0070C0"/>
                </a:solidFill>
                <a:latin typeface="Arial"/>
                <a:cs typeface="Arial"/>
              </a:rPr>
              <a:t>budget</a:t>
            </a:r>
            <a:r>
              <a:rPr sz="900" b="1" spc="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sz="900" dirty="0">
              <a:latin typeface="Arial"/>
              <a:cs typeface="Arial"/>
            </a:endParaRPr>
          </a:p>
          <a:p>
            <a:pPr marL="189230" marR="54610" indent="-171450">
              <a:lnSpc>
                <a:spcPct val="116199"/>
              </a:lnSpc>
              <a:spcBef>
                <a:spcPts val="630"/>
              </a:spcBef>
              <a:buFont typeface="Arial" panose="020B0604020202020204" pitchFamily="34" charset="0"/>
              <a:buChar char="•"/>
            </a:pPr>
            <a:endParaRPr lang="es-ES" sz="90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89230" marR="54610" indent="-171450">
              <a:lnSpc>
                <a:spcPct val="116199"/>
              </a:lnSpc>
              <a:spcBef>
                <a:spcPts val="63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great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opportunity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learn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dashboard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professionals.</a:t>
            </a:r>
            <a:endParaRPr sz="900" dirty="0">
              <a:latin typeface="Arial"/>
              <a:cs typeface="Arial"/>
            </a:endParaRPr>
          </a:p>
          <a:p>
            <a:pPr marL="189230" indent="-1714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s-ES" sz="90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89230" indent="-1714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0070C0"/>
                </a:solidFill>
                <a:latin typeface="Arial"/>
                <a:cs typeface="Arial"/>
              </a:rPr>
              <a:t>Getting</a:t>
            </a:r>
            <a:r>
              <a:rPr sz="900" spc="-3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70C0"/>
                </a:solidFill>
                <a:latin typeface="Arial"/>
                <a:cs typeface="Arial"/>
              </a:rPr>
              <a:t>into</a:t>
            </a:r>
            <a:r>
              <a:rPr sz="900" spc="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70C0"/>
                </a:solidFill>
                <a:latin typeface="Arial"/>
                <a:cs typeface="Arial"/>
              </a:rPr>
              <a:t>tricky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0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99995" cy="5080"/>
            </a:xfrm>
            <a:custGeom>
              <a:avLst/>
              <a:gdLst/>
              <a:ahLst/>
              <a:cxnLst/>
              <a:rect l="l" t="t" r="r" b="b"/>
              <a:pathLst>
                <a:path w="2499995" h="5080">
                  <a:moveTo>
                    <a:pt x="0" y="5060"/>
                  </a:moveTo>
                  <a:lnTo>
                    <a:pt x="0" y="0"/>
                  </a:lnTo>
                  <a:lnTo>
                    <a:pt x="2499641" y="0"/>
                  </a:lnTo>
                  <a:lnTo>
                    <a:pt x="24996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00" y="385466"/>
            <a:ext cx="2438400" cy="2549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100" y="3012717"/>
            <a:ext cx="195516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15: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608580" cy="5080"/>
            </a:xfrm>
            <a:custGeom>
              <a:avLst/>
              <a:gdLst/>
              <a:ahLst/>
              <a:cxnLst/>
              <a:rect l="l" t="t" r="r" b="b"/>
              <a:pathLst>
                <a:path w="2608580" h="5080">
                  <a:moveTo>
                    <a:pt x="0" y="5060"/>
                  </a:moveTo>
                  <a:lnTo>
                    <a:pt x="0" y="0"/>
                  </a:lnTo>
                  <a:lnTo>
                    <a:pt x="2608363" y="0"/>
                  </a:lnTo>
                  <a:lnTo>
                    <a:pt x="26083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500" y="370349"/>
            <a:ext cx="2514600" cy="25449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80590" y="2917825"/>
            <a:ext cx="1998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16:</a:t>
            </a:r>
            <a:r>
              <a:rPr sz="800" b="1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lab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module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17165" cy="5080"/>
            </a:xfrm>
            <a:custGeom>
              <a:avLst/>
              <a:gdLst/>
              <a:ahLst/>
              <a:cxnLst/>
              <a:rect l="l" t="t" r="r" b="b"/>
              <a:pathLst>
                <a:path w="2717165" h="5080">
                  <a:moveTo>
                    <a:pt x="0" y="5060"/>
                  </a:moveTo>
                  <a:lnTo>
                    <a:pt x="0" y="0"/>
                  </a:lnTo>
                  <a:lnTo>
                    <a:pt x="2716997" y="0"/>
                  </a:lnTo>
                  <a:lnTo>
                    <a:pt x="2716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" y="370349"/>
            <a:ext cx="5184023" cy="24560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5976" y="2999105"/>
            <a:ext cx="2688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17:</a:t>
            </a:r>
            <a:r>
              <a:rPr sz="8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down and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agree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terms and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conditions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825750" cy="5080"/>
            </a:xfrm>
            <a:custGeom>
              <a:avLst/>
              <a:gdLst/>
              <a:ahLst/>
              <a:cxnLst/>
              <a:rect l="l" t="t" r="r" b="b"/>
              <a:pathLst>
                <a:path w="2825750" h="5080">
                  <a:moveTo>
                    <a:pt x="0" y="5060"/>
                  </a:moveTo>
                  <a:lnTo>
                    <a:pt x="0" y="0"/>
                  </a:lnTo>
                  <a:lnTo>
                    <a:pt x="2825719" y="0"/>
                  </a:lnTo>
                  <a:lnTo>
                    <a:pt x="28257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446941"/>
            <a:ext cx="5086618" cy="24792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66137" y="2999105"/>
            <a:ext cx="1228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18: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‘Start’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934970" cy="5080"/>
            </a:xfrm>
            <a:custGeom>
              <a:avLst/>
              <a:gdLst/>
              <a:ahLst/>
              <a:cxnLst/>
              <a:rect l="l" t="t" r="r" b="b"/>
              <a:pathLst>
                <a:path w="2934970" h="5080">
                  <a:moveTo>
                    <a:pt x="0" y="5060"/>
                  </a:moveTo>
                  <a:lnTo>
                    <a:pt x="0" y="0"/>
                  </a:lnTo>
                  <a:lnTo>
                    <a:pt x="2934353" y="0"/>
                  </a:lnTo>
                  <a:lnTo>
                    <a:pt x="29343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370350"/>
            <a:ext cx="5257800" cy="25300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9960" y="2999105"/>
            <a:ext cx="2120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19:</a:t>
            </a:r>
            <a:r>
              <a:rPr sz="800" b="1" spc="1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043555" cy="5080"/>
            </a:xfrm>
            <a:custGeom>
              <a:avLst/>
              <a:gdLst/>
              <a:ahLst/>
              <a:cxnLst/>
              <a:rect l="l" t="t" r="r" b="b"/>
              <a:pathLst>
                <a:path w="3043555" h="5080">
                  <a:moveTo>
                    <a:pt x="0" y="5060"/>
                  </a:moveTo>
                  <a:lnTo>
                    <a:pt x="0" y="0"/>
                  </a:lnTo>
                  <a:lnTo>
                    <a:pt x="3043076" y="0"/>
                  </a:lnTo>
                  <a:lnTo>
                    <a:pt x="3043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" y="370350"/>
            <a:ext cx="5760085" cy="24407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9300" y="2888021"/>
            <a:ext cx="36576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20:</a:t>
            </a:r>
            <a:r>
              <a:rPr sz="800" b="1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ready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800" spc="15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lang="es-ES" sz="800" spc="15" dirty="0" err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s-ES" sz="800" spc="15" dirty="0">
                <a:solidFill>
                  <a:srgbClr val="22373A"/>
                </a:solidFill>
                <a:latin typeface="Arial"/>
                <a:cs typeface="Arial"/>
              </a:rPr>
              <a:t> AWS </a:t>
            </a:r>
            <a:r>
              <a:rPr lang="es-ES" sz="800" spc="15" dirty="0" err="1">
                <a:solidFill>
                  <a:srgbClr val="22373A"/>
                </a:solidFill>
                <a:latin typeface="Arial"/>
                <a:cs typeface="Arial"/>
              </a:rPr>
              <a:t>buttom</a:t>
            </a:r>
            <a:r>
              <a:rPr lang="es-ES"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800" spc="15" dirty="0" err="1">
                <a:solidFill>
                  <a:srgbClr val="22373A"/>
                </a:solidFill>
                <a:latin typeface="Arial"/>
                <a:cs typeface="Arial"/>
              </a:rPr>
              <a:t>becomes</a:t>
            </a:r>
            <a:r>
              <a:rPr lang="es-ES"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800" spc="15" dirty="0" err="1">
                <a:solidFill>
                  <a:srgbClr val="22373A"/>
                </a:solidFill>
                <a:latin typeface="Arial"/>
                <a:cs typeface="Arial"/>
              </a:rPr>
              <a:t>green</a:t>
            </a:r>
            <a:r>
              <a:rPr lang="es-ES" sz="800" spc="15" dirty="0">
                <a:solidFill>
                  <a:srgbClr val="22373A"/>
                </a:solidFill>
                <a:latin typeface="Arial"/>
                <a:cs typeface="Arial"/>
              </a:rPr>
              <a:t>)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‘AWS’</a:t>
            </a:r>
            <a:r>
              <a:rPr lang="es-ES" sz="8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Current</a:t>
            </a:r>
            <a:r>
              <a:rPr lang="es-ES" sz="800" b="1" spc="-10" dirty="0">
                <a:solidFill>
                  <a:srgbClr val="FF0000"/>
                </a:solidFill>
                <a:latin typeface="Arial"/>
                <a:cs typeface="Arial"/>
              </a:rPr>
              <a:t> Budget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usage</a:t>
            </a:r>
            <a:r>
              <a:rPr lang="es-ES" sz="800" b="1" spc="-10" dirty="0">
                <a:solidFill>
                  <a:srgbClr val="FF0000"/>
                </a:solidFill>
                <a:latin typeface="Arial"/>
                <a:cs typeface="Arial"/>
              </a:rPr>
              <a:t>: $0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spent</a:t>
            </a:r>
            <a:r>
              <a:rPr lang="es-ES" sz="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out</a:t>
            </a:r>
            <a:r>
              <a:rPr lang="es-ES" sz="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s-ES" sz="800" b="1" spc="-10" dirty="0">
                <a:solidFill>
                  <a:srgbClr val="FF0000"/>
                </a:solidFill>
                <a:latin typeface="Arial"/>
                <a:cs typeface="Arial"/>
              </a:rPr>
              <a:t> a $50 </a:t>
            </a:r>
            <a:r>
              <a:rPr lang="es-ES" sz="800" b="1" spc="-10" dirty="0" err="1">
                <a:solidFill>
                  <a:srgbClr val="FF0000"/>
                </a:solidFill>
                <a:latin typeface="Arial"/>
                <a:cs typeface="Arial"/>
              </a:rPr>
              <a:t>limit</a:t>
            </a:r>
            <a:r>
              <a:rPr lang="es-ES" sz="800" b="1" spc="-1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endParaRPr sz="8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52140" cy="5080"/>
            </a:xfrm>
            <a:custGeom>
              <a:avLst/>
              <a:gdLst/>
              <a:ahLst/>
              <a:cxnLst/>
              <a:rect l="l" t="t" r="r" b="b"/>
              <a:pathLst>
                <a:path w="3152140" h="5080">
                  <a:moveTo>
                    <a:pt x="0" y="5060"/>
                  </a:moveTo>
                  <a:lnTo>
                    <a:pt x="0" y="0"/>
                  </a:lnTo>
                  <a:lnTo>
                    <a:pt x="3151710" y="0"/>
                  </a:lnTo>
                  <a:lnTo>
                    <a:pt x="31517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50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9F9F9"/>
                </a:solidFill>
                <a:latin typeface="Arial"/>
                <a:cs typeface="Arial"/>
              </a:rPr>
              <a:t>Accessing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Learner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00" y="446907"/>
            <a:ext cx="5257800" cy="24709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2506" y="2922905"/>
            <a:ext cx="2435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21: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presented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260725" cy="5080"/>
            </a:xfrm>
            <a:custGeom>
              <a:avLst/>
              <a:gdLst/>
              <a:ahLst/>
              <a:cxnLst/>
              <a:rect l="l" t="t" r="r" b="b"/>
              <a:pathLst>
                <a:path w="3260725" h="5080">
                  <a:moveTo>
                    <a:pt x="0" y="5060"/>
                  </a:moveTo>
                  <a:lnTo>
                    <a:pt x="0" y="0"/>
                  </a:lnTo>
                  <a:lnTo>
                    <a:pt x="3260432" y="0"/>
                  </a:lnTo>
                  <a:lnTo>
                    <a:pt x="32604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2386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EC2</a:t>
            </a:r>
            <a:r>
              <a:rPr sz="1100" b="1" spc="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Deploying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Jupyter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Notebook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418590" cy="5080"/>
            </a:xfrm>
            <a:custGeom>
              <a:avLst/>
              <a:gdLst/>
              <a:ahLst/>
              <a:cxnLst/>
              <a:rect l="l" t="t" r="r" b="b"/>
              <a:pathLst>
                <a:path w="1418589" h="5080">
                  <a:moveTo>
                    <a:pt x="0" y="5060"/>
                  </a:moveTo>
                  <a:lnTo>
                    <a:pt x="0" y="0"/>
                  </a:lnTo>
                  <a:lnTo>
                    <a:pt x="1418064" y="0"/>
                  </a:lnTo>
                  <a:lnTo>
                    <a:pt x="14180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dirty="0"/>
              <a:t> an SSH Key </a:t>
            </a:r>
            <a:r>
              <a:rPr spc="-20" dirty="0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6734"/>
            <a:ext cx="5015230" cy="442595"/>
            <a:chOff x="372646" y="876734"/>
            <a:chExt cx="5015230" cy="442595"/>
          </a:xfrm>
        </p:grpSpPr>
        <p:sp>
          <p:nvSpPr>
            <p:cNvPr id="4" name="object 4"/>
            <p:cNvSpPr/>
            <p:nvPr/>
          </p:nvSpPr>
          <p:spPr>
            <a:xfrm>
              <a:off x="377994" y="882081"/>
              <a:ext cx="5004435" cy="432434"/>
            </a:xfrm>
            <a:custGeom>
              <a:avLst/>
              <a:gdLst/>
              <a:ahLst/>
              <a:cxnLst/>
              <a:rect l="l" t="t" r="r" b="b"/>
              <a:pathLst>
                <a:path w="5004435" h="43243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5881"/>
                  </a:lnTo>
                  <a:lnTo>
                    <a:pt x="2829" y="409894"/>
                  </a:lnTo>
                  <a:lnTo>
                    <a:pt x="10544" y="421337"/>
                  </a:lnTo>
                  <a:lnTo>
                    <a:pt x="21987" y="429052"/>
                  </a:lnTo>
                  <a:lnTo>
                    <a:pt x="36000" y="431882"/>
                  </a:lnTo>
                  <a:lnTo>
                    <a:pt x="4968064" y="431882"/>
                  </a:lnTo>
                  <a:lnTo>
                    <a:pt x="4982077" y="429052"/>
                  </a:lnTo>
                  <a:lnTo>
                    <a:pt x="4993521" y="421337"/>
                  </a:lnTo>
                  <a:lnTo>
                    <a:pt x="5001236" y="409894"/>
                  </a:lnTo>
                  <a:lnTo>
                    <a:pt x="5004065" y="3958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83060"/>
              <a:ext cx="5002530" cy="430530"/>
            </a:xfrm>
            <a:custGeom>
              <a:avLst/>
              <a:gdLst/>
              <a:ahLst/>
              <a:cxnLst/>
              <a:rect l="l" t="t" r="r" b="b"/>
              <a:pathLst>
                <a:path w="5002530" h="430530">
                  <a:moveTo>
                    <a:pt x="0" y="3949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4902"/>
                  </a:lnTo>
                  <a:lnTo>
                    <a:pt x="4999354" y="408534"/>
                  </a:lnTo>
                  <a:lnTo>
                    <a:pt x="4991849" y="419666"/>
                  </a:lnTo>
                  <a:lnTo>
                    <a:pt x="4980717" y="427171"/>
                  </a:lnTo>
                  <a:lnTo>
                    <a:pt x="4967085" y="429923"/>
                  </a:lnTo>
                  <a:lnTo>
                    <a:pt x="35021" y="429923"/>
                  </a:lnTo>
                  <a:lnTo>
                    <a:pt x="21389" y="427171"/>
                  </a:lnTo>
                  <a:lnTo>
                    <a:pt x="10257" y="419666"/>
                  </a:lnTo>
                  <a:lnTo>
                    <a:pt x="2752" y="408534"/>
                  </a:lnTo>
                  <a:lnTo>
                    <a:pt x="0" y="3949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85630" y="1422597"/>
            <a:ext cx="264795" cy="121285"/>
            <a:chOff x="2685630" y="1422597"/>
            <a:chExt cx="264795" cy="121285"/>
          </a:xfrm>
        </p:grpSpPr>
        <p:sp>
          <p:nvSpPr>
            <p:cNvPr id="7" name="object 7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5630" y="142259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514" y="1668076"/>
            <a:ext cx="144873" cy="11426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87743" y="1920161"/>
            <a:ext cx="443865" cy="580390"/>
            <a:chOff x="587743" y="1920161"/>
            <a:chExt cx="443865" cy="5803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743" y="1920161"/>
              <a:ext cx="204657" cy="1011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43" y="2059909"/>
              <a:ext cx="204657" cy="12075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2219230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2377301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89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07793" y="122693"/>
                  </a:lnTo>
                  <a:lnTo>
                    <a:pt x="421806" y="119864"/>
                  </a:lnTo>
                  <a:lnTo>
                    <a:pt x="433249" y="112148"/>
                  </a:lnTo>
                  <a:lnTo>
                    <a:pt x="440964" y="100705"/>
                  </a:lnTo>
                  <a:lnTo>
                    <a:pt x="443793" y="86692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514" y="2616981"/>
            <a:ext cx="144873" cy="120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3319" y="632747"/>
            <a:ext cx="4728210" cy="211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following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900" dirty="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20" dirty="0">
                <a:latin typeface="Courier New"/>
                <a:cs typeface="Courier New"/>
              </a:rPr>
              <a:t>.ssh</a:t>
            </a:r>
            <a:endParaRPr sz="800" dirty="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ssh-keygen</a:t>
            </a:r>
            <a:r>
              <a:rPr sz="800" spc="-50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t</a:t>
            </a:r>
            <a:r>
              <a:rPr sz="800" spc="-4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rsa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f</a:t>
            </a:r>
            <a:r>
              <a:rPr sz="800" spc="-4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</a:t>
            </a:r>
            <a:r>
              <a:rPr sz="800" spc="-10" dirty="0">
                <a:latin typeface="Courier New"/>
                <a:cs typeface="Courier New"/>
              </a:rPr>
              <a:t>keypair</a:t>
            </a:r>
            <a:endParaRPr sz="800" dirty="0">
              <a:latin typeface="Courier New"/>
              <a:cs typeface="Courier New"/>
            </a:endParaRPr>
          </a:p>
          <a:p>
            <a:pPr marL="12700" marR="5080">
              <a:lnSpc>
                <a:spcPct val="174200"/>
              </a:lnSpc>
              <a:spcBef>
                <a:spcPts val="7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might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throw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exists.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ignore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-t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create:</a:t>
            </a:r>
            <a:endParaRPr sz="900" dirty="0">
              <a:latin typeface="Arial"/>
              <a:cs typeface="Arial"/>
            </a:endParaRPr>
          </a:p>
          <a:p>
            <a:pPr marL="255904" indent="-160020">
              <a:lnSpc>
                <a:spcPct val="100000"/>
              </a:lnSpc>
              <a:spcBef>
                <a:spcPts val="800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25" dirty="0">
                <a:latin typeface="Courier New"/>
                <a:cs typeface="Courier New"/>
              </a:rPr>
              <a:t>rsa</a:t>
            </a:r>
            <a:endParaRPr sz="900" dirty="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25" dirty="0">
                <a:latin typeface="Courier New"/>
                <a:cs typeface="Courier New"/>
              </a:rPr>
              <a:t>dsa</a:t>
            </a:r>
            <a:endParaRPr sz="900" dirty="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10" dirty="0">
                <a:latin typeface="Courier New"/>
                <a:cs typeface="Courier New"/>
              </a:rPr>
              <a:t>ecdsa</a:t>
            </a:r>
            <a:endParaRPr sz="900" dirty="0">
              <a:latin typeface="Courier New"/>
              <a:cs typeface="Courier New"/>
            </a:endParaRPr>
          </a:p>
          <a:p>
            <a:pPr marL="255904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255904" algn="l"/>
              </a:tabLst>
            </a:pPr>
            <a:r>
              <a:rPr sz="900" spc="-10" dirty="0">
                <a:latin typeface="Courier New"/>
                <a:cs typeface="Courier New"/>
              </a:rPr>
              <a:t>ed25519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-f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specifies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filename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3369310" cy="5080"/>
            </a:xfrm>
            <a:custGeom>
              <a:avLst/>
              <a:gdLst/>
              <a:ahLst/>
              <a:cxnLst/>
              <a:rect l="l" t="t" r="r" b="b"/>
              <a:pathLst>
                <a:path w="3369310" h="5080">
                  <a:moveTo>
                    <a:pt x="0" y="5060"/>
                  </a:moveTo>
                  <a:lnTo>
                    <a:pt x="0" y="0"/>
                  </a:lnTo>
                  <a:lnTo>
                    <a:pt x="3369066" y="0"/>
                  </a:lnTo>
                  <a:lnTo>
                    <a:pt x="33690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dirty="0"/>
              <a:t> an SSH Key </a:t>
            </a:r>
            <a:r>
              <a:rPr spc="-20" dirty="0"/>
              <a:t>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74915" y="1817773"/>
            <a:ext cx="1221105" cy="314960"/>
            <a:chOff x="1174915" y="1817773"/>
            <a:chExt cx="1221105" cy="314960"/>
          </a:xfrm>
        </p:grpSpPr>
        <p:sp>
          <p:nvSpPr>
            <p:cNvPr id="4" name="object 4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4915" y="181777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5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8526" y="1977107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3319" y="1215202"/>
            <a:ext cx="506095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prompt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prompt 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passphrase.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passphrase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empty.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 and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default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location: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keypair.pub</a:t>
            </a:r>
            <a:endParaRPr sz="900">
              <a:latin typeface="Courier New"/>
              <a:cs typeface="Courier New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3477895" cy="5080"/>
            </a:xfrm>
            <a:custGeom>
              <a:avLst/>
              <a:gdLst/>
              <a:ahLst/>
              <a:cxnLst/>
              <a:rect l="l" t="t" r="r" b="b"/>
              <a:pathLst>
                <a:path w="3477895" h="5080">
                  <a:moveTo>
                    <a:pt x="0" y="5060"/>
                  </a:moveTo>
                  <a:lnTo>
                    <a:pt x="0" y="0"/>
                  </a:lnTo>
                  <a:lnTo>
                    <a:pt x="3477788" y="0"/>
                  </a:lnTo>
                  <a:lnTo>
                    <a:pt x="34777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Importing</a:t>
            </a:r>
            <a:r>
              <a:rPr spc="-25" dirty="0"/>
              <a:t> </a:t>
            </a:r>
            <a:r>
              <a:rPr spc="-10" dirty="0"/>
              <a:t>our</a:t>
            </a:r>
            <a:r>
              <a:rPr spc="-20" dirty="0"/>
              <a:t> </a:t>
            </a:r>
            <a:r>
              <a:rPr spc="-25" dirty="0"/>
              <a:t>generated</a:t>
            </a:r>
            <a:r>
              <a:rPr spc="-20" dirty="0"/>
              <a:t> </a:t>
            </a:r>
            <a:r>
              <a:rPr spc="-10" dirty="0"/>
              <a:t>key</a:t>
            </a:r>
            <a:r>
              <a:rPr spc="-20" dirty="0"/>
              <a:t> pair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5492" y="2182029"/>
            <a:ext cx="1315720" cy="144145"/>
            <a:chOff x="815492" y="2182029"/>
            <a:chExt cx="1315720" cy="144145"/>
          </a:xfrm>
        </p:grpSpPr>
        <p:sp>
          <p:nvSpPr>
            <p:cNvPr id="4" name="object 4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5492" y="2182029"/>
              <a:ext cx="1315720" cy="144145"/>
            </a:xfrm>
            <a:custGeom>
              <a:avLst/>
              <a:gdLst/>
              <a:ahLst/>
              <a:cxnLst/>
              <a:rect l="l" t="t" r="r" b="b"/>
              <a:pathLst>
                <a:path w="1315720" h="144144">
                  <a:moveTo>
                    <a:pt x="127927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7835"/>
                  </a:lnTo>
                  <a:lnTo>
                    <a:pt x="2829" y="121848"/>
                  </a:lnTo>
                  <a:lnTo>
                    <a:pt x="10544" y="133291"/>
                  </a:lnTo>
                  <a:lnTo>
                    <a:pt x="21987" y="141006"/>
                  </a:lnTo>
                  <a:lnTo>
                    <a:pt x="36000" y="143835"/>
                  </a:lnTo>
                  <a:lnTo>
                    <a:pt x="1279274" y="143835"/>
                  </a:lnTo>
                  <a:lnTo>
                    <a:pt x="1293287" y="141006"/>
                  </a:lnTo>
                  <a:lnTo>
                    <a:pt x="1304730" y="133291"/>
                  </a:lnTo>
                  <a:lnTo>
                    <a:pt x="1312446" y="121848"/>
                  </a:lnTo>
                  <a:lnTo>
                    <a:pt x="1315275" y="107835"/>
                  </a:lnTo>
                  <a:lnTo>
                    <a:pt x="1315275" y="36000"/>
                  </a:lnTo>
                  <a:lnTo>
                    <a:pt x="1312446" y="21987"/>
                  </a:lnTo>
                  <a:lnTo>
                    <a:pt x="1304730" y="10544"/>
                  </a:lnTo>
                  <a:lnTo>
                    <a:pt x="1293287" y="2829"/>
                  </a:lnTo>
                  <a:lnTo>
                    <a:pt x="127927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910229"/>
            <a:ext cx="4542155" cy="1562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Actions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Pair.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180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endParaRPr sz="800">
              <a:latin typeface="Arial"/>
              <a:cs typeface="Arial"/>
            </a:endParaRPr>
          </a:p>
          <a:p>
            <a:pPr marL="47180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47180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Browse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the public key file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 before.</a:t>
            </a:r>
            <a:r>
              <a:rPr sz="8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(.ssh/aws-keypair.pub)</a:t>
            </a:r>
            <a:endParaRPr sz="800">
              <a:latin typeface="Arial"/>
              <a:cs typeface="Arial"/>
            </a:endParaRPr>
          </a:p>
          <a:p>
            <a:pPr marL="46863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46863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field.</a:t>
            </a:r>
            <a:r>
              <a:rPr sz="8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80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latin typeface="Courier New"/>
                <a:cs typeface="Courier New"/>
              </a:rPr>
              <a:t>cat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.ssh/aws-keypair.pub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endParaRPr sz="8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95"/>
              </a:spcBef>
              <a:buAutoNum type="arabicPeriod" startAt="5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586479" cy="5080"/>
            </a:xfrm>
            <a:custGeom>
              <a:avLst/>
              <a:gdLst/>
              <a:ahLst/>
              <a:cxnLst/>
              <a:rect l="l" t="t" r="r" b="b"/>
              <a:pathLst>
                <a:path w="3586479" h="5080">
                  <a:moveTo>
                    <a:pt x="0" y="5060"/>
                  </a:moveTo>
                  <a:lnTo>
                    <a:pt x="0" y="0"/>
                  </a:lnTo>
                  <a:lnTo>
                    <a:pt x="3586422" y="0"/>
                  </a:lnTo>
                  <a:lnTo>
                    <a:pt x="35864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5" dirty="0"/>
              <a:t> </a:t>
            </a:r>
            <a:r>
              <a:rPr dirty="0"/>
              <a:t>an EC2</a:t>
            </a:r>
            <a:r>
              <a:rPr spc="-5" dirty="0"/>
              <a:t> </a:t>
            </a:r>
            <a:r>
              <a:rPr spc="-35" dirty="0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1046572"/>
            <a:ext cx="3007995" cy="12871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Launch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Name:</a:t>
            </a:r>
            <a:r>
              <a:rPr sz="8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Jupyter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Image:</a:t>
            </a:r>
            <a:r>
              <a:rPr sz="8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2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AMI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(HVM)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SSD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Volume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endParaRPr sz="8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Architecture:</a:t>
            </a:r>
            <a:r>
              <a:rPr sz="800" spc="2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64-bit</a:t>
            </a:r>
            <a:r>
              <a:rPr sz="8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(x86)</a:t>
            </a:r>
            <a:endParaRPr sz="8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7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t2.micro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pair:</a:t>
            </a:r>
            <a:r>
              <a:rPr sz="8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before.</a:t>
            </a:r>
            <a:r>
              <a:rPr sz="8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(aws-keypair)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Network:</a:t>
            </a:r>
            <a:r>
              <a:rPr sz="8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VPC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95700" cy="5080"/>
            </a:xfrm>
            <a:custGeom>
              <a:avLst/>
              <a:gdLst/>
              <a:ahLst/>
              <a:cxnLst/>
              <a:rect l="l" t="t" r="r" b="b"/>
              <a:pathLst>
                <a:path w="3695700" h="5080">
                  <a:moveTo>
                    <a:pt x="0" y="5060"/>
                  </a:moveTo>
                  <a:lnTo>
                    <a:pt x="0" y="0"/>
                  </a:lnTo>
                  <a:lnTo>
                    <a:pt x="3695145" y="0"/>
                  </a:lnTo>
                  <a:lnTo>
                    <a:pt x="36951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Security</a:t>
            </a:r>
            <a:r>
              <a:rPr spc="35" dirty="0"/>
              <a:t> </a:t>
            </a:r>
            <a:r>
              <a:rPr spc="-40" dirty="0"/>
              <a:t>Group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316" y="856072"/>
            <a:ext cx="2534920" cy="161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5244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allows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port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22 (SSH)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port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80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(HTTP).</a:t>
            </a:r>
            <a:endParaRPr sz="900" dirty="0">
              <a:latin typeface="Arial"/>
              <a:cs typeface="Arial"/>
            </a:endParaRPr>
          </a:p>
          <a:p>
            <a:pPr marL="243840" marR="318135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 dirty="0">
              <a:latin typeface="Arial"/>
              <a:cs typeface="Arial"/>
            </a:endParaRPr>
          </a:p>
          <a:p>
            <a:pPr marL="243840" marR="5080" indent="-147955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endParaRPr sz="900" dirty="0">
              <a:latin typeface="Arial"/>
              <a:cs typeface="Arial"/>
            </a:endParaRPr>
          </a:p>
          <a:p>
            <a:pPr marL="16510" marR="51435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Mark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group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 dirty="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 dirty="0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236" y="860425"/>
            <a:ext cx="2910841" cy="1523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4285" cy="5080"/>
            </a:xfrm>
            <a:custGeom>
              <a:avLst/>
              <a:gdLst/>
              <a:ahLst/>
              <a:cxnLst/>
              <a:rect l="l" t="t" r="r" b="b"/>
              <a:pathLst>
                <a:path w="3804285" h="5080">
                  <a:moveTo>
                    <a:pt x="0" y="5060"/>
                  </a:moveTo>
                  <a:lnTo>
                    <a:pt x="0" y="0"/>
                  </a:lnTo>
                  <a:lnTo>
                    <a:pt x="3803779" y="0"/>
                  </a:lnTo>
                  <a:lnTo>
                    <a:pt x="38037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595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Connecting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700" y="331651"/>
            <a:ext cx="5742633" cy="2524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2883597"/>
            <a:ext cx="373380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22: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800" dirty="0">
                <a:solidFill>
                  <a:srgbClr val="22373A"/>
                </a:solidFill>
                <a:latin typeface="Arial"/>
                <a:cs typeface="Arial"/>
              </a:rPr>
              <a:t>EC2 </a:t>
            </a:r>
            <a:r>
              <a:rPr lang="es-ES" sz="800" dirty="0" err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s-ES" sz="8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800" dirty="0" err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s-ES" sz="800" dirty="0">
                <a:solidFill>
                  <a:srgbClr val="22373A"/>
                </a:solidFill>
                <a:latin typeface="Arial"/>
                <a:cs typeface="Arial"/>
              </a:rPr>
              <a:t>. G</a:t>
            </a:r>
            <a:r>
              <a:rPr sz="800" dirty="0" err="1">
                <a:solidFill>
                  <a:srgbClr val="22373A"/>
                </a:solidFill>
                <a:latin typeface="Arial"/>
                <a:cs typeface="Arial"/>
              </a:rPr>
              <a:t>etting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021454" cy="5080"/>
            </a:xfrm>
            <a:custGeom>
              <a:avLst/>
              <a:gdLst/>
              <a:ahLst/>
              <a:cxnLst/>
              <a:rect l="l" t="t" r="r" b="b"/>
              <a:pathLst>
                <a:path w="4021454" h="5080">
                  <a:moveTo>
                    <a:pt x="0" y="5060"/>
                  </a:moveTo>
                  <a:lnTo>
                    <a:pt x="0" y="0"/>
                  </a:lnTo>
                  <a:lnTo>
                    <a:pt x="4021223" y="0"/>
                  </a:lnTo>
                  <a:lnTo>
                    <a:pt x="4021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Connecting</a:t>
            </a:r>
            <a:r>
              <a:rPr spc="50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spc="-40" dirty="0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3411" y="1320936"/>
            <a:ext cx="982344" cy="155575"/>
            <a:chOff x="1233411" y="1320936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3411" y="1320936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339310"/>
            <a:ext cx="5015230" cy="451484"/>
            <a:chOff x="372646" y="2339310"/>
            <a:chExt cx="5015230" cy="451484"/>
          </a:xfrm>
        </p:grpSpPr>
        <p:sp>
          <p:nvSpPr>
            <p:cNvPr id="7" name="object 7"/>
            <p:cNvSpPr/>
            <p:nvPr/>
          </p:nvSpPr>
          <p:spPr>
            <a:xfrm>
              <a:off x="377994" y="2344657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283"/>
                  </a:lnTo>
                  <a:lnTo>
                    <a:pt x="2829" y="418296"/>
                  </a:lnTo>
                  <a:lnTo>
                    <a:pt x="10544" y="429739"/>
                  </a:lnTo>
                  <a:lnTo>
                    <a:pt x="21987" y="437454"/>
                  </a:lnTo>
                  <a:lnTo>
                    <a:pt x="36000" y="440283"/>
                  </a:lnTo>
                  <a:lnTo>
                    <a:pt x="4968064" y="440283"/>
                  </a:lnTo>
                  <a:lnTo>
                    <a:pt x="4982077" y="437454"/>
                  </a:lnTo>
                  <a:lnTo>
                    <a:pt x="4993521" y="429739"/>
                  </a:lnTo>
                  <a:lnTo>
                    <a:pt x="5001236" y="418296"/>
                  </a:lnTo>
                  <a:lnTo>
                    <a:pt x="5004065" y="404283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345636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30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303"/>
                  </a:lnTo>
                  <a:lnTo>
                    <a:pt x="4999354" y="416935"/>
                  </a:lnTo>
                  <a:lnTo>
                    <a:pt x="4991849" y="428067"/>
                  </a:lnTo>
                  <a:lnTo>
                    <a:pt x="4980717" y="435572"/>
                  </a:lnTo>
                  <a:lnTo>
                    <a:pt x="4967085" y="438325"/>
                  </a:lnTo>
                  <a:lnTo>
                    <a:pt x="35021" y="438325"/>
                  </a:lnTo>
                  <a:lnTo>
                    <a:pt x="21389" y="435572"/>
                  </a:lnTo>
                  <a:lnTo>
                    <a:pt x="10257" y="428067"/>
                  </a:lnTo>
                  <a:lnTo>
                    <a:pt x="2752" y="416935"/>
                  </a:lnTo>
                  <a:lnTo>
                    <a:pt x="0" y="40330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7012" y="559057"/>
            <a:ext cx="4986020" cy="21278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(mac,linux)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powershell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(windows).</a:t>
            </a:r>
            <a:endParaRPr sz="900">
              <a:latin typeface="Arial"/>
              <a:cs typeface="Arial"/>
            </a:endParaRPr>
          </a:p>
          <a:p>
            <a:pPr marL="159385" marR="109855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public 	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  <a:p>
            <a:pPr marL="155575" marR="93345" lvl="1" indent="-143510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55575" algn="l"/>
                <a:tab pos="15938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aws-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keypair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introduce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file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(for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10" dirty="0">
                <a:latin typeface="Courier New"/>
                <a:cs typeface="Courier New"/>
              </a:rPr>
              <a:t>keypair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60020" lvl="1" indent="-1473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ec2-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655" marR="5080" lvl="1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65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ec2-3-87-76-117.compute-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1.amazonaws.com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 DNS of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restart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own.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everytime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console.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Arial"/>
              <a:cs typeface="Arial"/>
            </a:endParaRPr>
          </a:p>
          <a:p>
            <a:pPr marL="184150" marR="923290">
              <a:lnSpc>
                <a:spcPct val="107400"/>
              </a:lnSpc>
              <a:spcBef>
                <a:spcPts val="5"/>
              </a:spcBef>
            </a:pPr>
            <a:r>
              <a:rPr sz="800" spc="-50" dirty="0">
                <a:solidFill>
                  <a:srgbClr val="05287C"/>
                </a:solidFill>
                <a:latin typeface="Courier New"/>
                <a:cs typeface="Courier New"/>
              </a:rPr>
              <a:t>ssh</a:t>
            </a:r>
            <a:r>
              <a:rPr sz="800" spc="4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dirty="0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sz="800" spc="5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.ssh/aws-keypair</a:t>
            </a:r>
            <a:r>
              <a:rPr sz="800" spc="5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  <a:hlinkClick r:id="rId2"/>
              </a:rPr>
              <a:t>ec2-user@ec2-3-87-76-117.compute-1.amazonaws.com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Are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sure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you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want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to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continue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connecting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800" spc="-60" dirty="0">
                <a:latin typeface="Courier New"/>
                <a:cs typeface="Courier New"/>
              </a:rPr>
              <a:t>yes/no/[fingerprint]</a:t>
            </a:r>
            <a:r>
              <a:rPr sz="800" b="1" spc="-60" dirty="0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sz="800" spc="-60" dirty="0">
                <a:latin typeface="Courier New"/>
                <a:cs typeface="Courier New"/>
              </a:rPr>
              <a:t>?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35" dirty="0">
                <a:latin typeface="Courier New"/>
                <a:cs typeface="Courier New"/>
              </a:rPr>
              <a:t>yes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2870" cy="5080"/>
            </a:xfrm>
            <a:custGeom>
              <a:avLst/>
              <a:gdLst/>
              <a:ahLst/>
              <a:cxnLst/>
              <a:rect l="l" t="t" r="r" b="b"/>
              <a:pathLst>
                <a:path w="3912870" h="5080">
                  <a:moveTo>
                    <a:pt x="0" y="5060"/>
                  </a:moveTo>
                  <a:lnTo>
                    <a:pt x="0" y="0"/>
                  </a:lnTo>
                  <a:lnTo>
                    <a:pt x="3912501" y="0"/>
                  </a:lnTo>
                  <a:lnTo>
                    <a:pt x="39125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4703" y="1256865"/>
            <a:ext cx="2792197" cy="18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100" spc="-25" dirty="0">
                <a:solidFill>
                  <a:srgbClr val="22373A"/>
                </a:solidFill>
                <a:hlinkClick r:id="rId2" action="ppaction://hlinksldjump"/>
              </a:rPr>
              <a:t>Managing</a:t>
            </a:r>
            <a:r>
              <a:rPr sz="1100" spc="1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10" dirty="0">
                <a:solidFill>
                  <a:srgbClr val="22373A"/>
                </a:solidFill>
                <a:hlinkClick r:id="rId2" action="ppaction://hlinksldjump"/>
              </a:rPr>
              <a:t>Python</a:t>
            </a:r>
            <a:r>
              <a:rPr sz="1100" spc="1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0" dirty="0">
                <a:solidFill>
                  <a:srgbClr val="22373A"/>
                </a:solidFill>
                <a:hlinkClick r:id="rId2" action="ppaction://hlinksldjump"/>
              </a:rPr>
              <a:t>environments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hlinkClick r:id="rId2" action="ppaction://hlinksldjump"/>
              </a:rPr>
              <a:t>with</a:t>
            </a:r>
            <a:r>
              <a:rPr sz="1100" spc="-20" dirty="0">
                <a:solidFill>
                  <a:srgbClr val="22373A"/>
                </a:solidFill>
              </a:rPr>
              <a:t> </a:t>
            </a:r>
            <a:r>
              <a:rPr sz="1100" spc="-25" dirty="0">
                <a:solidFill>
                  <a:schemeClr val="accent3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uv</a:t>
            </a:r>
            <a:endParaRPr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740808"/>
            <a:ext cx="2505710" cy="5080"/>
            <a:chOff x="1627403" y="1740808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740808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740808"/>
              <a:ext cx="1749425" cy="5080"/>
            </a:xfrm>
            <a:custGeom>
              <a:avLst/>
              <a:gdLst/>
              <a:ahLst/>
              <a:cxnLst/>
              <a:rect l="l" t="t" r="r" b="b"/>
              <a:pathLst>
                <a:path w="1749425" h="5080">
                  <a:moveTo>
                    <a:pt x="0" y="5060"/>
                  </a:moveTo>
                  <a:lnTo>
                    <a:pt x="0" y="0"/>
                  </a:lnTo>
                  <a:lnTo>
                    <a:pt x="1748956" y="0"/>
                  </a:lnTo>
                  <a:lnTo>
                    <a:pt x="17489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Why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use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uv?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126" y="1371290"/>
            <a:ext cx="3608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spc="-45" dirty="0"/>
              <a:t>use</a:t>
            </a:r>
            <a:r>
              <a:rPr spc="20" dirty="0"/>
              <a:t> </a:t>
            </a:r>
            <a:r>
              <a:rPr spc="-45" dirty="0"/>
              <a:t>uv?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71290"/>
            <a:ext cx="3608070" cy="40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Dependency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isolation: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independent.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734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spc="-45" dirty="0"/>
              <a:t>use</a:t>
            </a:r>
            <a:r>
              <a:rPr spc="20" dirty="0"/>
              <a:t> </a:t>
            </a:r>
            <a:r>
              <a:rPr spc="-45" dirty="0"/>
              <a:t>uv?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71290"/>
            <a:ext cx="3608070" cy="64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management: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switch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versions.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160020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Dependency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isolation: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independent.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805"/>
              </a:spcBef>
              <a:buChar char="•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Reproducibility: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Ensures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remain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30040" cy="5080"/>
            </a:xfrm>
            <a:custGeom>
              <a:avLst/>
              <a:gdLst/>
              <a:ahLst/>
              <a:cxnLst/>
              <a:rect l="l" t="t" r="r" b="b"/>
              <a:pathLst>
                <a:path w="4130040" h="5080">
                  <a:moveTo>
                    <a:pt x="0" y="5060"/>
                  </a:moveTo>
                  <a:lnTo>
                    <a:pt x="0" y="0"/>
                  </a:lnTo>
                  <a:lnTo>
                    <a:pt x="4129857" y="0"/>
                  </a:lnTo>
                  <a:lnTo>
                    <a:pt x="41298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27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Installing</a:t>
            </a:r>
            <a:r>
              <a:rPr spc="25" dirty="0"/>
              <a:t> </a:t>
            </a:r>
            <a:r>
              <a:rPr spc="-25" dirty="0"/>
              <a:t>uv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3577"/>
            <a:ext cx="5015230" cy="320040"/>
            <a:chOff x="372646" y="145357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5892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59903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088577"/>
            <a:ext cx="5015230" cy="313055"/>
            <a:chOff x="372646" y="2088577"/>
            <a:chExt cx="5015230" cy="313055"/>
          </a:xfrm>
        </p:grpSpPr>
        <p:sp>
          <p:nvSpPr>
            <p:cNvPr id="7" name="object 7"/>
            <p:cNvSpPr/>
            <p:nvPr/>
          </p:nvSpPr>
          <p:spPr>
            <a:xfrm>
              <a:off x="377994" y="2093925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6141"/>
                  </a:lnTo>
                  <a:lnTo>
                    <a:pt x="2829" y="280154"/>
                  </a:lnTo>
                  <a:lnTo>
                    <a:pt x="10544" y="291597"/>
                  </a:lnTo>
                  <a:lnTo>
                    <a:pt x="21987" y="299312"/>
                  </a:lnTo>
                  <a:lnTo>
                    <a:pt x="36000" y="302141"/>
                  </a:lnTo>
                  <a:lnTo>
                    <a:pt x="4968064" y="302141"/>
                  </a:lnTo>
                  <a:lnTo>
                    <a:pt x="4982077" y="299312"/>
                  </a:lnTo>
                  <a:lnTo>
                    <a:pt x="4993521" y="291597"/>
                  </a:lnTo>
                  <a:lnTo>
                    <a:pt x="5001236" y="280154"/>
                  </a:lnTo>
                  <a:lnTo>
                    <a:pt x="5004065" y="2661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094904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51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5162"/>
                  </a:lnTo>
                  <a:lnTo>
                    <a:pt x="4999354" y="278794"/>
                  </a:lnTo>
                  <a:lnTo>
                    <a:pt x="4991849" y="289925"/>
                  </a:lnTo>
                  <a:lnTo>
                    <a:pt x="4980717" y="297431"/>
                  </a:lnTo>
                  <a:lnTo>
                    <a:pt x="4967085" y="300183"/>
                  </a:lnTo>
                  <a:lnTo>
                    <a:pt x="35021" y="300183"/>
                  </a:lnTo>
                  <a:lnTo>
                    <a:pt x="21389" y="297431"/>
                  </a:lnTo>
                  <a:lnTo>
                    <a:pt x="10257" y="289925"/>
                  </a:lnTo>
                  <a:lnTo>
                    <a:pt x="2752" y="278794"/>
                  </a:lnTo>
                  <a:lnTo>
                    <a:pt x="0" y="2651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970605"/>
            <a:ext cx="4086225" cy="1327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uv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encourage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oﬀicial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documentation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instance: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 dirty="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curl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LsSf</a:t>
            </a:r>
            <a:r>
              <a:rPr sz="800" spc="-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https://astral.sh/uv/install.sh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b="1" dirty="0">
                <a:solidFill>
                  <a:srgbClr val="007021"/>
                </a:solidFill>
                <a:latin typeface="Courier New"/>
                <a:cs typeface="Courier New"/>
              </a:rPr>
              <a:t>|</a:t>
            </a:r>
            <a:r>
              <a:rPr sz="800" b="1" spc="-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sh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 dirty="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worked,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00" dirty="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</a:pPr>
            <a:r>
              <a:rPr sz="800" spc="-55" dirty="0">
                <a:latin typeface="Courier New"/>
                <a:cs typeface="Courier New"/>
              </a:rPr>
              <a:t>everything</a:t>
            </a:r>
            <a:r>
              <a:rPr sz="800" spc="-55" dirty="0">
                <a:solidFill>
                  <a:srgbClr val="3F70A0"/>
                </a:solidFill>
                <a:latin typeface="Courier New"/>
                <a:cs typeface="Courier New"/>
              </a:rPr>
              <a:t>'s</a:t>
            </a:r>
            <a:r>
              <a:rPr sz="800" spc="-3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3F70A0"/>
                </a:solidFill>
                <a:latin typeface="Courier New"/>
                <a:cs typeface="Courier New"/>
              </a:rPr>
              <a:t>installed!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238625" cy="5080"/>
            </a:xfrm>
            <a:custGeom>
              <a:avLst/>
              <a:gdLst/>
              <a:ahLst/>
              <a:cxnLst/>
              <a:rect l="l" t="t" r="r" b="b"/>
              <a:pathLst>
                <a:path w="4238625" h="5080">
                  <a:moveTo>
                    <a:pt x="0" y="5060"/>
                  </a:moveTo>
                  <a:lnTo>
                    <a:pt x="0" y="0"/>
                  </a:lnTo>
                  <a:lnTo>
                    <a:pt x="4238579" y="0"/>
                  </a:lnTo>
                  <a:lnTo>
                    <a:pt x="4238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spc="-30" dirty="0"/>
              <a:t>example</a:t>
            </a:r>
            <a:r>
              <a:rPr spc="-20" dirty="0"/>
              <a:t> </a:t>
            </a:r>
            <a:r>
              <a:rPr dirty="0"/>
              <a:t>uv</a:t>
            </a:r>
            <a:r>
              <a:rPr spc="-15" dirty="0"/>
              <a:t> </a:t>
            </a:r>
            <a:r>
              <a:rPr spc="-10" dirty="0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2494915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7304" y="873992"/>
            <a:ext cx="4163695" cy="14782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 dirty="0">
              <a:latin typeface="Arial"/>
              <a:cs typeface="Arial"/>
            </a:endParaRPr>
          </a:p>
          <a:p>
            <a:pPr marL="210185" marR="3192145">
              <a:lnSpc>
                <a:spcPct val="107400"/>
              </a:lnSpc>
              <a:spcBef>
                <a:spcPts val="5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project1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 dirty="0">
              <a:latin typeface="Courier New"/>
              <a:cs typeface="Courier New"/>
            </a:endParaRPr>
          </a:p>
          <a:p>
            <a:pPr marL="210185" marR="1687195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3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3.8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55" dirty="0">
                <a:latin typeface="Courier New"/>
                <a:cs typeface="Courier New"/>
              </a:rPr>
              <a:t>venv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 dirty="0">
              <a:latin typeface="Courier New"/>
              <a:cs typeface="Courier New"/>
            </a:endParaRPr>
          </a:p>
          <a:p>
            <a:pPr marL="210185" marR="292354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 </a:t>
            </a:r>
            <a:r>
              <a:rPr sz="800" spc="-10" dirty="0">
                <a:latin typeface="Courier New"/>
                <a:cs typeface="Courier New"/>
              </a:rPr>
              <a:t>deactivate</a:t>
            </a:r>
            <a:endParaRPr sz="800" dirty="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88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Creating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spc="-30" dirty="0"/>
              <a:t>example</a:t>
            </a:r>
            <a:r>
              <a:rPr spc="-20" dirty="0"/>
              <a:t> </a:t>
            </a:r>
            <a:r>
              <a:rPr dirty="0"/>
              <a:t>uv</a:t>
            </a:r>
            <a:r>
              <a:rPr spc="-15" dirty="0"/>
              <a:t> </a:t>
            </a:r>
            <a:r>
              <a:rPr spc="-10" dirty="0"/>
              <a:t>Projects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1356903"/>
            <a:ext cx="2494915" cy="1076325"/>
            <a:chOff x="252657" y="1356903"/>
            <a:chExt cx="2494915" cy="1076325"/>
          </a:xfrm>
        </p:grpSpPr>
        <p:sp>
          <p:nvSpPr>
            <p:cNvPr id="4" name="object 4"/>
            <p:cNvSpPr/>
            <p:nvPr/>
          </p:nvSpPr>
          <p:spPr>
            <a:xfrm>
              <a:off x="258004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310" y="1409725"/>
            <a:ext cx="2282825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0030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65" dirty="0">
                <a:latin typeface="Courier New"/>
                <a:cs typeface="Courier New"/>
              </a:rPr>
              <a:t>project1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3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3.8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55" dirty="0">
                <a:latin typeface="Courier New"/>
                <a:cs typeface="Courier New"/>
              </a:rPr>
              <a:t>venv </a:t>
            </a: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 marL="12700" marR="1240790">
              <a:lnSpc>
                <a:spcPct val="107400"/>
              </a:lnSpc>
            </a:pP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3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 </a:t>
            </a:r>
            <a:r>
              <a:rPr sz="800" spc="-10" dirty="0">
                <a:latin typeface="Courier New"/>
                <a:cs typeface="Courier New"/>
              </a:rPr>
              <a:t>deactivate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873992"/>
            <a:ext cx="4965700" cy="401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5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versions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77241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Project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12646" y="1356903"/>
            <a:ext cx="2494915" cy="1076325"/>
            <a:chOff x="3012646" y="1356903"/>
            <a:chExt cx="2494915" cy="1076325"/>
          </a:xfrm>
        </p:grpSpPr>
        <p:sp>
          <p:nvSpPr>
            <p:cNvPr id="9" name="object 9"/>
            <p:cNvSpPr/>
            <p:nvPr/>
          </p:nvSpPr>
          <p:spPr>
            <a:xfrm>
              <a:off x="3017993" y="1362250"/>
              <a:ext cx="2484120" cy="1065530"/>
            </a:xfrm>
            <a:custGeom>
              <a:avLst/>
              <a:gdLst/>
              <a:ahLst/>
              <a:cxnLst/>
              <a:rect l="l" t="t" r="r" b="b"/>
              <a:pathLst>
                <a:path w="2484120" h="106553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095"/>
                  </a:lnTo>
                  <a:lnTo>
                    <a:pt x="2829" y="1043108"/>
                  </a:lnTo>
                  <a:lnTo>
                    <a:pt x="10544" y="1054552"/>
                  </a:lnTo>
                  <a:lnTo>
                    <a:pt x="21987" y="1062267"/>
                  </a:lnTo>
                  <a:lnTo>
                    <a:pt x="36000" y="1065096"/>
                  </a:lnTo>
                  <a:lnTo>
                    <a:pt x="2448032" y="1065096"/>
                  </a:lnTo>
                  <a:lnTo>
                    <a:pt x="2462045" y="1062267"/>
                  </a:lnTo>
                  <a:lnTo>
                    <a:pt x="2473488" y="1054552"/>
                  </a:lnTo>
                  <a:lnTo>
                    <a:pt x="2481203" y="1043108"/>
                  </a:lnTo>
                  <a:lnTo>
                    <a:pt x="2484032" y="102909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8973" y="1363229"/>
              <a:ext cx="2482215" cy="1063625"/>
            </a:xfrm>
            <a:custGeom>
              <a:avLst/>
              <a:gdLst/>
              <a:ahLst/>
              <a:cxnLst/>
              <a:rect l="l" t="t" r="r" b="b"/>
              <a:pathLst>
                <a:path w="2482215" h="1063625">
                  <a:moveTo>
                    <a:pt x="0" y="102811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028116"/>
                  </a:lnTo>
                  <a:lnTo>
                    <a:pt x="2479321" y="1041748"/>
                  </a:lnTo>
                  <a:lnTo>
                    <a:pt x="2471816" y="1052880"/>
                  </a:lnTo>
                  <a:lnTo>
                    <a:pt x="2460684" y="1060385"/>
                  </a:lnTo>
                  <a:lnTo>
                    <a:pt x="2447052" y="1063137"/>
                  </a:lnTo>
                  <a:lnTo>
                    <a:pt x="35021" y="1063137"/>
                  </a:lnTo>
                  <a:lnTo>
                    <a:pt x="21389" y="1060385"/>
                  </a:lnTo>
                  <a:lnTo>
                    <a:pt x="10257" y="1052880"/>
                  </a:lnTo>
                  <a:lnTo>
                    <a:pt x="2752" y="1041748"/>
                  </a:lnTo>
                  <a:lnTo>
                    <a:pt x="0" y="102811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5299" y="1419210"/>
            <a:ext cx="777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60" dirty="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sz="800" spc="-25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5299" y="1550160"/>
            <a:ext cx="617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50" dirty="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5299" y="1681110"/>
            <a:ext cx="2336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ourier New"/>
                <a:cs typeface="Courier New"/>
              </a:rPr>
              <a:t>uv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venv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sz="800" spc="-20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sz="800" spc="-25" dirty="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3.10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</a:t>
            </a:r>
            <a:r>
              <a:rPr sz="800" spc="-30" dirty="0">
                <a:latin typeface="Courier New"/>
                <a:cs typeface="Courier New"/>
              </a:rPr>
              <a:t>venv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5299" y="1802561"/>
            <a:ext cx="185293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.project2-venv/bin/activate </a:t>
            </a:r>
            <a:r>
              <a:rPr sz="800" spc="-50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pandas deactivate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6" name="object 1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63"/>
              <a:ext cx="4347210" cy="5080"/>
            </a:xfrm>
            <a:custGeom>
              <a:avLst/>
              <a:gdLst/>
              <a:ahLst/>
              <a:cxnLst/>
              <a:rect l="l" t="t" r="r" b="b"/>
              <a:pathLst>
                <a:path w="4347210" h="5080">
                  <a:moveTo>
                    <a:pt x="0" y="5060"/>
                  </a:moveTo>
                  <a:lnTo>
                    <a:pt x="0" y="0"/>
                  </a:lnTo>
                  <a:lnTo>
                    <a:pt x="4347213" y="0"/>
                  </a:lnTo>
                  <a:lnTo>
                    <a:pt x="4347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Working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4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615498"/>
            <a:ext cx="5015230" cy="443865"/>
            <a:chOff x="372646" y="61549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620846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621825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162278"/>
            <a:ext cx="384175" cy="146050"/>
            <a:chOff x="1252423" y="1162278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1622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749" y="116273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1772878"/>
            <a:ext cx="5015230" cy="574040"/>
            <a:chOff x="372646" y="1772878"/>
            <a:chExt cx="5015230" cy="574040"/>
          </a:xfrm>
        </p:grpSpPr>
        <p:sp>
          <p:nvSpPr>
            <p:cNvPr id="11" name="object 11"/>
            <p:cNvSpPr/>
            <p:nvPr/>
          </p:nvSpPr>
          <p:spPr>
            <a:xfrm>
              <a:off x="377994" y="1778226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6735"/>
                  </a:lnTo>
                  <a:lnTo>
                    <a:pt x="2829" y="540748"/>
                  </a:lnTo>
                  <a:lnTo>
                    <a:pt x="10544" y="552191"/>
                  </a:lnTo>
                  <a:lnTo>
                    <a:pt x="21987" y="559906"/>
                  </a:lnTo>
                  <a:lnTo>
                    <a:pt x="36000" y="562735"/>
                  </a:lnTo>
                  <a:lnTo>
                    <a:pt x="4968064" y="562735"/>
                  </a:lnTo>
                  <a:lnTo>
                    <a:pt x="4982077" y="559906"/>
                  </a:lnTo>
                  <a:lnTo>
                    <a:pt x="4993521" y="552191"/>
                  </a:lnTo>
                  <a:lnTo>
                    <a:pt x="5001236" y="540748"/>
                  </a:lnTo>
                  <a:lnTo>
                    <a:pt x="5004065" y="5267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79205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57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5756"/>
                  </a:lnTo>
                  <a:lnTo>
                    <a:pt x="4999354" y="539387"/>
                  </a:lnTo>
                  <a:lnTo>
                    <a:pt x="4991849" y="550519"/>
                  </a:lnTo>
                  <a:lnTo>
                    <a:pt x="4980717" y="558025"/>
                  </a:lnTo>
                  <a:lnTo>
                    <a:pt x="4967085" y="560777"/>
                  </a:lnTo>
                  <a:lnTo>
                    <a:pt x="35021" y="560777"/>
                  </a:lnTo>
                  <a:lnTo>
                    <a:pt x="21389" y="558025"/>
                  </a:lnTo>
                  <a:lnTo>
                    <a:pt x="10257" y="550519"/>
                  </a:lnTo>
                  <a:lnTo>
                    <a:pt x="2752" y="539387"/>
                  </a:lnTo>
                  <a:lnTo>
                    <a:pt x="0" y="5257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2646" y="2661888"/>
            <a:ext cx="5015230" cy="420370"/>
            <a:chOff x="372646" y="2661888"/>
            <a:chExt cx="5015230" cy="420370"/>
          </a:xfrm>
        </p:grpSpPr>
        <p:sp>
          <p:nvSpPr>
            <p:cNvPr id="14" name="object 14"/>
            <p:cNvSpPr/>
            <p:nvPr/>
          </p:nvSpPr>
          <p:spPr>
            <a:xfrm>
              <a:off x="377994" y="2667236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8973" y="2668215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1718" y="371520"/>
            <a:ext cx="4972050" cy="2685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 dirty="0">
              <a:latin typeface="Courier New"/>
              <a:cs typeface="Courier New"/>
            </a:endParaRPr>
          </a:p>
          <a:p>
            <a:pPr marL="17780" marR="26543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python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pip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python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version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Output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</a:rPr>
              <a:t>Python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3.8.20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00" dirty="0">
              <a:latin typeface="Arial"/>
              <a:cs typeface="Arial"/>
            </a:endParaRPr>
          </a:p>
          <a:p>
            <a:pPr marL="215900" marR="4210050">
              <a:lnSpc>
                <a:spcPct val="107400"/>
              </a:lnSpc>
            </a:pPr>
            <a:r>
              <a:rPr sz="800" spc="-65" dirty="0">
                <a:latin typeface="Courier New"/>
                <a:cs typeface="Courier New"/>
              </a:rPr>
              <a:t>deactivate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8" name="object 1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4456430" cy="5080"/>
            </a:xfrm>
            <a:custGeom>
              <a:avLst/>
              <a:gdLst/>
              <a:ahLst/>
              <a:cxnLst/>
              <a:rect l="l" t="t" r="r" b="b"/>
              <a:pathLst>
                <a:path w="4456430" h="5080">
                  <a:moveTo>
                    <a:pt x="0" y="5060"/>
                  </a:moveTo>
                  <a:lnTo>
                    <a:pt x="0" y="0"/>
                  </a:lnTo>
                  <a:lnTo>
                    <a:pt x="4455935" y="0"/>
                  </a:lnTo>
                  <a:lnTo>
                    <a:pt x="44559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Working</a:t>
            </a:r>
            <a:r>
              <a:rPr spc="25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40" dirty="0"/>
              <a:t>environments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19308"/>
            <a:ext cx="5015230" cy="443865"/>
            <a:chOff x="372646" y="1019308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024655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25634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52423" y="1566087"/>
            <a:ext cx="384175" cy="146050"/>
            <a:chOff x="1252423" y="1566087"/>
            <a:chExt cx="384175" cy="146050"/>
          </a:xfrm>
        </p:grpSpPr>
        <p:sp>
          <p:nvSpPr>
            <p:cNvPr id="7" name="object 7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2423" y="1566087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3283" y="1566541"/>
            <a:ext cx="204657" cy="145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72646" y="2176685"/>
            <a:ext cx="5015230" cy="420370"/>
            <a:chOff x="372646" y="2176685"/>
            <a:chExt cx="5015230" cy="420370"/>
          </a:xfrm>
        </p:grpSpPr>
        <p:sp>
          <p:nvSpPr>
            <p:cNvPr id="11" name="object 11"/>
            <p:cNvSpPr/>
            <p:nvPr/>
          </p:nvSpPr>
          <p:spPr>
            <a:xfrm>
              <a:off x="377994" y="2182032"/>
              <a:ext cx="5004435" cy="409575"/>
            </a:xfrm>
            <a:custGeom>
              <a:avLst/>
              <a:gdLst/>
              <a:ahLst/>
              <a:cxnLst/>
              <a:rect l="l" t="t" r="r" b="b"/>
              <a:pathLst>
                <a:path w="5004435" h="4095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73309"/>
                  </a:lnTo>
                  <a:lnTo>
                    <a:pt x="2829" y="387322"/>
                  </a:lnTo>
                  <a:lnTo>
                    <a:pt x="10544" y="398765"/>
                  </a:lnTo>
                  <a:lnTo>
                    <a:pt x="21987" y="406480"/>
                  </a:lnTo>
                  <a:lnTo>
                    <a:pt x="36000" y="409309"/>
                  </a:lnTo>
                  <a:lnTo>
                    <a:pt x="4968064" y="409309"/>
                  </a:lnTo>
                  <a:lnTo>
                    <a:pt x="4982077" y="406480"/>
                  </a:lnTo>
                  <a:lnTo>
                    <a:pt x="4993521" y="398765"/>
                  </a:lnTo>
                  <a:lnTo>
                    <a:pt x="5001236" y="387322"/>
                  </a:lnTo>
                  <a:lnTo>
                    <a:pt x="5004065" y="37330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2183011"/>
              <a:ext cx="5002530" cy="407670"/>
            </a:xfrm>
            <a:custGeom>
              <a:avLst/>
              <a:gdLst/>
              <a:ahLst/>
              <a:cxnLst/>
              <a:rect l="l" t="t" r="r" b="b"/>
              <a:pathLst>
                <a:path w="5002530" h="407669">
                  <a:moveTo>
                    <a:pt x="0" y="37232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72329"/>
                  </a:lnTo>
                  <a:lnTo>
                    <a:pt x="4999354" y="385961"/>
                  </a:lnTo>
                  <a:lnTo>
                    <a:pt x="4991849" y="397093"/>
                  </a:lnTo>
                  <a:lnTo>
                    <a:pt x="4980717" y="404598"/>
                  </a:lnTo>
                  <a:lnTo>
                    <a:pt x="4967085" y="407350"/>
                  </a:lnTo>
                  <a:lnTo>
                    <a:pt x="35021" y="407350"/>
                  </a:lnTo>
                  <a:lnTo>
                    <a:pt x="21389" y="404598"/>
                  </a:lnTo>
                  <a:lnTo>
                    <a:pt x="10257" y="397093"/>
                  </a:lnTo>
                  <a:lnTo>
                    <a:pt x="2752" y="385961"/>
                  </a:lnTo>
                  <a:lnTo>
                    <a:pt x="0" y="37232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1718" y="775329"/>
            <a:ext cx="4770120" cy="1761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 dirty="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project2</a:t>
            </a:r>
            <a:endParaRPr sz="800" dirty="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.project2-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 dirty="0">
              <a:latin typeface="Courier New"/>
              <a:cs typeface="Courier New"/>
            </a:endParaRPr>
          </a:p>
          <a:p>
            <a:pPr marL="17780" marR="508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python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3.10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pip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packages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finished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project2: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 dirty="0">
              <a:latin typeface="Arial"/>
              <a:cs typeface="Arial"/>
            </a:endParaRPr>
          </a:p>
          <a:p>
            <a:pPr marL="215900" marR="4008120">
              <a:lnSpc>
                <a:spcPct val="107400"/>
              </a:lnSpc>
            </a:pPr>
            <a:r>
              <a:rPr sz="800" spc="-65" dirty="0">
                <a:latin typeface="Courier New"/>
                <a:cs typeface="Courier New"/>
              </a:rPr>
              <a:t>deactivate </a:t>
            </a: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..</a:t>
            </a:r>
            <a:endParaRPr sz="800" dirty="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4565015" cy="5080"/>
            </a:xfrm>
            <a:custGeom>
              <a:avLst/>
              <a:gdLst/>
              <a:ahLst/>
              <a:cxnLst/>
              <a:rect l="l" t="t" r="r" b="b"/>
              <a:pathLst>
                <a:path w="4565015" h="5080">
                  <a:moveTo>
                    <a:pt x="0" y="5060"/>
                  </a:moveTo>
                  <a:lnTo>
                    <a:pt x="0" y="0"/>
                  </a:lnTo>
                  <a:lnTo>
                    <a:pt x="4564570" y="0"/>
                  </a:lnTo>
                  <a:lnTo>
                    <a:pt x="45645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0" dirty="0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586261"/>
            <a:ext cx="5015230" cy="443865"/>
            <a:chOff x="372646" y="1586261"/>
            <a:chExt cx="5015230" cy="443865"/>
          </a:xfrm>
        </p:grpSpPr>
        <p:sp>
          <p:nvSpPr>
            <p:cNvPr id="4" name="object 4"/>
            <p:cNvSpPr/>
            <p:nvPr/>
          </p:nvSpPr>
          <p:spPr>
            <a:xfrm>
              <a:off x="377994" y="1591608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592587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4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1342270"/>
            <a:ext cx="375983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activated.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project1.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50" dirty="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sz="8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project1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800" spc="-60" dirty="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sz="800" spc="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.project1-</a:t>
            </a:r>
            <a:r>
              <a:rPr sz="800" spc="-10" dirty="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673600" cy="5080"/>
            </a:xfrm>
            <a:custGeom>
              <a:avLst/>
              <a:gdLst/>
              <a:ahLst/>
              <a:cxnLst/>
              <a:rect l="l" t="t" r="r" b="b"/>
              <a:pathLst>
                <a:path w="4673600" h="5080">
                  <a:moveTo>
                    <a:pt x="0" y="5060"/>
                  </a:moveTo>
                  <a:lnTo>
                    <a:pt x="0" y="0"/>
                  </a:lnTo>
                  <a:lnTo>
                    <a:pt x="4673292" y="0"/>
                  </a:lnTo>
                  <a:lnTo>
                    <a:pt x="4673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0" dirty="0"/>
              <a:t>(I)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06088"/>
            <a:ext cx="5015230" cy="311785"/>
            <a:chOff x="372646" y="1006088"/>
            <a:chExt cx="5015230" cy="311785"/>
          </a:xfrm>
        </p:grpSpPr>
        <p:sp>
          <p:nvSpPr>
            <p:cNvPr id="4" name="object 4"/>
            <p:cNvSpPr/>
            <p:nvPr/>
          </p:nvSpPr>
          <p:spPr>
            <a:xfrm>
              <a:off x="377994" y="1011435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825"/>
                  </a:lnTo>
                  <a:lnTo>
                    <a:pt x="2829" y="278838"/>
                  </a:lnTo>
                  <a:lnTo>
                    <a:pt x="10544" y="290281"/>
                  </a:lnTo>
                  <a:lnTo>
                    <a:pt x="21987" y="297996"/>
                  </a:lnTo>
                  <a:lnTo>
                    <a:pt x="36000" y="300825"/>
                  </a:lnTo>
                  <a:lnTo>
                    <a:pt x="4968064" y="300825"/>
                  </a:lnTo>
                  <a:lnTo>
                    <a:pt x="4982077" y="297996"/>
                  </a:lnTo>
                  <a:lnTo>
                    <a:pt x="4993521" y="290281"/>
                  </a:lnTo>
                  <a:lnTo>
                    <a:pt x="5001236" y="278838"/>
                  </a:lnTo>
                  <a:lnTo>
                    <a:pt x="5004065" y="2648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12414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4">
                  <a:moveTo>
                    <a:pt x="0" y="2638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846"/>
                  </a:lnTo>
                  <a:lnTo>
                    <a:pt x="4999354" y="277478"/>
                  </a:lnTo>
                  <a:lnTo>
                    <a:pt x="4991849" y="288610"/>
                  </a:lnTo>
                  <a:lnTo>
                    <a:pt x="4980717" y="296115"/>
                  </a:lnTo>
                  <a:lnTo>
                    <a:pt x="4967085" y="298867"/>
                  </a:lnTo>
                  <a:lnTo>
                    <a:pt x="35021" y="298867"/>
                  </a:lnTo>
                  <a:lnTo>
                    <a:pt x="21389" y="296115"/>
                  </a:lnTo>
                  <a:lnTo>
                    <a:pt x="10257" y="288610"/>
                  </a:lnTo>
                  <a:lnTo>
                    <a:pt x="2752" y="277478"/>
                  </a:lnTo>
                  <a:lnTo>
                    <a:pt x="0" y="2638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633191"/>
            <a:ext cx="5015230" cy="312420"/>
            <a:chOff x="372646" y="1633191"/>
            <a:chExt cx="5015230" cy="312420"/>
          </a:xfrm>
        </p:grpSpPr>
        <p:sp>
          <p:nvSpPr>
            <p:cNvPr id="7" name="object 7"/>
            <p:cNvSpPr/>
            <p:nvPr/>
          </p:nvSpPr>
          <p:spPr>
            <a:xfrm>
              <a:off x="377994" y="1638538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331"/>
                  </a:lnTo>
                  <a:lnTo>
                    <a:pt x="2829" y="279344"/>
                  </a:lnTo>
                  <a:lnTo>
                    <a:pt x="10544" y="290787"/>
                  </a:lnTo>
                  <a:lnTo>
                    <a:pt x="21987" y="298502"/>
                  </a:lnTo>
                  <a:lnTo>
                    <a:pt x="36000" y="301331"/>
                  </a:lnTo>
                  <a:lnTo>
                    <a:pt x="4968064" y="301331"/>
                  </a:lnTo>
                  <a:lnTo>
                    <a:pt x="4982077" y="298502"/>
                  </a:lnTo>
                  <a:lnTo>
                    <a:pt x="4993521" y="290787"/>
                  </a:lnTo>
                  <a:lnTo>
                    <a:pt x="5001236" y="279344"/>
                  </a:lnTo>
                  <a:lnTo>
                    <a:pt x="5004065" y="26533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639517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35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352"/>
                  </a:lnTo>
                  <a:lnTo>
                    <a:pt x="4999354" y="277984"/>
                  </a:lnTo>
                  <a:lnTo>
                    <a:pt x="4991849" y="289115"/>
                  </a:lnTo>
                  <a:lnTo>
                    <a:pt x="4980717" y="296621"/>
                  </a:lnTo>
                  <a:lnTo>
                    <a:pt x="4967085" y="299373"/>
                  </a:lnTo>
                  <a:lnTo>
                    <a:pt x="35021" y="299373"/>
                  </a:lnTo>
                  <a:lnTo>
                    <a:pt x="21389" y="296621"/>
                  </a:lnTo>
                  <a:lnTo>
                    <a:pt x="10257" y="289115"/>
                  </a:lnTo>
                  <a:lnTo>
                    <a:pt x="2752" y="277984"/>
                  </a:lnTo>
                  <a:lnTo>
                    <a:pt x="0" y="26435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523107"/>
            <a:ext cx="5013325" cy="233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two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ways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server: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localhost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10" dirty="0">
                <a:latin typeface="Courier New"/>
                <a:cs typeface="Courier New"/>
              </a:rPr>
              <a:t> notebook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Char char="•"/>
              <a:tabLst>
                <a:tab pos="24511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1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r>
              <a:rPr sz="800" spc="-10" dirty="0">
                <a:solidFill>
                  <a:srgbClr val="BC7A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solidFill>
                  <a:srgbClr val="BC7A00"/>
                </a:solidFill>
                <a:latin typeface="Courier New"/>
                <a:cs typeface="Courier New"/>
              </a:rPr>
              <a:t>?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245110" indent="-147320">
              <a:lnSpc>
                <a:spcPct val="100000"/>
              </a:lnSpc>
              <a:buFont typeface="Arial"/>
              <a:buChar char="•"/>
              <a:tabLst>
                <a:tab pos="24511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50"/>
              </a:spcBef>
              <a:buChar char="•"/>
              <a:tabLst>
                <a:tab pos="47307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0.0.0.0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8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Listen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sz="800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7307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IP: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8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8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24511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473709" marR="5080" lvl="1" indent="-140970">
              <a:lnSpc>
                <a:spcPts val="1030"/>
              </a:lnSpc>
              <a:spcBef>
                <a:spcPts val="30"/>
              </a:spcBef>
              <a:buChar char="•"/>
              <a:tabLst>
                <a:tab pos="473709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(default):</a:t>
            </a:r>
            <a:r>
              <a:rPr sz="8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sz="8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22373A"/>
                </a:solidFill>
                <a:latin typeface="Arial"/>
                <a:cs typeface="Arial"/>
              </a:rPr>
              <a:t>opened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800" b="1" spc="-10" dirty="0">
                <a:solidFill>
                  <a:srgbClr val="22373A"/>
                </a:solidFill>
                <a:latin typeface="Arial"/>
                <a:cs typeface="Arial"/>
              </a:rPr>
              <a:t> group.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82185" cy="5080"/>
            </a:xfrm>
            <a:custGeom>
              <a:avLst/>
              <a:gdLst/>
              <a:ahLst/>
              <a:cxnLst/>
              <a:rect l="l" t="t" r="r" b="b"/>
              <a:pathLst>
                <a:path w="4782185" h="5080">
                  <a:moveTo>
                    <a:pt x="0" y="5060"/>
                  </a:moveTo>
                  <a:lnTo>
                    <a:pt x="0" y="0"/>
                  </a:lnTo>
                  <a:lnTo>
                    <a:pt x="4781926" y="0"/>
                  </a:lnTo>
                  <a:lnTo>
                    <a:pt x="47819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Opening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port</a:t>
            </a:r>
            <a:r>
              <a:rPr spc="20" dirty="0"/>
              <a:t> </a:t>
            </a:r>
            <a:r>
              <a:rPr spc="-20" dirty="0"/>
              <a:t>8888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395634"/>
            <a:ext cx="3601720" cy="10560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(EC2).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launch-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wizard-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sz="900">
              <a:latin typeface="Arial"/>
              <a:cs typeface="Arial"/>
            </a:endParaRPr>
          </a:p>
          <a:p>
            <a:pPr marL="384810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384810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Type:</a:t>
            </a:r>
            <a:r>
              <a:rPr sz="8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Custom</a:t>
            </a:r>
            <a:r>
              <a:rPr sz="8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TCP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Range:</a:t>
            </a:r>
            <a:r>
              <a:rPr sz="8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8888</a:t>
            </a:r>
            <a:endParaRPr sz="800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Source: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(0.0.0.0/0)</a:t>
            </a:r>
            <a:endParaRPr sz="8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old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HTTP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(port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80).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68" y="1575063"/>
            <a:ext cx="2519863" cy="11976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19" y="1575061"/>
            <a:ext cx="2519968" cy="13771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890770" cy="5080"/>
            </a:xfrm>
            <a:custGeom>
              <a:avLst/>
              <a:gdLst/>
              <a:ahLst/>
              <a:cxnLst/>
              <a:rect l="l" t="t" r="r" b="b"/>
              <a:pathLst>
                <a:path w="4890770" h="5080">
                  <a:moveTo>
                    <a:pt x="0" y="5060"/>
                  </a:moveTo>
                  <a:lnTo>
                    <a:pt x="0" y="0"/>
                  </a:lnTo>
                  <a:lnTo>
                    <a:pt x="4890648" y="0"/>
                  </a:lnTo>
                  <a:lnTo>
                    <a:pt x="48906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spc="-10" dirty="0"/>
              <a:t>Notebook</a:t>
            </a:r>
            <a:r>
              <a:rPr spc="15" dirty="0"/>
              <a:t> </a:t>
            </a:r>
            <a:r>
              <a:rPr spc="55" dirty="0"/>
              <a:t>(II)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376515"/>
            <a:ext cx="5015230" cy="574040"/>
            <a:chOff x="372646" y="376515"/>
            <a:chExt cx="5015230" cy="574040"/>
          </a:xfrm>
        </p:grpSpPr>
        <p:sp>
          <p:nvSpPr>
            <p:cNvPr id="4" name="object 4"/>
            <p:cNvSpPr/>
            <p:nvPr/>
          </p:nvSpPr>
          <p:spPr>
            <a:xfrm>
              <a:off x="377994" y="381862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382841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40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429310"/>
            <a:ext cx="2766695" cy="4184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00" spc="-60" dirty="0">
                <a:latin typeface="Courier New"/>
                <a:cs typeface="Courier New"/>
              </a:rPr>
              <a:t>jupyter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notebook</a:t>
            </a:r>
            <a:r>
              <a:rPr sz="800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55" dirty="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55" dirty="0">
                <a:latin typeface="Courier New"/>
                <a:cs typeface="Courier New"/>
              </a:rPr>
              <a:t>0.0.0.0</a:t>
            </a:r>
            <a:r>
              <a:rPr sz="800" spc="-5" dirty="0">
                <a:latin typeface="Courier New"/>
                <a:cs typeface="Courier New"/>
              </a:rPr>
              <a:t> </a:t>
            </a:r>
            <a:r>
              <a:rPr sz="800" spc="-60" dirty="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sz="800" spc="-10" dirty="0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sz="8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0" dirty="0">
                <a:latin typeface="Courier New"/>
                <a:cs typeface="Courier New"/>
              </a:rPr>
              <a:t>8888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# </a:t>
            </a:r>
            <a:r>
              <a:rPr sz="800" i="1" spc="-65" dirty="0">
                <a:solidFill>
                  <a:srgbClr val="60A0AF"/>
                </a:solidFill>
                <a:latin typeface="Courier New"/>
                <a:cs typeface="Courier New"/>
              </a:rPr>
              <a:t>In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60" dirty="0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sz="800" i="1" spc="-5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800" i="1" spc="-10" dirty="0">
                <a:solidFill>
                  <a:srgbClr val="60A0AF"/>
                </a:solidFill>
                <a:latin typeface="Courier New"/>
                <a:cs typeface="Courier New"/>
              </a:rPr>
              <a:t>browser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00" spc="-60" dirty="0">
                <a:latin typeface="Courier New"/>
                <a:cs typeface="Courier New"/>
                <a:hlinkClick r:id="rId2"/>
              </a:rPr>
              <a:t>http://ec2-3-87-76-117.compute-</a:t>
            </a:r>
            <a:r>
              <a:rPr sz="800" spc="-55" dirty="0">
                <a:latin typeface="Courier New"/>
                <a:cs typeface="Courier New"/>
                <a:hlinkClick r:id="rId2"/>
              </a:rPr>
              <a:t>1.amazonaws.com:8888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053142"/>
            <a:ext cx="15513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17" y="1277768"/>
            <a:ext cx="2519972" cy="18592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87294" y="1053142"/>
            <a:ext cx="14801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After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0108" y="1277764"/>
            <a:ext cx="2519795" cy="180112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999355" cy="5080"/>
            </a:xfrm>
            <a:custGeom>
              <a:avLst/>
              <a:gdLst/>
              <a:ahLst/>
              <a:cxnLst/>
              <a:rect l="l" t="t" r="r" b="b"/>
              <a:pathLst>
                <a:path w="4999355" h="5080">
                  <a:moveTo>
                    <a:pt x="0" y="5060"/>
                  </a:moveTo>
                  <a:lnTo>
                    <a:pt x="0" y="0"/>
                  </a:lnTo>
                  <a:lnTo>
                    <a:pt x="4999282" y="0"/>
                  </a:lnTo>
                  <a:lnTo>
                    <a:pt x="499928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Accessing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Jupyter</a:t>
            </a:r>
            <a:r>
              <a:rPr spc="30" dirty="0"/>
              <a:t> </a:t>
            </a:r>
            <a:r>
              <a:rPr spc="-1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367" y="703200"/>
            <a:ext cx="384175" cy="123189"/>
            <a:chOff x="2459367" y="703200"/>
            <a:chExt cx="384175" cy="123189"/>
          </a:xfrm>
        </p:grpSpPr>
        <p:sp>
          <p:nvSpPr>
            <p:cNvPr id="4" name="object 4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59367" y="703200"/>
              <a:ext cx="384175" cy="123189"/>
            </a:xfrm>
            <a:custGeom>
              <a:avLst/>
              <a:gdLst/>
              <a:ahLst/>
              <a:cxnLst/>
              <a:rect l="l" t="t" r="r" b="b"/>
              <a:pathLst>
                <a:path w="384175" h="12319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348009" y="122693"/>
                  </a:lnTo>
                  <a:lnTo>
                    <a:pt x="362022" y="119864"/>
                  </a:lnTo>
                  <a:lnTo>
                    <a:pt x="373465" y="112148"/>
                  </a:lnTo>
                  <a:lnTo>
                    <a:pt x="381180" y="100705"/>
                  </a:lnTo>
                  <a:lnTo>
                    <a:pt x="384009" y="86692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111423" y="703200"/>
            <a:ext cx="742950" cy="123189"/>
            <a:chOff x="3111423" y="703200"/>
            <a:chExt cx="742950" cy="123189"/>
          </a:xfrm>
        </p:grpSpPr>
        <p:sp>
          <p:nvSpPr>
            <p:cNvPr id="7" name="object 7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11423" y="70320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90744"/>
            <a:ext cx="48761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token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browser.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(If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trouble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copying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token,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Courier New"/>
                <a:cs typeface="Courier New"/>
              </a:rPr>
              <a:t>Ctrl+C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Ctrl+Shift+C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terminal).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958650"/>
            <a:ext cx="2519990" cy="1895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32" y="958660"/>
            <a:ext cx="2519946" cy="189839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108575" cy="5080"/>
            </a:xfrm>
            <a:custGeom>
              <a:avLst/>
              <a:gdLst/>
              <a:ahLst/>
              <a:cxnLst/>
              <a:rect l="l" t="t" r="r" b="b"/>
              <a:pathLst>
                <a:path w="5108575" h="5080">
                  <a:moveTo>
                    <a:pt x="0" y="5060"/>
                  </a:moveTo>
                  <a:lnTo>
                    <a:pt x="0" y="0"/>
                  </a:lnTo>
                  <a:lnTo>
                    <a:pt x="5108005" y="0"/>
                  </a:lnTo>
                  <a:lnTo>
                    <a:pt x="51080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Accessing</a:t>
            </a:r>
            <a:r>
              <a:rPr spc="3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20" dirty="0"/>
              <a:t>Jupyter</a:t>
            </a:r>
            <a:r>
              <a:rPr spc="30" dirty="0"/>
              <a:t> </a:t>
            </a:r>
            <a:r>
              <a:rPr spc="-10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5483" y="1012816"/>
            <a:ext cx="504190" cy="147320"/>
            <a:chOff x="1355483" y="1012816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548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200093" y="1012816"/>
            <a:ext cx="504190" cy="147320"/>
            <a:chOff x="4200093" y="101281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00093" y="101281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8" y="147290"/>
                  </a:lnTo>
                  <a:lnTo>
                    <a:pt x="481590" y="144460"/>
                  </a:lnTo>
                  <a:lnTo>
                    <a:pt x="493034" y="136745"/>
                  </a:lnTo>
                  <a:lnTo>
                    <a:pt x="500749" y="125302"/>
                  </a:lnTo>
                  <a:lnTo>
                    <a:pt x="503578" y="111289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424746"/>
            <a:ext cx="499237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Notebook, to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sz="900">
              <a:latin typeface="Arial"/>
              <a:cs typeface="Arial"/>
            </a:endParaRPr>
          </a:p>
          <a:p>
            <a:pPr marL="239395" indent="-147320" algn="just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sz="900">
              <a:latin typeface="Arial"/>
              <a:cs typeface="Arial"/>
            </a:endParaRPr>
          </a:p>
          <a:p>
            <a:pPr marL="234950" marR="5080" indent="-143510" algn="just">
              <a:lnSpc>
                <a:spcPct val="116199"/>
              </a:lnSpc>
              <a:buAutoNum type="arabicPeriod"/>
              <a:tabLst>
                <a:tab pos="240029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prompted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kernel.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fail,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Python</a:t>
            </a:r>
            <a:r>
              <a:rPr sz="900" spc="-75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3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Python</a:t>
            </a:r>
            <a:r>
              <a:rPr sz="900" spc="-75" dirty="0">
                <a:latin typeface="Courier New"/>
                <a:cs typeface="Courier New"/>
              </a:rPr>
              <a:t> </a:t>
            </a:r>
            <a:r>
              <a:rPr sz="900" spc="-70" dirty="0">
                <a:latin typeface="Courier New"/>
                <a:cs typeface="Courier New"/>
              </a:rPr>
              <a:t>3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fine,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	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8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(we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demonstration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9209" y="1388954"/>
            <a:ext cx="2261587" cy="11994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12772" y="2722408"/>
            <a:ext cx="19348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23:</a:t>
            </a:r>
            <a:r>
              <a:rPr sz="800" b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kernel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217160" cy="5080"/>
            </a:xfrm>
            <a:custGeom>
              <a:avLst/>
              <a:gdLst/>
              <a:ahLst/>
              <a:cxnLst/>
              <a:rect l="l" t="t" r="r" b="b"/>
              <a:pathLst>
                <a:path w="5217160" h="5080">
                  <a:moveTo>
                    <a:pt x="0" y="5060"/>
                  </a:moveTo>
                  <a:lnTo>
                    <a:pt x="0" y="0"/>
                  </a:lnTo>
                  <a:lnTo>
                    <a:pt x="5216639" y="0"/>
                  </a:lnTo>
                  <a:lnTo>
                    <a:pt x="52166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Running</a:t>
            </a:r>
            <a:r>
              <a:rPr spc="10" dirty="0"/>
              <a:t> </a:t>
            </a:r>
            <a:r>
              <a:rPr spc="-30" dirty="0"/>
              <a:t>python</a:t>
            </a:r>
            <a:r>
              <a:rPr spc="15" dirty="0"/>
              <a:t> </a:t>
            </a:r>
            <a:r>
              <a:rPr spc="-25" dirty="0"/>
              <a:t>code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657" y="735520"/>
            <a:ext cx="2494915" cy="1490980"/>
            <a:chOff x="252657" y="735520"/>
            <a:chExt cx="2494915" cy="1490980"/>
          </a:xfrm>
        </p:grpSpPr>
        <p:sp>
          <p:nvSpPr>
            <p:cNvPr id="4" name="object 4"/>
            <p:cNvSpPr/>
            <p:nvPr/>
          </p:nvSpPr>
          <p:spPr>
            <a:xfrm>
              <a:off x="258004" y="740868"/>
              <a:ext cx="2484120" cy="1480185"/>
            </a:xfrm>
            <a:custGeom>
              <a:avLst/>
              <a:gdLst/>
              <a:ahLst/>
              <a:cxnLst/>
              <a:rect l="l" t="t" r="r" b="b"/>
              <a:pathLst>
                <a:path w="2484120" h="1480185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2448032" y="1479926"/>
                  </a:lnTo>
                  <a:lnTo>
                    <a:pt x="2462045" y="1477097"/>
                  </a:lnTo>
                  <a:lnTo>
                    <a:pt x="2473488" y="1469381"/>
                  </a:lnTo>
                  <a:lnTo>
                    <a:pt x="2481203" y="1457938"/>
                  </a:lnTo>
                  <a:lnTo>
                    <a:pt x="2484032" y="1443925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983" y="741847"/>
              <a:ext cx="2482215" cy="1478280"/>
            </a:xfrm>
            <a:custGeom>
              <a:avLst/>
              <a:gdLst/>
              <a:ahLst/>
              <a:cxnLst/>
              <a:rect l="l" t="t" r="r" b="b"/>
              <a:pathLst>
                <a:path w="2482215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1442946"/>
                  </a:lnTo>
                  <a:lnTo>
                    <a:pt x="2479321" y="1456578"/>
                  </a:lnTo>
                  <a:lnTo>
                    <a:pt x="2471816" y="1467710"/>
                  </a:lnTo>
                  <a:lnTo>
                    <a:pt x="2460684" y="1475215"/>
                  </a:lnTo>
                  <a:lnTo>
                    <a:pt x="2447052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371520"/>
            <a:ext cx="3636010" cy="1751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</a:pP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sz="800" spc="-55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matplotlib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5"/>
              </a:spcBef>
            </a:pPr>
            <a:r>
              <a:rPr sz="800" spc="-55" dirty="0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sz="800" spc="-55" dirty="0">
                <a:latin typeface="Courier New"/>
                <a:cs typeface="Courier New"/>
              </a:rPr>
              <a:t>pip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install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numpy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matplotlib.pyplot</a:t>
            </a:r>
            <a:r>
              <a:rPr sz="800" spc="-25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plt</a:t>
            </a:r>
            <a:endParaRPr sz="8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  <a:spcBef>
                <a:spcPts val="70"/>
              </a:spcBef>
            </a:pPr>
            <a:r>
              <a:rPr sz="800" b="1" spc="-65" dirty="0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60" dirty="0">
                <a:latin typeface="Courier New"/>
                <a:cs typeface="Courier New"/>
              </a:rPr>
              <a:t>numpy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b="1" spc="-60" dirty="0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sz="800" b="1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latin typeface="Courier New"/>
                <a:cs typeface="Courier New"/>
              </a:rPr>
              <a:t>np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90170" marR="2085339">
              <a:lnSpc>
                <a:spcPct val="107400"/>
              </a:lnSpc>
            </a:pPr>
            <a:r>
              <a:rPr sz="800" dirty="0">
                <a:latin typeface="Courier New"/>
                <a:cs typeface="Courier New"/>
              </a:rPr>
              <a:t>x</a:t>
            </a:r>
            <a:r>
              <a:rPr sz="800" spc="-105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8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55" dirty="0">
                <a:latin typeface="Courier New"/>
                <a:cs typeface="Courier New"/>
              </a:rPr>
              <a:t>np.linspace(</a:t>
            </a:r>
            <a:r>
              <a:rPr sz="800" spc="-55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800" spc="-55" dirty="0">
                <a:latin typeface="Courier New"/>
                <a:cs typeface="Courier New"/>
              </a:rPr>
              <a:t>,</a:t>
            </a:r>
            <a:r>
              <a:rPr sz="800" spc="-60" dirty="0">
                <a:latin typeface="Courier New"/>
                <a:cs typeface="Courier New"/>
              </a:rPr>
              <a:t> </a:t>
            </a:r>
            <a:r>
              <a:rPr sz="800" spc="-50" dirty="0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sz="800" spc="-50" dirty="0">
                <a:latin typeface="Courier New"/>
                <a:cs typeface="Courier New"/>
              </a:rPr>
              <a:t>,</a:t>
            </a:r>
            <a:r>
              <a:rPr sz="800" spc="-70" dirty="0">
                <a:latin typeface="Courier New"/>
                <a:cs typeface="Courier New"/>
              </a:rPr>
              <a:t> </a:t>
            </a:r>
            <a:r>
              <a:rPr sz="800" spc="-55" dirty="0">
                <a:solidFill>
                  <a:srgbClr val="3FA070"/>
                </a:solidFill>
                <a:latin typeface="Courier New"/>
                <a:cs typeface="Courier New"/>
              </a:rPr>
              <a:t>100</a:t>
            </a:r>
            <a:r>
              <a:rPr sz="800" spc="-55" dirty="0">
                <a:latin typeface="Courier New"/>
                <a:cs typeface="Courier New"/>
              </a:rPr>
              <a:t>) </a:t>
            </a:r>
            <a:r>
              <a:rPr sz="800" dirty="0">
                <a:latin typeface="Courier New"/>
                <a:cs typeface="Courier New"/>
              </a:rPr>
              <a:t>y</a:t>
            </a:r>
            <a:r>
              <a:rPr sz="800" spc="-114" dirty="0"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800" spc="-1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latin typeface="Courier New"/>
                <a:cs typeface="Courier New"/>
              </a:rPr>
              <a:t>np.sin(x)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90170" marR="2784475">
              <a:lnSpc>
                <a:spcPct val="107400"/>
              </a:lnSpc>
            </a:pPr>
            <a:r>
              <a:rPr sz="800" spc="-55" dirty="0">
                <a:latin typeface="Courier New"/>
                <a:cs typeface="Courier New"/>
              </a:rPr>
              <a:t>plt.plot(x,</a:t>
            </a:r>
            <a:r>
              <a:rPr sz="800" spc="-30" dirty="0">
                <a:latin typeface="Courier New"/>
                <a:cs typeface="Courier New"/>
              </a:rPr>
              <a:t> </a:t>
            </a:r>
            <a:r>
              <a:rPr sz="800" spc="-70" dirty="0">
                <a:latin typeface="Courier New"/>
                <a:cs typeface="Courier New"/>
              </a:rPr>
              <a:t>y) </a:t>
            </a:r>
            <a:r>
              <a:rPr sz="800" spc="-10" dirty="0">
                <a:latin typeface="Courier New"/>
                <a:cs typeface="Courier New"/>
              </a:rPr>
              <a:t>plt.show()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778" y="657405"/>
            <a:ext cx="1958437" cy="239915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325745" cy="5080"/>
            </a:xfrm>
            <a:custGeom>
              <a:avLst/>
              <a:gdLst/>
              <a:ahLst/>
              <a:cxnLst/>
              <a:rect l="l" t="t" r="r" b="b"/>
              <a:pathLst>
                <a:path w="5325745" h="5080">
                  <a:moveTo>
                    <a:pt x="0" y="5060"/>
                  </a:moveTo>
                  <a:lnTo>
                    <a:pt x="0" y="0"/>
                  </a:lnTo>
                  <a:lnTo>
                    <a:pt x="5325361" y="0"/>
                  </a:lnTo>
                  <a:lnTo>
                    <a:pt x="53253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Commands</a:t>
            </a:r>
            <a:r>
              <a:rPr spc="45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spc="-25" dirty="0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7743" y="763160"/>
            <a:ext cx="2536825" cy="466090"/>
            <a:chOff x="587743" y="763160"/>
            <a:chExt cx="2536825" cy="466090"/>
          </a:xfrm>
        </p:grpSpPr>
        <p:sp>
          <p:nvSpPr>
            <p:cNvPr id="4" name="object 4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7743" y="763160"/>
              <a:ext cx="2536825" cy="147320"/>
            </a:xfrm>
            <a:custGeom>
              <a:avLst/>
              <a:gdLst/>
              <a:ahLst/>
              <a:cxnLst/>
              <a:rect l="l" t="t" r="r" b="b"/>
              <a:pathLst>
                <a:path w="2536825" h="147319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500237" y="147290"/>
                  </a:lnTo>
                  <a:lnTo>
                    <a:pt x="2514250" y="144460"/>
                  </a:lnTo>
                  <a:lnTo>
                    <a:pt x="2525693" y="136745"/>
                  </a:lnTo>
                  <a:lnTo>
                    <a:pt x="2533408" y="125302"/>
                  </a:lnTo>
                  <a:lnTo>
                    <a:pt x="2536237" y="111289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743" y="922494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7743" y="1073616"/>
              <a:ext cx="2058035" cy="155575"/>
            </a:xfrm>
            <a:custGeom>
              <a:avLst/>
              <a:gdLst/>
              <a:ahLst/>
              <a:cxnLst/>
              <a:rect l="l" t="t" r="r" b="b"/>
              <a:pathLst>
                <a:path w="2058035" h="155575">
                  <a:moveTo>
                    <a:pt x="202196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21963" y="155489"/>
                  </a:lnTo>
                  <a:lnTo>
                    <a:pt x="2035977" y="152659"/>
                  </a:lnTo>
                  <a:lnTo>
                    <a:pt x="2047420" y="144944"/>
                  </a:lnTo>
                  <a:lnTo>
                    <a:pt x="2055135" y="133501"/>
                  </a:lnTo>
                  <a:lnTo>
                    <a:pt x="2057964" y="119488"/>
                  </a:lnTo>
                  <a:lnTo>
                    <a:pt x="2057964" y="36000"/>
                  </a:lnTo>
                  <a:lnTo>
                    <a:pt x="2055135" y="21987"/>
                  </a:lnTo>
                  <a:lnTo>
                    <a:pt x="2047420" y="10544"/>
                  </a:lnTo>
                  <a:lnTo>
                    <a:pt x="2035977" y="2829"/>
                  </a:lnTo>
                  <a:lnTo>
                    <a:pt x="202196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364826" y="1081815"/>
            <a:ext cx="862330" cy="147320"/>
            <a:chOff x="3364826" y="1081815"/>
            <a:chExt cx="862330" cy="147320"/>
          </a:xfrm>
        </p:grpSpPr>
        <p:sp>
          <p:nvSpPr>
            <p:cNvPr id="11" name="object 11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64826" y="1081815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29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7743" y="1401724"/>
            <a:ext cx="1161415" cy="146050"/>
            <a:chOff x="587743" y="1401724"/>
            <a:chExt cx="1161415" cy="146050"/>
          </a:xfrm>
        </p:grpSpPr>
        <p:sp>
          <p:nvSpPr>
            <p:cNvPr id="14" name="object 14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401724"/>
              <a:ext cx="1161415" cy="146050"/>
            </a:xfrm>
            <a:custGeom>
              <a:avLst/>
              <a:gdLst/>
              <a:ahLst/>
              <a:cxnLst/>
              <a:rect l="l" t="t" r="r" b="b"/>
              <a:pathLst>
                <a:path w="1161414" h="146050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1125202" y="146037"/>
                  </a:lnTo>
                  <a:lnTo>
                    <a:pt x="1139215" y="143208"/>
                  </a:lnTo>
                  <a:lnTo>
                    <a:pt x="1150658" y="135493"/>
                  </a:lnTo>
                  <a:lnTo>
                    <a:pt x="1158373" y="124050"/>
                  </a:lnTo>
                  <a:lnTo>
                    <a:pt x="1161202" y="110037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87743" y="1720377"/>
            <a:ext cx="1520190" cy="305435"/>
            <a:chOff x="587743" y="1720377"/>
            <a:chExt cx="1520190" cy="305435"/>
          </a:xfrm>
        </p:grpSpPr>
        <p:sp>
          <p:nvSpPr>
            <p:cNvPr id="17" name="object 17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7743" y="1720377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7743" y="1878448"/>
              <a:ext cx="1520190" cy="147320"/>
            </a:xfrm>
            <a:custGeom>
              <a:avLst/>
              <a:gdLst/>
              <a:ahLst/>
              <a:cxnLst/>
              <a:rect l="l" t="t" r="r" b="b"/>
              <a:pathLst>
                <a:path w="1520189" h="147319">
                  <a:moveTo>
                    <a:pt x="148390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483907" y="147290"/>
                  </a:lnTo>
                  <a:lnTo>
                    <a:pt x="1497920" y="144460"/>
                  </a:lnTo>
                  <a:lnTo>
                    <a:pt x="1509363" y="136745"/>
                  </a:lnTo>
                  <a:lnTo>
                    <a:pt x="1517078" y="125302"/>
                  </a:lnTo>
                  <a:lnTo>
                    <a:pt x="1519907" y="111289"/>
                  </a:lnTo>
                  <a:lnTo>
                    <a:pt x="1519907" y="36000"/>
                  </a:lnTo>
                  <a:lnTo>
                    <a:pt x="1517078" y="21987"/>
                  </a:lnTo>
                  <a:lnTo>
                    <a:pt x="1509363" y="10544"/>
                  </a:lnTo>
                  <a:lnTo>
                    <a:pt x="1497920" y="2829"/>
                  </a:lnTo>
                  <a:lnTo>
                    <a:pt x="148390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87743" y="2197104"/>
            <a:ext cx="2476500" cy="147320"/>
            <a:chOff x="587743" y="2197104"/>
            <a:chExt cx="2476500" cy="147320"/>
          </a:xfrm>
        </p:grpSpPr>
        <p:sp>
          <p:nvSpPr>
            <p:cNvPr id="22" name="object 22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7743" y="2197104"/>
              <a:ext cx="2476500" cy="147320"/>
            </a:xfrm>
            <a:custGeom>
              <a:avLst/>
              <a:gdLst/>
              <a:ahLst/>
              <a:cxnLst/>
              <a:rect l="l" t="t" r="r" b="b"/>
              <a:pathLst>
                <a:path w="2476500" h="147319">
                  <a:moveTo>
                    <a:pt x="244045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2440452" y="147290"/>
                  </a:lnTo>
                  <a:lnTo>
                    <a:pt x="2454465" y="144460"/>
                  </a:lnTo>
                  <a:lnTo>
                    <a:pt x="2465909" y="136745"/>
                  </a:lnTo>
                  <a:lnTo>
                    <a:pt x="2473624" y="125302"/>
                  </a:lnTo>
                  <a:lnTo>
                    <a:pt x="2476453" y="111289"/>
                  </a:lnTo>
                  <a:lnTo>
                    <a:pt x="2476453" y="36000"/>
                  </a:lnTo>
                  <a:lnTo>
                    <a:pt x="2473624" y="21987"/>
                  </a:lnTo>
                  <a:lnTo>
                    <a:pt x="2465909" y="10544"/>
                  </a:lnTo>
                  <a:lnTo>
                    <a:pt x="2454465" y="2829"/>
                  </a:lnTo>
                  <a:lnTo>
                    <a:pt x="244045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87743" y="2517007"/>
            <a:ext cx="623570" cy="121285"/>
            <a:chOff x="587743" y="2517007"/>
            <a:chExt cx="623570" cy="121285"/>
          </a:xfrm>
        </p:grpSpPr>
        <p:sp>
          <p:nvSpPr>
            <p:cNvPr id="25" name="object 25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7743" y="2517007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69" h="12128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7126" y="710035"/>
            <a:ext cx="4786630" cy="19373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uv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venv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--seed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--python</a:t>
            </a:r>
            <a:r>
              <a:rPr sz="900" spc="-70" dirty="0">
                <a:latin typeface="Courier New"/>
                <a:cs typeface="Courier New"/>
              </a:rPr>
              <a:t> 3.8 </a:t>
            </a: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10" dirty="0">
                <a:latin typeface="Courier New"/>
                <a:cs typeface="Courier New"/>
              </a:rPr>
              <a:t>venv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3.8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endParaRPr sz="900" dirty="0">
              <a:latin typeface="Arial"/>
              <a:cs typeface="Arial"/>
            </a:endParaRPr>
          </a:p>
          <a:p>
            <a:pPr marL="172720">
              <a:lnSpc>
                <a:spcPct val="100000"/>
              </a:lnSpc>
              <a:spcBef>
                <a:spcPts val="175"/>
              </a:spcBef>
            </a:pP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10" dirty="0">
                <a:latin typeface="Courier New"/>
                <a:cs typeface="Courier New"/>
              </a:rPr>
              <a:t>venv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160020" marR="209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5" dirty="0">
                <a:latin typeface="Courier New"/>
                <a:cs typeface="Courier New"/>
              </a:rPr>
              <a:t>source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.project1-</a:t>
            </a:r>
            <a:r>
              <a:rPr sz="900" spc="-60" dirty="0">
                <a:latin typeface="Courier New"/>
                <a:cs typeface="Courier New"/>
              </a:rPr>
              <a:t>venv/bin/activate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.project1-venv</a:t>
            </a:r>
            <a:r>
              <a:rPr sz="900" spc="-135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(You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environment).</a:t>
            </a:r>
            <a:endParaRPr sz="900" dirty="0">
              <a:latin typeface="Arial"/>
              <a:cs typeface="Arial"/>
            </a:endParaRPr>
          </a:p>
          <a:p>
            <a:pPr marL="160020" marR="96520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40" dirty="0">
                <a:latin typeface="Courier New"/>
                <a:cs typeface="Courier New"/>
              </a:rPr>
              <a:t>jupyter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first).</a:t>
            </a:r>
            <a:endParaRPr sz="900" dirty="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35" dirty="0">
                <a:latin typeface="Courier New"/>
                <a:cs typeface="Courier New"/>
              </a:rPr>
              <a:t>pandas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Pandas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  <a:p>
            <a:pPr marL="157480" marR="92710" indent="-145415">
              <a:lnSpc>
                <a:spcPct val="116199"/>
              </a:lnSpc>
              <a:buFont typeface="Arial"/>
              <a:buChar char="•"/>
              <a:tabLst>
                <a:tab pos="15748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pip install </a:t>
            </a:r>
            <a:r>
              <a:rPr sz="900" spc="-75" dirty="0">
                <a:latin typeface="Courier New"/>
                <a:cs typeface="Courier New"/>
              </a:rPr>
              <a:t>numpy==1.21.0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version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package.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(In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case,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Numpy 1.21.0).</a:t>
            </a:r>
            <a:endParaRPr sz="900" dirty="0">
              <a:latin typeface="Arial"/>
              <a:cs typeface="Arial"/>
            </a:endParaRPr>
          </a:p>
          <a:p>
            <a:pPr marL="160020" marR="59055" indent="-147955">
              <a:lnSpc>
                <a:spcPct val="116199"/>
              </a:lnSpc>
              <a:buFont typeface="Arial"/>
              <a:buChar char="•"/>
              <a:tabLst>
                <a:tab pos="160020" algn="l"/>
                <a:tab pos="172085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spc="-70" dirty="0">
                <a:latin typeface="Courier New"/>
                <a:cs typeface="Courier New"/>
              </a:rPr>
              <a:t>jupyter notebook </a:t>
            </a:r>
            <a:r>
              <a:rPr sz="900" spc="-75" dirty="0">
                <a:latin typeface="Courier New"/>
                <a:cs typeface="Courier New"/>
              </a:rPr>
              <a:t>--</a:t>
            </a:r>
            <a:r>
              <a:rPr sz="900" spc="-70" dirty="0">
                <a:latin typeface="Courier New"/>
                <a:cs typeface="Courier New"/>
              </a:rPr>
              <a:t>port=8888 </a:t>
            </a:r>
            <a:r>
              <a:rPr sz="900" spc="-75" dirty="0">
                <a:latin typeface="Courier New"/>
                <a:cs typeface="Courier New"/>
              </a:rPr>
              <a:t>--ip=0.0.0.0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s-ES" sz="900" spc="-20">
                <a:solidFill>
                  <a:srgbClr val="22373A"/>
                </a:solidFill>
                <a:latin typeface="Arial"/>
                <a:cs typeface="Arial"/>
              </a:rPr>
              <a:t>888</a:t>
            </a:r>
            <a:r>
              <a:rPr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listen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sz="900" dirty="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50" dirty="0">
                <a:latin typeface="Courier New"/>
                <a:cs typeface="Courier New"/>
              </a:rPr>
              <a:t>deactivate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Deactivate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current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5434330" cy="5080"/>
            </a:xfrm>
            <a:custGeom>
              <a:avLst/>
              <a:gdLst/>
              <a:ahLst/>
              <a:cxnLst/>
              <a:rect l="l" t="t" r="r" b="b"/>
              <a:pathLst>
                <a:path w="5434330" h="5080">
                  <a:moveTo>
                    <a:pt x="0" y="5060"/>
                  </a:moveTo>
                  <a:lnTo>
                    <a:pt x="0" y="0"/>
                  </a:lnTo>
                  <a:lnTo>
                    <a:pt x="5433995" y="0"/>
                  </a:lnTo>
                  <a:lnTo>
                    <a:pt x="5433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Commands</a:t>
            </a:r>
            <a:r>
              <a:rPr spc="45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spc="-25" dirty="0"/>
              <a:t>remember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0497" y="1387822"/>
            <a:ext cx="504190" cy="147320"/>
            <a:chOff x="2810497" y="1387822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0497" y="1387822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94827" y="1547156"/>
            <a:ext cx="504190" cy="147320"/>
            <a:chOff x="1994827" y="1547156"/>
            <a:chExt cx="504190" cy="147320"/>
          </a:xfrm>
        </p:grpSpPr>
        <p:sp>
          <p:nvSpPr>
            <p:cNvPr id="7" name="object 7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94827" y="1547156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87743" y="1387822"/>
            <a:ext cx="1460500" cy="625475"/>
            <a:chOff x="587743" y="1387822"/>
            <a:chExt cx="1460500" cy="625475"/>
          </a:xfrm>
        </p:grpSpPr>
        <p:sp>
          <p:nvSpPr>
            <p:cNvPr id="10" name="object 10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743" y="1387822"/>
              <a:ext cx="862330" cy="147320"/>
            </a:xfrm>
            <a:custGeom>
              <a:avLst/>
              <a:gdLst/>
              <a:ahLst/>
              <a:cxnLst/>
              <a:rect l="l" t="t" r="r" b="b"/>
              <a:pathLst>
                <a:path w="862330" h="147319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826282" y="147290"/>
                  </a:lnTo>
                  <a:lnTo>
                    <a:pt x="840295" y="144460"/>
                  </a:lnTo>
                  <a:lnTo>
                    <a:pt x="851738" y="136745"/>
                  </a:lnTo>
                  <a:lnTo>
                    <a:pt x="859453" y="125302"/>
                  </a:lnTo>
                  <a:lnTo>
                    <a:pt x="862282" y="111289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743" y="1547156"/>
              <a:ext cx="683260" cy="147320"/>
            </a:xfrm>
            <a:custGeom>
              <a:avLst/>
              <a:gdLst/>
              <a:ahLst/>
              <a:cxnLst/>
              <a:rect l="l" t="t" r="r" b="b"/>
              <a:pathLst>
                <a:path w="683260" h="147319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646930" y="147290"/>
                  </a:lnTo>
                  <a:lnTo>
                    <a:pt x="660943" y="144460"/>
                  </a:lnTo>
                  <a:lnTo>
                    <a:pt x="672386" y="136745"/>
                  </a:lnTo>
                  <a:lnTo>
                    <a:pt x="680101" y="125302"/>
                  </a:lnTo>
                  <a:lnTo>
                    <a:pt x="682930" y="111289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7743" y="1707737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4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7743" y="1857613"/>
              <a:ext cx="1460500" cy="155575"/>
            </a:xfrm>
            <a:custGeom>
              <a:avLst/>
              <a:gdLst/>
              <a:ahLst/>
              <a:cxnLst/>
              <a:rect l="l" t="t" r="r" b="b"/>
              <a:pathLst>
                <a:path w="1460500" h="155575">
                  <a:moveTo>
                    <a:pt x="142412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424123" y="155489"/>
                  </a:lnTo>
                  <a:lnTo>
                    <a:pt x="1438136" y="152659"/>
                  </a:lnTo>
                  <a:lnTo>
                    <a:pt x="1449579" y="144944"/>
                  </a:lnTo>
                  <a:lnTo>
                    <a:pt x="1457294" y="133501"/>
                  </a:lnTo>
                  <a:lnTo>
                    <a:pt x="1460123" y="119488"/>
                  </a:lnTo>
                  <a:lnTo>
                    <a:pt x="1460123" y="36000"/>
                  </a:lnTo>
                  <a:lnTo>
                    <a:pt x="1457294" y="21987"/>
                  </a:lnTo>
                  <a:lnTo>
                    <a:pt x="1449579" y="10544"/>
                  </a:lnTo>
                  <a:lnTo>
                    <a:pt x="1438136" y="2829"/>
                  </a:lnTo>
                  <a:lnTo>
                    <a:pt x="142412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922471" y="1857613"/>
            <a:ext cx="1221105" cy="155575"/>
            <a:chOff x="3922471" y="1857613"/>
            <a:chExt cx="1221105" cy="155575"/>
          </a:xfrm>
        </p:grpSpPr>
        <p:sp>
          <p:nvSpPr>
            <p:cNvPr id="19" name="object 19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22471" y="1857613"/>
              <a:ext cx="1221105" cy="155575"/>
            </a:xfrm>
            <a:custGeom>
              <a:avLst/>
              <a:gdLst/>
              <a:ahLst/>
              <a:cxnLst/>
              <a:rect l="l" t="t" r="r" b="b"/>
              <a:pathLst>
                <a:path w="1221104" h="155575">
                  <a:moveTo>
                    <a:pt x="118498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84986" y="155489"/>
                  </a:lnTo>
                  <a:lnTo>
                    <a:pt x="1198999" y="152659"/>
                  </a:lnTo>
                  <a:lnTo>
                    <a:pt x="1210442" y="144944"/>
                  </a:lnTo>
                  <a:lnTo>
                    <a:pt x="1218158" y="133501"/>
                  </a:lnTo>
                  <a:lnTo>
                    <a:pt x="1220987" y="119488"/>
                  </a:lnTo>
                  <a:lnTo>
                    <a:pt x="1220987" y="36000"/>
                  </a:lnTo>
                  <a:lnTo>
                    <a:pt x="1218158" y="21987"/>
                  </a:lnTo>
                  <a:lnTo>
                    <a:pt x="1210442" y="10544"/>
                  </a:lnTo>
                  <a:lnTo>
                    <a:pt x="1198999" y="2829"/>
                  </a:lnTo>
                  <a:lnTo>
                    <a:pt x="11849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7126" y="1334722"/>
            <a:ext cx="4761865" cy="6629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72720" indent="-160020">
              <a:lnSpc>
                <a:spcPct val="100000"/>
              </a:lnSpc>
              <a:spcBef>
                <a:spcPts val="2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mkdir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445" dirty="0"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project1</a:t>
            </a:r>
            <a:r>
              <a:rPr sz="900" spc="-130" dirty="0"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5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5" dirty="0">
                <a:latin typeface="Courier New"/>
                <a:cs typeface="Courier New"/>
              </a:rPr>
              <a:t>cd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..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sz="9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Arial"/>
              <a:buChar char="•"/>
              <a:tabLst>
                <a:tab pos="172720" algn="l"/>
              </a:tabLst>
            </a:pPr>
            <a:r>
              <a:rPr sz="900" spc="-70" dirty="0">
                <a:latin typeface="Courier New"/>
                <a:cs typeface="Courier New"/>
              </a:rPr>
              <a:t>cat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50" dirty="0">
                <a:latin typeface="Courier New"/>
                <a:cs typeface="Courier New"/>
              </a:rPr>
              <a:t>keypair.pub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Show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located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latin typeface="Courier New"/>
                <a:cs typeface="Courier New"/>
              </a:rPr>
              <a:t>.ssh/aws-</a:t>
            </a:r>
            <a:r>
              <a:rPr sz="900" spc="-40" dirty="0">
                <a:latin typeface="Courier New"/>
                <a:cs typeface="Courier New"/>
              </a:rPr>
              <a:t>keypair.pub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3" name="object 2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3234963"/>
              <a:ext cx="5542915" cy="5080"/>
            </a:xfrm>
            <a:custGeom>
              <a:avLst/>
              <a:gdLst/>
              <a:ahLst/>
              <a:cxnLst/>
              <a:rect l="l" t="t" r="r" b="b"/>
              <a:pathLst>
                <a:path w="5542915" h="5080">
                  <a:moveTo>
                    <a:pt x="0" y="5060"/>
                  </a:moveTo>
                  <a:lnTo>
                    <a:pt x="0" y="0"/>
                  </a:lnTo>
                  <a:lnTo>
                    <a:pt x="5542717" y="0"/>
                  </a:lnTo>
                  <a:lnTo>
                    <a:pt x="55427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411095" cy="5080"/>
            </a:xfrm>
            <a:custGeom>
              <a:avLst/>
              <a:gdLst/>
              <a:ahLst/>
              <a:cxnLst/>
              <a:rect l="l" t="t" r="r" b="b"/>
              <a:pathLst>
                <a:path w="2411095" h="5080">
                  <a:moveTo>
                    <a:pt x="0" y="5060"/>
                  </a:moveTo>
                  <a:lnTo>
                    <a:pt x="0" y="0"/>
                  </a:lnTo>
                  <a:lnTo>
                    <a:pt x="2410702" y="0"/>
                  </a:lnTo>
                  <a:lnTo>
                    <a:pt x="24107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927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RECAP: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Summary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70" dirty="0">
                <a:solidFill>
                  <a:srgbClr val="F9F9F9"/>
                </a:solidFill>
                <a:latin typeface="Arial"/>
                <a:cs typeface="Arial"/>
              </a:rPr>
              <a:t>session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4335" y="1291572"/>
            <a:ext cx="31718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sz="900" b="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b="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b="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b="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35" dirty="0"/>
              <a:t>Summary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7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335" y="1291572"/>
            <a:ext cx="503936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494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5240" marR="5080" indent="14224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uv.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RECAP:</a:t>
            </a:r>
            <a:r>
              <a:rPr spc="20" dirty="0"/>
              <a:t> </a:t>
            </a:r>
            <a:r>
              <a:rPr spc="-35" dirty="0"/>
              <a:t>Summary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7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335" y="1291572"/>
            <a:ext cx="5039360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494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specifically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EC2.</a:t>
            </a:r>
            <a:endParaRPr sz="900">
              <a:latin typeface="Arial"/>
              <a:cs typeface="Arial"/>
            </a:endParaRPr>
          </a:p>
          <a:p>
            <a:pPr marL="15240" marR="5080" indent="14224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Python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uv.</a:t>
            </a:r>
            <a:endParaRPr sz="900">
              <a:latin typeface="Arial"/>
              <a:cs typeface="Arial"/>
            </a:endParaRPr>
          </a:p>
          <a:p>
            <a:pPr marL="157480" indent="-14224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157480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about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groups,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pairs,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51500" cy="5080"/>
            </a:xfrm>
            <a:custGeom>
              <a:avLst/>
              <a:gdLst/>
              <a:ahLst/>
              <a:cxnLst/>
              <a:rect l="l" t="t" r="r" b="b"/>
              <a:pathLst>
                <a:path w="5651500" h="5080">
                  <a:moveTo>
                    <a:pt x="0" y="5060"/>
                  </a:moveTo>
                  <a:lnTo>
                    <a:pt x="0" y="0"/>
                  </a:lnTo>
                  <a:lnTo>
                    <a:pt x="5651351" y="0"/>
                  </a:lnTo>
                  <a:lnTo>
                    <a:pt x="56513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Why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use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Jupyter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Cloud?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479933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10" dirty="0"/>
              <a:t> </a:t>
            </a:r>
            <a:r>
              <a:rPr spc="-45" dirty="0"/>
              <a:t>use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500824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213995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Requirements: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GPUs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machines,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can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rented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6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10" dirty="0"/>
              <a:t> </a:t>
            </a:r>
            <a:r>
              <a:rPr spc="-45" dirty="0"/>
              <a:t>use</a:t>
            </a:r>
            <a:r>
              <a:rPr spc="10" dirty="0"/>
              <a:t> </a:t>
            </a:r>
            <a:r>
              <a:rPr spc="-20" dirty="0"/>
              <a:t>Jupyter</a:t>
            </a:r>
            <a:r>
              <a:rPr spc="15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0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3856"/>
            <a:ext cx="5008245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Cases</a:t>
            </a:r>
            <a:endParaRPr sz="900">
              <a:latin typeface="Arial"/>
              <a:cs typeface="Arial"/>
            </a:endParaRPr>
          </a:p>
          <a:p>
            <a:pPr marL="240029" marR="213995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Datasets: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dataset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1000GB),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power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essential.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spcBef>
                <a:spcPts val="630"/>
              </a:spcBef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Requirements: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GPUs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memory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machines,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can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rented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via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sz="900">
              <a:latin typeface="Arial"/>
              <a:cs typeface="Arial"/>
            </a:endParaRPr>
          </a:p>
          <a:p>
            <a:pPr marL="240029" marR="124460" indent="-147955">
              <a:lnSpc>
                <a:spcPct val="116199"/>
              </a:lnSpc>
              <a:spcBef>
                <a:spcPts val="625"/>
              </a:spcBef>
              <a:buChar char="•"/>
              <a:tabLst>
                <a:tab pos="2400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others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3819</Words>
  <Application>Microsoft Macintosh PowerPoint</Application>
  <PresentationFormat>Personalizado</PresentationFormat>
  <Paragraphs>405</Paragraphs>
  <Slides>81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81</vt:i4>
      </vt:variant>
    </vt:vector>
  </HeadingPairs>
  <TitlesOfParts>
    <vt:vector size="85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Website deployment</vt:lpstr>
      <vt:lpstr>Cloud services everywhere</vt:lpstr>
      <vt:lpstr>Cloud services everywhere</vt:lpstr>
      <vt:lpstr>Amazon Web Services</vt:lpstr>
      <vt:lpstr>Amazon Web Services: EC2</vt:lpstr>
      <vt:lpstr>Presentación de PowerPoint</vt:lpstr>
      <vt:lpstr>A remote terminal through SSH</vt:lpstr>
      <vt:lpstr>A remote terminal through SSH</vt:lpstr>
      <vt:lpstr>A remote terminal through SSH</vt:lpstr>
      <vt:lpstr>A remote terminal through SSH</vt:lpstr>
      <vt:lpstr>How does SSH work?</vt:lpstr>
      <vt:lpstr>How does SSH work?</vt:lpstr>
      <vt:lpstr>How does SSH work?</vt:lpstr>
      <vt:lpstr>What do you mean by client and server?</vt:lpstr>
      <vt:lpstr>What do you mean by client and server?</vt:lpstr>
      <vt:lpstr>Presentación de PowerPoint</vt:lpstr>
      <vt:lpstr>Presentación de PowerPoint</vt:lpstr>
      <vt:lpstr>Presentación de PowerPoint</vt:lpstr>
      <vt:lpstr>Presentación de PowerPoint</vt:lpstr>
      <vt:lpstr>Ports</vt:lpstr>
      <vt:lpstr>Ports</vt:lpstr>
      <vt:lpstr>Security groups</vt:lpstr>
      <vt:lpstr>Security groups</vt:lpstr>
      <vt:lpstr>Security groups</vt:lpstr>
      <vt:lpstr>Presentación de PowerPoint</vt:lpstr>
      <vt:lpstr>Presentación de PowerPoint</vt:lpstr>
      <vt:lpstr>Presentación de PowerPoint</vt:lpstr>
      <vt:lpstr>Presentación de PowerPoint</vt:lpstr>
      <vt:lpstr>Goals for today</vt:lpstr>
      <vt:lpstr>Goals for today</vt:lpstr>
      <vt:lpstr>Presentación de PowerPoint</vt:lpstr>
      <vt:lpstr>Presentación de PowerPoint</vt:lpstr>
      <vt:lpstr>Presentación de PowerPoint</vt:lpstr>
      <vt:lpstr>Logging in from now on</vt:lpstr>
      <vt:lpstr>Logging in from now on</vt:lpstr>
      <vt:lpstr>Available courses</vt:lpstr>
      <vt:lpstr>Available courses: AWS Cloud Foundation Course</vt:lpstr>
      <vt:lpstr>Available courses: AWS Learner Lab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Creating an SSH Key Pair</vt:lpstr>
      <vt:lpstr>Creating an SSH Key Pair</vt:lpstr>
      <vt:lpstr>Importing our generated key pair</vt:lpstr>
      <vt:lpstr>Creating an EC2 instance</vt:lpstr>
      <vt:lpstr>Security Group</vt:lpstr>
      <vt:lpstr>Presentación de PowerPoint</vt:lpstr>
      <vt:lpstr>Connecting to the instance</vt:lpstr>
      <vt:lpstr>Managing Python environments with uv</vt:lpstr>
      <vt:lpstr>Presentación de PowerPoint</vt:lpstr>
      <vt:lpstr>Why use uv?</vt:lpstr>
      <vt:lpstr>Why use uv?</vt:lpstr>
      <vt:lpstr>Installing uv</vt:lpstr>
      <vt:lpstr>Creating two example uv Projects</vt:lpstr>
      <vt:lpstr>Creating two example uv Projects</vt:lpstr>
      <vt:lpstr>Working with the environments</vt:lpstr>
      <vt:lpstr>Working with the environments</vt:lpstr>
      <vt:lpstr>Running Jupyter Notebook (I)</vt:lpstr>
      <vt:lpstr>Running Jupyter Notebook (I)</vt:lpstr>
      <vt:lpstr>Opening the port 8888</vt:lpstr>
      <vt:lpstr>Running Jupyter Notebook (II)</vt:lpstr>
      <vt:lpstr>Accessing the Jupyter Notebook</vt:lpstr>
      <vt:lpstr>Accessing the Jupyter Notebook</vt:lpstr>
      <vt:lpstr>Running python code in the notebook</vt:lpstr>
      <vt:lpstr>Commands to remember</vt:lpstr>
      <vt:lpstr>Commands to remember</vt:lpstr>
      <vt:lpstr>Presentación de PowerPoint</vt:lpstr>
      <vt:lpstr>1. We have learned the about services in AWS, specifically EC2.</vt:lpstr>
      <vt:lpstr>RECAP: Summary of the session</vt:lpstr>
      <vt:lpstr>RECAP: Summary of the session</vt:lpstr>
      <vt:lpstr>Presentación de PowerPoint</vt:lpstr>
      <vt:lpstr>Why use Jupyter on the Cloud?</vt:lpstr>
      <vt:lpstr>Why use Jupyter on the Cloud?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Hands-On AWS Setup</dc:title>
  <dc:creator>Ferran Aran Domingo ` `%%%`#`&amp;12_`__~~~ౡ氀猀攀</dc:creator>
  <cp:keywords>Cloud Computing, AWS, EC2, Jupyter, Security Groups</cp:keywords>
  <cp:lastModifiedBy>Francesc Xavier Solsona Tehas</cp:lastModifiedBy>
  <cp:revision>1</cp:revision>
  <dcterms:created xsi:type="dcterms:W3CDTF">2025-05-19T16:09:11Z</dcterms:created>
  <dcterms:modified xsi:type="dcterms:W3CDTF">2026-02-25T11:51:50Z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2025-02-26T00:00:00Z</vt:filetime>
  </property>
</Properties>
</file>